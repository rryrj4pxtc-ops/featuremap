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2438337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9D1E1"/>
          </a:solidFill>
        </a:fill>
      </a:tcStyle>
    </a:wholeTbl>
    <a:band2H>
      <a:tcTxStyle b="def" i="def"/>
      <a:tcStyle>
        <a:tcBdr/>
        <a:fill>
          <a:solidFill>
            <a:srgbClr val="FCE9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9" name="Shape 18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200">
        <a:latin typeface="+mj-lt"/>
        <a:ea typeface="+mj-ea"/>
        <a:cs typeface="+mj-cs"/>
        <a:sym typeface="Lucida Grande"/>
      </a:defRPr>
    </a:lvl1pPr>
    <a:lvl2pPr indent="228600" defTabSz="457200" latinLnBrk="0">
      <a:defRPr sz="2200">
        <a:latin typeface="+mj-lt"/>
        <a:ea typeface="+mj-ea"/>
        <a:cs typeface="+mj-cs"/>
        <a:sym typeface="Lucida Grande"/>
      </a:defRPr>
    </a:lvl2pPr>
    <a:lvl3pPr indent="457200" defTabSz="457200" latinLnBrk="0">
      <a:defRPr sz="2200">
        <a:latin typeface="+mj-lt"/>
        <a:ea typeface="+mj-ea"/>
        <a:cs typeface="+mj-cs"/>
        <a:sym typeface="Lucida Grande"/>
      </a:defRPr>
    </a:lvl3pPr>
    <a:lvl4pPr indent="685800" defTabSz="457200" latinLnBrk="0">
      <a:defRPr sz="2200">
        <a:latin typeface="+mj-lt"/>
        <a:ea typeface="+mj-ea"/>
        <a:cs typeface="+mj-cs"/>
        <a:sym typeface="Lucida Grande"/>
      </a:defRPr>
    </a:lvl4pPr>
    <a:lvl5pPr indent="914400" defTabSz="457200" latinLnBrk="0">
      <a:defRPr sz="2200">
        <a:latin typeface="+mj-lt"/>
        <a:ea typeface="+mj-ea"/>
        <a:cs typeface="+mj-cs"/>
        <a:sym typeface="Lucida Grande"/>
      </a:defRPr>
    </a:lvl5pPr>
    <a:lvl6pPr indent="1143000" defTabSz="457200" latinLnBrk="0">
      <a:defRPr sz="2200">
        <a:latin typeface="+mj-lt"/>
        <a:ea typeface="+mj-ea"/>
        <a:cs typeface="+mj-cs"/>
        <a:sym typeface="Lucida Grande"/>
      </a:defRPr>
    </a:lvl6pPr>
    <a:lvl7pPr indent="1371600" defTabSz="457200" latinLnBrk="0">
      <a:defRPr sz="2200">
        <a:latin typeface="+mj-lt"/>
        <a:ea typeface="+mj-ea"/>
        <a:cs typeface="+mj-cs"/>
        <a:sym typeface="Lucida Grande"/>
      </a:defRPr>
    </a:lvl7pPr>
    <a:lvl8pPr indent="1600200" defTabSz="457200" latinLnBrk="0">
      <a:defRPr sz="2200">
        <a:latin typeface="+mj-lt"/>
        <a:ea typeface="+mj-ea"/>
        <a:cs typeface="+mj-cs"/>
        <a:sym typeface="Lucida Grande"/>
      </a:defRPr>
    </a:lvl8pPr>
    <a:lvl9pPr indent="1828800" defTabSz="457200" latinLnBrk="0">
      <a:defRPr sz="2200">
        <a:latin typeface="+mj-lt"/>
        <a:ea typeface="+mj-ea"/>
        <a:cs typeface="+mj-cs"/>
        <a:sym typeface="Lucida Grand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sz="quarter" idx="1"/>
          </p:nvPr>
        </p:nvSpPr>
        <p:spPr>
          <a:xfrm>
            <a:off x="1201340" y="11859862"/>
            <a:ext cx="21971005" cy="636982"/>
          </a:xfrm>
          <a:prstGeom prst="rect">
            <a:avLst/>
          </a:prstGeom>
        </p:spPr>
        <p:txBody>
          <a:bodyPr lIns="45718" tIns="45718" rIns="45718" bIns="45718" numCol="1" spcCol="38100"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Title Text"/>
          <p:cNvSpPr txBox="1"/>
          <p:nvPr>
            <p:ph type="title"/>
          </p:nvPr>
        </p:nvSpPr>
        <p:spPr>
          <a:xfrm>
            <a:off x="1206496" y="2574991"/>
            <a:ext cx="21971005" cy="4648204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Title Text</a:t>
            </a:r>
          </a:p>
        </p:txBody>
      </p:sp>
      <p:sp>
        <p:nvSpPr>
          <p:cNvPr id="13" name="Body Level One…"/>
          <p:cNvSpPr txBox="1"/>
          <p:nvPr>
            <p:ph type="body" sz="quarter" idx="21"/>
          </p:nvPr>
        </p:nvSpPr>
        <p:spPr>
          <a:xfrm>
            <a:off x="1201342" y="7223190"/>
            <a:ext cx="21971002" cy="1905003"/>
          </a:xfrm>
          <a:prstGeom prst="rect">
            <a:avLst/>
          </a:prstGeom>
        </p:spPr>
        <p:txBody>
          <a:bodyPr numCol="1" spcCol="38100"/>
          <a:lstStyle/>
          <a:p>
            <a:pPr/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mage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1207690" y="1106137"/>
            <a:ext cx="21968621" cy="636982"/>
          </a:xfrm>
          <a:prstGeom prst="rect">
            <a:avLst/>
          </a:prstGeom>
        </p:spPr>
        <p:txBody>
          <a:bodyPr lIns="45718" tIns="45718" rIns="45718" bIns="45718" numCol="1" spcCol="38100"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Title Text"/>
          <p:cNvSpPr txBox="1"/>
          <p:nvPr>
            <p:ph type="title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Title Text</a:t>
            </a:r>
          </a:p>
        </p:txBody>
      </p:sp>
      <p:sp>
        <p:nvSpPr>
          <p:cNvPr id="24" name="Body Level One…"/>
          <p:cNvSpPr txBox="1"/>
          <p:nvPr>
            <p:ph type="body" sz="quarter" idx="22"/>
          </p:nvPr>
        </p:nvSpPr>
        <p:spPr>
          <a:xfrm>
            <a:off x="1206500" y="11609909"/>
            <a:ext cx="21971000" cy="1116955"/>
          </a:xfrm>
          <a:prstGeom prst="rect">
            <a:avLst/>
          </a:prstGeom>
        </p:spPr>
        <p:txBody>
          <a:bodyPr numCol="1" spcCol="38100"/>
          <a:lstStyle/>
          <a:p>
            <a:pPr/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3" name="Title Text"/>
          <p:cNvSpPr txBox="1"/>
          <p:nvPr>
            <p:ph type="title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34" name="Body Level One…"/>
          <p:cNvSpPr txBox="1"/>
          <p:nvPr>
            <p:ph type="body" sz="quarter" idx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ody Level One…"/>
          <p:cNvSpPr txBox="1"/>
          <p:nvPr>
            <p:ph type="body" sz="quarter" idx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" name="Title Text"/>
          <p:cNvSpPr txBox="1"/>
          <p:nvPr>
            <p:ph type="title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4" name="Body Level One…"/>
          <p:cNvSpPr txBox="1"/>
          <p:nvPr>
            <p:ph type="body" idx="21"/>
          </p:nvPr>
        </p:nvSpPr>
        <p:spPr>
          <a:xfrm>
            <a:off x="1206500" y="4248503"/>
            <a:ext cx="21971000" cy="8256015"/>
          </a:xfrm>
          <a:prstGeom prst="rect">
            <a:avLst/>
          </a:prstGeom>
        </p:spPr>
        <p:txBody>
          <a:bodyPr numCol="1" spcCol="38100"/>
          <a:lstStyle/>
          <a:p>
            <a:pPr/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dy Level One…"/>
          <p:cNvSpPr txBox="1"/>
          <p:nvPr>
            <p:ph type="body" sz="quarter" idx="1"/>
          </p:nvPr>
        </p:nvSpPr>
        <p:spPr>
          <a:xfrm>
            <a:off x="1206500" y="2372960"/>
            <a:ext cx="9779000" cy="934782"/>
          </a:xfrm>
          <a:prstGeom prst="rect">
            <a:avLst/>
          </a:prstGeom>
        </p:spPr>
        <p:txBody>
          <a:bodyPr lIns="45718" tIns="45718" rIns="45718" bIns="45718" numCol="1" spcCol="38100"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1" name="Image"/>
          <p:cNvSpPr/>
          <p:nvPr>
            <p:ph type="pic" idx="21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62" name="Title Text"/>
          <p:cNvSpPr txBox="1"/>
          <p:nvPr>
            <p:ph type="title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3" name="Body Level One…"/>
          <p:cNvSpPr txBox="1"/>
          <p:nvPr>
            <p:ph type="body" sz="half" idx="22"/>
          </p:nvPr>
        </p:nvSpPr>
        <p:spPr>
          <a:xfrm>
            <a:off x="1206500" y="4248503"/>
            <a:ext cx="9779000" cy="8256632"/>
          </a:xfrm>
          <a:prstGeom prst="rect">
            <a:avLst/>
          </a:prstGeom>
        </p:spPr>
        <p:txBody>
          <a:bodyPr numCol="1" spcCol="38100"/>
          <a:lstStyle/>
          <a:p>
            <a:pPr/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Body Level One…"/>
          <p:cNvSpPr txBox="1"/>
          <p:nvPr>
            <p:ph type="body" sz="quarter" idx="1"/>
          </p:nvPr>
        </p:nvSpPr>
        <p:spPr>
          <a:xfrm>
            <a:off x="1206500" y="2372960"/>
            <a:ext cx="9779000" cy="934782"/>
          </a:xfrm>
          <a:prstGeom prst="rect">
            <a:avLst/>
          </a:prstGeom>
        </p:spPr>
        <p:txBody>
          <a:bodyPr lIns="45718" tIns="45718" rIns="45718" bIns="45718" numCol="1" spcCol="38100"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2" name="Title Text"/>
          <p:cNvSpPr txBox="1"/>
          <p:nvPr>
            <p:ph type="title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21"/>
          </p:nvPr>
        </p:nvSpPr>
        <p:spPr>
          <a:xfrm>
            <a:off x="1206500" y="4248503"/>
            <a:ext cx="9779000" cy="8256632"/>
          </a:xfrm>
          <a:prstGeom prst="rect">
            <a:avLst/>
          </a:prstGeom>
        </p:spPr>
        <p:txBody>
          <a:bodyPr numCol="1" spcCol="38100"/>
          <a:lstStyle/>
          <a:p>
            <a:pPr/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Body Level One…"/>
          <p:cNvSpPr txBox="1"/>
          <p:nvPr>
            <p:ph type="body" sz="quarter" idx="1"/>
          </p:nvPr>
        </p:nvSpPr>
        <p:spPr>
          <a:xfrm>
            <a:off x="1206500" y="2372960"/>
            <a:ext cx="9779000" cy="934782"/>
          </a:xfrm>
          <a:prstGeom prst="rect">
            <a:avLst/>
          </a:prstGeom>
        </p:spPr>
        <p:txBody>
          <a:bodyPr lIns="45718" tIns="45718" rIns="45718" bIns="45718" numCol="1" spcCol="38100"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2" name="Title Text"/>
          <p:cNvSpPr txBox="1"/>
          <p:nvPr>
            <p:ph type="title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3" name="Body Level One…"/>
          <p:cNvSpPr txBox="1"/>
          <p:nvPr>
            <p:ph type="body" sz="half" idx="21"/>
          </p:nvPr>
        </p:nvSpPr>
        <p:spPr>
          <a:xfrm>
            <a:off x="1206500" y="4248503"/>
            <a:ext cx="9779000" cy="8256632"/>
          </a:xfrm>
          <a:prstGeom prst="rect">
            <a:avLst/>
          </a:prstGeom>
        </p:spPr>
        <p:txBody>
          <a:bodyPr numCol="1" spcCol="38100"/>
          <a:lstStyle/>
          <a:p>
            <a:pPr/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Text"/>
          <p:cNvSpPr txBox="1"/>
          <p:nvPr>
            <p:ph type="title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Body Level One…"/>
          <p:cNvSpPr txBox="1"/>
          <p:nvPr>
            <p:ph type="body" sz="quarter" idx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Title Text"/>
          <p:cNvSpPr txBox="1"/>
          <p:nvPr>
            <p:ph type="title"/>
          </p:nvPr>
        </p:nvSpPr>
        <p:spPr>
          <a:xfrm>
            <a:off x="1206500" y="1079500"/>
            <a:ext cx="21971000" cy="143495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Body Level One…"/>
          <p:cNvSpPr txBox="1"/>
          <p:nvPr>
            <p:ph type="body" sz="quarter" idx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9" name="Title Text"/>
          <p:cNvSpPr txBox="1"/>
          <p:nvPr>
            <p:ph type="title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10" name="Body Level One…"/>
          <p:cNvSpPr txBox="1"/>
          <p:nvPr>
            <p:ph type="body" idx="21"/>
          </p:nvPr>
        </p:nvSpPr>
        <p:spPr>
          <a:xfrm>
            <a:off x="1206500" y="4248503"/>
            <a:ext cx="21971000" cy="8256015"/>
          </a:xfrm>
          <a:prstGeom prst="rect">
            <a:avLst/>
          </a:prstGeom>
        </p:spPr>
        <p:txBody>
          <a:bodyPr numCol="1" spcCol="38100"/>
          <a:lstStyle/>
          <a:p>
            <a:pPr/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sz="quarter" idx="1"/>
          </p:nvPr>
        </p:nvSpPr>
        <p:spPr>
          <a:xfrm>
            <a:off x="1206500" y="8262180"/>
            <a:ext cx="21971000" cy="934783"/>
          </a:xfrm>
          <a:prstGeom prst="rect">
            <a:avLst/>
          </a:prstGeom>
        </p:spPr>
        <p:txBody>
          <a:bodyPr lIns="45718" tIns="45718" rIns="45718" bIns="45718" numCol="1" spcCol="38100"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7" name="Body Level One…"/>
          <p:cNvSpPr txBox="1"/>
          <p:nvPr>
            <p:ph type="body" idx="21"/>
          </p:nvPr>
        </p:nvSpPr>
        <p:spPr>
          <a:xfrm>
            <a:off x="1206500" y="1075926"/>
            <a:ext cx="21971000" cy="7241586"/>
          </a:xfrm>
          <a:prstGeom prst="rect">
            <a:avLst/>
          </a:prstGeom>
        </p:spPr>
        <p:txBody>
          <a:bodyPr numCol="1" spcCol="38100" anchor="b"/>
          <a:lstStyle/>
          <a:p>
            <a:pPr/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/>
          <p:nvPr>
            <p:ph type="body" sz="quarter" idx="1"/>
          </p:nvPr>
        </p:nvSpPr>
        <p:spPr>
          <a:xfrm>
            <a:off x="2430022" y="10675453"/>
            <a:ext cx="20200057" cy="636982"/>
          </a:xfrm>
          <a:prstGeom prst="rect">
            <a:avLst/>
          </a:prstGeom>
        </p:spPr>
        <p:txBody>
          <a:bodyPr lIns="45718" tIns="45718" rIns="45718" bIns="45718" numCol="1" spcCol="38100"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6" name="Body Level One…"/>
          <p:cNvSpPr txBox="1"/>
          <p:nvPr>
            <p:ph type="body" sz="half" idx="21"/>
          </p:nvPr>
        </p:nvSpPr>
        <p:spPr>
          <a:xfrm>
            <a:off x="1753923" y="4939860"/>
            <a:ext cx="20876154" cy="3836283"/>
          </a:xfrm>
          <a:prstGeom prst="rect">
            <a:avLst/>
          </a:prstGeom>
        </p:spPr>
        <p:txBody>
          <a:bodyPr numCol="1" spcCol="38100"/>
          <a:lstStyle/>
          <a:p>
            <a:pPr/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Image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5" name="Image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6" name="Imag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Image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Body Level One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5" cy="6369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70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5" cy="4648204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71" name="Body Level One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1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Body Level One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5" cy="636983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257300" indent="-342900" defTabSz="825500">
              <a:lnSpc>
                <a:spcPct val="100000"/>
              </a:lnSpc>
              <a:spcBef>
                <a:spcPts val="0"/>
              </a:spcBef>
              <a:buSzPct val="100000"/>
              <a:defRPr b="1" sz="3600"/>
            </a:lvl2pPr>
            <a:lvl3pPr marL="2240277" indent="-411477" defTabSz="825500">
              <a:lnSpc>
                <a:spcPct val="100000"/>
              </a:lnSpc>
              <a:spcBef>
                <a:spcPts val="0"/>
              </a:spcBef>
              <a:buSzPct val="100000"/>
              <a:defRPr b="1" sz="3600"/>
            </a:lvl3pPr>
            <a:lvl4pPr marL="3200400" indent="-457200" defTabSz="825500">
              <a:lnSpc>
                <a:spcPct val="100000"/>
              </a:lnSpc>
              <a:spcBef>
                <a:spcPts val="0"/>
              </a:spcBef>
              <a:buSzPct val="100000"/>
              <a:defRPr b="1" sz="3600"/>
            </a:lvl4pPr>
            <a:lvl5pPr marL="4114800" indent="-457200" defTabSz="825500">
              <a:lnSpc>
                <a:spcPct val="100000"/>
              </a:lnSpc>
              <a:spcBef>
                <a:spcPts val="0"/>
              </a:spcBef>
              <a:buSzPct val="100000"/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80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5" cy="4648204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81" name="Body Level One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18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500" y="13080999"/>
            <a:ext cx="368504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slide" Target="slide7.xml"/><Relationship Id="rId4" Type="http://schemas.openxmlformats.org/officeDocument/2006/relationships/slide" Target="slide12.xml"/><Relationship Id="rId5" Type="http://schemas.openxmlformats.org/officeDocument/2006/relationships/slide" Target="slide19.xml"/><Relationship Id="rId6" Type="http://schemas.openxmlformats.org/officeDocument/2006/relationships/slide" Target="slide44.xml"/><Relationship Id="rId7" Type="http://schemas.openxmlformats.org/officeDocument/2006/relationships/slide" Target="slide63.xml"/><Relationship Id="rId8" Type="http://schemas.openxmlformats.org/officeDocument/2006/relationships/slide" Target="slide88.xml"/><Relationship Id="rId9" Type="http://schemas.openxmlformats.org/officeDocument/2006/relationships/slide" Target="slide93.xml"/><Relationship Id="rId10" Type="http://schemas.openxmlformats.org/officeDocument/2006/relationships/slide" Target="slide9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/Relationships>
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/Relationships>
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/Relationships>
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/Relationships>
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/Relationships>
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/Relationships>
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/Relationships>
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/Relationships>

</file>

<file path=ppt/slides/_rels/slide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/Relationships>

</file>

<file path=ppt/slides/_rels/slide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
</file>

<file path=ppt/slides/_rels/slide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
</file>

<file path=ppt/slides/_rels/slide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/Relationships>

</file>

<file path=ppt/slides/_rels/slide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/Relationships>

</file>

<file path=ppt/slides/_rels/slide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/Relationships>

</file>

<file path=ppt/slides/_rels/slide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/Relationships>

</file>

<file path=ppt/slides/_rels/slide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/Relationships>

</file>

<file path=ppt/slides/_rels/slide1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/Relationships>

</file>

<file path=ppt/slides/_rels/slide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/Relationships>

</file>

<file path=ppt/slides/_rels/slide1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/Relationships>

</file>

<file path=ppt/slides/_rels/slide1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/Relationships>

</file>

<file path=ppt/slides/_rels/slide1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/Relationships>

</file>

<file path=ppt/slides/_rels/slide1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/Relationships>

</file>

<file path=ppt/slides/_rels/slide1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447519" y="0"/>
            <a:ext cx="9966962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TextBox 3"/>
          <p:cNvSpPr txBox="1"/>
          <p:nvPr/>
        </p:nvSpPr>
        <p:spPr>
          <a:xfrm>
            <a:off x="777239" y="4206240"/>
            <a:ext cx="12801603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400" sz="18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 ASSESSMENT  ·  DIGITAL EXPERIENCE</a:t>
            </a:r>
          </a:p>
        </p:txBody>
      </p:sp>
      <p:sp>
        <p:nvSpPr>
          <p:cNvPr id="193" name="TextBox 4"/>
          <p:cNvSpPr txBox="1"/>
          <p:nvPr/>
        </p:nvSpPr>
        <p:spPr>
          <a:xfrm>
            <a:off x="777240" y="4846320"/>
            <a:ext cx="13716002" cy="1422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ARC Digital Platform</a:t>
            </a:r>
          </a:p>
        </p:txBody>
      </p:sp>
      <p:sp>
        <p:nvSpPr>
          <p:cNvPr id="194" name="TextBox 5"/>
          <p:cNvSpPr txBox="1"/>
          <p:nvPr/>
        </p:nvSpPr>
        <p:spPr>
          <a:xfrm>
            <a:off x="777240" y="6263640"/>
            <a:ext cx="13716002" cy="1422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0">
                <a:solidFill>
                  <a:srgbClr val="0333E8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Capability Assessment</a:t>
            </a:r>
          </a:p>
        </p:txBody>
      </p:sp>
      <p:sp>
        <p:nvSpPr>
          <p:cNvPr id="195" name="TextBox 6"/>
          <p:cNvSpPr txBox="1"/>
          <p:nvPr/>
        </p:nvSpPr>
        <p:spPr>
          <a:xfrm>
            <a:off x="777240" y="7863840"/>
            <a:ext cx="7315201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April 2026</a:t>
            </a:r>
          </a:p>
        </p:txBody>
      </p:sp>
      <p:sp>
        <p:nvSpPr>
          <p:cNvPr id="196" name="Connector 7"/>
          <p:cNvSpPr/>
          <p:nvPr/>
        </p:nvSpPr>
        <p:spPr>
          <a:xfrm>
            <a:off x="777239" y="8458200"/>
            <a:ext cx="5029203" cy="0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" name="TextBox 8"/>
          <p:cNvSpPr txBox="1"/>
          <p:nvPr/>
        </p:nvSpPr>
        <p:spPr>
          <a:xfrm>
            <a:off x="777238" y="8961118"/>
            <a:ext cx="2926084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844</a:t>
            </a:r>
          </a:p>
        </p:txBody>
      </p:sp>
      <p:sp>
        <p:nvSpPr>
          <p:cNvPr id="198" name="TextBox 9"/>
          <p:cNvSpPr txBox="1"/>
          <p:nvPr/>
        </p:nvSpPr>
        <p:spPr>
          <a:xfrm>
            <a:off x="777238" y="9829800"/>
            <a:ext cx="2926084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TOTAL CAPABILITIES</a:t>
            </a:r>
          </a:p>
        </p:txBody>
      </p:sp>
      <p:sp>
        <p:nvSpPr>
          <p:cNvPr id="199" name="TextBox 10"/>
          <p:cNvSpPr txBox="1"/>
          <p:nvPr/>
        </p:nvSpPr>
        <p:spPr>
          <a:xfrm>
            <a:off x="3703320" y="8961118"/>
            <a:ext cx="2926082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514</a:t>
            </a:r>
          </a:p>
        </p:txBody>
      </p:sp>
      <p:sp>
        <p:nvSpPr>
          <p:cNvPr id="200" name="TextBox 11"/>
          <p:cNvSpPr txBox="1"/>
          <p:nvPr/>
        </p:nvSpPr>
        <p:spPr>
          <a:xfrm>
            <a:off x="3703320" y="9829800"/>
            <a:ext cx="292608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LIVE ON APP</a:t>
            </a:r>
          </a:p>
        </p:txBody>
      </p:sp>
      <p:sp>
        <p:nvSpPr>
          <p:cNvPr id="201" name="TextBox 12"/>
          <p:cNvSpPr txBox="1"/>
          <p:nvPr/>
        </p:nvSpPr>
        <p:spPr>
          <a:xfrm>
            <a:off x="6629399" y="8961118"/>
            <a:ext cx="2926083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122</a:t>
            </a:r>
          </a:p>
        </p:txBody>
      </p:sp>
      <p:sp>
        <p:nvSpPr>
          <p:cNvPr id="202" name="TextBox 13"/>
          <p:cNvSpPr txBox="1"/>
          <p:nvPr/>
        </p:nvSpPr>
        <p:spPr>
          <a:xfrm>
            <a:off x="6629399" y="9829800"/>
            <a:ext cx="292608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TRACKED IN JIRA</a:t>
            </a:r>
          </a:p>
        </p:txBody>
      </p:sp>
      <p:sp>
        <p:nvSpPr>
          <p:cNvPr id="203" name="TextBox 15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001 / 111</a:t>
            </a:r>
          </a:p>
        </p:txBody>
      </p:sp>
      <p:pic>
        <p:nvPicPr>
          <p:cNvPr id="204" name="Picture 232" descr="Picture 23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Picture 208" descr="Picture 20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207" name="TextBox 209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002 / 111</a:t>
            </a:r>
          </a:p>
        </p:txBody>
      </p:sp>
      <p:sp>
        <p:nvSpPr>
          <p:cNvPr id="208" name="TextBox 210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OVERVIEW</a:t>
            </a:r>
          </a:p>
        </p:txBody>
      </p:sp>
      <p:sp>
        <p:nvSpPr>
          <p:cNvPr id="209" name="TextBox 211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Executive Summary</a:t>
            </a:r>
          </a:p>
        </p:txBody>
      </p:sp>
      <p:sp>
        <p:nvSpPr>
          <p:cNvPr id="210" name="TextBox 212"/>
          <p:cNvSpPr txBox="1"/>
          <p:nvPr/>
        </p:nvSpPr>
        <p:spPr>
          <a:xfrm>
            <a:off x="1371600" y="5029200"/>
            <a:ext cx="6858000" cy="2824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32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Evaluate ARC digital platform capabilities across all products to identify capability gaps and define investment priorities.</a:t>
            </a:r>
          </a:p>
        </p:txBody>
      </p:sp>
      <p:sp>
        <p:nvSpPr>
          <p:cNvPr id="211" name="TextBox 213"/>
          <p:cNvSpPr txBox="1"/>
          <p:nvPr/>
        </p:nvSpPr>
        <p:spPr>
          <a:xfrm>
            <a:off x="8869680" y="5029200"/>
            <a:ext cx="685800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b="1" spc="400" sz="13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SCOPE</a:t>
            </a:r>
          </a:p>
        </p:txBody>
      </p:sp>
      <p:sp>
        <p:nvSpPr>
          <p:cNvPr id="212" name="Connector 214"/>
          <p:cNvSpPr/>
          <p:nvPr/>
        </p:nvSpPr>
        <p:spPr>
          <a:xfrm>
            <a:off x="8869680" y="5532120"/>
            <a:ext cx="6858001" cy="2"/>
          </a:xfrm>
          <a:prstGeom prst="line">
            <a:avLst/>
          </a:prstGeom>
          <a:ln w="1270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3" name="TextBox 215"/>
          <p:cNvSpPr txBox="1"/>
          <p:nvPr/>
        </p:nvSpPr>
        <p:spPr>
          <a:xfrm>
            <a:off x="8869680" y="5806440"/>
            <a:ext cx="6858002" cy="11107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 End-to-end ARC application capability assessment</a:t>
            </a:r>
            <a:endParaRPr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>
              <a:lnSpc>
                <a:spcPct val="140000"/>
              </a:lnSpc>
              <a:spcBef>
                <a:spcPts val="1000"/>
              </a:spcBef>
              <a:defRPr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 Feature-level evaluation across all products</a:t>
            </a:r>
            <a:endParaRPr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>
              <a:lnSpc>
                <a:spcPct val="140000"/>
              </a:lnSpc>
              <a:spcBef>
                <a:spcPts val="1000"/>
              </a:spcBef>
              <a:defRPr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 Investor journey–based capability model</a:t>
            </a:r>
          </a:p>
        </p:txBody>
      </p:sp>
      <p:sp>
        <p:nvSpPr>
          <p:cNvPr id="214" name="TextBox 216"/>
          <p:cNvSpPr txBox="1"/>
          <p:nvPr/>
        </p:nvSpPr>
        <p:spPr>
          <a:xfrm>
            <a:off x="16367760" y="5029200"/>
            <a:ext cx="685800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b="1" spc="400" sz="13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OUTCOME</a:t>
            </a:r>
          </a:p>
        </p:txBody>
      </p:sp>
      <p:sp>
        <p:nvSpPr>
          <p:cNvPr id="215" name="Connector 217"/>
          <p:cNvSpPr/>
          <p:nvPr/>
        </p:nvSpPr>
        <p:spPr>
          <a:xfrm>
            <a:off x="16367760" y="5532120"/>
            <a:ext cx="6858002" cy="2"/>
          </a:xfrm>
          <a:prstGeom prst="line">
            <a:avLst/>
          </a:prstGeom>
          <a:ln w="1270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" name="TextBox 218"/>
          <p:cNvSpPr txBox="1"/>
          <p:nvPr/>
        </p:nvSpPr>
        <p:spPr>
          <a:xfrm>
            <a:off x="16367760" y="5806440"/>
            <a:ext cx="6858002" cy="11107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 Clear view of current platform capability maturity</a:t>
            </a:r>
            <a:endParaRPr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>
              <a:lnSpc>
                <a:spcPct val="140000"/>
              </a:lnSpc>
              <a:spcBef>
                <a:spcPts val="1000"/>
              </a:spcBef>
              <a:defRPr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 Identification of key capability gaps</a:t>
            </a:r>
            <a:endParaRPr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>
              <a:lnSpc>
                <a:spcPct val="140000"/>
              </a:lnSpc>
              <a:spcBef>
                <a:spcPts val="1000"/>
              </a:spcBef>
              <a:defRPr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 Strategic direction for capability enhancement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Box 3"/>
          <p:cNvSpPr txBox="1"/>
          <p:nvPr/>
        </p:nvSpPr>
        <p:spPr>
          <a:xfrm>
            <a:off x="1371600" y="2788920"/>
            <a:ext cx="20116800" cy="711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Evaluation Structure</a:t>
            </a:r>
          </a:p>
        </p:txBody>
      </p:sp>
      <p:sp>
        <p:nvSpPr>
          <p:cNvPr id="219" name="TextBox 4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003 / 111</a:t>
            </a:r>
          </a:p>
        </p:txBody>
      </p:sp>
      <p:sp>
        <p:nvSpPr>
          <p:cNvPr id="220" name="Connector 5"/>
          <p:cNvSpPr/>
          <p:nvPr/>
        </p:nvSpPr>
        <p:spPr>
          <a:xfrm>
            <a:off x="2285999" y="9692640"/>
            <a:ext cx="19842483" cy="2"/>
          </a:xfrm>
          <a:prstGeom prst="line">
            <a:avLst/>
          </a:prstGeom>
          <a:ln>
            <a:solidFill>
              <a:srgbClr val="E5E7E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1" name="TextBox 6"/>
          <p:cNvSpPr txBox="1"/>
          <p:nvPr/>
        </p:nvSpPr>
        <p:spPr>
          <a:xfrm>
            <a:off x="2023109" y="6400800"/>
            <a:ext cx="5486403" cy="320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6B7280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22" name="TextBox 7"/>
          <p:cNvSpPr txBox="1"/>
          <p:nvPr/>
        </p:nvSpPr>
        <p:spPr>
          <a:xfrm>
            <a:off x="2023109" y="7223759"/>
            <a:ext cx="5486403" cy="675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 sz="38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Investor Journey</a:t>
            </a:r>
          </a:p>
        </p:txBody>
      </p:sp>
      <p:sp>
        <p:nvSpPr>
          <p:cNvPr id="223" name="Connector 8"/>
          <p:cNvSpPr/>
          <p:nvPr/>
        </p:nvSpPr>
        <p:spPr>
          <a:xfrm>
            <a:off x="4080509" y="9692640"/>
            <a:ext cx="1371602" cy="2"/>
          </a:xfrm>
          <a:prstGeom prst="line">
            <a:avLst/>
          </a:prstGeom>
          <a:ln w="31750">
            <a:solidFill>
              <a:srgbClr val="0333E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4" name="TextBox 9"/>
          <p:cNvSpPr txBox="1"/>
          <p:nvPr/>
        </p:nvSpPr>
        <p:spPr>
          <a:xfrm>
            <a:off x="6983727" y="6400800"/>
            <a:ext cx="5486403" cy="320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6B7280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25" name="TextBox 10"/>
          <p:cNvSpPr txBox="1"/>
          <p:nvPr/>
        </p:nvSpPr>
        <p:spPr>
          <a:xfrm>
            <a:off x="6983727" y="7223759"/>
            <a:ext cx="5486403" cy="675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 sz="38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Product</a:t>
            </a:r>
          </a:p>
        </p:txBody>
      </p:sp>
      <p:sp>
        <p:nvSpPr>
          <p:cNvPr id="226" name="Connector 11"/>
          <p:cNvSpPr/>
          <p:nvPr/>
        </p:nvSpPr>
        <p:spPr>
          <a:xfrm>
            <a:off x="9041130" y="9692640"/>
            <a:ext cx="1371602" cy="2"/>
          </a:xfrm>
          <a:prstGeom prst="line">
            <a:avLst/>
          </a:prstGeom>
          <a:ln w="31750">
            <a:solidFill>
              <a:srgbClr val="0333E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7" name="TextBox 12"/>
          <p:cNvSpPr txBox="1"/>
          <p:nvPr/>
        </p:nvSpPr>
        <p:spPr>
          <a:xfrm>
            <a:off x="11944350" y="6400800"/>
            <a:ext cx="5486400" cy="320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6B7280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28" name="TextBox 13"/>
          <p:cNvSpPr txBox="1"/>
          <p:nvPr/>
        </p:nvSpPr>
        <p:spPr>
          <a:xfrm>
            <a:off x="11944350" y="7223759"/>
            <a:ext cx="5486400" cy="675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 sz="38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229" name="Connector 14"/>
          <p:cNvSpPr/>
          <p:nvPr/>
        </p:nvSpPr>
        <p:spPr>
          <a:xfrm>
            <a:off x="14001750" y="9692640"/>
            <a:ext cx="1371601" cy="2"/>
          </a:xfrm>
          <a:prstGeom prst="line">
            <a:avLst/>
          </a:prstGeom>
          <a:ln w="31750">
            <a:solidFill>
              <a:srgbClr val="0333E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0" name="TextBox 15"/>
          <p:cNvSpPr txBox="1"/>
          <p:nvPr/>
        </p:nvSpPr>
        <p:spPr>
          <a:xfrm>
            <a:off x="16904969" y="6400800"/>
            <a:ext cx="5486402" cy="320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6B7280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31" name="TextBox 16"/>
          <p:cNvSpPr txBox="1"/>
          <p:nvPr/>
        </p:nvSpPr>
        <p:spPr>
          <a:xfrm>
            <a:off x="16904969" y="7223759"/>
            <a:ext cx="5486402" cy="675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lnSpc>
                <a:spcPct val="100000"/>
              </a:lnSpc>
              <a:spcBef>
                <a:spcPts val="0"/>
              </a:spcBef>
              <a:defRPr sz="38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232" name="Connector 17"/>
          <p:cNvSpPr/>
          <p:nvPr/>
        </p:nvSpPr>
        <p:spPr>
          <a:xfrm>
            <a:off x="18962369" y="9692640"/>
            <a:ext cx="1371602" cy="2"/>
          </a:xfrm>
          <a:prstGeom prst="line">
            <a:avLst/>
          </a:prstGeom>
          <a:ln w="31750">
            <a:solidFill>
              <a:srgbClr val="0333E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3" name="TextBox 220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OVERVIEW</a:t>
            </a:r>
          </a:p>
        </p:txBody>
      </p:sp>
      <p:pic>
        <p:nvPicPr>
          <p:cNvPr id="234" name="Picture 232" descr="Picture 23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Picture 232" descr="Picture 23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237" name="TextBox 233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004 / 111</a:t>
            </a:r>
          </a:p>
        </p:txBody>
      </p:sp>
      <p:sp>
        <p:nvSpPr>
          <p:cNvPr id="238" name="TextBox 234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OVERVIEW</a:t>
            </a:r>
          </a:p>
        </p:txBody>
      </p:sp>
      <p:sp>
        <p:nvSpPr>
          <p:cNvPr id="239" name="TextBox 235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Current Platform Capabilities</a:t>
            </a:r>
          </a:p>
        </p:txBody>
      </p:sp>
      <p:sp>
        <p:nvSpPr>
          <p:cNvPr id="240" name="TextBox 236"/>
          <p:cNvSpPr txBox="1"/>
          <p:nvPr/>
        </p:nvSpPr>
        <p:spPr>
          <a:xfrm>
            <a:off x="1371600" y="5029200"/>
            <a:ext cx="6858000" cy="2072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32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Platform capabilities are evaluated at feature level across the investor journey.</a:t>
            </a:r>
          </a:p>
        </p:txBody>
      </p:sp>
      <p:sp>
        <p:nvSpPr>
          <p:cNvPr id="241" name="TextBox 237"/>
          <p:cNvSpPr txBox="1"/>
          <p:nvPr/>
        </p:nvSpPr>
        <p:spPr>
          <a:xfrm>
            <a:off x="8869680" y="5029200"/>
            <a:ext cx="685800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b="1" spc="400" sz="13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CLASSIFICATION</a:t>
            </a:r>
          </a:p>
        </p:txBody>
      </p:sp>
      <p:sp>
        <p:nvSpPr>
          <p:cNvPr id="242" name="Connector 238"/>
          <p:cNvSpPr/>
          <p:nvPr/>
        </p:nvSpPr>
        <p:spPr>
          <a:xfrm>
            <a:off x="8869680" y="5532120"/>
            <a:ext cx="6858001" cy="2"/>
          </a:xfrm>
          <a:prstGeom prst="line">
            <a:avLst/>
          </a:prstGeom>
          <a:ln w="1270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3" name="TextBox 239"/>
          <p:cNvSpPr txBox="1"/>
          <p:nvPr/>
        </p:nvSpPr>
        <p:spPr>
          <a:xfrm>
            <a:off x="8869680" y="5806440"/>
            <a:ext cx="6858002" cy="11107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 View capabilities (information visibility)</a:t>
            </a:r>
            <a:endParaRPr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>
              <a:lnSpc>
                <a:spcPct val="140000"/>
              </a:lnSpc>
              <a:spcBef>
                <a:spcPts val="1000"/>
              </a:spcBef>
              <a:defRPr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 Action capabilities (transaction execution)</a:t>
            </a:r>
            <a:endParaRPr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>
              <a:lnSpc>
                <a:spcPct val="140000"/>
              </a:lnSpc>
              <a:spcBef>
                <a:spcPts val="1000"/>
              </a:spcBef>
              <a:defRPr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 Configuration capabilities (controls and settings)</a:t>
            </a:r>
          </a:p>
        </p:txBody>
      </p:sp>
      <p:sp>
        <p:nvSpPr>
          <p:cNvPr id="244" name="TextBox 240"/>
          <p:cNvSpPr txBox="1"/>
          <p:nvPr/>
        </p:nvSpPr>
        <p:spPr>
          <a:xfrm>
            <a:off x="16367760" y="5029200"/>
            <a:ext cx="685800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b="1" spc="400" sz="13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COVERAGE</a:t>
            </a:r>
          </a:p>
        </p:txBody>
      </p:sp>
      <p:sp>
        <p:nvSpPr>
          <p:cNvPr id="245" name="Connector 241"/>
          <p:cNvSpPr/>
          <p:nvPr/>
        </p:nvSpPr>
        <p:spPr>
          <a:xfrm>
            <a:off x="16367760" y="5532120"/>
            <a:ext cx="6858002" cy="2"/>
          </a:xfrm>
          <a:prstGeom prst="line">
            <a:avLst/>
          </a:prstGeom>
          <a:ln w="1270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6" name="TextBox 242"/>
          <p:cNvSpPr txBox="1"/>
          <p:nvPr/>
        </p:nvSpPr>
        <p:spPr>
          <a:xfrm>
            <a:off x="16367760" y="5806440"/>
            <a:ext cx="6858002" cy="9837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 Capability mapping across Monitor, Discover, Analyze, Execute, Post-Trade, Funding, Account</a:t>
            </a:r>
            <a:endParaRPr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>
              <a:lnSpc>
                <a:spcPct val="140000"/>
              </a:lnSpc>
              <a:spcBef>
                <a:spcPts val="1000"/>
              </a:spcBef>
              <a:defRPr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•  Current state capability baseline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8F9FB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9" name="TextBox 3"/>
          <p:cNvSpPr txBox="1"/>
          <p:nvPr/>
        </p:nvSpPr>
        <p:spPr>
          <a:xfrm>
            <a:off x="1371600" y="2053247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6 Products. 844 capabilities. </a:t>
            </a:r>
            <a:r>
              <a:rPr>
                <a:solidFill>
                  <a:srgbClr val="42946C"/>
                </a:solidFill>
              </a:rPr>
              <a:t>514 Live</a:t>
            </a:r>
          </a:p>
        </p:txBody>
      </p:sp>
      <p:sp>
        <p:nvSpPr>
          <p:cNvPr id="250" name="TextBox 4"/>
          <p:cNvSpPr txBox="1"/>
          <p:nvPr/>
        </p:nvSpPr>
        <p:spPr>
          <a:xfrm>
            <a:off x="1371600" y="3474720"/>
            <a:ext cx="1005840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b="1" spc="436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PRODUCT</a:t>
            </a:r>
          </a:p>
        </p:txBody>
      </p:sp>
      <p:sp>
        <p:nvSpPr>
          <p:cNvPr id="251" name="TextBox 5"/>
          <p:cNvSpPr txBox="1"/>
          <p:nvPr/>
        </p:nvSpPr>
        <p:spPr>
          <a:xfrm>
            <a:off x="11430000" y="3474720"/>
            <a:ext cx="292608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pc="436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TOTAL</a:t>
            </a:r>
          </a:p>
        </p:txBody>
      </p:sp>
      <p:sp>
        <p:nvSpPr>
          <p:cNvPr id="252" name="TextBox 6"/>
          <p:cNvSpPr txBox="1"/>
          <p:nvPr/>
        </p:nvSpPr>
        <p:spPr>
          <a:xfrm>
            <a:off x="14630400" y="3474720"/>
            <a:ext cx="292608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pc="436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LIVE</a:t>
            </a:r>
          </a:p>
        </p:txBody>
      </p:sp>
      <p:sp>
        <p:nvSpPr>
          <p:cNvPr id="253" name="TextBox 7"/>
          <p:cNvSpPr txBox="1"/>
          <p:nvPr/>
        </p:nvSpPr>
        <p:spPr>
          <a:xfrm>
            <a:off x="17830800" y="3474720"/>
            <a:ext cx="292608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pc="436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 LIVE</a:t>
            </a:r>
          </a:p>
        </p:txBody>
      </p:sp>
      <p:sp>
        <p:nvSpPr>
          <p:cNvPr id="254" name="TextBox 8"/>
          <p:cNvSpPr txBox="1"/>
          <p:nvPr/>
        </p:nvSpPr>
        <p:spPr>
          <a:xfrm>
            <a:off x="21031200" y="3474720"/>
            <a:ext cx="228600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pc="436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255" name="Rectangle 9"/>
          <p:cNvSpPr/>
          <p:nvPr/>
        </p:nvSpPr>
        <p:spPr>
          <a:xfrm>
            <a:off x="1371600" y="3977640"/>
            <a:ext cx="21945600" cy="12701"/>
          </a:xfrm>
          <a:prstGeom prst="rect">
            <a:avLst/>
          </a:prstGeom>
          <a:solidFill>
            <a:srgbClr val="E5E7EB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6" name="TextBox 10"/>
          <p:cNvSpPr txBox="1"/>
          <p:nvPr/>
        </p:nvSpPr>
        <p:spPr>
          <a:xfrm>
            <a:off x="1371600" y="4434840"/>
            <a:ext cx="10058400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42946C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Digital Capabilities</a:t>
            </a:r>
          </a:p>
        </p:txBody>
      </p:sp>
      <p:sp>
        <p:nvSpPr>
          <p:cNvPr id="257" name="TextBox 11"/>
          <p:cNvSpPr txBox="1"/>
          <p:nvPr/>
        </p:nvSpPr>
        <p:spPr>
          <a:xfrm>
            <a:off x="11430000" y="4465249"/>
            <a:ext cx="292608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79</a:t>
            </a:r>
          </a:p>
        </p:txBody>
      </p:sp>
      <p:sp>
        <p:nvSpPr>
          <p:cNvPr id="258" name="TextBox 12"/>
          <p:cNvSpPr txBox="1"/>
          <p:nvPr/>
        </p:nvSpPr>
        <p:spPr>
          <a:xfrm>
            <a:off x="14630400" y="4465249"/>
            <a:ext cx="292608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30</a:t>
            </a:r>
          </a:p>
        </p:txBody>
      </p:sp>
      <p:sp>
        <p:nvSpPr>
          <p:cNvPr id="259" name="TextBox 13"/>
          <p:cNvSpPr txBox="1"/>
          <p:nvPr/>
        </p:nvSpPr>
        <p:spPr>
          <a:xfrm>
            <a:off x="17830800" y="4465249"/>
            <a:ext cx="292608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49</a:t>
            </a:r>
          </a:p>
        </p:txBody>
      </p:sp>
      <p:sp>
        <p:nvSpPr>
          <p:cNvPr id="260" name="TextBox 14"/>
          <p:cNvSpPr txBox="1"/>
          <p:nvPr/>
        </p:nvSpPr>
        <p:spPr>
          <a:xfrm>
            <a:off x="21031200" y="4465249"/>
            <a:ext cx="2286000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48</a:t>
            </a:r>
          </a:p>
        </p:txBody>
      </p:sp>
      <p:sp>
        <p:nvSpPr>
          <p:cNvPr id="261" name="Rectangle 15"/>
          <p:cNvSpPr/>
          <p:nvPr/>
        </p:nvSpPr>
        <p:spPr>
          <a:xfrm>
            <a:off x="1371600" y="5019675"/>
            <a:ext cx="21945600" cy="12700"/>
          </a:xfrm>
          <a:prstGeom prst="rect">
            <a:avLst/>
          </a:prstGeom>
          <a:solidFill>
            <a:srgbClr val="E5E7EB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2" name="TextBox 16"/>
          <p:cNvSpPr txBox="1"/>
          <p:nvPr/>
        </p:nvSpPr>
        <p:spPr>
          <a:xfrm>
            <a:off x="1371600" y="5303520"/>
            <a:ext cx="10058400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232DF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Local Market</a:t>
            </a:r>
          </a:p>
        </p:txBody>
      </p:sp>
      <p:sp>
        <p:nvSpPr>
          <p:cNvPr id="263" name="TextBox 17"/>
          <p:cNvSpPr txBox="1"/>
          <p:nvPr/>
        </p:nvSpPr>
        <p:spPr>
          <a:xfrm>
            <a:off x="11430000" y="5333929"/>
            <a:ext cx="292608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228</a:t>
            </a:r>
          </a:p>
        </p:txBody>
      </p:sp>
      <p:sp>
        <p:nvSpPr>
          <p:cNvPr id="264" name="TextBox 18"/>
          <p:cNvSpPr txBox="1"/>
          <p:nvPr/>
        </p:nvSpPr>
        <p:spPr>
          <a:xfrm>
            <a:off x="14630400" y="5333929"/>
            <a:ext cx="292608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141</a:t>
            </a:r>
          </a:p>
        </p:txBody>
      </p:sp>
      <p:sp>
        <p:nvSpPr>
          <p:cNvPr id="265" name="TextBox 19"/>
          <p:cNvSpPr txBox="1"/>
          <p:nvPr/>
        </p:nvSpPr>
        <p:spPr>
          <a:xfrm>
            <a:off x="17830800" y="5333929"/>
            <a:ext cx="292608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87</a:t>
            </a:r>
          </a:p>
        </p:txBody>
      </p:sp>
      <p:sp>
        <p:nvSpPr>
          <p:cNvPr id="266" name="TextBox 20"/>
          <p:cNvSpPr txBox="1"/>
          <p:nvPr/>
        </p:nvSpPr>
        <p:spPr>
          <a:xfrm>
            <a:off x="21031200" y="5333929"/>
            <a:ext cx="2286000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23</a:t>
            </a:r>
          </a:p>
        </p:txBody>
      </p:sp>
      <p:sp>
        <p:nvSpPr>
          <p:cNvPr id="267" name="Rectangle 21"/>
          <p:cNvSpPr/>
          <p:nvPr/>
        </p:nvSpPr>
        <p:spPr>
          <a:xfrm>
            <a:off x="1371600" y="5888354"/>
            <a:ext cx="21945600" cy="12701"/>
          </a:xfrm>
          <a:prstGeom prst="rect">
            <a:avLst/>
          </a:prstGeom>
          <a:solidFill>
            <a:srgbClr val="E5E7EB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8" name="TextBox 22"/>
          <p:cNvSpPr txBox="1"/>
          <p:nvPr/>
        </p:nvSpPr>
        <p:spPr>
          <a:xfrm>
            <a:off x="1371600" y="6172200"/>
            <a:ext cx="10058400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Mutual Fund</a:t>
            </a:r>
          </a:p>
        </p:txBody>
      </p:sp>
      <p:sp>
        <p:nvSpPr>
          <p:cNvPr id="269" name="TextBox 23"/>
          <p:cNvSpPr txBox="1"/>
          <p:nvPr/>
        </p:nvSpPr>
        <p:spPr>
          <a:xfrm>
            <a:off x="11430000" y="6202609"/>
            <a:ext cx="292608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183</a:t>
            </a:r>
          </a:p>
        </p:txBody>
      </p:sp>
      <p:sp>
        <p:nvSpPr>
          <p:cNvPr id="270" name="TextBox 24"/>
          <p:cNvSpPr txBox="1"/>
          <p:nvPr/>
        </p:nvSpPr>
        <p:spPr>
          <a:xfrm>
            <a:off x="14630400" y="6202609"/>
            <a:ext cx="292608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122</a:t>
            </a:r>
          </a:p>
        </p:txBody>
      </p:sp>
      <p:sp>
        <p:nvSpPr>
          <p:cNvPr id="271" name="TextBox 25"/>
          <p:cNvSpPr txBox="1"/>
          <p:nvPr/>
        </p:nvSpPr>
        <p:spPr>
          <a:xfrm>
            <a:off x="17830800" y="6202609"/>
            <a:ext cx="292608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61</a:t>
            </a:r>
          </a:p>
        </p:txBody>
      </p:sp>
      <p:sp>
        <p:nvSpPr>
          <p:cNvPr id="272" name="TextBox 26"/>
          <p:cNvSpPr txBox="1"/>
          <p:nvPr/>
        </p:nvSpPr>
        <p:spPr>
          <a:xfrm>
            <a:off x="21031200" y="6202609"/>
            <a:ext cx="2286000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273" name="Rectangle 27"/>
          <p:cNvSpPr/>
          <p:nvPr/>
        </p:nvSpPr>
        <p:spPr>
          <a:xfrm>
            <a:off x="1371600" y="6757034"/>
            <a:ext cx="21945600" cy="12701"/>
          </a:xfrm>
          <a:prstGeom prst="rect">
            <a:avLst/>
          </a:prstGeom>
          <a:solidFill>
            <a:srgbClr val="E5E7EB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4" name="TextBox 28"/>
          <p:cNvSpPr txBox="1"/>
          <p:nvPr/>
        </p:nvSpPr>
        <p:spPr>
          <a:xfrm>
            <a:off x="1371600" y="7040880"/>
            <a:ext cx="10058400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232DF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US Market</a:t>
            </a:r>
          </a:p>
        </p:txBody>
      </p:sp>
      <p:sp>
        <p:nvSpPr>
          <p:cNvPr id="275" name="TextBox 29"/>
          <p:cNvSpPr txBox="1"/>
          <p:nvPr/>
        </p:nvSpPr>
        <p:spPr>
          <a:xfrm>
            <a:off x="11430000" y="7071289"/>
            <a:ext cx="292608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237</a:t>
            </a:r>
          </a:p>
        </p:txBody>
      </p:sp>
      <p:sp>
        <p:nvSpPr>
          <p:cNvPr id="276" name="TextBox 30"/>
          <p:cNvSpPr txBox="1"/>
          <p:nvPr/>
        </p:nvSpPr>
        <p:spPr>
          <a:xfrm>
            <a:off x="14630400" y="7071289"/>
            <a:ext cx="292608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154</a:t>
            </a:r>
          </a:p>
        </p:txBody>
      </p:sp>
      <p:sp>
        <p:nvSpPr>
          <p:cNvPr id="277" name="TextBox 31"/>
          <p:cNvSpPr txBox="1"/>
          <p:nvPr/>
        </p:nvSpPr>
        <p:spPr>
          <a:xfrm>
            <a:off x="17830800" y="7071289"/>
            <a:ext cx="292608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83</a:t>
            </a:r>
          </a:p>
        </p:txBody>
      </p:sp>
      <p:sp>
        <p:nvSpPr>
          <p:cNvPr id="278" name="TextBox 32"/>
          <p:cNvSpPr txBox="1"/>
          <p:nvPr/>
        </p:nvSpPr>
        <p:spPr>
          <a:xfrm>
            <a:off x="21031200" y="7071289"/>
            <a:ext cx="2286000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31</a:t>
            </a:r>
          </a:p>
        </p:txBody>
      </p:sp>
      <p:sp>
        <p:nvSpPr>
          <p:cNvPr id="279" name="Rectangle 33"/>
          <p:cNvSpPr/>
          <p:nvPr/>
        </p:nvSpPr>
        <p:spPr>
          <a:xfrm>
            <a:off x="1371600" y="7625715"/>
            <a:ext cx="21945600" cy="12701"/>
          </a:xfrm>
          <a:prstGeom prst="rect">
            <a:avLst/>
          </a:prstGeom>
          <a:solidFill>
            <a:srgbClr val="E5E7EB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0" name="TextBox 34"/>
          <p:cNvSpPr txBox="1"/>
          <p:nvPr/>
        </p:nvSpPr>
        <p:spPr>
          <a:xfrm>
            <a:off x="1371600" y="7909561"/>
            <a:ext cx="10058400" cy="320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Mashurah (Robo)</a:t>
            </a:r>
          </a:p>
        </p:txBody>
      </p:sp>
      <p:sp>
        <p:nvSpPr>
          <p:cNvPr id="281" name="TextBox 35"/>
          <p:cNvSpPr txBox="1"/>
          <p:nvPr/>
        </p:nvSpPr>
        <p:spPr>
          <a:xfrm>
            <a:off x="11430000" y="7939969"/>
            <a:ext cx="2926081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74</a:t>
            </a:r>
          </a:p>
        </p:txBody>
      </p:sp>
      <p:sp>
        <p:nvSpPr>
          <p:cNvPr id="282" name="TextBox 36"/>
          <p:cNvSpPr txBox="1"/>
          <p:nvPr/>
        </p:nvSpPr>
        <p:spPr>
          <a:xfrm>
            <a:off x="14630400" y="7939969"/>
            <a:ext cx="2926081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39</a:t>
            </a:r>
          </a:p>
        </p:txBody>
      </p:sp>
      <p:sp>
        <p:nvSpPr>
          <p:cNvPr id="283" name="TextBox 37"/>
          <p:cNvSpPr txBox="1"/>
          <p:nvPr/>
        </p:nvSpPr>
        <p:spPr>
          <a:xfrm>
            <a:off x="17830800" y="7939969"/>
            <a:ext cx="2926081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35</a:t>
            </a:r>
          </a:p>
        </p:txBody>
      </p:sp>
      <p:sp>
        <p:nvSpPr>
          <p:cNvPr id="284" name="TextBox 38"/>
          <p:cNvSpPr txBox="1"/>
          <p:nvPr/>
        </p:nvSpPr>
        <p:spPr>
          <a:xfrm>
            <a:off x="21031200" y="7939969"/>
            <a:ext cx="2286000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85" name="Rectangle 39"/>
          <p:cNvSpPr/>
          <p:nvPr/>
        </p:nvSpPr>
        <p:spPr>
          <a:xfrm>
            <a:off x="1371600" y="8494394"/>
            <a:ext cx="21945600" cy="12701"/>
          </a:xfrm>
          <a:prstGeom prst="rect">
            <a:avLst/>
          </a:prstGeom>
          <a:solidFill>
            <a:srgbClr val="E5E7EB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6" name="TextBox 40"/>
          <p:cNvSpPr txBox="1"/>
          <p:nvPr/>
        </p:nvSpPr>
        <p:spPr>
          <a:xfrm>
            <a:off x="1371600" y="8778240"/>
            <a:ext cx="10058400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IPO</a:t>
            </a:r>
          </a:p>
        </p:txBody>
      </p:sp>
      <p:sp>
        <p:nvSpPr>
          <p:cNvPr id="287" name="TextBox 41"/>
          <p:cNvSpPr txBox="1"/>
          <p:nvPr/>
        </p:nvSpPr>
        <p:spPr>
          <a:xfrm>
            <a:off x="11430000" y="8808649"/>
            <a:ext cx="292608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288" name="TextBox 42"/>
          <p:cNvSpPr txBox="1"/>
          <p:nvPr/>
        </p:nvSpPr>
        <p:spPr>
          <a:xfrm>
            <a:off x="14630400" y="8808649"/>
            <a:ext cx="292608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89" name="TextBox 43"/>
          <p:cNvSpPr txBox="1"/>
          <p:nvPr/>
        </p:nvSpPr>
        <p:spPr>
          <a:xfrm>
            <a:off x="17830800" y="8808649"/>
            <a:ext cx="292608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90" name="TextBox 44"/>
          <p:cNvSpPr txBox="1"/>
          <p:nvPr/>
        </p:nvSpPr>
        <p:spPr>
          <a:xfrm>
            <a:off x="21031200" y="8808649"/>
            <a:ext cx="2286000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91" name="Rectangle 45"/>
          <p:cNvSpPr/>
          <p:nvPr/>
        </p:nvSpPr>
        <p:spPr>
          <a:xfrm>
            <a:off x="1371600" y="9363075"/>
            <a:ext cx="21945600" cy="12700"/>
          </a:xfrm>
          <a:prstGeom prst="rect">
            <a:avLst/>
          </a:prstGeom>
          <a:solidFill>
            <a:srgbClr val="E5E7EB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2" name="TextBox 46"/>
          <p:cNvSpPr txBox="1"/>
          <p:nvPr/>
        </p:nvSpPr>
        <p:spPr>
          <a:xfrm>
            <a:off x="1371600" y="9646920"/>
            <a:ext cx="10058400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LMS</a:t>
            </a:r>
          </a:p>
        </p:txBody>
      </p:sp>
      <p:sp>
        <p:nvSpPr>
          <p:cNvPr id="293" name="TextBox 47"/>
          <p:cNvSpPr txBox="1"/>
          <p:nvPr/>
        </p:nvSpPr>
        <p:spPr>
          <a:xfrm>
            <a:off x="11430000" y="9677329"/>
            <a:ext cx="292608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27</a:t>
            </a:r>
          </a:p>
        </p:txBody>
      </p:sp>
      <p:sp>
        <p:nvSpPr>
          <p:cNvPr id="294" name="TextBox 48"/>
          <p:cNvSpPr txBox="1"/>
          <p:nvPr/>
        </p:nvSpPr>
        <p:spPr>
          <a:xfrm>
            <a:off x="14630400" y="9677329"/>
            <a:ext cx="292608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295" name="TextBox 49"/>
          <p:cNvSpPr txBox="1"/>
          <p:nvPr/>
        </p:nvSpPr>
        <p:spPr>
          <a:xfrm>
            <a:off x="17830800" y="9677329"/>
            <a:ext cx="292608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96" name="TextBox 50"/>
          <p:cNvSpPr txBox="1"/>
          <p:nvPr/>
        </p:nvSpPr>
        <p:spPr>
          <a:xfrm>
            <a:off x="21031200" y="9677329"/>
            <a:ext cx="2286000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18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97" name="Rectangle 51"/>
          <p:cNvSpPr/>
          <p:nvPr/>
        </p:nvSpPr>
        <p:spPr>
          <a:xfrm>
            <a:off x="1371600" y="10231755"/>
            <a:ext cx="21945600" cy="12701"/>
          </a:xfrm>
          <a:prstGeom prst="rect">
            <a:avLst/>
          </a:prstGeom>
          <a:solidFill>
            <a:srgbClr val="E5E7EB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8" name="Rectangle 52"/>
          <p:cNvSpPr/>
          <p:nvPr/>
        </p:nvSpPr>
        <p:spPr>
          <a:xfrm>
            <a:off x="1371600" y="10332719"/>
            <a:ext cx="21945600" cy="25401"/>
          </a:xfrm>
          <a:prstGeom prst="rect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57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9" name="TextBox 53"/>
          <p:cNvSpPr txBox="1"/>
          <p:nvPr/>
        </p:nvSpPr>
        <p:spPr>
          <a:xfrm>
            <a:off x="1371600" y="10793244"/>
            <a:ext cx="10058400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b="1" spc="400" sz="16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GRAND TOTAL</a:t>
            </a:r>
          </a:p>
        </p:txBody>
      </p:sp>
      <p:sp>
        <p:nvSpPr>
          <p:cNvPr id="300" name="TextBox 54"/>
          <p:cNvSpPr txBox="1"/>
          <p:nvPr/>
        </p:nvSpPr>
        <p:spPr>
          <a:xfrm>
            <a:off x="11430000" y="10762325"/>
            <a:ext cx="2926081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2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844</a:t>
            </a:r>
          </a:p>
        </p:txBody>
      </p:sp>
      <p:sp>
        <p:nvSpPr>
          <p:cNvPr id="301" name="TextBox 55"/>
          <p:cNvSpPr txBox="1"/>
          <p:nvPr/>
        </p:nvSpPr>
        <p:spPr>
          <a:xfrm>
            <a:off x="14630400" y="10762325"/>
            <a:ext cx="2926081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200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514</a:t>
            </a:r>
          </a:p>
        </p:txBody>
      </p:sp>
      <p:sp>
        <p:nvSpPr>
          <p:cNvPr id="302" name="TextBox 56"/>
          <p:cNvSpPr txBox="1"/>
          <p:nvPr/>
        </p:nvSpPr>
        <p:spPr>
          <a:xfrm>
            <a:off x="17830800" y="10762325"/>
            <a:ext cx="2926081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20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330</a:t>
            </a:r>
          </a:p>
        </p:txBody>
      </p:sp>
      <p:sp>
        <p:nvSpPr>
          <p:cNvPr id="303" name="TextBox 57"/>
          <p:cNvSpPr txBox="1"/>
          <p:nvPr/>
        </p:nvSpPr>
        <p:spPr>
          <a:xfrm>
            <a:off x="21031200" y="10762325"/>
            <a:ext cx="2286000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b="1" sz="2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122</a:t>
            </a:r>
          </a:p>
        </p:txBody>
      </p:sp>
      <p:sp>
        <p:nvSpPr>
          <p:cNvPr id="304" name="TextBox 58"/>
          <p:cNvSpPr txBox="1"/>
          <p:nvPr/>
        </p:nvSpPr>
        <p:spPr>
          <a:xfrm>
            <a:off x="23317200" y="13075919"/>
            <a:ext cx="914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457200">
              <a:lnSpc>
                <a:spcPct val="100000"/>
              </a:lnSpc>
              <a:spcBef>
                <a:spcPts val="0"/>
              </a:spcBef>
              <a:defRPr spc="200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 / 07</a:t>
            </a:r>
          </a:p>
        </p:txBody>
      </p:sp>
      <p:pic>
        <p:nvPicPr>
          <p:cNvPr id="305" name="Picture 232" descr="Picture 23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Picture 235" descr="Picture 23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308" name="TextBox 236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005 / 111</a:t>
            </a:r>
          </a:p>
        </p:txBody>
      </p:sp>
      <p:sp>
        <p:nvSpPr>
          <p:cNvPr id="309" name="TextBox 237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OVERVIEW</a:t>
            </a:r>
          </a:p>
        </p:txBody>
      </p:sp>
      <p:sp>
        <p:nvSpPr>
          <p:cNvPr id="310" name="TextBox 238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Table of Contents</a:t>
            </a:r>
          </a:p>
        </p:txBody>
      </p:sp>
      <p:sp>
        <p:nvSpPr>
          <p:cNvPr id="311" name="Connector 239"/>
          <p:cNvSpPr/>
          <p:nvPr/>
        </p:nvSpPr>
        <p:spPr>
          <a:xfrm>
            <a:off x="1371599" y="4480559"/>
            <a:ext cx="21671283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2" name="TextBox 240"/>
          <p:cNvSpPr txBox="1"/>
          <p:nvPr/>
        </p:nvSpPr>
        <p:spPr>
          <a:xfrm>
            <a:off x="1371600" y="4777740"/>
            <a:ext cx="10972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006</a:t>
            </a:r>
          </a:p>
        </p:txBody>
      </p:sp>
      <p:sp>
        <p:nvSpPr>
          <p:cNvPr id="313" name="TextBox 241"/>
          <p:cNvSpPr txBox="1"/>
          <p:nvPr/>
        </p:nvSpPr>
        <p:spPr>
          <a:xfrm>
            <a:off x="2743200" y="4777740"/>
            <a:ext cx="18288000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Poppins Regular"/>
                <a:ea typeface="Poppins Regular"/>
                <a:cs typeface="Poppins Regular"/>
                <a:sym typeface="Poppins Regular"/>
                <a:hlinkClick r:id="rId3" invalidUrl="" action="ppaction://hlinksldjump" tgtFrame="" tooltip="" history="1" highlightClick="0" endSnd="0"/>
              </a:defRPr>
            </a:lvl1pPr>
          </a:lstStyle>
          <a:p>
            <a:pPr/>
            <a:r>
              <a:rPr>
                <a:hlinkClick r:id="rId3" invalidUrl="" action="ppaction://hlinksldjump" tgtFrame="" tooltip="" history="1" highlightClick="0" endSnd="0"/>
              </a:rPr>
              <a:t>Gap Summary</a:t>
            </a:r>
          </a:p>
        </p:txBody>
      </p:sp>
      <p:sp>
        <p:nvSpPr>
          <p:cNvPr id="314" name="Connector 242"/>
          <p:cNvSpPr/>
          <p:nvPr/>
        </p:nvSpPr>
        <p:spPr>
          <a:xfrm>
            <a:off x="1371599" y="5394959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5" name="TextBox 243"/>
          <p:cNvSpPr txBox="1"/>
          <p:nvPr/>
        </p:nvSpPr>
        <p:spPr>
          <a:xfrm>
            <a:off x="1371600" y="5600699"/>
            <a:ext cx="1097281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011</a:t>
            </a:r>
          </a:p>
        </p:txBody>
      </p:sp>
      <p:sp>
        <p:nvSpPr>
          <p:cNvPr id="316" name="TextBox 244"/>
          <p:cNvSpPr txBox="1"/>
          <p:nvPr/>
        </p:nvSpPr>
        <p:spPr>
          <a:xfrm>
            <a:off x="2743200" y="5600700"/>
            <a:ext cx="18288000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Poppins Regular"/>
                <a:ea typeface="Poppins Regular"/>
                <a:cs typeface="Poppins Regular"/>
                <a:sym typeface="Poppins Regular"/>
                <a:hlinkClick r:id="rId4" invalidUrl="" action="ppaction://hlinksldjump" tgtFrame="" tooltip="" history="1" highlightClick="0" endSnd="0"/>
              </a:defRPr>
            </a:lvl1pPr>
          </a:lstStyle>
          <a:p>
            <a:pPr/>
            <a:r>
              <a:rPr>
                <a:hlinkClick r:id="rId4" invalidUrl="" action="ppaction://hlinksldjump" tgtFrame="" tooltip="" history="1" highlightClick="0" endSnd="0"/>
              </a:rPr>
              <a:t>Digital Capabilities</a:t>
            </a:r>
          </a:p>
        </p:txBody>
      </p:sp>
      <p:sp>
        <p:nvSpPr>
          <p:cNvPr id="317" name="Connector 245"/>
          <p:cNvSpPr/>
          <p:nvPr/>
        </p:nvSpPr>
        <p:spPr>
          <a:xfrm>
            <a:off x="1371599" y="6217920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8" name="TextBox 246"/>
          <p:cNvSpPr txBox="1"/>
          <p:nvPr/>
        </p:nvSpPr>
        <p:spPr>
          <a:xfrm>
            <a:off x="1371600" y="6423659"/>
            <a:ext cx="10972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018</a:t>
            </a:r>
          </a:p>
        </p:txBody>
      </p:sp>
      <p:sp>
        <p:nvSpPr>
          <p:cNvPr id="319" name="TextBox 247"/>
          <p:cNvSpPr txBox="1"/>
          <p:nvPr/>
        </p:nvSpPr>
        <p:spPr>
          <a:xfrm>
            <a:off x="2743200" y="6423659"/>
            <a:ext cx="18288000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Poppins Regular"/>
                <a:ea typeface="Poppins Regular"/>
                <a:cs typeface="Poppins Regular"/>
                <a:sym typeface="Poppins Regular"/>
                <a:hlinkClick r:id="rId5" invalidUrl="" action="ppaction://hlinksldjump" tgtFrame="" tooltip="" history="1" highlightClick="0" endSnd="0"/>
              </a:defRPr>
            </a:lvl1pPr>
          </a:lstStyle>
          <a:p>
            <a:pPr/>
            <a:r>
              <a:rPr>
                <a:hlinkClick r:id="rId5" invalidUrl="" action="ppaction://hlinksldjump" tgtFrame="" tooltip="" history="1" highlightClick="0" endSnd="0"/>
              </a:rPr>
              <a:t>Local Market</a:t>
            </a:r>
          </a:p>
        </p:txBody>
      </p:sp>
      <p:sp>
        <p:nvSpPr>
          <p:cNvPr id="320" name="Connector 248"/>
          <p:cNvSpPr/>
          <p:nvPr/>
        </p:nvSpPr>
        <p:spPr>
          <a:xfrm>
            <a:off x="1371599" y="7040880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1" name="TextBox 249"/>
          <p:cNvSpPr txBox="1"/>
          <p:nvPr/>
        </p:nvSpPr>
        <p:spPr>
          <a:xfrm>
            <a:off x="1371600" y="7246618"/>
            <a:ext cx="1097281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041</a:t>
            </a:r>
          </a:p>
        </p:txBody>
      </p:sp>
      <p:sp>
        <p:nvSpPr>
          <p:cNvPr id="322" name="TextBox 250"/>
          <p:cNvSpPr txBox="1"/>
          <p:nvPr/>
        </p:nvSpPr>
        <p:spPr>
          <a:xfrm>
            <a:off x="2743200" y="7246618"/>
            <a:ext cx="18288000" cy="35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Poppins Regular"/>
                <a:ea typeface="Poppins Regular"/>
                <a:cs typeface="Poppins Regular"/>
                <a:sym typeface="Poppins Regular"/>
                <a:hlinkClick r:id="rId6" invalidUrl="" action="ppaction://hlinksldjump" tgtFrame="" tooltip="" history="1" highlightClick="0" endSnd="0"/>
              </a:defRPr>
            </a:lvl1pPr>
          </a:lstStyle>
          <a:p>
            <a:pPr/>
            <a:r>
              <a:rPr>
                <a:hlinkClick r:id="rId6" invalidUrl="" action="ppaction://hlinksldjump" tgtFrame="" tooltip="" history="1" highlightClick="0" endSnd="0"/>
              </a:rPr>
              <a:t>Mutual Fund</a:t>
            </a:r>
          </a:p>
        </p:txBody>
      </p:sp>
      <p:sp>
        <p:nvSpPr>
          <p:cNvPr id="323" name="Connector 251"/>
          <p:cNvSpPr/>
          <p:nvPr/>
        </p:nvSpPr>
        <p:spPr>
          <a:xfrm>
            <a:off x="1371599" y="7863840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4" name="TextBox 252"/>
          <p:cNvSpPr txBox="1"/>
          <p:nvPr/>
        </p:nvSpPr>
        <p:spPr>
          <a:xfrm>
            <a:off x="1371600" y="8069580"/>
            <a:ext cx="10972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060</a:t>
            </a:r>
          </a:p>
        </p:txBody>
      </p:sp>
      <p:sp>
        <p:nvSpPr>
          <p:cNvPr id="325" name="TextBox 253"/>
          <p:cNvSpPr txBox="1"/>
          <p:nvPr/>
        </p:nvSpPr>
        <p:spPr>
          <a:xfrm>
            <a:off x="2743200" y="8069580"/>
            <a:ext cx="18288000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Poppins Regular"/>
                <a:ea typeface="Poppins Regular"/>
                <a:cs typeface="Poppins Regular"/>
                <a:sym typeface="Poppins Regular"/>
                <a:hlinkClick r:id="rId7" invalidUrl="" action="ppaction://hlinksldjump" tgtFrame="" tooltip="" history="1" highlightClick="0" endSnd="0"/>
              </a:defRPr>
            </a:lvl1pPr>
          </a:lstStyle>
          <a:p>
            <a:pPr/>
            <a:r>
              <a:rPr>
                <a:hlinkClick r:id="rId7" invalidUrl="" action="ppaction://hlinksldjump" tgtFrame="" tooltip="" history="1" highlightClick="0" endSnd="0"/>
              </a:rPr>
              <a:t>US Market</a:t>
            </a:r>
          </a:p>
        </p:txBody>
      </p:sp>
      <p:sp>
        <p:nvSpPr>
          <p:cNvPr id="326" name="Connector 254"/>
          <p:cNvSpPr/>
          <p:nvPr/>
        </p:nvSpPr>
        <p:spPr>
          <a:xfrm>
            <a:off x="1371599" y="8686800"/>
            <a:ext cx="21671283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7" name="TextBox 255"/>
          <p:cNvSpPr txBox="1"/>
          <p:nvPr/>
        </p:nvSpPr>
        <p:spPr>
          <a:xfrm>
            <a:off x="1371600" y="8892540"/>
            <a:ext cx="10972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083</a:t>
            </a:r>
          </a:p>
        </p:txBody>
      </p:sp>
      <p:sp>
        <p:nvSpPr>
          <p:cNvPr id="328" name="TextBox 256"/>
          <p:cNvSpPr txBox="1"/>
          <p:nvPr/>
        </p:nvSpPr>
        <p:spPr>
          <a:xfrm>
            <a:off x="2743200" y="8892540"/>
            <a:ext cx="18288000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Poppins Regular"/>
                <a:ea typeface="Poppins Regular"/>
                <a:cs typeface="Poppins Regular"/>
                <a:sym typeface="Poppins Regular"/>
                <a:hlinkClick r:id="rId8" invalidUrl="" action="ppaction://hlinksldjump" tgtFrame="" tooltip="" history="1" highlightClick="0" endSnd="0"/>
              </a:defRPr>
            </a:lvl1pPr>
          </a:lstStyle>
          <a:p>
            <a:pPr/>
            <a:r>
              <a:rPr>
                <a:hlinkClick r:id="rId8" invalidUrl="" action="ppaction://hlinksldjump" tgtFrame="" tooltip="" history="1" highlightClick="0" endSnd="0"/>
              </a:rPr>
              <a:t>Mashurah (Robo)</a:t>
            </a:r>
          </a:p>
        </p:txBody>
      </p:sp>
      <p:sp>
        <p:nvSpPr>
          <p:cNvPr id="329" name="Connector 257"/>
          <p:cNvSpPr/>
          <p:nvPr/>
        </p:nvSpPr>
        <p:spPr>
          <a:xfrm>
            <a:off x="1371599" y="9509759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0" name="TextBox 258"/>
          <p:cNvSpPr txBox="1"/>
          <p:nvPr/>
        </p:nvSpPr>
        <p:spPr>
          <a:xfrm>
            <a:off x="1371600" y="9715499"/>
            <a:ext cx="1097281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102</a:t>
            </a:r>
          </a:p>
        </p:txBody>
      </p:sp>
      <p:sp>
        <p:nvSpPr>
          <p:cNvPr id="331" name="TextBox 259"/>
          <p:cNvSpPr txBox="1"/>
          <p:nvPr/>
        </p:nvSpPr>
        <p:spPr>
          <a:xfrm>
            <a:off x="2743200" y="9715500"/>
            <a:ext cx="18288000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Poppins Regular"/>
                <a:ea typeface="Poppins Regular"/>
                <a:cs typeface="Poppins Regular"/>
                <a:sym typeface="Poppins Regular"/>
                <a:hlinkClick r:id="rId9" invalidUrl="" action="ppaction://hlinksldjump" tgtFrame="" tooltip="" history="1" highlightClick="0" endSnd="0"/>
              </a:defRPr>
            </a:lvl1pPr>
          </a:lstStyle>
          <a:p>
            <a:pPr/>
            <a:r>
              <a:rPr>
                <a:hlinkClick r:id="rId9" invalidUrl="" action="ppaction://hlinksldjump" tgtFrame="" tooltip="" history="1" highlightClick="0" endSnd="0"/>
              </a:rPr>
              <a:t>IPO</a:t>
            </a:r>
          </a:p>
        </p:txBody>
      </p:sp>
      <p:sp>
        <p:nvSpPr>
          <p:cNvPr id="332" name="Connector 260"/>
          <p:cNvSpPr/>
          <p:nvPr/>
        </p:nvSpPr>
        <p:spPr>
          <a:xfrm>
            <a:off x="1371599" y="10332718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3" name="TextBox 261"/>
          <p:cNvSpPr txBox="1"/>
          <p:nvPr/>
        </p:nvSpPr>
        <p:spPr>
          <a:xfrm>
            <a:off x="1371600" y="10538459"/>
            <a:ext cx="109728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106</a:t>
            </a:r>
          </a:p>
        </p:txBody>
      </p:sp>
      <p:sp>
        <p:nvSpPr>
          <p:cNvPr id="334" name="TextBox 262"/>
          <p:cNvSpPr txBox="1"/>
          <p:nvPr/>
        </p:nvSpPr>
        <p:spPr>
          <a:xfrm>
            <a:off x="2743200" y="10538459"/>
            <a:ext cx="18288000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Poppins Regular"/>
                <a:ea typeface="Poppins Regular"/>
                <a:cs typeface="Poppins Regular"/>
                <a:sym typeface="Poppins Regular"/>
                <a:hlinkClick r:id="rId10" invalidUrl="" action="ppaction://hlinksldjump" tgtFrame="" tooltip="" history="1" highlightClick="0" endSnd="0"/>
              </a:defRPr>
            </a:lvl1pPr>
          </a:lstStyle>
          <a:p>
            <a:pPr/>
            <a:r>
              <a:rPr>
                <a:hlinkClick r:id="rId10" invalidUrl="" action="ppaction://hlinksldjump" tgtFrame="" tooltip="" history="1" highlightClick="0" endSnd="0"/>
              </a:rPr>
              <a:t>LMS</a:t>
            </a:r>
          </a:p>
        </p:txBody>
      </p:sp>
      <p:sp>
        <p:nvSpPr>
          <p:cNvPr id="335" name="Connector 263"/>
          <p:cNvSpPr/>
          <p:nvPr/>
        </p:nvSpPr>
        <p:spPr>
          <a:xfrm>
            <a:off x="1371599" y="11155680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extBox 2"/>
          <p:cNvSpPr txBox="1"/>
          <p:nvPr/>
        </p:nvSpPr>
        <p:spPr>
          <a:xfrm>
            <a:off x="18928080" y="1097280"/>
            <a:ext cx="457200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400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APRIL 2026</a:t>
            </a:r>
          </a:p>
        </p:txBody>
      </p:sp>
      <p:sp>
        <p:nvSpPr>
          <p:cNvPr id="338" name="Connector 3"/>
          <p:cNvSpPr/>
          <p:nvPr/>
        </p:nvSpPr>
        <p:spPr>
          <a:xfrm>
            <a:off x="1371600" y="4114800"/>
            <a:ext cx="914401" cy="0"/>
          </a:xfrm>
          <a:prstGeom prst="line">
            <a:avLst/>
          </a:prstGeom>
          <a:ln w="3175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9" name="TextBox 4"/>
          <p:cNvSpPr txBox="1"/>
          <p:nvPr/>
        </p:nvSpPr>
        <p:spPr>
          <a:xfrm>
            <a:off x="1371600" y="4389120"/>
            <a:ext cx="20116800" cy="2489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4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Gaps </a:t>
            </a:r>
            <a:r>
              <a:rPr>
                <a:solidFill>
                  <a:srgbClr val="0333E8"/>
                </a:solidFill>
              </a:rPr>
              <a:t>Summary</a:t>
            </a:r>
          </a:p>
        </p:txBody>
      </p:sp>
      <p:sp>
        <p:nvSpPr>
          <p:cNvPr id="340" name="TextBox 5"/>
          <p:cNvSpPr txBox="1"/>
          <p:nvPr/>
        </p:nvSpPr>
        <p:spPr>
          <a:xfrm>
            <a:off x="1371600" y="7863840"/>
            <a:ext cx="20116800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Cross-product capability gaps identified across all products</a:t>
            </a:r>
          </a:p>
        </p:txBody>
      </p:sp>
      <p:sp>
        <p:nvSpPr>
          <p:cNvPr id="341" name="TextBox 6"/>
          <p:cNvSpPr txBox="1"/>
          <p:nvPr/>
        </p:nvSpPr>
        <p:spPr>
          <a:xfrm>
            <a:off x="1371600" y="9144000"/>
            <a:ext cx="20116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400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MUTUAL FUND  ·  US MARKET  ·  MASHURAH</a:t>
            </a:r>
          </a:p>
        </p:txBody>
      </p:sp>
      <p:sp>
        <p:nvSpPr>
          <p:cNvPr id="342" name="TextBox 7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006 / 111</a:t>
            </a:r>
          </a:p>
        </p:txBody>
      </p:sp>
      <p:pic>
        <p:nvPicPr>
          <p:cNvPr id="34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2200" cy="8220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Picture 244" descr="Picture 24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346" name="TextBox 245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007 / 111</a:t>
            </a:r>
          </a:p>
        </p:txBody>
      </p:sp>
      <p:sp>
        <p:nvSpPr>
          <p:cNvPr id="347" name="TextBox 246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GAPS SUMMARY</a:t>
            </a:r>
          </a:p>
        </p:txBody>
      </p:sp>
      <p:sp>
        <p:nvSpPr>
          <p:cNvPr id="348" name="TextBox 247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Local Market</a:t>
            </a:r>
          </a:p>
        </p:txBody>
      </p:sp>
      <p:sp>
        <p:nvSpPr>
          <p:cNvPr id="349" name="TextBox 248"/>
          <p:cNvSpPr txBox="1"/>
          <p:nvPr/>
        </p:nvSpPr>
        <p:spPr>
          <a:xfrm>
            <a:off x="1371600" y="4114800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350" name="TextBox 249"/>
          <p:cNvSpPr txBox="1"/>
          <p:nvPr/>
        </p:nvSpPr>
        <p:spPr>
          <a:xfrm>
            <a:off x="2285999" y="4114800"/>
            <a:ext cx="621792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DOMAIN</a:t>
            </a:r>
          </a:p>
        </p:txBody>
      </p:sp>
      <p:sp>
        <p:nvSpPr>
          <p:cNvPr id="351" name="TextBox 250"/>
          <p:cNvSpPr txBox="1"/>
          <p:nvPr/>
        </p:nvSpPr>
        <p:spPr>
          <a:xfrm>
            <a:off x="8686799" y="4114800"/>
            <a:ext cx="1435608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KEY MISSING CAPABILITIES</a:t>
            </a:r>
          </a:p>
        </p:txBody>
      </p:sp>
      <p:sp>
        <p:nvSpPr>
          <p:cNvPr id="352" name="Connector 251"/>
          <p:cNvSpPr/>
          <p:nvPr/>
        </p:nvSpPr>
        <p:spPr>
          <a:xfrm>
            <a:off x="1371599" y="4526279"/>
            <a:ext cx="21671283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3" name="TextBox 252"/>
          <p:cNvSpPr txBox="1"/>
          <p:nvPr/>
        </p:nvSpPr>
        <p:spPr>
          <a:xfrm>
            <a:off x="1371600" y="472176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54" name="TextBox 253"/>
          <p:cNvSpPr txBox="1"/>
          <p:nvPr/>
        </p:nvSpPr>
        <p:spPr>
          <a:xfrm>
            <a:off x="2285999" y="4721764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Portfolio Analytics &amp; Health</a:t>
            </a:r>
          </a:p>
        </p:txBody>
      </p:sp>
      <p:sp>
        <p:nvSpPr>
          <p:cNvPr id="355" name="TextBox 254"/>
          <p:cNvSpPr txBox="1"/>
          <p:nvPr/>
        </p:nvSpPr>
        <p:spPr>
          <a:xfrm>
            <a:off x="8686799" y="4721764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Health score, diversification score, risk analysis, benchmark comparison, volatility metrics</a:t>
            </a:r>
          </a:p>
        </p:txBody>
      </p:sp>
      <p:sp>
        <p:nvSpPr>
          <p:cNvPr id="356" name="Connector 255"/>
          <p:cNvSpPr/>
          <p:nvPr/>
        </p:nvSpPr>
        <p:spPr>
          <a:xfrm>
            <a:off x="1371599" y="5195751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7" name="TextBox 256"/>
          <p:cNvSpPr txBox="1"/>
          <p:nvPr/>
        </p:nvSpPr>
        <p:spPr>
          <a:xfrm>
            <a:off x="1371600" y="5299795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58" name="TextBox 257"/>
          <p:cNvSpPr txBox="1"/>
          <p:nvPr/>
        </p:nvSpPr>
        <p:spPr>
          <a:xfrm>
            <a:off x="2285999" y="5299795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Portfolio Insights &amp; Intelligence</a:t>
            </a:r>
          </a:p>
        </p:txBody>
      </p:sp>
      <p:sp>
        <p:nvSpPr>
          <p:cNvPr id="359" name="TextBox 258"/>
          <p:cNvSpPr txBox="1"/>
          <p:nvPr/>
        </p:nvSpPr>
        <p:spPr>
          <a:xfrm>
            <a:off x="8686799" y="5299795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Allocation analytics, dividend tracking, unrealized analysis, transaction insights, trend analytics</a:t>
            </a:r>
          </a:p>
        </p:txBody>
      </p:sp>
      <p:sp>
        <p:nvSpPr>
          <p:cNvPr id="360" name="Connector 259"/>
          <p:cNvSpPr/>
          <p:nvPr/>
        </p:nvSpPr>
        <p:spPr>
          <a:xfrm>
            <a:off x="1371599" y="5773782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1" name="TextBox 260"/>
          <p:cNvSpPr txBox="1"/>
          <p:nvPr/>
        </p:nvSpPr>
        <p:spPr>
          <a:xfrm>
            <a:off x="1371600" y="5877826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62" name="TextBox 261"/>
          <p:cNvSpPr txBox="1"/>
          <p:nvPr/>
        </p:nvSpPr>
        <p:spPr>
          <a:xfrm>
            <a:off x="2285999" y="5877826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Market Benchmark Integration</a:t>
            </a:r>
          </a:p>
        </p:txBody>
      </p:sp>
      <p:sp>
        <p:nvSpPr>
          <p:cNvPr id="363" name="TextBox 262"/>
          <p:cNvSpPr txBox="1"/>
          <p:nvPr/>
        </p:nvSpPr>
        <p:spPr>
          <a:xfrm>
            <a:off x="8686799" y="5877826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Portfolio vs index comparison</a:t>
            </a:r>
          </a:p>
        </p:txBody>
      </p:sp>
      <p:sp>
        <p:nvSpPr>
          <p:cNvPr id="364" name="Connector 263"/>
          <p:cNvSpPr/>
          <p:nvPr/>
        </p:nvSpPr>
        <p:spPr>
          <a:xfrm>
            <a:off x="1371599" y="6351813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5" name="TextBox 264"/>
          <p:cNvSpPr txBox="1"/>
          <p:nvPr/>
        </p:nvSpPr>
        <p:spPr>
          <a:xfrm>
            <a:off x="1371600" y="6455857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66" name="TextBox 265"/>
          <p:cNvSpPr txBox="1"/>
          <p:nvPr/>
        </p:nvSpPr>
        <p:spPr>
          <a:xfrm>
            <a:off x="2285999" y="6455857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Performance Attribution</a:t>
            </a:r>
          </a:p>
        </p:txBody>
      </p:sp>
      <p:sp>
        <p:nvSpPr>
          <p:cNvPr id="367" name="TextBox 266"/>
          <p:cNvSpPr txBox="1"/>
          <p:nvPr/>
        </p:nvSpPr>
        <p:spPr>
          <a:xfrm>
            <a:off x="8686799" y="6455857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Return attribution by asset</a:t>
            </a:r>
          </a:p>
        </p:txBody>
      </p:sp>
      <p:sp>
        <p:nvSpPr>
          <p:cNvPr id="368" name="Connector 267"/>
          <p:cNvSpPr/>
          <p:nvPr/>
        </p:nvSpPr>
        <p:spPr>
          <a:xfrm>
            <a:off x="1371599" y="6929842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9" name="TextBox 268"/>
          <p:cNvSpPr txBox="1"/>
          <p:nvPr/>
        </p:nvSpPr>
        <p:spPr>
          <a:xfrm>
            <a:off x="1371600" y="7033889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70" name="TextBox 269"/>
          <p:cNvSpPr txBox="1"/>
          <p:nvPr/>
        </p:nvSpPr>
        <p:spPr>
          <a:xfrm>
            <a:off x="2285999" y="7033889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AI Recommendations</a:t>
            </a:r>
          </a:p>
        </p:txBody>
      </p:sp>
      <p:sp>
        <p:nvSpPr>
          <p:cNvPr id="371" name="TextBox 270"/>
          <p:cNvSpPr txBox="1"/>
          <p:nvPr/>
        </p:nvSpPr>
        <p:spPr>
          <a:xfrm>
            <a:off x="8686799" y="7033889"/>
            <a:ext cx="1435608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Portfolio insights &amp; rebalance suggestions</a:t>
            </a:r>
          </a:p>
        </p:txBody>
      </p:sp>
      <p:sp>
        <p:nvSpPr>
          <p:cNvPr id="372" name="Connector 271"/>
          <p:cNvSpPr/>
          <p:nvPr/>
        </p:nvSpPr>
        <p:spPr>
          <a:xfrm>
            <a:off x="1371599" y="7507875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3" name="TextBox 272"/>
          <p:cNvSpPr txBox="1"/>
          <p:nvPr/>
        </p:nvSpPr>
        <p:spPr>
          <a:xfrm>
            <a:off x="1371600" y="7611919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74" name="TextBox 273"/>
          <p:cNvSpPr txBox="1"/>
          <p:nvPr/>
        </p:nvSpPr>
        <p:spPr>
          <a:xfrm>
            <a:off x="2285999" y="7611919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Advanced Order Types</a:t>
            </a:r>
          </a:p>
        </p:txBody>
      </p:sp>
      <p:sp>
        <p:nvSpPr>
          <p:cNvPr id="375" name="TextBox 274"/>
          <p:cNvSpPr txBox="1"/>
          <p:nvPr/>
        </p:nvSpPr>
        <p:spPr>
          <a:xfrm>
            <a:off x="8686799" y="7611919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Stop loss, take profit, attached order, slicing order, chain order, bracket order, market on close</a:t>
            </a:r>
          </a:p>
        </p:txBody>
      </p:sp>
      <p:sp>
        <p:nvSpPr>
          <p:cNvPr id="376" name="Connector 275"/>
          <p:cNvSpPr/>
          <p:nvPr/>
        </p:nvSpPr>
        <p:spPr>
          <a:xfrm>
            <a:off x="1371599" y="8085904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7" name="TextBox 276"/>
          <p:cNvSpPr txBox="1"/>
          <p:nvPr/>
        </p:nvSpPr>
        <p:spPr>
          <a:xfrm>
            <a:off x="1371600" y="8189951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78" name="TextBox 277"/>
          <p:cNvSpPr txBox="1"/>
          <p:nvPr/>
        </p:nvSpPr>
        <p:spPr>
          <a:xfrm>
            <a:off x="2285999" y="8189951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Order Lifecycle Tracking</a:t>
            </a:r>
          </a:p>
        </p:txBody>
      </p:sp>
      <p:sp>
        <p:nvSpPr>
          <p:cNvPr id="379" name="TextBox 278"/>
          <p:cNvSpPr txBox="1"/>
          <p:nvPr/>
        </p:nvSpPr>
        <p:spPr>
          <a:xfrm>
            <a:off x="8686799" y="8189951"/>
            <a:ext cx="1435608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Timeline view, execution quality metrics</a:t>
            </a:r>
          </a:p>
        </p:txBody>
      </p:sp>
      <p:sp>
        <p:nvSpPr>
          <p:cNvPr id="380" name="Connector 279"/>
          <p:cNvSpPr/>
          <p:nvPr/>
        </p:nvSpPr>
        <p:spPr>
          <a:xfrm>
            <a:off x="1371599" y="8663937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1" name="TextBox 280"/>
          <p:cNvSpPr txBox="1"/>
          <p:nvPr/>
        </p:nvSpPr>
        <p:spPr>
          <a:xfrm>
            <a:off x="1371600" y="8767981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82" name="TextBox 281"/>
          <p:cNvSpPr txBox="1"/>
          <p:nvPr/>
        </p:nvSpPr>
        <p:spPr>
          <a:xfrm>
            <a:off x="2285999" y="8767981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Cash Forecasting</a:t>
            </a:r>
          </a:p>
        </p:txBody>
      </p:sp>
      <p:sp>
        <p:nvSpPr>
          <p:cNvPr id="383" name="TextBox 282"/>
          <p:cNvSpPr txBox="1"/>
          <p:nvPr/>
        </p:nvSpPr>
        <p:spPr>
          <a:xfrm>
            <a:off x="8686799" y="8767981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Settlement timeline, liquidity forecast</a:t>
            </a:r>
          </a:p>
        </p:txBody>
      </p:sp>
      <p:sp>
        <p:nvSpPr>
          <p:cNvPr id="384" name="Connector 283"/>
          <p:cNvSpPr/>
          <p:nvPr/>
        </p:nvSpPr>
        <p:spPr>
          <a:xfrm>
            <a:off x="1371599" y="9241966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" name="TextBox 284"/>
          <p:cNvSpPr txBox="1"/>
          <p:nvPr/>
        </p:nvSpPr>
        <p:spPr>
          <a:xfrm>
            <a:off x="1371600" y="9346013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86" name="TextBox 285"/>
          <p:cNvSpPr txBox="1"/>
          <p:nvPr/>
        </p:nvSpPr>
        <p:spPr>
          <a:xfrm>
            <a:off x="2285999" y="9346013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Reporting Flexibility</a:t>
            </a:r>
          </a:p>
        </p:txBody>
      </p:sp>
      <p:sp>
        <p:nvSpPr>
          <p:cNvPr id="387" name="TextBox 286"/>
          <p:cNvSpPr txBox="1"/>
          <p:nvPr/>
        </p:nvSpPr>
        <p:spPr>
          <a:xfrm>
            <a:off x="8686799" y="9346013"/>
            <a:ext cx="1435608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Advanced export formats, custom reports</a:t>
            </a:r>
          </a:p>
        </p:txBody>
      </p:sp>
      <p:sp>
        <p:nvSpPr>
          <p:cNvPr id="388" name="Connector 287"/>
          <p:cNvSpPr/>
          <p:nvPr/>
        </p:nvSpPr>
        <p:spPr>
          <a:xfrm>
            <a:off x="1371599" y="9819999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9" name="TextBox 288"/>
          <p:cNvSpPr txBox="1"/>
          <p:nvPr/>
        </p:nvSpPr>
        <p:spPr>
          <a:xfrm>
            <a:off x="1371600" y="9924043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390" name="TextBox 289"/>
          <p:cNvSpPr txBox="1"/>
          <p:nvPr/>
        </p:nvSpPr>
        <p:spPr>
          <a:xfrm>
            <a:off x="2285999" y="9924043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Stocks analyst rating</a:t>
            </a:r>
          </a:p>
        </p:txBody>
      </p:sp>
      <p:sp>
        <p:nvSpPr>
          <p:cNvPr id="391" name="TextBox 290"/>
          <p:cNvSpPr txBox="1"/>
          <p:nvPr/>
        </p:nvSpPr>
        <p:spPr>
          <a:xfrm>
            <a:off x="8686799" y="9924043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Consensus ratings, target prices, or buy/sell/hold breakdown available</a:t>
            </a:r>
          </a:p>
        </p:txBody>
      </p:sp>
      <p:sp>
        <p:nvSpPr>
          <p:cNvPr id="392" name="Connector 291"/>
          <p:cNvSpPr/>
          <p:nvPr/>
        </p:nvSpPr>
        <p:spPr>
          <a:xfrm>
            <a:off x="1371599" y="10398028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3" name="TextBox 292"/>
          <p:cNvSpPr txBox="1"/>
          <p:nvPr/>
        </p:nvSpPr>
        <p:spPr>
          <a:xfrm>
            <a:off x="1371600" y="10502075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394" name="TextBox 293"/>
          <p:cNvSpPr txBox="1"/>
          <p:nvPr/>
        </p:nvSpPr>
        <p:spPr>
          <a:xfrm>
            <a:off x="2285999" y="10502075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Stocks Research Reports</a:t>
            </a:r>
          </a:p>
        </p:txBody>
      </p:sp>
      <p:sp>
        <p:nvSpPr>
          <p:cNvPr id="395" name="TextBox 294"/>
          <p:cNvSpPr txBox="1"/>
          <p:nvPr/>
        </p:nvSpPr>
        <p:spPr>
          <a:xfrm>
            <a:off x="8686799" y="10502075"/>
            <a:ext cx="1435608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 or third-party research linked to stock</a:t>
            </a:r>
          </a:p>
        </p:txBody>
      </p:sp>
      <p:sp>
        <p:nvSpPr>
          <p:cNvPr id="396" name="Connector 295"/>
          <p:cNvSpPr/>
          <p:nvPr/>
        </p:nvSpPr>
        <p:spPr>
          <a:xfrm>
            <a:off x="1371599" y="10976061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7" name="TextBox 296"/>
          <p:cNvSpPr txBox="1"/>
          <p:nvPr/>
        </p:nvSpPr>
        <p:spPr>
          <a:xfrm>
            <a:off x="1371600" y="11080105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398" name="TextBox 297"/>
          <p:cNvSpPr txBox="1"/>
          <p:nvPr/>
        </p:nvSpPr>
        <p:spPr>
          <a:xfrm>
            <a:off x="2285999" y="11080105"/>
            <a:ext cx="6217923" cy="248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Sector &amp; peer context</a:t>
            </a:r>
          </a:p>
        </p:txBody>
      </p:sp>
      <p:sp>
        <p:nvSpPr>
          <p:cNvPr id="399" name="TextBox 298"/>
          <p:cNvSpPr txBox="1"/>
          <p:nvPr/>
        </p:nvSpPr>
        <p:spPr>
          <a:xfrm>
            <a:off x="8686799" y="11080105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Peer comparison or sector-level benchmarking within TASI</a:t>
            </a:r>
          </a:p>
        </p:txBody>
      </p:sp>
      <p:sp>
        <p:nvSpPr>
          <p:cNvPr id="400" name="Connector 299"/>
          <p:cNvSpPr/>
          <p:nvPr/>
        </p:nvSpPr>
        <p:spPr>
          <a:xfrm>
            <a:off x="1371599" y="11554090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1" name="TextBox 300"/>
          <p:cNvSpPr txBox="1"/>
          <p:nvPr/>
        </p:nvSpPr>
        <p:spPr>
          <a:xfrm>
            <a:off x="1371600" y="11658137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402" name="TextBox 301"/>
          <p:cNvSpPr txBox="1"/>
          <p:nvPr/>
        </p:nvSpPr>
        <p:spPr>
          <a:xfrm>
            <a:off x="2285999" y="11658137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News coverage</a:t>
            </a:r>
          </a:p>
        </p:txBody>
      </p:sp>
      <p:sp>
        <p:nvSpPr>
          <p:cNvPr id="403" name="TextBox 302"/>
          <p:cNvSpPr txBox="1"/>
          <p:nvPr/>
        </p:nvSpPr>
        <p:spPr>
          <a:xfrm>
            <a:off x="8686799" y="11658137"/>
            <a:ext cx="1435608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News. Only article shown with no recency filtering</a:t>
            </a:r>
          </a:p>
        </p:txBody>
      </p:sp>
      <p:sp>
        <p:nvSpPr>
          <p:cNvPr id="404" name="Connector 303"/>
          <p:cNvSpPr/>
          <p:nvPr/>
        </p:nvSpPr>
        <p:spPr>
          <a:xfrm>
            <a:off x="1371599" y="12132123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5" name="TextBox 304"/>
          <p:cNvSpPr txBox="1"/>
          <p:nvPr/>
        </p:nvSpPr>
        <p:spPr>
          <a:xfrm>
            <a:off x="1371600" y="12236167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406" name="TextBox 305"/>
          <p:cNvSpPr txBox="1"/>
          <p:nvPr/>
        </p:nvSpPr>
        <p:spPr>
          <a:xfrm>
            <a:off x="2285999" y="12236167"/>
            <a:ext cx="6217923" cy="248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Portfolio analytics &amp; health</a:t>
            </a:r>
          </a:p>
        </p:txBody>
      </p:sp>
      <p:sp>
        <p:nvSpPr>
          <p:cNvPr id="407" name="Connector 307"/>
          <p:cNvSpPr/>
          <p:nvPr/>
        </p:nvSpPr>
        <p:spPr>
          <a:xfrm>
            <a:off x="1371599" y="12710152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Picture 251" descr="Picture 25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410" name="TextBox 25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008 / 111</a:t>
            </a:r>
          </a:p>
        </p:txBody>
      </p:sp>
      <p:sp>
        <p:nvSpPr>
          <p:cNvPr id="411" name="TextBox 25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GAPS SUMMARY</a:t>
            </a:r>
          </a:p>
        </p:txBody>
      </p:sp>
      <p:sp>
        <p:nvSpPr>
          <p:cNvPr id="412" name="TextBox 25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Mutual Fund</a:t>
            </a:r>
          </a:p>
        </p:txBody>
      </p:sp>
      <p:sp>
        <p:nvSpPr>
          <p:cNvPr id="413" name="TextBox 255"/>
          <p:cNvSpPr txBox="1"/>
          <p:nvPr/>
        </p:nvSpPr>
        <p:spPr>
          <a:xfrm>
            <a:off x="1371600" y="4114800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414" name="TextBox 256"/>
          <p:cNvSpPr txBox="1"/>
          <p:nvPr/>
        </p:nvSpPr>
        <p:spPr>
          <a:xfrm>
            <a:off x="2285999" y="4114800"/>
            <a:ext cx="621792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DOMAIN</a:t>
            </a:r>
          </a:p>
        </p:txBody>
      </p:sp>
      <p:sp>
        <p:nvSpPr>
          <p:cNvPr id="415" name="TextBox 257"/>
          <p:cNvSpPr txBox="1"/>
          <p:nvPr/>
        </p:nvSpPr>
        <p:spPr>
          <a:xfrm>
            <a:off x="8686799" y="4114800"/>
            <a:ext cx="1435608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KEY MISSING CAPABILITIES</a:t>
            </a:r>
          </a:p>
        </p:txBody>
      </p:sp>
      <p:sp>
        <p:nvSpPr>
          <p:cNvPr id="416" name="Connector 258"/>
          <p:cNvSpPr/>
          <p:nvPr/>
        </p:nvSpPr>
        <p:spPr>
          <a:xfrm>
            <a:off x="1371599" y="4526279"/>
            <a:ext cx="21671283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7" name="TextBox 259"/>
          <p:cNvSpPr txBox="1"/>
          <p:nvPr/>
        </p:nvSpPr>
        <p:spPr>
          <a:xfrm>
            <a:off x="1371600" y="4698643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18" name="TextBox 260"/>
          <p:cNvSpPr txBox="1"/>
          <p:nvPr/>
        </p:nvSpPr>
        <p:spPr>
          <a:xfrm>
            <a:off x="2285999" y="4698643"/>
            <a:ext cx="6217923" cy="248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Portfolio Analytics &amp; Health</a:t>
            </a:r>
          </a:p>
        </p:txBody>
      </p:sp>
      <p:sp>
        <p:nvSpPr>
          <p:cNvPr id="419" name="TextBox 261"/>
          <p:cNvSpPr txBox="1"/>
          <p:nvPr/>
        </p:nvSpPr>
        <p:spPr>
          <a:xfrm>
            <a:off x="8686799" y="4698643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Health score, diversification score, risk analysis, benchmark comparison, volatility metrics</a:t>
            </a:r>
          </a:p>
        </p:txBody>
      </p:sp>
      <p:sp>
        <p:nvSpPr>
          <p:cNvPr id="420" name="Connector 262"/>
          <p:cNvSpPr/>
          <p:nvPr/>
        </p:nvSpPr>
        <p:spPr>
          <a:xfrm>
            <a:off x="1371599" y="5067300"/>
            <a:ext cx="21671283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1" name="TextBox 263"/>
          <p:cNvSpPr txBox="1"/>
          <p:nvPr/>
        </p:nvSpPr>
        <p:spPr>
          <a:xfrm>
            <a:off x="1371600" y="514822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22" name="TextBox 264"/>
          <p:cNvSpPr txBox="1"/>
          <p:nvPr/>
        </p:nvSpPr>
        <p:spPr>
          <a:xfrm>
            <a:off x="2285999" y="5148224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Portfolio Insights &amp; Intelligence</a:t>
            </a:r>
          </a:p>
        </p:txBody>
      </p:sp>
      <p:sp>
        <p:nvSpPr>
          <p:cNvPr id="423" name="TextBox 265"/>
          <p:cNvSpPr txBox="1"/>
          <p:nvPr/>
        </p:nvSpPr>
        <p:spPr>
          <a:xfrm>
            <a:off x="8686799" y="5148224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Allocation analytics, dividend tracking, unrealized analysis, transaction insights, trend analytics</a:t>
            </a:r>
          </a:p>
        </p:txBody>
      </p:sp>
      <p:sp>
        <p:nvSpPr>
          <p:cNvPr id="424" name="Connector 266"/>
          <p:cNvSpPr/>
          <p:nvPr/>
        </p:nvSpPr>
        <p:spPr>
          <a:xfrm>
            <a:off x="1371599" y="5516879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5" name="TextBox 267"/>
          <p:cNvSpPr txBox="1"/>
          <p:nvPr/>
        </p:nvSpPr>
        <p:spPr>
          <a:xfrm>
            <a:off x="1371600" y="559780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26" name="TextBox 268"/>
          <p:cNvSpPr txBox="1"/>
          <p:nvPr/>
        </p:nvSpPr>
        <p:spPr>
          <a:xfrm>
            <a:off x="2285999" y="5597804"/>
            <a:ext cx="6217923" cy="248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Market Benchmark Integration</a:t>
            </a:r>
          </a:p>
        </p:txBody>
      </p:sp>
      <p:sp>
        <p:nvSpPr>
          <p:cNvPr id="427" name="TextBox 269"/>
          <p:cNvSpPr txBox="1"/>
          <p:nvPr/>
        </p:nvSpPr>
        <p:spPr>
          <a:xfrm>
            <a:off x="8686799" y="5597804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Portfolio vs index comparison</a:t>
            </a:r>
          </a:p>
        </p:txBody>
      </p:sp>
      <p:sp>
        <p:nvSpPr>
          <p:cNvPr id="428" name="Connector 270"/>
          <p:cNvSpPr/>
          <p:nvPr/>
        </p:nvSpPr>
        <p:spPr>
          <a:xfrm>
            <a:off x="1371599" y="5966459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9" name="TextBox 271"/>
          <p:cNvSpPr txBox="1"/>
          <p:nvPr/>
        </p:nvSpPr>
        <p:spPr>
          <a:xfrm>
            <a:off x="1371600" y="6047382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30" name="TextBox 272"/>
          <p:cNvSpPr txBox="1"/>
          <p:nvPr/>
        </p:nvSpPr>
        <p:spPr>
          <a:xfrm>
            <a:off x="2285999" y="6047382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Performance Attribution</a:t>
            </a:r>
          </a:p>
        </p:txBody>
      </p:sp>
      <p:sp>
        <p:nvSpPr>
          <p:cNvPr id="431" name="TextBox 273"/>
          <p:cNvSpPr txBox="1"/>
          <p:nvPr/>
        </p:nvSpPr>
        <p:spPr>
          <a:xfrm>
            <a:off x="8686799" y="6047382"/>
            <a:ext cx="1435608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Return attribution by asset</a:t>
            </a:r>
          </a:p>
        </p:txBody>
      </p:sp>
      <p:sp>
        <p:nvSpPr>
          <p:cNvPr id="432" name="Connector 274"/>
          <p:cNvSpPr/>
          <p:nvPr/>
        </p:nvSpPr>
        <p:spPr>
          <a:xfrm>
            <a:off x="1371599" y="6416040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3" name="TextBox 275"/>
          <p:cNvSpPr txBox="1"/>
          <p:nvPr/>
        </p:nvSpPr>
        <p:spPr>
          <a:xfrm>
            <a:off x="1371600" y="6496963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34" name="TextBox 276"/>
          <p:cNvSpPr txBox="1"/>
          <p:nvPr/>
        </p:nvSpPr>
        <p:spPr>
          <a:xfrm>
            <a:off x="2285999" y="6496963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AI Recommendations</a:t>
            </a:r>
          </a:p>
        </p:txBody>
      </p:sp>
      <p:sp>
        <p:nvSpPr>
          <p:cNvPr id="435" name="TextBox 277"/>
          <p:cNvSpPr txBox="1"/>
          <p:nvPr/>
        </p:nvSpPr>
        <p:spPr>
          <a:xfrm>
            <a:off x="8686799" y="6496963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Portfolio insights &amp; rebalance suggestions</a:t>
            </a:r>
          </a:p>
        </p:txBody>
      </p:sp>
      <p:sp>
        <p:nvSpPr>
          <p:cNvPr id="436" name="Connector 278"/>
          <p:cNvSpPr/>
          <p:nvPr/>
        </p:nvSpPr>
        <p:spPr>
          <a:xfrm>
            <a:off x="1371599" y="6865618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7" name="TextBox 279"/>
          <p:cNvSpPr txBox="1"/>
          <p:nvPr/>
        </p:nvSpPr>
        <p:spPr>
          <a:xfrm>
            <a:off x="1371600" y="694654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38" name="TextBox 280"/>
          <p:cNvSpPr txBox="1"/>
          <p:nvPr/>
        </p:nvSpPr>
        <p:spPr>
          <a:xfrm>
            <a:off x="2285999" y="6946544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Risk Profiling</a:t>
            </a:r>
          </a:p>
        </p:txBody>
      </p:sp>
      <p:sp>
        <p:nvSpPr>
          <p:cNvPr id="439" name="TextBox 281"/>
          <p:cNvSpPr txBox="1"/>
          <p:nvPr/>
        </p:nvSpPr>
        <p:spPr>
          <a:xfrm>
            <a:off x="8686799" y="6946544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Dynamic risk scoring</a:t>
            </a:r>
          </a:p>
        </p:txBody>
      </p:sp>
      <p:sp>
        <p:nvSpPr>
          <p:cNvPr id="440" name="Connector 282"/>
          <p:cNvSpPr/>
          <p:nvPr/>
        </p:nvSpPr>
        <p:spPr>
          <a:xfrm>
            <a:off x="1371599" y="7315200"/>
            <a:ext cx="21671283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1" name="TextBox 283"/>
          <p:cNvSpPr txBox="1"/>
          <p:nvPr/>
        </p:nvSpPr>
        <p:spPr>
          <a:xfrm>
            <a:off x="1371600" y="7396122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442" name="TextBox 284"/>
          <p:cNvSpPr txBox="1"/>
          <p:nvPr/>
        </p:nvSpPr>
        <p:spPr>
          <a:xfrm>
            <a:off x="2285999" y="7396122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Order Lifecycle Tracking</a:t>
            </a:r>
          </a:p>
        </p:txBody>
      </p:sp>
      <p:sp>
        <p:nvSpPr>
          <p:cNvPr id="443" name="TextBox 285"/>
          <p:cNvSpPr txBox="1"/>
          <p:nvPr/>
        </p:nvSpPr>
        <p:spPr>
          <a:xfrm>
            <a:off x="8686799" y="7396122"/>
            <a:ext cx="1435608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Timeline view, execution quality metrics</a:t>
            </a:r>
          </a:p>
        </p:txBody>
      </p:sp>
      <p:sp>
        <p:nvSpPr>
          <p:cNvPr id="444" name="Connector 286"/>
          <p:cNvSpPr/>
          <p:nvPr/>
        </p:nvSpPr>
        <p:spPr>
          <a:xfrm>
            <a:off x="1371599" y="7764780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5" name="TextBox 287"/>
          <p:cNvSpPr txBox="1"/>
          <p:nvPr/>
        </p:nvSpPr>
        <p:spPr>
          <a:xfrm>
            <a:off x="1371600" y="784570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46" name="TextBox 288"/>
          <p:cNvSpPr txBox="1"/>
          <p:nvPr/>
        </p:nvSpPr>
        <p:spPr>
          <a:xfrm>
            <a:off x="2285999" y="7845704"/>
            <a:ext cx="6217923" cy="248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Cash Forecasting</a:t>
            </a:r>
          </a:p>
        </p:txBody>
      </p:sp>
      <p:sp>
        <p:nvSpPr>
          <p:cNvPr id="447" name="TextBox 289"/>
          <p:cNvSpPr txBox="1"/>
          <p:nvPr/>
        </p:nvSpPr>
        <p:spPr>
          <a:xfrm>
            <a:off x="8686799" y="7845704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Settlement timeline, liquidity forecast</a:t>
            </a:r>
          </a:p>
        </p:txBody>
      </p:sp>
      <p:sp>
        <p:nvSpPr>
          <p:cNvPr id="448" name="Connector 290"/>
          <p:cNvSpPr/>
          <p:nvPr/>
        </p:nvSpPr>
        <p:spPr>
          <a:xfrm>
            <a:off x="1371599" y="8214359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9" name="TextBox 291"/>
          <p:cNvSpPr txBox="1"/>
          <p:nvPr/>
        </p:nvSpPr>
        <p:spPr>
          <a:xfrm>
            <a:off x="1371600" y="829528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450" name="TextBox 292"/>
          <p:cNvSpPr txBox="1"/>
          <p:nvPr/>
        </p:nvSpPr>
        <p:spPr>
          <a:xfrm>
            <a:off x="2285999" y="8295284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Reporting Flexibility</a:t>
            </a:r>
          </a:p>
        </p:txBody>
      </p:sp>
      <p:sp>
        <p:nvSpPr>
          <p:cNvPr id="451" name="TextBox 293"/>
          <p:cNvSpPr txBox="1"/>
          <p:nvPr/>
        </p:nvSpPr>
        <p:spPr>
          <a:xfrm>
            <a:off x="8686799" y="8295284"/>
            <a:ext cx="1435608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Advanced export formats, custom reports</a:t>
            </a:r>
          </a:p>
        </p:txBody>
      </p:sp>
      <p:sp>
        <p:nvSpPr>
          <p:cNvPr id="452" name="Connector 294"/>
          <p:cNvSpPr/>
          <p:nvPr/>
        </p:nvSpPr>
        <p:spPr>
          <a:xfrm>
            <a:off x="1371599" y="8663940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3" name="TextBox 295"/>
          <p:cNvSpPr txBox="1"/>
          <p:nvPr/>
        </p:nvSpPr>
        <p:spPr>
          <a:xfrm>
            <a:off x="1371600" y="8744863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54" name="TextBox 296"/>
          <p:cNvSpPr txBox="1"/>
          <p:nvPr/>
        </p:nvSpPr>
        <p:spPr>
          <a:xfrm>
            <a:off x="2285999" y="8744863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Dividend Analytics</a:t>
            </a:r>
          </a:p>
        </p:txBody>
      </p:sp>
      <p:sp>
        <p:nvSpPr>
          <p:cNvPr id="455" name="TextBox 297"/>
          <p:cNvSpPr txBox="1"/>
          <p:nvPr/>
        </p:nvSpPr>
        <p:spPr>
          <a:xfrm>
            <a:off x="8686799" y="8744863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Yield trends &amp; forecast</a:t>
            </a:r>
          </a:p>
        </p:txBody>
      </p:sp>
      <p:sp>
        <p:nvSpPr>
          <p:cNvPr id="456" name="Connector 298"/>
          <p:cNvSpPr/>
          <p:nvPr/>
        </p:nvSpPr>
        <p:spPr>
          <a:xfrm>
            <a:off x="1371599" y="9113518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7" name="TextBox 299"/>
          <p:cNvSpPr txBox="1"/>
          <p:nvPr/>
        </p:nvSpPr>
        <p:spPr>
          <a:xfrm>
            <a:off x="1371600" y="919444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458" name="TextBox 300"/>
          <p:cNvSpPr txBox="1"/>
          <p:nvPr/>
        </p:nvSpPr>
        <p:spPr>
          <a:xfrm>
            <a:off x="2285999" y="9194444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Smart Funding</a:t>
            </a:r>
          </a:p>
        </p:txBody>
      </p:sp>
      <p:sp>
        <p:nvSpPr>
          <p:cNvPr id="459" name="TextBox 301"/>
          <p:cNvSpPr txBox="1"/>
          <p:nvPr/>
        </p:nvSpPr>
        <p:spPr>
          <a:xfrm>
            <a:off x="8686799" y="9194444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Intelligent routing &amp; automation</a:t>
            </a:r>
          </a:p>
        </p:txBody>
      </p:sp>
      <p:sp>
        <p:nvSpPr>
          <p:cNvPr id="460" name="Connector 302"/>
          <p:cNvSpPr/>
          <p:nvPr/>
        </p:nvSpPr>
        <p:spPr>
          <a:xfrm>
            <a:off x="1371599" y="9563100"/>
            <a:ext cx="21671283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1" name="TextBox 303"/>
          <p:cNvSpPr txBox="1"/>
          <p:nvPr/>
        </p:nvSpPr>
        <p:spPr>
          <a:xfrm>
            <a:off x="1371600" y="9644022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462" name="TextBox 304"/>
          <p:cNvSpPr txBox="1"/>
          <p:nvPr/>
        </p:nvSpPr>
        <p:spPr>
          <a:xfrm>
            <a:off x="2285999" y="9644022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Advanced Reporting</a:t>
            </a:r>
          </a:p>
        </p:txBody>
      </p:sp>
      <p:sp>
        <p:nvSpPr>
          <p:cNvPr id="463" name="TextBox 305"/>
          <p:cNvSpPr txBox="1"/>
          <p:nvPr/>
        </p:nvSpPr>
        <p:spPr>
          <a:xfrm>
            <a:off x="8686799" y="9644022"/>
            <a:ext cx="1435608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Exportable reports, structured statements</a:t>
            </a:r>
          </a:p>
        </p:txBody>
      </p:sp>
      <p:sp>
        <p:nvSpPr>
          <p:cNvPr id="464" name="Connector 306"/>
          <p:cNvSpPr/>
          <p:nvPr/>
        </p:nvSpPr>
        <p:spPr>
          <a:xfrm>
            <a:off x="1371599" y="10012680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5" name="TextBox 307"/>
          <p:cNvSpPr txBox="1"/>
          <p:nvPr/>
        </p:nvSpPr>
        <p:spPr>
          <a:xfrm>
            <a:off x="1371600" y="1009360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466" name="TextBox 308"/>
          <p:cNvSpPr txBox="1"/>
          <p:nvPr/>
        </p:nvSpPr>
        <p:spPr>
          <a:xfrm>
            <a:off x="2285999" y="10093604"/>
            <a:ext cx="6217923" cy="248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Order Intelligence</a:t>
            </a:r>
          </a:p>
        </p:txBody>
      </p:sp>
      <p:sp>
        <p:nvSpPr>
          <p:cNvPr id="467" name="TextBox 309"/>
          <p:cNvSpPr txBox="1"/>
          <p:nvPr/>
        </p:nvSpPr>
        <p:spPr>
          <a:xfrm>
            <a:off x="8686799" y="10093604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Scenario preview for subscribe/redeem</a:t>
            </a:r>
          </a:p>
        </p:txBody>
      </p:sp>
      <p:sp>
        <p:nvSpPr>
          <p:cNvPr id="468" name="Connector 310"/>
          <p:cNvSpPr/>
          <p:nvPr/>
        </p:nvSpPr>
        <p:spPr>
          <a:xfrm>
            <a:off x="1371599" y="10462259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9" name="TextBox 311"/>
          <p:cNvSpPr txBox="1"/>
          <p:nvPr/>
        </p:nvSpPr>
        <p:spPr>
          <a:xfrm>
            <a:off x="1371600" y="1054318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470" name="TextBox 312"/>
          <p:cNvSpPr txBox="1"/>
          <p:nvPr/>
        </p:nvSpPr>
        <p:spPr>
          <a:xfrm>
            <a:off x="2285999" y="10543184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Third-party rating</a:t>
            </a:r>
          </a:p>
        </p:txBody>
      </p:sp>
      <p:sp>
        <p:nvSpPr>
          <p:cNvPr id="471" name="TextBox 313"/>
          <p:cNvSpPr txBox="1"/>
          <p:nvPr/>
        </p:nvSpPr>
        <p:spPr>
          <a:xfrm>
            <a:off x="8686799" y="10543184"/>
            <a:ext cx="1435608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Morningstar or equivalent fund rating shown</a:t>
            </a:r>
          </a:p>
        </p:txBody>
      </p:sp>
      <p:sp>
        <p:nvSpPr>
          <p:cNvPr id="472" name="Connector 314"/>
          <p:cNvSpPr/>
          <p:nvPr/>
        </p:nvSpPr>
        <p:spPr>
          <a:xfrm>
            <a:off x="1371599" y="10911840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3" name="TextBox 315"/>
          <p:cNvSpPr txBox="1"/>
          <p:nvPr/>
        </p:nvSpPr>
        <p:spPr>
          <a:xfrm>
            <a:off x="1371600" y="10992763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474" name="TextBox 316"/>
          <p:cNvSpPr txBox="1"/>
          <p:nvPr/>
        </p:nvSpPr>
        <p:spPr>
          <a:xfrm>
            <a:off x="2285999" y="10992763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Asset allocation</a:t>
            </a:r>
          </a:p>
        </p:txBody>
      </p:sp>
      <p:sp>
        <p:nvSpPr>
          <p:cNvPr id="475" name="TextBox 317"/>
          <p:cNvSpPr txBox="1"/>
          <p:nvPr/>
        </p:nvSpPr>
        <p:spPr>
          <a:xfrm>
            <a:off x="8686799" y="10992763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Stocks, bonds, cash, and other allocation percentages not visible</a:t>
            </a:r>
          </a:p>
        </p:txBody>
      </p:sp>
      <p:sp>
        <p:nvSpPr>
          <p:cNvPr id="476" name="Connector 318"/>
          <p:cNvSpPr/>
          <p:nvPr/>
        </p:nvSpPr>
        <p:spPr>
          <a:xfrm>
            <a:off x="1371599" y="11361418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7" name="TextBox 319"/>
          <p:cNvSpPr txBox="1"/>
          <p:nvPr/>
        </p:nvSpPr>
        <p:spPr>
          <a:xfrm>
            <a:off x="1371600" y="1144234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478" name="TextBox 320"/>
          <p:cNvSpPr txBox="1"/>
          <p:nvPr/>
        </p:nvSpPr>
        <p:spPr>
          <a:xfrm>
            <a:off x="2285999" y="11442344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Risk metrics</a:t>
            </a:r>
          </a:p>
        </p:txBody>
      </p:sp>
      <p:sp>
        <p:nvSpPr>
          <p:cNvPr id="479" name="TextBox 321"/>
          <p:cNvSpPr txBox="1"/>
          <p:nvPr/>
        </p:nvSpPr>
        <p:spPr>
          <a:xfrm>
            <a:off x="8686799" y="11442344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Beta, volatility, or risk rating available</a:t>
            </a:r>
          </a:p>
        </p:txBody>
      </p:sp>
      <p:sp>
        <p:nvSpPr>
          <p:cNvPr id="480" name="Connector 322"/>
          <p:cNvSpPr/>
          <p:nvPr/>
        </p:nvSpPr>
        <p:spPr>
          <a:xfrm>
            <a:off x="1371599" y="11811000"/>
            <a:ext cx="21671283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1" name="TextBox 323"/>
          <p:cNvSpPr txBox="1"/>
          <p:nvPr/>
        </p:nvSpPr>
        <p:spPr>
          <a:xfrm>
            <a:off x="1371600" y="11891922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482" name="TextBox 324"/>
          <p:cNvSpPr txBox="1"/>
          <p:nvPr/>
        </p:nvSpPr>
        <p:spPr>
          <a:xfrm>
            <a:off x="2285999" y="11891922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News &amp; updates</a:t>
            </a:r>
          </a:p>
        </p:txBody>
      </p:sp>
      <p:sp>
        <p:nvSpPr>
          <p:cNvPr id="483" name="TextBox 325"/>
          <p:cNvSpPr txBox="1"/>
          <p:nvPr/>
        </p:nvSpPr>
        <p:spPr>
          <a:xfrm>
            <a:off x="8686799" y="11891922"/>
            <a:ext cx="1435608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News tab or fund manager updates linked to fund page</a:t>
            </a:r>
          </a:p>
        </p:txBody>
      </p:sp>
      <p:sp>
        <p:nvSpPr>
          <p:cNvPr id="484" name="Connector 326"/>
          <p:cNvSpPr/>
          <p:nvPr/>
        </p:nvSpPr>
        <p:spPr>
          <a:xfrm>
            <a:off x="1371599" y="12260580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5" name="TextBox 327"/>
          <p:cNvSpPr txBox="1"/>
          <p:nvPr/>
        </p:nvSpPr>
        <p:spPr>
          <a:xfrm>
            <a:off x="1371600" y="1234150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486" name="TextBox 328"/>
          <p:cNvSpPr txBox="1"/>
          <p:nvPr/>
        </p:nvSpPr>
        <p:spPr>
          <a:xfrm>
            <a:off x="2285999" y="12341504"/>
            <a:ext cx="6217923" cy="248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Portfolio analytics &amp; health</a:t>
            </a:r>
          </a:p>
        </p:txBody>
      </p:sp>
      <p:sp>
        <p:nvSpPr>
          <p:cNvPr id="487" name="Connector 330"/>
          <p:cNvSpPr/>
          <p:nvPr/>
        </p:nvSpPr>
        <p:spPr>
          <a:xfrm>
            <a:off x="1371599" y="12710159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Picture 258" descr="Picture 25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490" name="TextBox 259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009 / 111</a:t>
            </a:r>
          </a:p>
        </p:txBody>
      </p:sp>
      <p:sp>
        <p:nvSpPr>
          <p:cNvPr id="491" name="TextBox 260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GAPS SUMMARY</a:t>
            </a:r>
          </a:p>
        </p:txBody>
      </p:sp>
      <p:sp>
        <p:nvSpPr>
          <p:cNvPr id="492" name="TextBox 261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US Market</a:t>
            </a:r>
          </a:p>
        </p:txBody>
      </p:sp>
      <p:sp>
        <p:nvSpPr>
          <p:cNvPr id="493" name="TextBox 262"/>
          <p:cNvSpPr txBox="1"/>
          <p:nvPr/>
        </p:nvSpPr>
        <p:spPr>
          <a:xfrm>
            <a:off x="1371600" y="4114800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494" name="TextBox 263"/>
          <p:cNvSpPr txBox="1"/>
          <p:nvPr/>
        </p:nvSpPr>
        <p:spPr>
          <a:xfrm>
            <a:off x="2285999" y="4114800"/>
            <a:ext cx="621792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DOMAIN</a:t>
            </a:r>
          </a:p>
        </p:txBody>
      </p:sp>
      <p:sp>
        <p:nvSpPr>
          <p:cNvPr id="495" name="TextBox 264"/>
          <p:cNvSpPr txBox="1"/>
          <p:nvPr/>
        </p:nvSpPr>
        <p:spPr>
          <a:xfrm>
            <a:off x="8686799" y="4114800"/>
            <a:ext cx="1435608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KEY MISSING CAPABILITIES</a:t>
            </a:r>
          </a:p>
        </p:txBody>
      </p:sp>
      <p:sp>
        <p:nvSpPr>
          <p:cNvPr id="496" name="Connector 265"/>
          <p:cNvSpPr/>
          <p:nvPr/>
        </p:nvSpPr>
        <p:spPr>
          <a:xfrm>
            <a:off x="1371599" y="4526279"/>
            <a:ext cx="21671283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7" name="TextBox 266"/>
          <p:cNvSpPr txBox="1"/>
          <p:nvPr/>
        </p:nvSpPr>
        <p:spPr>
          <a:xfrm>
            <a:off x="1371600" y="4698643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98" name="TextBox 267"/>
          <p:cNvSpPr txBox="1"/>
          <p:nvPr/>
        </p:nvSpPr>
        <p:spPr>
          <a:xfrm>
            <a:off x="2285999" y="4698643"/>
            <a:ext cx="6217923" cy="248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Advanced Order Types</a:t>
            </a:r>
          </a:p>
        </p:txBody>
      </p:sp>
      <p:sp>
        <p:nvSpPr>
          <p:cNvPr id="499" name="TextBox 268"/>
          <p:cNvSpPr txBox="1"/>
          <p:nvPr/>
        </p:nvSpPr>
        <p:spPr>
          <a:xfrm>
            <a:off x="8686799" y="4698643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Trailing Stop, Bracket Orders, OCO, Conditional Orders</a:t>
            </a:r>
          </a:p>
        </p:txBody>
      </p:sp>
      <p:sp>
        <p:nvSpPr>
          <p:cNvPr id="500" name="Connector 269"/>
          <p:cNvSpPr/>
          <p:nvPr/>
        </p:nvSpPr>
        <p:spPr>
          <a:xfrm>
            <a:off x="1371599" y="5067300"/>
            <a:ext cx="21671283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1" name="TextBox 270"/>
          <p:cNvSpPr txBox="1"/>
          <p:nvPr/>
        </p:nvSpPr>
        <p:spPr>
          <a:xfrm>
            <a:off x="1371600" y="514822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02" name="TextBox 271"/>
          <p:cNvSpPr txBox="1"/>
          <p:nvPr/>
        </p:nvSpPr>
        <p:spPr>
          <a:xfrm>
            <a:off x="2285999" y="5148224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Market Depth</a:t>
            </a:r>
          </a:p>
        </p:txBody>
      </p:sp>
      <p:sp>
        <p:nvSpPr>
          <p:cNvPr id="503" name="TextBox 272"/>
          <p:cNvSpPr txBox="1"/>
          <p:nvPr/>
        </p:nvSpPr>
        <p:spPr>
          <a:xfrm>
            <a:off x="8686799" y="5148224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Market Depth</a:t>
            </a:r>
          </a:p>
        </p:txBody>
      </p:sp>
      <p:sp>
        <p:nvSpPr>
          <p:cNvPr id="504" name="Connector 273"/>
          <p:cNvSpPr/>
          <p:nvPr/>
        </p:nvSpPr>
        <p:spPr>
          <a:xfrm>
            <a:off x="1371599" y="5516879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5" name="TextBox 274"/>
          <p:cNvSpPr txBox="1"/>
          <p:nvPr/>
        </p:nvSpPr>
        <p:spPr>
          <a:xfrm>
            <a:off x="1371600" y="559780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06" name="TextBox 275"/>
          <p:cNvSpPr txBox="1"/>
          <p:nvPr/>
        </p:nvSpPr>
        <p:spPr>
          <a:xfrm>
            <a:off x="2285999" y="5597804"/>
            <a:ext cx="6217923" cy="248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Real-time Streaming (native)</a:t>
            </a:r>
          </a:p>
        </p:txBody>
      </p:sp>
      <p:sp>
        <p:nvSpPr>
          <p:cNvPr id="507" name="Connector 277"/>
          <p:cNvSpPr/>
          <p:nvPr/>
        </p:nvSpPr>
        <p:spPr>
          <a:xfrm>
            <a:off x="1371599" y="5966459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8" name="TextBox 278"/>
          <p:cNvSpPr txBox="1"/>
          <p:nvPr/>
        </p:nvSpPr>
        <p:spPr>
          <a:xfrm>
            <a:off x="1371600" y="6047382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09" name="TextBox 279"/>
          <p:cNvSpPr txBox="1"/>
          <p:nvPr/>
        </p:nvSpPr>
        <p:spPr>
          <a:xfrm>
            <a:off x="2285999" y="6047382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Portfolio Analytics</a:t>
            </a:r>
          </a:p>
        </p:txBody>
      </p:sp>
      <p:sp>
        <p:nvSpPr>
          <p:cNvPr id="510" name="TextBox 280"/>
          <p:cNvSpPr txBox="1"/>
          <p:nvPr/>
        </p:nvSpPr>
        <p:spPr>
          <a:xfrm>
            <a:off x="8686799" y="6047382"/>
            <a:ext cx="1435608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allocation analytics, no risk metrics</a:t>
            </a:r>
          </a:p>
        </p:txBody>
      </p:sp>
      <p:sp>
        <p:nvSpPr>
          <p:cNvPr id="511" name="Connector 281"/>
          <p:cNvSpPr/>
          <p:nvPr/>
        </p:nvSpPr>
        <p:spPr>
          <a:xfrm>
            <a:off x="1371599" y="6416040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2" name="TextBox 282"/>
          <p:cNvSpPr txBox="1"/>
          <p:nvPr/>
        </p:nvSpPr>
        <p:spPr>
          <a:xfrm>
            <a:off x="1371600" y="6496963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13" name="TextBox 283"/>
          <p:cNvSpPr txBox="1"/>
          <p:nvPr/>
        </p:nvSpPr>
        <p:spPr>
          <a:xfrm>
            <a:off x="2285999" y="6496963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AI Recommendations</a:t>
            </a:r>
          </a:p>
        </p:txBody>
      </p:sp>
      <p:sp>
        <p:nvSpPr>
          <p:cNvPr id="514" name="TextBox 284"/>
          <p:cNvSpPr txBox="1"/>
          <p:nvPr/>
        </p:nvSpPr>
        <p:spPr>
          <a:xfrm>
            <a:off x="8686799" y="6496963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Portfolio insights &amp; rebalance suggestions</a:t>
            </a:r>
          </a:p>
        </p:txBody>
      </p:sp>
      <p:sp>
        <p:nvSpPr>
          <p:cNvPr id="515" name="Connector 285"/>
          <p:cNvSpPr/>
          <p:nvPr/>
        </p:nvSpPr>
        <p:spPr>
          <a:xfrm>
            <a:off x="1371599" y="6865618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6" name="TextBox 286"/>
          <p:cNvSpPr txBox="1"/>
          <p:nvPr/>
        </p:nvSpPr>
        <p:spPr>
          <a:xfrm>
            <a:off x="1371600" y="694654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517" name="TextBox 287"/>
          <p:cNvSpPr txBox="1"/>
          <p:nvPr/>
        </p:nvSpPr>
        <p:spPr>
          <a:xfrm>
            <a:off x="2285999" y="6946544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Risk Profiling</a:t>
            </a:r>
          </a:p>
        </p:txBody>
      </p:sp>
      <p:sp>
        <p:nvSpPr>
          <p:cNvPr id="518" name="TextBox 288"/>
          <p:cNvSpPr txBox="1"/>
          <p:nvPr/>
        </p:nvSpPr>
        <p:spPr>
          <a:xfrm>
            <a:off x="8686799" y="6946544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Dynamic risk scoring</a:t>
            </a:r>
          </a:p>
        </p:txBody>
      </p:sp>
      <p:sp>
        <p:nvSpPr>
          <p:cNvPr id="519" name="Connector 289"/>
          <p:cNvSpPr/>
          <p:nvPr/>
        </p:nvSpPr>
        <p:spPr>
          <a:xfrm>
            <a:off x="1371599" y="7315200"/>
            <a:ext cx="21671283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0" name="TextBox 290"/>
          <p:cNvSpPr txBox="1"/>
          <p:nvPr/>
        </p:nvSpPr>
        <p:spPr>
          <a:xfrm>
            <a:off x="1371600" y="7396122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521" name="TextBox 291"/>
          <p:cNvSpPr txBox="1"/>
          <p:nvPr/>
        </p:nvSpPr>
        <p:spPr>
          <a:xfrm>
            <a:off x="2285999" y="7396122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Order Lifecycle Tracking</a:t>
            </a:r>
          </a:p>
        </p:txBody>
      </p:sp>
      <p:sp>
        <p:nvSpPr>
          <p:cNvPr id="522" name="TextBox 292"/>
          <p:cNvSpPr txBox="1"/>
          <p:nvPr/>
        </p:nvSpPr>
        <p:spPr>
          <a:xfrm>
            <a:off x="8686799" y="7396122"/>
            <a:ext cx="1435608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Timeline view, execution quality metrics</a:t>
            </a:r>
          </a:p>
        </p:txBody>
      </p:sp>
      <p:sp>
        <p:nvSpPr>
          <p:cNvPr id="523" name="Connector 293"/>
          <p:cNvSpPr/>
          <p:nvPr/>
        </p:nvSpPr>
        <p:spPr>
          <a:xfrm>
            <a:off x="1371599" y="7764780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4" name="TextBox 294"/>
          <p:cNvSpPr txBox="1"/>
          <p:nvPr/>
        </p:nvSpPr>
        <p:spPr>
          <a:xfrm>
            <a:off x="1371600" y="784570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525" name="TextBox 295"/>
          <p:cNvSpPr txBox="1"/>
          <p:nvPr/>
        </p:nvSpPr>
        <p:spPr>
          <a:xfrm>
            <a:off x="2285999" y="7845704"/>
            <a:ext cx="6217923" cy="248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Cash Forecasting</a:t>
            </a:r>
          </a:p>
        </p:txBody>
      </p:sp>
      <p:sp>
        <p:nvSpPr>
          <p:cNvPr id="526" name="TextBox 296"/>
          <p:cNvSpPr txBox="1"/>
          <p:nvPr/>
        </p:nvSpPr>
        <p:spPr>
          <a:xfrm>
            <a:off x="8686799" y="7845704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Settlement timeline, liquidity forecast</a:t>
            </a:r>
          </a:p>
        </p:txBody>
      </p:sp>
      <p:sp>
        <p:nvSpPr>
          <p:cNvPr id="527" name="Connector 297"/>
          <p:cNvSpPr/>
          <p:nvPr/>
        </p:nvSpPr>
        <p:spPr>
          <a:xfrm>
            <a:off x="1371599" y="8214359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8" name="TextBox 298"/>
          <p:cNvSpPr txBox="1"/>
          <p:nvPr/>
        </p:nvSpPr>
        <p:spPr>
          <a:xfrm>
            <a:off x="1371600" y="829528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529" name="TextBox 299"/>
          <p:cNvSpPr txBox="1"/>
          <p:nvPr/>
        </p:nvSpPr>
        <p:spPr>
          <a:xfrm>
            <a:off x="2285999" y="8295284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Reporting Flexibility</a:t>
            </a:r>
          </a:p>
        </p:txBody>
      </p:sp>
      <p:sp>
        <p:nvSpPr>
          <p:cNvPr id="530" name="TextBox 300"/>
          <p:cNvSpPr txBox="1"/>
          <p:nvPr/>
        </p:nvSpPr>
        <p:spPr>
          <a:xfrm>
            <a:off x="8686799" y="8295284"/>
            <a:ext cx="1435608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Advanced export formats, custom reports</a:t>
            </a:r>
          </a:p>
        </p:txBody>
      </p:sp>
      <p:sp>
        <p:nvSpPr>
          <p:cNvPr id="531" name="Connector 301"/>
          <p:cNvSpPr/>
          <p:nvPr/>
        </p:nvSpPr>
        <p:spPr>
          <a:xfrm>
            <a:off x="1371599" y="8663940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2" name="TextBox 302"/>
          <p:cNvSpPr txBox="1"/>
          <p:nvPr/>
        </p:nvSpPr>
        <p:spPr>
          <a:xfrm>
            <a:off x="1371600" y="8744863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33" name="TextBox 303"/>
          <p:cNvSpPr txBox="1"/>
          <p:nvPr/>
        </p:nvSpPr>
        <p:spPr>
          <a:xfrm>
            <a:off x="2285999" y="8744863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Dividend Analytics</a:t>
            </a:r>
          </a:p>
        </p:txBody>
      </p:sp>
      <p:sp>
        <p:nvSpPr>
          <p:cNvPr id="534" name="TextBox 304"/>
          <p:cNvSpPr txBox="1"/>
          <p:nvPr/>
        </p:nvSpPr>
        <p:spPr>
          <a:xfrm>
            <a:off x="8686799" y="8744863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Yield trends &amp; forecast</a:t>
            </a:r>
          </a:p>
        </p:txBody>
      </p:sp>
      <p:sp>
        <p:nvSpPr>
          <p:cNvPr id="535" name="Connector 305"/>
          <p:cNvSpPr/>
          <p:nvPr/>
        </p:nvSpPr>
        <p:spPr>
          <a:xfrm>
            <a:off x="1371599" y="9113518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6" name="TextBox 306"/>
          <p:cNvSpPr txBox="1"/>
          <p:nvPr/>
        </p:nvSpPr>
        <p:spPr>
          <a:xfrm>
            <a:off x="1371600" y="919444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537" name="TextBox 307"/>
          <p:cNvSpPr txBox="1"/>
          <p:nvPr/>
        </p:nvSpPr>
        <p:spPr>
          <a:xfrm>
            <a:off x="2285999" y="9194444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Smart Funding</a:t>
            </a:r>
          </a:p>
        </p:txBody>
      </p:sp>
      <p:sp>
        <p:nvSpPr>
          <p:cNvPr id="538" name="TextBox 308"/>
          <p:cNvSpPr txBox="1"/>
          <p:nvPr/>
        </p:nvSpPr>
        <p:spPr>
          <a:xfrm>
            <a:off x="8686799" y="9194444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Intelligent routing &amp; automation</a:t>
            </a:r>
          </a:p>
        </p:txBody>
      </p:sp>
      <p:sp>
        <p:nvSpPr>
          <p:cNvPr id="539" name="Connector 309"/>
          <p:cNvSpPr/>
          <p:nvPr/>
        </p:nvSpPr>
        <p:spPr>
          <a:xfrm>
            <a:off x="1371599" y="9563100"/>
            <a:ext cx="21671283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0" name="TextBox 310"/>
          <p:cNvSpPr txBox="1"/>
          <p:nvPr/>
        </p:nvSpPr>
        <p:spPr>
          <a:xfrm>
            <a:off x="1371600" y="9644022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541" name="TextBox 311"/>
          <p:cNvSpPr txBox="1"/>
          <p:nvPr/>
        </p:nvSpPr>
        <p:spPr>
          <a:xfrm>
            <a:off x="2285999" y="9644022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Advanced Reporting</a:t>
            </a:r>
          </a:p>
        </p:txBody>
      </p:sp>
      <p:sp>
        <p:nvSpPr>
          <p:cNvPr id="542" name="TextBox 312"/>
          <p:cNvSpPr txBox="1"/>
          <p:nvPr/>
        </p:nvSpPr>
        <p:spPr>
          <a:xfrm>
            <a:off x="8686799" y="9644022"/>
            <a:ext cx="1435608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Exportable reports, structured statements</a:t>
            </a:r>
          </a:p>
        </p:txBody>
      </p:sp>
      <p:sp>
        <p:nvSpPr>
          <p:cNvPr id="543" name="Connector 313"/>
          <p:cNvSpPr/>
          <p:nvPr/>
        </p:nvSpPr>
        <p:spPr>
          <a:xfrm>
            <a:off x="1371599" y="10012680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4" name="TextBox 314"/>
          <p:cNvSpPr txBox="1"/>
          <p:nvPr/>
        </p:nvSpPr>
        <p:spPr>
          <a:xfrm>
            <a:off x="1371600" y="1009360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545" name="TextBox 315"/>
          <p:cNvSpPr txBox="1"/>
          <p:nvPr/>
        </p:nvSpPr>
        <p:spPr>
          <a:xfrm>
            <a:off x="2285999" y="10093604"/>
            <a:ext cx="6217923" cy="248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Order Intelligence</a:t>
            </a:r>
          </a:p>
        </p:txBody>
      </p:sp>
      <p:sp>
        <p:nvSpPr>
          <p:cNvPr id="546" name="TextBox 316"/>
          <p:cNvSpPr txBox="1"/>
          <p:nvPr/>
        </p:nvSpPr>
        <p:spPr>
          <a:xfrm>
            <a:off x="8686799" y="10093604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Scenario preview for subscribe/redeem</a:t>
            </a:r>
          </a:p>
        </p:txBody>
      </p:sp>
      <p:sp>
        <p:nvSpPr>
          <p:cNvPr id="547" name="Connector 317"/>
          <p:cNvSpPr/>
          <p:nvPr/>
        </p:nvSpPr>
        <p:spPr>
          <a:xfrm>
            <a:off x="1371599" y="10462259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8" name="TextBox 318"/>
          <p:cNvSpPr txBox="1"/>
          <p:nvPr/>
        </p:nvSpPr>
        <p:spPr>
          <a:xfrm>
            <a:off x="1371600" y="1054318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549" name="TextBox 319"/>
          <p:cNvSpPr txBox="1"/>
          <p:nvPr/>
        </p:nvSpPr>
        <p:spPr>
          <a:xfrm>
            <a:off x="2285999" y="10543184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Alert System</a:t>
            </a:r>
          </a:p>
        </p:txBody>
      </p:sp>
      <p:sp>
        <p:nvSpPr>
          <p:cNvPr id="550" name="TextBox 320"/>
          <p:cNvSpPr txBox="1"/>
          <p:nvPr/>
        </p:nvSpPr>
        <p:spPr>
          <a:xfrm>
            <a:off x="8686799" y="10543184"/>
            <a:ext cx="1435608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price / earnings alerts visible</a:t>
            </a:r>
          </a:p>
        </p:txBody>
      </p:sp>
      <p:sp>
        <p:nvSpPr>
          <p:cNvPr id="551" name="Connector 321"/>
          <p:cNvSpPr/>
          <p:nvPr/>
        </p:nvSpPr>
        <p:spPr>
          <a:xfrm>
            <a:off x="1371599" y="10911840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2" name="TextBox 322"/>
          <p:cNvSpPr txBox="1"/>
          <p:nvPr/>
        </p:nvSpPr>
        <p:spPr>
          <a:xfrm>
            <a:off x="1371600" y="10992763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553" name="TextBox 323"/>
          <p:cNvSpPr txBox="1"/>
          <p:nvPr/>
        </p:nvSpPr>
        <p:spPr>
          <a:xfrm>
            <a:off x="2285999" y="10992763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Analyst Ratings</a:t>
            </a:r>
          </a:p>
        </p:txBody>
      </p:sp>
      <p:sp>
        <p:nvSpPr>
          <p:cNvPr id="554" name="TextBox 324"/>
          <p:cNvSpPr txBox="1"/>
          <p:nvPr/>
        </p:nvSpPr>
        <p:spPr>
          <a:xfrm>
            <a:off x="8686799" y="10992763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Wall Street consensus, target price, or rating distribution</a:t>
            </a:r>
          </a:p>
        </p:txBody>
      </p:sp>
      <p:sp>
        <p:nvSpPr>
          <p:cNvPr id="555" name="Connector 325"/>
          <p:cNvSpPr/>
          <p:nvPr/>
        </p:nvSpPr>
        <p:spPr>
          <a:xfrm>
            <a:off x="1371599" y="11361418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6" name="TextBox 326"/>
          <p:cNvSpPr txBox="1"/>
          <p:nvPr/>
        </p:nvSpPr>
        <p:spPr>
          <a:xfrm>
            <a:off x="1371600" y="1144234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557" name="TextBox 327"/>
          <p:cNvSpPr txBox="1"/>
          <p:nvPr/>
        </p:nvSpPr>
        <p:spPr>
          <a:xfrm>
            <a:off x="2285999" y="11442344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Research Reports</a:t>
            </a:r>
          </a:p>
        </p:txBody>
      </p:sp>
      <p:sp>
        <p:nvSpPr>
          <p:cNvPr id="558" name="TextBox 328"/>
          <p:cNvSpPr txBox="1"/>
          <p:nvPr/>
        </p:nvSpPr>
        <p:spPr>
          <a:xfrm>
            <a:off x="8686799" y="11442344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linked reports or external research</a:t>
            </a:r>
          </a:p>
        </p:txBody>
      </p:sp>
      <p:sp>
        <p:nvSpPr>
          <p:cNvPr id="559" name="Connector 329"/>
          <p:cNvSpPr/>
          <p:nvPr/>
        </p:nvSpPr>
        <p:spPr>
          <a:xfrm>
            <a:off x="1371599" y="11811000"/>
            <a:ext cx="21671283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0" name="TextBox 330"/>
          <p:cNvSpPr txBox="1"/>
          <p:nvPr/>
        </p:nvSpPr>
        <p:spPr>
          <a:xfrm>
            <a:off x="1371600" y="11891922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561" name="TextBox 331"/>
          <p:cNvSpPr txBox="1"/>
          <p:nvPr/>
        </p:nvSpPr>
        <p:spPr>
          <a:xfrm>
            <a:off x="2285999" y="11891922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Sector &amp; peer context</a:t>
            </a:r>
          </a:p>
        </p:txBody>
      </p:sp>
      <p:sp>
        <p:nvSpPr>
          <p:cNvPr id="562" name="TextBox 332"/>
          <p:cNvSpPr txBox="1"/>
          <p:nvPr/>
        </p:nvSpPr>
        <p:spPr>
          <a:xfrm>
            <a:off x="8686799" y="11891922"/>
            <a:ext cx="1435608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peer benchmarking or index comparison</a:t>
            </a:r>
          </a:p>
        </p:txBody>
      </p:sp>
      <p:sp>
        <p:nvSpPr>
          <p:cNvPr id="563" name="Connector 333"/>
          <p:cNvSpPr/>
          <p:nvPr/>
        </p:nvSpPr>
        <p:spPr>
          <a:xfrm>
            <a:off x="1371599" y="12260580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4" name="TextBox 334"/>
          <p:cNvSpPr txBox="1"/>
          <p:nvPr/>
        </p:nvSpPr>
        <p:spPr>
          <a:xfrm>
            <a:off x="1371600" y="1234150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565" name="TextBox 335"/>
          <p:cNvSpPr txBox="1"/>
          <p:nvPr/>
        </p:nvSpPr>
        <p:spPr>
          <a:xfrm>
            <a:off x="2285999" y="12341504"/>
            <a:ext cx="6217923" cy="248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Portfolio analytics &amp; health</a:t>
            </a:r>
          </a:p>
        </p:txBody>
      </p:sp>
      <p:sp>
        <p:nvSpPr>
          <p:cNvPr id="566" name="Connector 337"/>
          <p:cNvSpPr/>
          <p:nvPr/>
        </p:nvSpPr>
        <p:spPr>
          <a:xfrm>
            <a:off x="1371599" y="12710159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Picture 265" descr="Picture 26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569" name="TextBox 266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010 / 111</a:t>
            </a:r>
          </a:p>
        </p:txBody>
      </p:sp>
      <p:sp>
        <p:nvSpPr>
          <p:cNvPr id="570" name="TextBox 267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GAPS SUMMARY</a:t>
            </a:r>
          </a:p>
        </p:txBody>
      </p:sp>
      <p:sp>
        <p:nvSpPr>
          <p:cNvPr id="571" name="TextBox 268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Mashurah (Robo)</a:t>
            </a:r>
          </a:p>
        </p:txBody>
      </p:sp>
      <p:sp>
        <p:nvSpPr>
          <p:cNvPr id="572" name="TextBox 269"/>
          <p:cNvSpPr txBox="1"/>
          <p:nvPr/>
        </p:nvSpPr>
        <p:spPr>
          <a:xfrm>
            <a:off x="1371600" y="4114800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573" name="TextBox 270"/>
          <p:cNvSpPr txBox="1"/>
          <p:nvPr/>
        </p:nvSpPr>
        <p:spPr>
          <a:xfrm>
            <a:off x="2285999" y="4114800"/>
            <a:ext cx="621792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DOMAIN</a:t>
            </a:r>
          </a:p>
        </p:txBody>
      </p:sp>
      <p:sp>
        <p:nvSpPr>
          <p:cNvPr id="574" name="TextBox 271"/>
          <p:cNvSpPr txBox="1"/>
          <p:nvPr/>
        </p:nvSpPr>
        <p:spPr>
          <a:xfrm>
            <a:off x="8686799" y="4114800"/>
            <a:ext cx="1435608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KEY MISSING CAPABILITIES</a:t>
            </a:r>
          </a:p>
        </p:txBody>
      </p:sp>
      <p:sp>
        <p:nvSpPr>
          <p:cNvPr id="575" name="Connector 272"/>
          <p:cNvSpPr/>
          <p:nvPr/>
        </p:nvSpPr>
        <p:spPr>
          <a:xfrm>
            <a:off x="1371599" y="4526279"/>
            <a:ext cx="21671283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6" name="TextBox 273"/>
          <p:cNvSpPr txBox="1"/>
          <p:nvPr/>
        </p:nvSpPr>
        <p:spPr>
          <a:xfrm>
            <a:off x="1371600" y="4732932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77" name="TextBox 274"/>
          <p:cNvSpPr txBox="1"/>
          <p:nvPr/>
        </p:nvSpPr>
        <p:spPr>
          <a:xfrm>
            <a:off x="2285999" y="4732932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Portfolio Analytics</a:t>
            </a:r>
          </a:p>
        </p:txBody>
      </p:sp>
      <p:sp>
        <p:nvSpPr>
          <p:cNvPr id="578" name="TextBox 275"/>
          <p:cNvSpPr txBox="1"/>
          <p:nvPr/>
        </p:nvSpPr>
        <p:spPr>
          <a:xfrm>
            <a:off x="8686799" y="4732932"/>
            <a:ext cx="1435608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performance attribution insight, no advanced portfolio performance analytics</a:t>
            </a:r>
          </a:p>
        </p:txBody>
      </p:sp>
      <p:sp>
        <p:nvSpPr>
          <p:cNvPr id="579" name="Connector 276"/>
          <p:cNvSpPr/>
          <p:nvPr/>
        </p:nvSpPr>
        <p:spPr>
          <a:xfrm>
            <a:off x="1371599" y="5257800"/>
            <a:ext cx="21671283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0" name="TextBox 277"/>
          <p:cNvSpPr txBox="1"/>
          <p:nvPr/>
        </p:nvSpPr>
        <p:spPr>
          <a:xfrm>
            <a:off x="1371600" y="5373013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81" name="TextBox 278"/>
          <p:cNvSpPr txBox="1"/>
          <p:nvPr/>
        </p:nvSpPr>
        <p:spPr>
          <a:xfrm>
            <a:off x="2285999" y="5373013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Portfolio Performance</a:t>
            </a:r>
          </a:p>
        </p:txBody>
      </p:sp>
      <p:sp>
        <p:nvSpPr>
          <p:cNvPr id="582" name="TextBox 279"/>
          <p:cNvSpPr txBox="1"/>
          <p:nvPr/>
        </p:nvSpPr>
        <p:spPr>
          <a:xfrm>
            <a:off x="8686799" y="5373013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SDK performance chart integration, limited performance period selection</a:t>
            </a:r>
          </a:p>
        </p:txBody>
      </p:sp>
      <p:sp>
        <p:nvSpPr>
          <p:cNvPr id="583" name="Connector 280"/>
          <p:cNvSpPr/>
          <p:nvPr/>
        </p:nvSpPr>
        <p:spPr>
          <a:xfrm>
            <a:off x="1371599" y="5897879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4" name="TextBox 281"/>
          <p:cNvSpPr txBox="1"/>
          <p:nvPr/>
        </p:nvSpPr>
        <p:spPr>
          <a:xfrm>
            <a:off x="1371600" y="6013093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85" name="TextBox 282"/>
          <p:cNvSpPr txBox="1"/>
          <p:nvPr/>
        </p:nvSpPr>
        <p:spPr>
          <a:xfrm>
            <a:off x="2285999" y="6013093"/>
            <a:ext cx="6217923" cy="248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Holdings Transparency</a:t>
            </a:r>
          </a:p>
        </p:txBody>
      </p:sp>
      <p:sp>
        <p:nvSpPr>
          <p:cNvPr id="586" name="TextBox 283"/>
          <p:cNvSpPr txBox="1"/>
          <p:nvPr/>
        </p:nvSpPr>
        <p:spPr>
          <a:xfrm>
            <a:off x="8686799" y="6013093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lot-level quantity breakdown, no cost history tracking</a:t>
            </a:r>
          </a:p>
        </p:txBody>
      </p:sp>
      <p:sp>
        <p:nvSpPr>
          <p:cNvPr id="587" name="Connector 284"/>
          <p:cNvSpPr/>
          <p:nvPr/>
        </p:nvSpPr>
        <p:spPr>
          <a:xfrm>
            <a:off x="1371599" y="6537959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8" name="TextBox 285"/>
          <p:cNvSpPr txBox="1"/>
          <p:nvPr/>
        </p:nvSpPr>
        <p:spPr>
          <a:xfrm>
            <a:off x="1371600" y="6653172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89" name="TextBox 286"/>
          <p:cNvSpPr txBox="1"/>
          <p:nvPr/>
        </p:nvSpPr>
        <p:spPr>
          <a:xfrm>
            <a:off x="2285999" y="6653172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Liquidity Visibility</a:t>
            </a:r>
          </a:p>
        </p:txBody>
      </p:sp>
      <p:sp>
        <p:nvSpPr>
          <p:cNvPr id="590" name="TextBox 287"/>
          <p:cNvSpPr txBox="1"/>
          <p:nvPr/>
        </p:nvSpPr>
        <p:spPr>
          <a:xfrm>
            <a:off x="8686799" y="6653172"/>
            <a:ext cx="1435608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clear withdrawal eligibility rules visibility</a:t>
            </a:r>
          </a:p>
        </p:txBody>
      </p:sp>
      <p:sp>
        <p:nvSpPr>
          <p:cNvPr id="591" name="Connector 288"/>
          <p:cNvSpPr/>
          <p:nvPr/>
        </p:nvSpPr>
        <p:spPr>
          <a:xfrm>
            <a:off x="1371599" y="7178040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2" name="TextBox 289"/>
          <p:cNvSpPr txBox="1"/>
          <p:nvPr/>
        </p:nvSpPr>
        <p:spPr>
          <a:xfrm>
            <a:off x="1371600" y="729325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93" name="TextBox 290"/>
          <p:cNvSpPr txBox="1"/>
          <p:nvPr/>
        </p:nvSpPr>
        <p:spPr>
          <a:xfrm>
            <a:off x="2285999" y="7293254"/>
            <a:ext cx="6217923" cy="248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Cash Processing</a:t>
            </a:r>
          </a:p>
        </p:txBody>
      </p:sp>
      <p:sp>
        <p:nvSpPr>
          <p:cNvPr id="594" name="TextBox 291"/>
          <p:cNvSpPr txBox="1"/>
          <p:nvPr/>
        </p:nvSpPr>
        <p:spPr>
          <a:xfrm>
            <a:off x="8686799" y="7293254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processing status tracking for cash under processing</a:t>
            </a:r>
          </a:p>
        </p:txBody>
      </p:sp>
      <p:sp>
        <p:nvSpPr>
          <p:cNvPr id="595" name="Connector 292"/>
          <p:cNvSpPr/>
          <p:nvPr/>
        </p:nvSpPr>
        <p:spPr>
          <a:xfrm>
            <a:off x="1371599" y="7818118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6" name="TextBox 293"/>
          <p:cNvSpPr txBox="1"/>
          <p:nvPr/>
        </p:nvSpPr>
        <p:spPr>
          <a:xfrm>
            <a:off x="1371600" y="793333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597" name="TextBox 294"/>
          <p:cNvSpPr txBox="1"/>
          <p:nvPr/>
        </p:nvSpPr>
        <p:spPr>
          <a:xfrm>
            <a:off x="2285999" y="7933334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Cash Display Controls</a:t>
            </a:r>
          </a:p>
        </p:txBody>
      </p:sp>
      <p:sp>
        <p:nvSpPr>
          <p:cNvPr id="598" name="TextBox 295"/>
          <p:cNvSpPr txBox="1"/>
          <p:nvPr/>
        </p:nvSpPr>
        <p:spPr>
          <a:xfrm>
            <a:off x="8686799" y="7933334"/>
            <a:ext cx="1435608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customization for cash display preferences</a:t>
            </a:r>
          </a:p>
        </p:txBody>
      </p:sp>
      <p:sp>
        <p:nvSpPr>
          <p:cNvPr id="599" name="Connector 296"/>
          <p:cNvSpPr/>
          <p:nvPr/>
        </p:nvSpPr>
        <p:spPr>
          <a:xfrm>
            <a:off x="1371599" y="8458200"/>
            <a:ext cx="21671283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0" name="TextBox 297"/>
          <p:cNvSpPr txBox="1"/>
          <p:nvPr/>
        </p:nvSpPr>
        <p:spPr>
          <a:xfrm>
            <a:off x="1371600" y="8573413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601" name="TextBox 298"/>
          <p:cNvSpPr txBox="1"/>
          <p:nvPr/>
        </p:nvSpPr>
        <p:spPr>
          <a:xfrm>
            <a:off x="2285999" y="8573413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Funding History</a:t>
            </a:r>
          </a:p>
        </p:txBody>
      </p:sp>
      <p:sp>
        <p:nvSpPr>
          <p:cNvPr id="602" name="TextBox 299"/>
          <p:cNvSpPr txBox="1"/>
          <p:nvPr/>
        </p:nvSpPr>
        <p:spPr>
          <a:xfrm>
            <a:off x="8686799" y="8573413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Transfer history visibility is limited</a:t>
            </a:r>
          </a:p>
        </p:txBody>
      </p:sp>
      <p:sp>
        <p:nvSpPr>
          <p:cNvPr id="603" name="Connector 300"/>
          <p:cNvSpPr/>
          <p:nvPr/>
        </p:nvSpPr>
        <p:spPr>
          <a:xfrm>
            <a:off x="1371599" y="9098280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4" name="TextBox 301"/>
          <p:cNvSpPr txBox="1"/>
          <p:nvPr/>
        </p:nvSpPr>
        <p:spPr>
          <a:xfrm>
            <a:off x="1371600" y="921349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05" name="TextBox 302"/>
          <p:cNvSpPr txBox="1"/>
          <p:nvPr/>
        </p:nvSpPr>
        <p:spPr>
          <a:xfrm>
            <a:off x="2285999" y="9213494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Funding Options</a:t>
            </a:r>
          </a:p>
        </p:txBody>
      </p:sp>
      <p:sp>
        <p:nvSpPr>
          <p:cNvPr id="606" name="TextBox 303"/>
          <p:cNvSpPr txBox="1"/>
          <p:nvPr/>
        </p:nvSpPr>
        <p:spPr>
          <a:xfrm>
            <a:off x="8686799" y="9213494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Missing funding channels (e.g., local bank transfer and Mokafaa)</a:t>
            </a:r>
          </a:p>
        </p:txBody>
      </p:sp>
      <p:sp>
        <p:nvSpPr>
          <p:cNvPr id="607" name="Connector 304"/>
          <p:cNvSpPr/>
          <p:nvPr/>
        </p:nvSpPr>
        <p:spPr>
          <a:xfrm>
            <a:off x="1371599" y="9738359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" name="TextBox 305"/>
          <p:cNvSpPr txBox="1"/>
          <p:nvPr/>
        </p:nvSpPr>
        <p:spPr>
          <a:xfrm>
            <a:off x="1371600" y="9853572"/>
            <a:ext cx="7315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609" name="TextBox 306"/>
          <p:cNvSpPr txBox="1"/>
          <p:nvPr/>
        </p:nvSpPr>
        <p:spPr>
          <a:xfrm>
            <a:off x="2285999" y="9853572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Reporting Timeline</a:t>
            </a:r>
          </a:p>
        </p:txBody>
      </p:sp>
      <p:sp>
        <p:nvSpPr>
          <p:cNvPr id="610" name="TextBox 307"/>
          <p:cNvSpPr txBox="1"/>
          <p:nvPr/>
        </p:nvSpPr>
        <p:spPr>
          <a:xfrm>
            <a:off x="8686799" y="9853572"/>
            <a:ext cx="1435608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Reports limited to 1 month within a year (P/L, statements, cost, dividends)</a:t>
            </a:r>
          </a:p>
        </p:txBody>
      </p:sp>
      <p:sp>
        <p:nvSpPr>
          <p:cNvPr id="611" name="Connector 308"/>
          <p:cNvSpPr/>
          <p:nvPr/>
        </p:nvSpPr>
        <p:spPr>
          <a:xfrm>
            <a:off x="1371599" y="10378440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2" name="TextBox 309"/>
          <p:cNvSpPr txBox="1"/>
          <p:nvPr/>
        </p:nvSpPr>
        <p:spPr>
          <a:xfrm>
            <a:off x="1371600" y="1049365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613" name="TextBox 310"/>
          <p:cNvSpPr txBox="1"/>
          <p:nvPr/>
        </p:nvSpPr>
        <p:spPr>
          <a:xfrm>
            <a:off x="2285999" y="10493654"/>
            <a:ext cx="6217923" cy="248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Reporting Flexibility</a:t>
            </a:r>
          </a:p>
        </p:txBody>
      </p:sp>
      <p:sp>
        <p:nvSpPr>
          <p:cNvPr id="614" name="TextBox 311"/>
          <p:cNvSpPr txBox="1"/>
          <p:nvPr/>
        </p:nvSpPr>
        <p:spPr>
          <a:xfrm>
            <a:off x="8686799" y="10493654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extended reporting timeline or flexible reporting periods</a:t>
            </a:r>
          </a:p>
        </p:txBody>
      </p:sp>
      <p:sp>
        <p:nvSpPr>
          <p:cNvPr id="615" name="Connector 312"/>
          <p:cNvSpPr/>
          <p:nvPr/>
        </p:nvSpPr>
        <p:spPr>
          <a:xfrm>
            <a:off x="1371599" y="11018518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6" name="TextBox 313"/>
          <p:cNvSpPr txBox="1"/>
          <p:nvPr/>
        </p:nvSpPr>
        <p:spPr>
          <a:xfrm>
            <a:off x="1371600" y="11133734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617" name="TextBox 314"/>
          <p:cNvSpPr txBox="1"/>
          <p:nvPr/>
        </p:nvSpPr>
        <p:spPr>
          <a:xfrm>
            <a:off x="2285999" y="11133734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Market Intelligence</a:t>
            </a:r>
          </a:p>
        </p:txBody>
      </p:sp>
      <p:sp>
        <p:nvSpPr>
          <p:cNvPr id="618" name="TextBox 315"/>
          <p:cNvSpPr txBox="1"/>
          <p:nvPr/>
        </p:nvSpPr>
        <p:spPr>
          <a:xfrm>
            <a:off x="8686799" y="11133734"/>
            <a:ext cx="1435608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market alert capability for investors</a:t>
            </a:r>
          </a:p>
        </p:txBody>
      </p:sp>
      <p:sp>
        <p:nvSpPr>
          <p:cNvPr id="619" name="Connector 316"/>
          <p:cNvSpPr/>
          <p:nvPr/>
        </p:nvSpPr>
        <p:spPr>
          <a:xfrm>
            <a:off x="1371599" y="11658600"/>
            <a:ext cx="21671283" cy="0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0" name="TextBox 317"/>
          <p:cNvSpPr txBox="1"/>
          <p:nvPr/>
        </p:nvSpPr>
        <p:spPr>
          <a:xfrm>
            <a:off x="1371600" y="11773813"/>
            <a:ext cx="731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621" name="TextBox 318"/>
          <p:cNvSpPr txBox="1"/>
          <p:nvPr/>
        </p:nvSpPr>
        <p:spPr>
          <a:xfrm>
            <a:off x="2285999" y="11773813"/>
            <a:ext cx="6217923" cy="248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Portfolio Valuation &amp; Performance</a:t>
            </a:r>
          </a:p>
        </p:txBody>
      </p:sp>
      <p:sp>
        <p:nvSpPr>
          <p:cNvPr id="622" name="TextBox 319"/>
          <p:cNvSpPr txBox="1"/>
          <p:nvPr/>
        </p:nvSpPr>
        <p:spPr>
          <a:xfrm>
            <a:off x="8686799" y="11773813"/>
            <a:ext cx="143560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benchmark comparison or target return tracking visible</a:t>
            </a:r>
          </a:p>
        </p:txBody>
      </p:sp>
      <p:sp>
        <p:nvSpPr>
          <p:cNvPr id="623" name="Connector 320"/>
          <p:cNvSpPr/>
          <p:nvPr/>
        </p:nvSpPr>
        <p:spPr>
          <a:xfrm>
            <a:off x="1371599" y="12298680"/>
            <a:ext cx="21671283" cy="2"/>
          </a:xfrm>
          <a:prstGeom prst="line">
            <a:avLst/>
          </a:prstGeom>
          <a:ln w="6350">
            <a:solidFill>
              <a:srgbClr val="E5E7E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TextBox 3"/>
          <p:cNvSpPr txBox="1"/>
          <p:nvPr/>
        </p:nvSpPr>
        <p:spPr>
          <a:xfrm>
            <a:off x="18900646" y="1097280"/>
            <a:ext cx="4114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300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APRIL 2026</a:t>
            </a:r>
          </a:p>
        </p:txBody>
      </p:sp>
      <p:sp>
        <p:nvSpPr>
          <p:cNvPr id="626" name="Rectangle 4"/>
          <p:cNvSpPr/>
          <p:nvPr/>
        </p:nvSpPr>
        <p:spPr>
          <a:xfrm>
            <a:off x="1371600" y="4114799"/>
            <a:ext cx="1371600" cy="36579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627" name="TextBox 5"/>
          <p:cNvSpPr txBox="1"/>
          <p:nvPr/>
        </p:nvSpPr>
        <p:spPr>
          <a:xfrm>
            <a:off x="1371600" y="4389120"/>
            <a:ext cx="20116800" cy="1719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Digital </a:t>
            </a:r>
            <a:r>
              <a:rPr>
                <a:solidFill>
                  <a:srgbClr val="0333E8"/>
                </a:solidFill>
              </a:rPr>
              <a:t>Capabilities</a:t>
            </a:r>
          </a:p>
        </p:txBody>
      </p:sp>
      <p:sp>
        <p:nvSpPr>
          <p:cNvPr id="628" name="TextBox 6"/>
          <p:cNvSpPr txBox="1"/>
          <p:nvPr/>
        </p:nvSpPr>
        <p:spPr>
          <a:xfrm>
            <a:off x="1371600" y="7863840"/>
            <a:ext cx="20116800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Strategic capability roadmap across all products</a:t>
            </a:r>
          </a:p>
        </p:txBody>
      </p:sp>
      <p:sp>
        <p:nvSpPr>
          <p:cNvPr id="629" name="TextBox 7"/>
          <p:cNvSpPr txBox="1"/>
          <p:nvPr/>
        </p:nvSpPr>
        <p:spPr>
          <a:xfrm>
            <a:off x="1371600" y="9143999"/>
            <a:ext cx="20116800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ROADMAP  ·  JIRA COVERAGE  ·  EXECUTION STATUS</a:t>
            </a:r>
          </a:p>
        </p:txBody>
      </p:sp>
      <p:sp>
        <p:nvSpPr>
          <p:cNvPr id="630" name="TextBox 8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011 / 111</a:t>
            </a:r>
          </a:p>
        </p:txBody>
      </p:sp>
      <p:pic>
        <p:nvPicPr>
          <p:cNvPr id="63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2200" cy="8220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634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012 / 111</a:t>
            </a:r>
          </a:p>
        </p:txBody>
      </p:sp>
      <p:sp>
        <p:nvSpPr>
          <p:cNvPr id="635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DIGITAL CAPABILITIES  ·  SECTION SUMMARY</a:t>
            </a:r>
          </a:p>
        </p:txBody>
      </p:sp>
      <p:sp>
        <p:nvSpPr>
          <p:cNvPr id="636" name="TextBox 4"/>
          <p:cNvSpPr txBox="1"/>
          <p:nvPr/>
        </p:nvSpPr>
        <p:spPr>
          <a:xfrm>
            <a:off x="1371600" y="2834638"/>
            <a:ext cx="20116800" cy="769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4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79 capabilities assessed. 30 already live.</a:t>
            </a:r>
          </a:p>
        </p:txBody>
      </p:sp>
      <p:sp>
        <p:nvSpPr>
          <p:cNvPr id="637" name="TextBox 5"/>
          <p:cNvSpPr txBox="1"/>
          <p:nvPr/>
        </p:nvSpPr>
        <p:spPr>
          <a:xfrm>
            <a:off x="1371600" y="5760720"/>
            <a:ext cx="6400800" cy="3200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8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79</a:t>
            </a:r>
          </a:p>
        </p:txBody>
      </p:sp>
      <p:sp>
        <p:nvSpPr>
          <p:cNvPr id="638" name="TextBox 6"/>
          <p:cNvSpPr txBox="1"/>
          <p:nvPr/>
        </p:nvSpPr>
        <p:spPr>
          <a:xfrm>
            <a:off x="1371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TOTAL CAPABILITIES</a:t>
            </a:r>
          </a:p>
        </p:txBody>
      </p:sp>
      <p:sp>
        <p:nvSpPr>
          <p:cNvPr id="639" name="Rectangle 7"/>
          <p:cNvSpPr/>
          <p:nvPr/>
        </p:nvSpPr>
        <p:spPr>
          <a:xfrm>
            <a:off x="1371600" y="9098280"/>
            <a:ext cx="1371600" cy="36578"/>
          </a:xfrm>
          <a:prstGeom prst="rect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640" name="TextBox 8"/>
          <p:cNvSpPr txBox="1"/>
          <p:nvPr/>
        </p:nvSpPr>
        <p:spPr>
          <a:xfrm>
            <a:off x="8229600" y="5760720"/>
            <a:ext cx="6400800" cy="3200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8000">
                <a:solidFill>
                  <a:srgbClr val="059669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30</a:t>
            </a:r>
          </a:p>
        </p:txBody>
      </p:sp>
      <p:sp>
        <p:nvSpPr>
          <p:cNvPr id="641" name="TextBox 9"/>
          <p:cNvSpPr txBox="1"/>
          <p:nvPr/>
        </p:nvSpPr>
        <p:spPr>
          <a:xfrm>
            <a:off x="8229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LIVE ON APP   (38% OF 79)</a:t>
            </a:r>
          </a:p>
        </p:txBody>
      </p:sp>
      <p:sp>
        <p:nvSpPr>
          <p:cNvPr id="642" name="Rectangle 10"/>
          <p:cNvSpPr/>
          <p:nvPr/>
        </p:nvSpPr>
        <p:spPr>
          <a:xfrm>
            <a:off x="8229600" y="9098280"/>
            <a:ext cx="1371600" cy="36578"/>
          </a:xfrm>
          <a:prstGeom prst="rect">
            <a:avLst/>
          </a:prstGeom>
          <a:solidFill>
            <a:srgbClr val="05966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643" name="TextBox 11"/>
          <p:cNvSpPr txBox="1"/>
          <p:nvPr/>
        </p:nvSpPr>
        <p:spPr>
          <a:xfrm>
            <a:off x="15087600" y="5760720"/>
            <a:ext cx="6400800" cy="3200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8000">
                <a:solidFill>
                  <a:srgbClr val="0333E8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48</a:t>
            </a:r>
          </a:p>
        </p:txBody>
      </p:sp>
      <p:sp>
        <p:nvSpPr>
          <p:cNvPr id="644" name="TextBox 12"/>
          <p:cNvSpPr txBox="1"/>
          <p:nvPr/>
        </p:nvSpPr>
        <p:spPr>
          <a:xfrm>
            <a:off x="15087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TRACKED IN JIRA   (61% OF 79)</a:t>
            </a:r>
          </a:p>
        </p:txBody>
      </p:sp>
      <p:sp>
        <p:nvSpPr>
          <p:cNvPr id="645" name="Rectangle 13"/>
          <p:cNvSpPr/>
          <p:nvPr/>
        </p:nvSpPr>
        <p:spPr>
          <a:xfrm>
            <a:off x="15087600" y="9098280"/>
            <a:ext cx="1371600" cy="36578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646" name="Connector 14"/>
          <p:cNvSpPr/>
          <p:nvPr/>
        </p:nvSpPr>
        <p:spPr>
          <a:xfrm>
            <a:off x="1371600" y="10789918"/>
            <a:ext cx="21643849" cy="2"/>
          </a:xfrm>
          <a:prstGeom prst="line">
            <a:avLst/>
          </a:prstGeom>
          <a:ln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7" name="TextBox 15"/>
          <p:cNvSpPr txBox="1"/>
          <p:nvPr/>
        </p:nvSpPr>
        <p:spPr>
          <a:xfrm>
            <a:off x="1371600" y="11109959"/>
            <a:ext cx="1828800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TWO HEADLINES</a:t>
            </a:r>
          </a:p>
        </p:txBody>
      </p:sp>
      <p:sp>
        <p:nvSpPr>
          <p:cNvPr id="648" name="TextBox 16"/>
          <p:cNvSpPr txBox="1"/>
          <p:nvPr/>
        </p:nvSpPr>
        <p:spPr>
          <a:xfrm>
            <a:off x="1371600" y="11612880"/>
            <a:ext cx="10058400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49 gaps planned. 38% of the roadmap is already live.</a:t>
            </a:r>
          </a:p>
        </p:txBody>
      </p:sp>
      <p:sp>
        <p:nvSpPr>
          <p:cNvPr id="649" name="TextBox 17"/>
          <p:cNvSpPr txBox="1"/>
          <p:nvPr/>
        </p:nvSpPr>
        <p:spPr>
          <a:xfrm>
            <a:off x="11978640" y="11612880"/>
            <a:ext cx="10058402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61% coverage in Jira — the strongest tracking discipline in the deck.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652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013 / 111</a:t>
            </a:r>
          </a:p>
        </p:txBody>
      </p:sp>
      <p:sp>
        <p:nvSpPr>
          <p:cNvPr id="653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DIGITAL CAPABILITIES  ·  CAPABILITY ASSESSMENT</a:t>
            </a:r>
          </a:p>
        </p:txBody>
      </p:sp>
      <p:sp>
        <p:nvSpPr>
          <p:cNvPr id="654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Digital Capabilities</a:t>
            </a:r>
          </a:p>
        </p:txBody>
      </p:sp>
      <p:sp>
        <p:nvSpPr>
          <p:cNvPr id="655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656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657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58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59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60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61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62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63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4" name="TextBox 14"/>
          <p:cNvSpPr txBox="1"/>
          <p:nvPr/>
        </p:nvSpPr>
        <p:spPr>
          <a:xfrm>
            <a:off x="1517902" y="5614415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65" name="TextBox 15"/>
          <p:cNvSpPr txBox="1"/>
          <p:nvPr/>
        </p:nvSpPr>
        <p:spPr>
          <a:xfrm>
            <a:off x="2600094" y="5614415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Subscription Engine</a:t>
            </a:r>
          </a:p>
        </p:txBody>
      </p:sp>
      <p:sp>
        <p:nvSpPr>
          <p:cNvPr id="666" name="TextBox 16"/>
          <p:cNvSpPr txBox="1"/>
          <p:nvPr/>
        </p:nvSpPr>
        <p:spPr>
          <a:xfrm>
            <a:off x="9093250" y="5614415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7" name="TextBox 17"/>
          <p:cNvSpPr txBox="1"/>
          <p:nvPr/>
        </p:nvSpPr>
        <p:spPr>
          <a:xfrm>
            <a:off x="18832982" y="5614415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ARCD-2632</a:t>
            </a:r>
          </a:p>
        </p:txBody>
      </p:sp>
      <p:sp>
        <p:nvSpPr>
          <p:cNvPr id="668" name="Connector 18"/>
          <p:cNvSpPr/>
          <p:nvPr/>
        </p:nvSpPr>
        <p:spPr>
          <a:xfrm>
            <a:off x="1371600" y="60167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9" name="TextBox 19"/>
          <p:cNvSpPr txBox="1"/>
          <p:nvPr/>
        </p:nvSpPr>
        <p:spPr>
          <a:xfrm>
            <a:off x="1517902" y="605332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70" name="TextBox 20"/>
          <p:cNvSpPr txBox="1"/>
          <p:nvPr/>
        </p:nvSpPr>
        <p:spPr>
          <a:xfrm>
            <a:off x="2600094" y="6053328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Ehsan Donation</a:t>
            </a:r>
          </a:p>
        </p:txBody>
      </p:sp>
      <p:sp>
        <p:nvSpPr>
          <p:cNvPr id="671" name="TextBox 21"/>
          <p:cNvSpPr txBox="1"/>
          <p:nvPr/>
        </p:nvSpPr>
        <p:spPr>
          <a:xfrm>
            <a:off x="9093250" y="605332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72" name="Connector 22"/>
          <p:cNvSpPr/>
          <p:nvPr/>
        </p:nvSpPr>
        <p:spPr>
          <a:xfrm>
            <a:off x="1370775" y="6456946"/>
            <a:ext cx="21643851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3" name="TextBox 23"/>
          <p:cNvSpPr txBox="1"/>
          <p:nvPr/>
        </p:nvSpPr>
        <p:spPr>
          <a:xfrm>
            <a:off x="1517902" y="64922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74" name="TextBox 24"/>
          <p:cNvSpPr txBox="1"/>
          <p:nvPr/>
        </p:nvSpPr>
        <p:spPr>
          <a:xfrm>
            <a:off x="2600094" y="64922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Family Onboarding</a:t>
            </a:r>
          </a:p>
        </p:txBody>
      </p:sp>
      <p:sp>
        <p:nvSpPr>
          <p:cNvPr id="675" name="TextBox 25"/>
          <p:cNvSpPr txBox="1"/>
          <p:nvPr/>
        </p:nvSpPr>
        <p:spPr>
          <a:xfrm>
            <a:off x="9093250" y="6492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76" name="Connector 26"/>
          <p:cNvSpPr/>
          <p:nvPr/>
        </p:nvSpPr>
        <p:spPr>
          <a:xfrm>
            <a:off x="1371600" y="689457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7" name="TextBox 27"/>
          <p:cNvSpPr txBox="1"/>
          <p:nvPr/>
        </p:nvSpPr>
        <p:spPr>
          <a:xfrm>
            <a:off x="1517902" y="693115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78" name="TextBox 28"/>
          <p:cNvSpPr txBox="1"/>
          <p:nvPr/>
        </p:nvSpPr>
        <p:spPr>
          <a:xfrm>
            <a:off x="2600094" y="693115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Referral Program</a:t>
            </a:r>
          </a:p>
        </p:txBody>
      </p:sp>
      <p:sp>
        <p:nvSpPr>
          <p:cNvPr id="679" name="TextBox 29"/>
          <p:cNvSpPr txBox="1"/>
          <p:nvPr/>
        </p:nvSpPr>
        <p:spPr>
          <a:xfrm>
            <a:off x="9093250" y="69311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80" name="TextBox 30"/>
          <p:cNvSpPr txBox="1"/>
          <p:nvPr/>
        </p:nvSpPr>
        <p:spPr>
          <a:xfrm>
            <a:off x="18832982" y="6931152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ARCD-23093</a:t>
            </a:r>
          </a:p>
        </p:txBody>
      </p:sp>
      <p:sp>
        <p:nvSpPr>
          <p:cNvPr id="681" name="Connector 31"/>
          <p:cNvSpPr/>
          <p:nvPr/>
        </p:nvSpPr>
        <p:spPr>
          <a:xfrm>
            <a:off x="1371600" y="73334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2" name="TextBox 32"/>
          <p:cNvSpPr txBox="1"/>
          <p:nvPr/>
        </p:nvSpPr>
        <p:spPr>
          <a:xfrm>
            <a:off x="1517902" y="737006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83" name="TextBox 33"/>
          <p:cNvSpPr txBox="1"/>
          <p:nvPr/>
        </p:nvSpPr>
        <p:spPr>
          <a:xfrm>
            <a:off x="2600094" y="737006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Gift Service Ops/Digital requirements</a:t>
            </a:r>
          </a:p>
        </p:txBody>
      </p:sp>
      <p:sp>
        <p:nvSpPr>
          <p:cNvPr id="684" name="TextBox 34"/>
          <p:cNvSpPr txBox="1"/>
          <p:nvPr/>
        </p:nvSpPr>
        <p:spPr>
          <a:xfrm>
            <a:off x="9093250" y="737006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85" name="TextBox 35"/>
          <p:cNvSpPr txBox="1"/>
          <p:nvPr/>
        </p:nvSpPr>
        <p:spPr>
          <a:xfrm>
            <a:off x="18832982" y="7370064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ARCD-70019</a:t>
            </a:r>
          </a:p>
        </p:txBody>
      </p:sp>
      <p:sp>
        <p:nvSpPr>
          <p:cNvPr id="686" name="Connector 36"/>
          <p:cNvSpPr/>
          <p:nvPr/>
        </p:nvSpPr>
        <p:spPr>
          <a:xfrm>
            <a:off x="1371600" y="77724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7" name="TextBox 37"/>
          <p:cNvSpPr txBox="1"/>
          <p:nvPr/>
        </p:nvSpPr>
        <p:spPr>
          <a:xfrm>
            <a:off x="1517902" y="780897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88" name="TextBox 38"/>
          <p:cNvSpPr txBox="1"/>
          <p:nvPr/>
        </p:nvSpPr>
        <p:spPr>
          <a:xfrm>
            <a:off x="2600094" y="780897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Goal Tracker</a:t>
            </a:r>
          </a:p>
        </p:txBody>
      </p:sp>
      <p:sp>
        <p:nvSpPr>
          <p:cNvPr id="689" name="TextBox 39"/>
          <p:cNvSpPr txBox="1"/>
          <p:nvPr/>
        </p:nvSpPr>
        <p:spPr>
          <a:xfrm>
            <a:off x="9093250" y="78089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90" name="TextBox 40"/>
          <p:cNvSpPr txBox="1"/>
          <p:nvPr/>
        </p:nvSpPr>
        <p:spPr>
          <a:xfrm>
            <a:off x="18832982" y="7808976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ARCD-55733</a:t>
            </a:r>
          </a:p>
        </p:txBody>
      </p:sp>
      <p:sp>
        <p:nvSpPr>
          <p:cNvPr id="691" name="Connector 41"/>
          <p:cNvSpPr/>
          <p:nvPr/>
        </p:nvSpPr>
        <p:spPr>
          <a:xfrm>
            <a:off x="1371600" y="821131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2" name="TextBox 42"/>
          <p:cNvSpPr txBox="1"/>
          <p:nvPr/>
        </p:nvSpPr>
        <p:spPr>
          <a:xfrm>
            <a:off x="1517902" y="824788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693" name="TextBox 43"/>
          <p:cNvSpPr txBox="1"/>
          <p:nvPr/>
        </p:nvSpPr>
        <p:spPr>
          <a:xfrm>
            <a:off x="2600094" y="8247888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Investment allocation</a:t>
            </a:r>
          </a:p>
        </p:txBody>
      </p:sp>
      <p:sp>
        <p:nvSpPr>
          <p:cNvPr id="694" name="TextBox 44"/>
          <p:cNvSpPr txBox="1"/>
          <p:nvPr/>
        </p:nvSpPr>
        <p:spPr>
          <a:xfrm>
            <a:off x="9093250" y="824788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95" name="TextBox 45"/>
          <p:cNvSpPr txBox="1"/>
          <p:nvPr/>
        </p:nvSpPr>
        <p:spPr>
          <a:xfrm>
            <a:off x="18832982" y="8247888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ARCD-61176</a:t>
            </a:r>
          </a:p>
        </p:txBody>
      </p:sp>
      <p:sp>
        <p:nvSpPr>
          <p:cNvPr id="696" name="Connector 46"/>
          <p:cNvSpPr/>
          <p:nvPr/>
        </p:nvSpPr>
        <p:spPr>
          <a:xfrm>
            <a:off x="1371600" y="865022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7" name="TextBox 47"/>
          <p:cNvSpPr txBox="1"/>
          <p:nvPr/>
        </p:nvSpPr>
        <p:spPr>
          <a:xfrm>
            <a:off x="1517902" y="86868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98" name="TextBox 48"/>
          <p:cNvSpPr txBox="1"/>
          <p:nvPr/>
        </p:nvSpPr>
        <p:spPr>
          <a:xfrm>
            <a:off x="2600094" y="86868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visability customaztion</a:t>
            </a:r>
          </a:p>
        </p:txBody>
      </p:sp>
      <p:sp>
        <p:nvSpPr>
          <p:cNvPr id="699" name="TextBox 49"/>
          <p:cNvSpPr txBox="1"/>
          <p:nvPr/>
        </p:nvSpPr>
        <p:spPr>
          <a:xfrm>
            <a:off x="9093250" y="86867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00" name="Connector 50"/>
          <p:cNvSpPr/>
          <p:nvPr/>
        </p:nvSpPr>
        <p:spPr>
          <a:xfrm>
            <a:off x="1371600" y="908913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1" name="TextBox 51"/>
          <p:cNvSpPr txBox="1"/>
          <p:nvPr/>
        </p:nvSpPr>
        <p:spPr>
          <a:xfrm>
            <a:off x="1517902" y="912571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702" name="TextBox 52"/>
          <p:cNvSpPr txBox="1"/>
          <p:nvPr/>
        </p:nvSpPr>
        <p:spPr>
          <a:xfrm>
            <a:off x="2600094" y="912571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Guest mode</a:t>
            </a:r>
          </a:p>
        </p:txBody>
      </p:sp>
      <p:sp>
        <p:nvSpPr>
          <p:cNvPr id="703" name="TextBox 53"/>
          <p:cNvSpPr txBox="1"/>
          <p:nvPr/>
        </p:nvSpPr>
        <p:spPr>
          <a:xfrm>
            <a:off x="9093250" y="912571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04" name="TextBox 54"/>
          <p:cNvSpPr txBox="1"/>
          <p:nvPr/>
        </p:nvSpPr>
        <p:spPr>
          <a:xfrm>
            <a:off x="18832982" y="9125711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ARCD-75522</a:t>
            </a:r>
          </a:p>
        </p:txBody>
      </p:sp>
      <p:sp>
        <p:nvSpPr>
          <p:cNvPr id="705" name="Connector 55"/>
          <p:cNvSpPr/>
          <p:nvPr/>
        </p:nvSpPr>
        <p:spPr>
          <a:xfrm>
            <a:off x="1371600" y="9528047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6" name="TextBox 56"/>
          <p:cNvSpPr txBox="1"/>
          <p:nvPr/>
        </p:nvSpPr>
        <p:spPr>
          <a:xfrm>
            <a:off x="1517902" y="956462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707" name="TextBox 57"/>
          <p:cNvSpPr txBox="1"/>
          <p:nvPr/>
        </p:nvSpPr>
        <p:spPr>
          <a:xfrm>
            <a:off x="2600094" y="956462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Personal investment manager</a:t>
            </a:r>
          </a:p>
        </p:txBody>
      </p:sp>
      <p:sp>
        <p:nvSpPr>
          <p:cNvPr id="708" name="TextBox 58"/>
          <p:cNvSpPr txBox="1"/>
          <p:nvPr/>
        </p:nvSpPr>
        <p:spPr>
          <a:xfrm>
            <a:off x="9093250" y="956462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09" name="TextBox 59"/>
          <p:cNvSpPr txBox="1"/>
          <p:nvPr/>
        </p:nvSpPr>
        <p:spPr>
          <a:xfrm>
            <a:off x="18832982" y="9564623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ARCD-60444</a:t>
            </a:r>
          </a:p>
        </p:txBody>
      </p:sp>
      <p:sp>
        <p:nvSpPr>
          <p:cNvPr id="710" name="Connector 60"/>
          <p:cNvSpPr/>
          <p:nvPr/>
        </p:nvSpPr>
        <p:spPr>
          <a:xfrm>
            <a:off x="1371600" y="99669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1" name="TextBox 61"/>
          <p:cNvSpPr txBox="1"/>
          <p:nvPr/>
        </p:nvSpPr>
        <p:spPr>
          <a:xfrm>
            <a:off x="1517902" y="10003535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712" name="TextBox 62"/>
          <p:cNvSpPr txBox="1"/>
          <p:nvPr/>
        </p:nvSpPr>
        <p:spPr>
          <a:xfrm>
            <a:off x="2600094" y="10003535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Corporate Onboarding</a:t>
            </a:r>
          </a:p>
        </p:txBody>
      </p:sp>
      <p:sp>
        <p:nvSpPr>
          <p:cNvPr id="713" name="TextBox 63"/>
          <p:cNvSpPr txBox="1"/>
          <p:nvPr/>
        </p:nvSpPr>
        <p:spPr>
          <a:xfrm>
            <a:off x="9093250" y="10003535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14" name="TextBox 64"/>
          <p:cNvSpPr txBox="1"/>
          <p:nvPr/>
        </p:nvSpPr>
        <p:spPr>
          <a:xfrm>
            <a:off x="18832982" y="10003535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ARCD-2958</a:t>
            </a:r>
          </a:p>
        </p:txBody>
      </p:sp>
      <p:sp>
        <p:nvSpPr>
          <p:cNvPr id="715" name="Connector 65"/>
          <p:cNvSpPr/>
          <p:nvPr/>
        </p:nvSpPr>
        <p:spPr>
          <a:xfrm>
            <a:off x="1371600" y="1040587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6" name="TextBox 66"/>
          <p:cNvSpPr txBox="1"/>
          <p:nvPr/>
        </p:nvSpPr>
        <p:spPr>
          <a:xfrm>
            <a:off x="1517902" y="1044244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717" name="TextBox 67"/>
          <p:cNvSpPr txBox="1"/>
          <p:nvPr/>
        </p:nvSpPr>
        <p:spPr>
          <a:xfrm>
            <a:off x="2600094" y="1044244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ARC Chatbot</a:t>
            </a:r>
          </a:p>
        </p:txBody>
      </p:sp>
      <p:sp>
        <p:nvSpPr>
          <p:cNvPr id="718" name="TextBox 68"/>
          <p:cNvSpPr txBox="1"/>
          <p:nvPr/>
        </p:nvSpPr>
        <p:spPr>
          <a:xfrm>
            <a:off x="9093250" y="1044244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19" name="TextBox 69"/>
          <p:cNvSpPr txBox="1"/>
          <p:nvPr/>
        </p:nvSpPr>
        <p:spPr>
          <a:xfrm>
            <a:off x="18832982" y="10442447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ARCD-86222</a:t>
            </a:r>
          </a:p>
        </p:txBody>
      </p:sp>
      <p:sp>
        <p:nvSpPr>
          <p:cNvPr id="720" name="Connector 70"/>
          <p:cNvSpPr/>
          <p:nvPr/>
        </p:nvSpPr>
        <p:spPr>
          <a:xfrm>
            <a:off x="1371600" y="108447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1" name="TextBox 71"/>
          <p:cNvSpPr txBox="1"/>
          <p:nvPr/>
        </p:nvSpPr>
        <p:spPr>
          <a:xfrm>
            <a:off x="1517902" y="108813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722" name="TextBox 72"/>
          <p:cNvSpPr txBox="1"/>
          <p:nvPr/>
        </p:nvSpPr>
        <p:spPr>
          <a:xfrm>
            <a:off x="2600094" y="108813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Stories</a:t>
            </a:r>
          </a:p>
        </p:txBody>
      </p:sp>
      <p:sp>
        <p:nvSpPr>
          <p:cNvPr id="723" name="TextBox 73"/>
          <p:cNvSpPr txBox="1"/>
          <p:nvPr/>
        </p:nvSpPr>
        <p:spPr>
          <a:xfrm>
            <a:off x="9093250" y="108813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24" name="TextBox 74"/>
          <p:cNvSpPr txBox="1"/>
          <p:nvPr/>
        </p:nvSpPr>
        <p:spPr>
          <a:xfrm>
            <a:off x="18832982" y="10881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ARCD-72383</a:t>
            </a:r>
          </a:p>
        </p:txBody>
      </p:sp>
      <p:sp>
        <p:nvSpPr>
          <p:cNvPr id="725" name="Connector 75"/>
          <p:cNvSpPr/>
          <p:nvPr/>
        </p:nvSpPr>
        <p:spPr>
          <a:xfrm>
            <a:off x="1371600" y="11283694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6" name="TextBox 76"/>
          <p:cNvSpPr txBox="1"/>
          <p:nvPr/>
        </p:nvSpPr>
        <p:spPr>
          <a:xfrm>
            <a:off x="1517902" y="1132027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727" name="TextBox 77"/>
          <p:cNvSpPr txBox="1"/>
          <p:nvPr/>
        </p:nvSpPr>
        <p:spPr>
          <a:xfrm>
            <a:off x="2600094" y="1132027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Zakat Calculator</a:t>
            </a:r>
          </a:p>
        </p:txBody>
      </p:sp>
      <p:sp>
        <p:nvSpPr>
          <p:cNvPr id="728" name="TextBox 78"/>
          <p:cNvSpPr txBox="1"/>
          <p:nvPr/>
        </p:nvSpPr>
        <p:spPr>
          <a:xfrm>
            <a:off x="9093250" y="1132027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sp>
        <p:nvSpPr>
          <p:cNvPr id="729" name="Connector 79"/>
          <p:cNvSpPr/>
          <p:nvPr/>
        </p:nvSpPr>
        <p:spPr>
          <a:xfrm>
            <a:off x="1371600" y="1172260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0" name="TextBox 80"/>
          <p:cNvSpPr txBox="1"/>
          <p:nvPr/>
        </p:nvSpPr>
        <p:spPr>
          <a:xfrm>
            <a:off x="1517902" y="1175918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731" name="TextBox 81"/>
          <p:cNvSpPr txBox="1"/>
          <p:nvPr/>
        </p:nvSpPr>
        <p:spPr>
          <a:xfrm>
            <a:off x="2600094" y="1175918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Investment Calculator</a:t>
            </a:r>
          </a:p>
        </p:txBody>
      </p:sp>
      <p:sp>
        <p:nvSpPr>
          <p:cNvPr id="732" name="TextBox 82"/>
          <p:cNvSpPr txBox="1"/>
          <p:nvPr/>
        </p:nvSpPr>
        <p:spPr>
          <a:xfrm>
            <a:off x="9093250" y="1175918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sp>
        <p:nvSpPr>
          <p:cNvPr id="733" name="Connector 83"/>
          <p:cNvSpPr/>
          <p:nvPr/>
        </p:nvSpPr>
        <p:spPr>
          <a:xfrm>
            <a:off x="1371600" y="121615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4" name="TextBox 84"/>
          <p:cNvSpPr txBox="1"/>
          <p:nvPr/>
        </p:nvSpPr>
        <p:spPr>
          <a:xfrm>
            <a:off x="1517902" y="1219809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735" name="TextBox 85"/>
          <p:cNvSpPr txBox="1"/>
          <p:nvPr/>
        </p:nvSpPr>
        <p:spPr>
          <a:xfrm>
            <a:off x="2600094" y="1219809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Average Cost Calculator</a:t>
            </a:r>
          </a:p>
        </p:txBody>
      </p:sp>
      <p:sp>
        <p:nvSpPr>
          <p:cNvPr id="736" name="TextBox 86"/>
          <p:cNvSpPr txBox="1"/>
          <p:nvPr/>
        </p:nvSpPr>
        <p:spPr>
          <a:xfrm>
            <a:off x="9093250" y="1219809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sp>
        <p:nvSpPr>
          <p:cNvPr id="737" name="Connector 87"/>
          <p:cNvSpPr/>
          <p:nvPr/>
        </p:nvSpPr>
        <p:spPr>
          <a:xfrm>
            <a:off x="1371600" y="1260043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8" name="TextBox 88"/>
          <p:cNvSpPr txBox="1"/>
          <p:nvPr/>
        </p:nvSpPr>
        <p:spPr>
          <a:xfrm>
            <a:off x="1517902" y="12637006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739" name="TextBox 89"/>
          <p:cNvSpPr txBox="1"/>
          <p:nvPr/>
        </p:nvSpPr>
        <p:spPr>
          <a:xfrm>
            <a:off x="2600094" y="12637006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Purification Calculator</a:t>
            </a:r>
          </a:p>
        </p:txBody>
      </p:sp>
      <p:sp>
        <p:nvSpPr>
          <p:cNvPr id="740" name="TextBox 90"/>
          <p:cNvSpPr txBox="1"/>
          <p:nvPr/>
        </p:nvSpPr>
        <p:spPr>
          <a:xfrm>
            <a:off x="9093250" y="1263700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sp>
        <p:nvSpPr>
          <p:cNvPr id="741" name="TextBox 91"/>
          <p:cNvSpPr txBox="1"/>
          <p:nvPr/>
        </p:nvSpPr>
        <p:spPr>
          <a:xfrm>
            <a:off x="18832982" y="12637006"/>
            <a:ext cx="230465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ARCD-1096</a:t>
            </a:r>
          </a:p>
        </p:txBody>
      </p:sp>
      <p:sp>
        <p:nvSpPr>
          <p:cNvPr id="742" name="Connector 92"/>
          <p:cNvSpPr/>
          <p:nvPr/>
        </p:nvSpPr>
        <p:spPr>
          <a:xfrm>
            <a:off x="1371600" y="1303934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743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612776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44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027" y="612776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45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09909" y="565882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46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1416" y="5660830"/>
            <a:ext cx="292610" cy="292611"/>
          </a:xfrm>
          <a:prstGeom prst="rect">
            <a:avLst/>
          </a:prstGeom>
          <a:ln w="12700">
            <a:miter lim="400000"/>
          </a:ln>
        </p:spPr>
      </p:pic>
      <p:pic>
        <p:nvPicPr>
          <p:cNvPr id="747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652692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48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52564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49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92200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50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92200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51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09909" y="742644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52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1416" y="742845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53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784887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54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4758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55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24395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56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24395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57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09909" y="871481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58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1416" y="871681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59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16761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60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1416" y="916761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61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09909" y="959364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62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1416" y="959564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63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046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64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1416" y="10046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65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09909" y="104638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66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1416" y="1046587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67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91666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68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1416" y="1091666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69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09909" y="1133841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70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1416" y="1134041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71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79120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72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1416" y="1179120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73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09909" y="1222773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74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1416" y="1222973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75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268052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76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1416" y="12680522"/>
            <a:ext cx="292610" cy="2926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779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014 / 111</a:t>
            </a:r>
          </a:p>
        </p:txBody>
      </p:sp>
      <p:sp>
        <p:nvSpPr>
          <p:cNvPr id="780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DIGITAL CAPABILITIES  ·  CAPABILITY ASSESSMENT</a:t>
            </a:r>
          </a:p>
        </p:txBody>
      </p:sp>
      <p:sp>
        <p:nvSpPr>
          <p:cNvPr id="781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Digital Capabilities</a:t>
            </a:r>
          </a:p>
        </p:txBody>
      </p:sp>
      <p:sp>
        <p:nvSpPr>
          <p:cNvPr id="782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783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784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785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786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787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788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789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790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1" name="TextBox 14"/>
          <p:cNvSpPr txBox="1"/>
          <p:nvPr/>
        </p:nvSpPr>
        <p:spPr>
          <a:xfrm>
            <a:off x="1517902" y="5614415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792" name="TextBox 15"/>
          <p:cNvSpPr txBox="1"/>
          <p:nvPr/>
        </p:nvSpPr>
        <p:spPr>
          <a:xfrm>
            <a:off x="2600094" y="5614415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WhatsApp interaction</a:t>
            </a:r>
          </a:p>
        </p:txBody>
      </p:sp>
      <p:sp>
        <p:nvSpPr>
          <p:cNvPr id="793" name="TextBox 16"/>
          <p:cNvSpPr txBox="1"/>
          <p:nvPr/>
        </p:nvSpPr>
        <p:spPr>
          <a:xfrm>
            <a:off x="9093250" y="5614415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94" name="TextBox 17"/>
          <p:cNvSpPr txBox="1"/>
          <p:nvPr/>
        </p:nvSpPr>
        <p:spPr>
          <a:xfrm>
            <a:off x="18832982" y="5614415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ARCD-72376</a:t>
            </a:r>
          </a:p>
        </p:txBody>
      </p:sp>
      <p:sp>
        <p:nvSpPr>
          <p:cNvPr id="795" name="Connector 18"/>
          <p:cNvSpPr/>
          <p:nvPr/>
        </p:nvSpPr>
        <p:spPr>
          <a:xfrm>
            <a:off x="1371600" y="60167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6" name="TextBox 19"/>
          <p:cNvSpPr txBox="1"/>
          <p:nvPr/>
        </p:nvSpPr>
        <p:spPr>
          <a:xfrm>
            <a:off x="1517902" y="605332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19</a:t>
            </a:r>
          </a:p>
        </p:txBody>
      </p:sp>
      <p:sp>
        <p:nvSpPr>
          <p:cNvPr id="797" name="TextBox 20"/>
          <p:cNvSpPr txBox="1"/>
          <p:nvPr/>
        </p:nvSpPr>
        <p:spPr>
          <a:xfrm>
            <a:off x="2600094" y="6053328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Investment Customisation</a:t>
            </a:r>
          </a:p>
        </p:txBody>
      </p:sp>
      <p:sp>
        <p:nvSpPr>
          <p:cNvPr id="798" name="TextBox 21"/>
          <p:cNvSpPr txBox="1"/>
          <p:nvPr/>
        </p:nvSpPr>
        <p:spPr>
          <a:xfrm>
            <a:off x="9093250" y="605332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99" name="TextBox 22"/>
          <p:cNvSpPr txBox="1"/>
          <p:nvPr/>
        </p:nvSpPr>
        <p:spPr>
          <a:xfrm>
            <a:off x="18832982" y="6053328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ARCD-72345</a:t>
            </a:r>
          </a:p>
        </p:txBody>
      </p:sp>
      <p:sp>
        <p:nvSpPr>
          <p:cNvPr id="800" name="Connector 23"/>
          <p:cNvSpPr/>
          <p:nvPr/>
        </p:nvSpPr>
        <p:spPr>
          <a:xfrm>
            <a:off x="1371600" y="6455664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1" name="TextBox 24"/>
          <p:cNvSpPr txBox="1"/>
          <p:nvPr/>
        </p:nvSpPr>
        <p:spPr>
          <a:xfrm>
            <a:off x="1517902" y="64922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802" name="TextBox 25"/>
          <p:cNvSpPr txBox="1"/>
          <p:nvPr/>
        </p:nvSpPr>
        <p:spPr>
          <a:xfrm>
            <a:off x="2600094" y="64922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Alrajhi Capital Community</a:t>
            </a:r>
          </a:p>
        </p:txBody>
      </p:sp>
      <p:sp>
        <p:nvSpPr>
          <p:cNvPr id="803" name="TextBox 26"/>
          <p:cNvSpPr txBox="1"/>
          <p:nvPr/>
        </p:nvSpPr>
        <p:spPr>
          <a:xfrm>
            <a:off x="9093250" y="6492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804" name="TextBox 27"/>
          <p:cNvSpPr txBox="1"/>
          <p:nvPr/>
        </p:nvSpPr>
        <p:spPr>
          <a:xfrm>
            <a:off x="18832982" y="6492240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ARCD-72340</a:t>
            </a:r>
          </a:p>
        </p:txBody>
      </p:sp>
      <p:sp>
        <p:nvSpPr>
          <p:cNvPr id="805" name="Connector 28"/>
          <p:cNvSpPr/>
          <p:nvPr/>
        </p:nvSpPr>
        <p:spPr>
          <a:xfrm>
            <a:off x="1371600" y="689457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6" name="TextBox 29"/>
          <p:cNvSpPr txBox="1"/>
          <p:nvPr/>
        </p:nvSpPr>
        <p:spPr>
          <a:xfrm>
            <a:off x="1517902" y="693115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21</a:t>
            </a:r>
          </a:p>
        </p:txBody>
      </p:sp>
      <p:sp>
        <p:nvSpPr>
          <p:cNvPr id="807" name="TextBox 30"/>
          <p:cNvSpPr txBox="1"/>
          <p:nvPr/>
        </p:nvSpPr>
        <p:spPr>
          <a:xfrm>
            <a:off x="2600094" y="693115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Custom index against benchmark</a:t>
            </a:r>
          </a:p>
        </p:txBody>
      </p:sp>
      <p:sp>
        <p:nvSpPr>
          <p:cNvPr id="808" name="TextBox 31"/>
          <p:cNvSpPr txBox="1"/>
          <p:nvPr/>
        </p:nvSpPr>
        <p:spPr>
          <a:xfrm>
            <a:off x="9093250" y="69311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809" name="TextBox 32"/>
          <p:cNvSpPr txBox="1"/>
          <p:nvPr/>
        </p:nvSpPr>
        <p:spPr>
          <a:xfrm>
            <a:off x="18832982" y="6931152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ARCD-60887</a:t>
            </a:r>
          </a:p>
        </p:txBody>
      </p:sp>
      <p:sp>
        <p:nvSpPr>
          <p:cNvPr id="810" name="Connector 33"/>
          <p:cNvSpPr/>
          <p:nvPr/>
        </p:nvSpPr>
        <p:spPr>
          <a:xfrm>
            <a:off x="1371600" y="73334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1" name="TextBox 34"/>
          <p:cNvSpPr txBox="1"/>
          <p:nvPr/>
        </p:nvSpPr>
        <p:spPr>
          <a:xfrm>
            <a:off x="1517902" y="737006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22</a:t>
            </a:r>
          </a:p>
        </p:txBody>
      </p:sp>
      <p:sp>
        <p:nvSpPr>
          <p:cNvPr id="812" name="TextBox 35"/>
          <p:cNvSpPr txBox="1"/>
          <p:nvPr/>
        </p:nvSpPr>
        <p:spPr>
          <a:xfrm>
            <a:off x="2600094" y="737006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Mock Trading</a:t>
            </a:r>
          </a:p>
        </p:txBody>
      </p:sp>
      <p:sp>
        <p:nvSpPr>
          <p:cNvPr id="813" name="TextBox 36"/>
          <p:cNvSpPr txBox="1"/>
          <p:nvPr/>
        </p:nvSpPr>
        <p:spPr>
          <a:xfrm>
            <a:off x="9093250" y="737006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814" name="Connector 37"/>
          <p:cNvSpPr/>
          <p:nvPr/>
        </p:nvSpPr>
        <p:spPr>
          <a:xfrm>
            <a:off x="1371600" y="77724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5" name="TextBox 38"/>
          <p:cNvSpPr txBox="1"/>
          <p:nvPr/>
        </p:nvSpPr>
        <p:spPr>
          <a:xfrm>
            <a:off x="1517902" y="780897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23</a:t>
            </a:r>
          </a:p>
        </p:txBody>
      </p:sp>
      <p:sp>
        <p:nvSpPr>
          <p:cNvPr id="816" name="TextBox 39"/>
          <p:cNvSpPr txBox="1"/>
          <p:nvPr/>
        </p:nvSpPr>
        <p:spPr>
          <a:xfrm>
            <a:off x="2600094" y="780897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Copy Trading (Follow me)</a:t>
            </a:r>
          </a:p>
        </p:txBody>
      </p:sp>
      <p:sp>
        <p:nvSpPr>
          <p:cNvPr id="817" name="TextBox 40"/>
          <p:cNvSpPr txBox="1"/>
          <p:nvPr/>
        </p:nvSpPr>
        <p:spPr>
          <a:xfrm>
            <a:off x="9093250" y="78089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818" name="TextBox 41"/>
          <p:cNvSpPr txBox="1"/>
          <p:nvPr/>
        </p:nvSpPr>
        <p:spPr>
          <a:xfrm>
            <a:off x="18832982" y="7808976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ARCD-72338</a:t>
            </a:r>
          </a:p>
        </p:txBody>
      </p:sp>
      <p:sp>
        <p:nvSpPr>
          <p:cNvPr id="819" name="Connector 42"/>
          <p:cNvSpPr/>
          <p:nvPr/>
        </p:nvSpPr>
        <p:spPr>
          <a:xfrm>
            <a:off x="1371600" y="821131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0" name="TextBox 43"/>
          <p:cNvSpPr txBox="1"/>
          <p:nvPr/>
        </p:nvSpPr>
        <p:spPr>
          <a:xfrm>
            <a:off x="1517902" y="824788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24</a:t>
            </a:r>
          </a:p>
        </p:txBody>
      </p:sp>
      <p:sp>
        <p:nvSpPr>
          <p:cNvPr id="821" name="TextBox 44"/>
          <p:cNvSpPr txBox="1"/>
          <p:nvPr/>
        </p:nvSpPr>
        <p:spPr>
          <a:xfrm>
            <a:off x="2600094" y="8247888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rename</a:t>
            </a:r>
          </a:p>
        </p:txBody>
      </p:sp>
      <p:sp>
        <p:nvSpPr>
          <p:cNvPr id="822" name="TextBox 45"/>
          <p:cNvSpPr txBox="1"/>
          <p:nvPr/>
        </p:nvSpPr>
        <p:spPr>
          <a:xfrm>
            <a:off x="9093250" y="824788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823" name="Connector 46"/>
          <p:cNvSpPr/>
          <p:nvPr/>
        </p:nvSpPr>
        <p:spPr>
          <a:xfrm>
            <a:off x="1371600" y="865022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4" name="TextBox 47"/>
          <p:cNvSpPr txBox="1"/>
          <p:nvPr/>
        </p:nvSpPr>
        <p:spPr>
          <a:xfrm>
            <a:off x="1517902" y="86868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25</a:t>
            </a:r>
          </a:p>
        </p:txBody>
      </p:sp>
      <p:sp>
        <p:nvSpPr>
          <p:cNvPr id="825" name="TextBox 48"/>
          <p:cNvSpPr txBox="1"/>
          <p:nvPr/>
        </p:nvSpPr>
        <p:spPr>
          <a:xfrm>
            <a:off x="2600094" y="86868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Tablet experience</a:t>
            </a:r>
          </a:p>
        </p:txBody>
      </p:sp>
      <p:sp>
        <p:nvSpPr>
          <p:cNvPr id="826" name="TextBox 49"/>
          <p:cNvSpPr txBox="1"/>
          <p:nvPr/>
        </p:nvSpPr>
        <p:spPr>
          <a:xfrm>
            <a:off x="9093250" y="86867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827" name="TextBox 50"/>
          <p:cNvSpPr txBox="1"/>
          <p:nvPr/>
        </p:nvSpPr>
        <p:spPr>
          <a:xfrm>
            <a:off x="18832982" y="8686800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ARCD-74351</a:t>
            </a:r>
          </a:p>
        </p:txBody>
      </p:sp>
      <p:sp>
        <p:nvSpPr>
          <p:cNvPr id="828" name="Connector 51"/>
          <p:cNvSpPr/>
          <p:nvPr/>
        </p:nvSpPr>
        <p:spPr>
          <a:xfrm>
            <a:off x="1371600" y="908913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9" name="TextBox 52"/>
          <p:cNvSpPr txBox="1"/>
          <p:nvPr/>
        </p:nvSpPr>
        <p:spPr>
          <a:xfrm>
            <a:off x="1517902" y="912571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26</a:t>
            </a:r>
          </a:p>
        </p:txBody>
      </p:sp>
      <p:sp>
        <p:nvSpPr>
          <p:cNvPr id="830" name="TextBox 53"/>
          <p:cNvSpPr txBox="1"/>
          <p:nvPr/>
        </p:nvSpPr>
        <p:spPr>
          <a:xfrm>
            <a:off x="2600094" y="912571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Trader mode experience</a:t>
            </a:r>
          </a:p>
        </p:txBody>
      </p:sp>
      <p:sp>
        <p:nvSpPr>
          <p:cNvPr id="831" name="TextBox 54"/>
          <p:cNvSpPr txBox="1"/>
          <p:nvPr/>
        </p:nvSpPr>
        <p:spPr>
          <a:xfrm>
            <a:off x="9093250" y="912571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832" name="TextBox 55"/>
          <p:cNvSpPr txBox="1"/>
          <p:nvPr/>
        </p:nvSpPr>
        <p:spPr>
          <a:xfrm>
            <a:off x="18832982" y="9125711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ARCD-72258</a:t>
            </a:r>
          </a:p>
        </p:txBody>
      </p:sp>
      <p:sp>
        <p:nvSpPr>
          <p:cNvPr id="833" name="Connector 56"/>
          <p:cNvSpPr/>
          <p:nvPr/>
        </p:nvSpPr>
        <p:spPr>
          <a:xfrm>
            <a:off x="1371600" y="9528047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4" name="TextBox 57"/>
          <p:cNvSpPr txBox="1"/>
          <p:nvPr/>
        </p:nvSpPr>
        <p:spPr>
          <a:xfrm>
            <a:off x="1517902" y="956462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27</a:t>
            </a:r>
          </a:p>
        </p:txBody>
      </p:sp>
      <p:sp>
        <p:nvSpPr>
          <p:cNvPr id="835" name="TextBox 58"/>
          <p:cNvSpPr txBox="1"/>
          <p:nvPr/>
        </p:nvSpPr>
        <p:spPr>
          <a:xfrm>
            <a:off x="2600094" y="956462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Digital CRM</a:t>
            </a:r>
          </a:p>
        </p:txBody>
      </p:sp>
      <p:sp>
        <p:nvSpPr>
          <p:cNvPr id="836" name="TextBox 59"/>
          <p:cNvSpPr txBox="1"/>
          <p:nvPr/>
        </p:nvSpPr>
        <p:spPr>
          <a:xfrm>
            <a:off x="9093250" y="956462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837" name="TextBox 60"/>
          <p:cNvSpPr txBox="1"/>
          <p:nvPr/>
        </p:nvSpPr>
        <p:spPr>
          <a:xfrm>
            <a:off x="18832982" y="9564623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ARCD-85537</a:t>
            </a:r>
          </a:p>
        </p:txBody>
      </p:sp>
      <p:sp>
        <p:nvSpPr>
          <p:cNvPr id="838" name="Connector 61"/>
          <p:cNvSpPr/>
          <p:nvPr/>
        </p:nvSpPr>
        <p:spPr>
          <a:xfrm>
            <a:off x="1371600" y="99669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9" name="TextBox 62"/>
          <p:cNvSpPr txBox="1"/>
          <p:nvPr/>
        </p:nvSpPr>
        <p:spPr>
          <a:xfrm>
            <a:off x="1517902" y="10003535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28</a:t>
            </a:r>
          </a:p>
        </p:txBody>
      </p:sp>
      <p:sp>
        <p:nvSpPr>
          <p:cNvPr id="840" name="TextBox 63"/>
          <p:cNvSpPr txBox="1"/>
          <p:nvPr/>
        </p:nvSpPr>
        <p:spPr>
          <a:xfrm>
            <a:off x="2600094" y="10003535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News Screener</a:t>
            </a:r>
          </a:p>
        </p:txBody>
      </p:sp>
      <p:sp>
        <p:nvSpPr>
          <p:cNvPr id="841" name="TextBox 64"/>
          <p:cNvSpPr txBox="1"/>
          <p:nvPr/>
        </p:nvSpPr>
        <p:spPr>
          <a:xfrm>
            <a:off x="9093250" y="10003535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842" name="TextBox 65"/>
          <p:cNvSpPr txBox="1"/>
          <p:nvPr/>
        </p:nvSpPr>
        <p:spPr>
          <a:xfrm>
            <a:off x="18832982" y="10003535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ARCD-82616</a:t>
            </a:r>
          </a:p>
        </p:txBody>
      </p:sp>
      <p:sp>
        <p:nvSpPr>
          <p:cNvPr id="843" name="Connector 66"/>
          <p:cNvSpPr/>
          <p:nvPr/>
        </p:nvSpPr>
        <p:spPr>
          <a:xfrm>
            <a:off x="1371600" y="1040587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4" name="TextBox 67"/>
          <p:cNvSpPr txBox="1"/>
          <p:nvPr/>
        </p:nvSpPr>
        <p:spPr>
          <a:xfrm>
            <a:off x="1517902" y="1044244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29</a:t>
            </a:r>
          </a:p>
        </p:txBody>
      </p:sp>
      <p:sp>
        <p:nvSpPr>
          <p:cNvPr id="845" name="TextBox 68"/>
          <p:cNvSpPr txBox="1"/>
          <p:nvPr/>
        </p:nvSpPr>
        <p:spPr>
          <a:xfrm>
            <a:off x="2600094" y="1044244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Daily Brief</a:t>
            </a:r>
          </a:p>
        </p:txBody>
      </p:sp>
      <p:sp>
        <p:nvSpPr>
          <p:cNvPr id="846" name="TextBox 69"/>
          <p:cNvSpPr txBox="1"/>
          <p:nvPr/>
        </p:nvSpPr>
        <p:spPr>
          <a:xfrm>
            <a:off x="9093250" y="1044244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847" name="TextBox 70"/>
          <p:cNvSpPr txBox="1"/>
          <p:nvPr/>
        </p:nvSpPr>
        <p:spPr>
          <a:xfrm>
            <a:off x="18832982" y="10442447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ARCD-72377</a:t>
            </a:r>
          </a:p>
        </p:txBody>
      </p:sp>
      <p:sp>
        <p:nvSpPr>
          <p:cNvPr id="848" name="Connector 71"/>
          <p:cNvSpPr/>
          <p:nvPr/>
        </p:nvSpPr>
        <p:spPr>
          <a:xfrm>
            <a:off x="1371600" y="108447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9" name="TextBox 72"/>
          <p:cNvSpPr txBox="1"/>
          <p:nvPr/>
        </p:nvSpPr>
        <p:spPr>
          <a:xfrm>
            <a:off x="1517902" y="108813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30</a:t>
            </a:r>
          </a:p>
        </p:txBody>
      </p:sp>
      <p:sp>
        <p:nvSpPr>
          <p:cNvPr id="850" name="TextBox 73"/>
          <p:cNvSpPr txBox="1"/>
          <p:nvPr/>
        </p:nvSpPr>
        <p:spPr>
          <a:xfrm>
            <a:off x="2600094" y="108813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Auto Zakat</a:t>
            </a:r>
          </a:p>
        </p:txBody>
      </p:sp>
      <p:sp>
        <p:nvSpPr>
          <p:cNvPr id="851" name="TextBox 74"/>
          <p:cNvSpPr txBox="1"/>
          <p:nvPr/>
        </p:nvSpPr>
        <p:spPr>
          <a:xfrm>
            <a:off x="9093250" y="108813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852" name="TextBox 75"/>
          <p:cNvSpPr txBox="1"/>
          <p:nvPr/>
        </p:nvSpPr>
        <p:spPr>
          <a:xfrm>
            <a:off x="18832982" y="10881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ARCD-72339</a:t>
            </a:r>
          </a:p>
        </p:txBody>
      </p:sp>
      <p:sp>
        <p:nvSpPr>
          <p:cNvPr id="853" name="Connector 76"/>
          <p:cNvSpPr/>
          <p:nvPr/>
        </p:nvSpPr>
        <p:spPr>
          <a:xfrm>
            <a:off x="1371600" y="11283694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4" name="TextBox 77"/>
          <p:cNvSpPr txBox="1"/>
          <p:nvPr/>
        </p:nvSpPr>
        <p:spPr>
          <a:xfrm>
            <a:off x="1517902" y="1132027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31</a:t>
            </a:r>
          </a:p>
        </p:txBody>
      </p:sp>
      <p:sp>
        <p:nvSpPr>
          <p:cNvPr id="855" name="TextBox 78"/>
          <p:cNvSpPr txBox="1"/>
          <p:nvPr/>
        </p:nvSpPr>
        <p:spPr>
          <a:xfrm>
            <a:off x="2600094" y="1132027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Index customisation</a:t>
            </a:r>
          </a:p>
        </p:txBody>
      </p:sp>
      <p:sp>
        <p:nvSpPr>
          <p:cNvPr id="856" name="TextBox 79"/>
          <p:cNvSpPr txBox="1"/>
          <p:nvPr/>
        </p:nvSpPr>
        <p:spPr>
          <a:xfrm>
            <a:off x="9093250" y="1132027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857" name="TextBox 80"/>
          <p:cNvSpPr txBox="1"/>
          <p:nvPr/>
        </p:nvSpPr>
        <p:spPr>
          <a:xfrm>
            <a:off x="18832982" y="11320271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ARCD-72382</a:t>
            </a:r>
          </a:p>
        </p:txBody>
      </p:sp>
      <p:sp>
        <p:nvSpPr>
          <p:cNvPr id="858" name="Connector 81"/>
          <p:cNvSpPr/>
          <p:nvPr/>
        </p:nvSpPr>
        <p:spPr>
          <a:xfrm>
            <a:off x="1371600" y="1172260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9" name="TextBox 82"/>
          <p:cNvSpPr txBox="1"/>
          <p:nvPr/>
        </p:nvSpPr>
        <p:spPr>
          <a:xfrm>
            <a:off x="1517902" y="1175918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32</a:t>
            </a:r>
          </a:p>
        </p:txBody>
      </p:sp>
      <p:sp>
        <p:nvSpPr>
          <p:cNvPr id="860" name="TextBox 83"/>
          <p:cNvSpPr txBox="1"/>
          <p:nvPr/>
        </p:nvSpPr>
        <p:spPr>
          <a:xfrm>
            <a:off x="2600094" y="1175918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Samsung PAY</a:t>
            </a:r>
          </a:p>
        </p:txBody>
      </p:sp>
      <p:sp>
        <p:nvSpPr>
          <p:cNvPr id="861" name="TextBox 84"/>
          <p:cNvSpPr txBox="1"/>
          <p:nvPr/>
        </p:nvSpPr>
        <p:spPr>
          <a:xfrm>
            <a:off x="9093250" y="1175918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862" name="TextBox 85"/>
          <p:cNvSpPr txBox="1"/>
          <p:nvPr/>
        </p:nvSpPr>
        <p:spPr>
          <a:xfrm>
            <a:off x="18832982" y="11759183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ARCD-18747</a:t>
            </a:r>
          </a:p>
        </p:txBody>
      </p:sp>
      <p:sp>
        <p:nvSpPr>
          <p:cNvPr id="863" name="Connector 86"/>
          <p:cNvSpPr/>
          <p:nvPr/>
        </p:nvSpPr>
        <p:spPr>
          <a:xfrm>
            <a:off x="1371600" y="121615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4" name="TextBox 87"/>
          <p:cNvSpPr txBox="1"/>
          <p:nvPr/>
        </p:nvSpPr>
        <p:spPr>
          <a:xfrm>
            <a:off x="1517902" y="1219809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33</a:t>
            </a:r>
          </a:p>
        </p:txBody>
      </p:sp>
      <p:sp>
        <p:nvSpPr>
          <p:cNvPr id="865" name="TextBox 88"/>
          <p:cNvSpPr txBox="1"/>
          <p:nvPr/>
        </p:nvSpPr>
        <p:spPr>
          <a:xfrm>
            <a:off x="2600094" y="1219809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ARC Debit Card</a:t>
            </a:r>
          </a:p>
        </p:txBody>
      </p:sp>
      <p:sp>
        <p:nvSpPr>
          <p:cNvPr id="866" name="TextBox 89"/>
          <p:cNvSpPr txBox="1"/>
          <p:nvPr/>
        </p:nvSpPr>
        <p:spPr>
          <a:xfrm>
            <a:off x="9093250" y="1219809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867" name="TextBox 90"/>
          <p:cNvSpPr txBox="1"/>
          <p:nvPr/>
        </p:nvSpPr>
        <p:spPr>
          <a:xfrm>
            <a:off x="18832982" y="12198094"/>
            <a:ext cx="230465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ARCD-72647</a:t>
            </a:r>
          </a:p>
        </p:txBody>
      </p:sp>
      <p:sp>
        <p:nvSpPr>
          <p:cNvPr id="868" name="Connector 91"/>
          <p:cNvSpPr/>
          <p:nvPr/>
        </p:nvSpPr>
        <p:spPr>
          <a:xfrm>
            <a:off x="1371600" y="1260043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9" name="TextBox 92"/>
          <p:cNvSpPr txBox="1"/>
          <p:nvPr/>
        </p:nvSpPr>
        <p:spPr>
          <a:xfrm>
            <a:off x="1517902" y="12637006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34</a:t>
            </a:r>
          </a:p>
        </p:txBody>
      </p:sp>
      <p:sp>
        <p:nvSpPr>
          <p:cNvPr id="870" name="TextBox 93"/>
          <p:cNvSpPr txBox="1"/>
          <p:nvPr/>
        </p:nvSpPr>
        <p:spPr>
          <a:xfrm>
            <a:off x="2600094" y="12637006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T+2 Card</a:t>
            </a:r>
          </a:p>
        </p:txBody>
      </p:sp>
      <p:sp>
        <p:nvSpPr>
          <p:cNvPr id="871" name="TextBox 94"/>
          <p:cNvSpPr txBox="1"/>
          <p:nvPr/>
        </p:nvSpPr>
        <p:spPr>
          <a:xfrm>
            <a:off x="9093250" y="1263700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872" name="TextBox 95"/>
          <p:cNvSpPr txBox="1"/>
          <p:nvPr/>
        </p:nvSpPr>
        <p:spPr>
          <a:xfrm>
            <a:off x="18832982" y="12637006"/>
            <a:ext cx="230465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ARCD72391</a:t>
            </a:r>
          </a:p>
        </p:txBody>
      </p:sp>
      <p:sp>
        <p:nvSpPr>
          <p:cNvPr id="873" name="Connector 96"/>
          <p:cNvSpPr/>
          <p:nvPr/>
        </p:nvSpPr>
        <p:spPr>
          <a:xfrm>
            <a:off x="1371600" y="1303934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874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565882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875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1416" y="5660830"/>
            <a:ext cx="292610" cy="292611"/>
          </a:xfrm>
          <a:prstGeom prst="rect">
            <a:avLst/>
          </a:prstGeom>
          <a:ln w="12700">
            <a:miter lim="400000"/>
          </a:ln>
        </p:spPr>
      </p:pic>
      <p:pic>
        <p:nvPicPr>
          <p:cNvPr id="876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609669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877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653455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878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697241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879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741028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880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784814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881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828600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882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872386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883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916172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884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959959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885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1003745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886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1047531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887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1091318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888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1135104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889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1178890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890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1222676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891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609827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892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653602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893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697378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894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741154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895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784929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896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828705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897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872481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898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916257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899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960032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900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1003808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901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1047584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902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7" y="1091360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903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7" y="1135135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904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7" y="1178911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905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7" y="1222687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906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1266463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907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7" y="12664630"/>
            <a:ext cx="292610" cy="2926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910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015 / 111</a:t>
            </a:r>
          </a:p>
        </p:txBody>
      </p:sp>
      <p:sp>
        <p:nvSpPr>
          <p:cNvPr id="911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DIGITAL CAPABILITIES  ·  CAPABILITY ASSESSMENT</a:t>
            </a:r>
          </a:p>
        </p:txBody>
      </p:sp>
      <p:sp>
        <p:nvSpPr>
          <p:cNvPr id="912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Digital Capabilities</a:t>
            </a:r>
          </a:p>
        </p:txBody>
      </p:sp>
      <p:sp>
        <p:nvSpPr>
          <p:cNvPr id="913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914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915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916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917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918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919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920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921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2" name="TextBox 14"/>
          <p:cNvSpPr txBox="1"/>
          <p:nvPr/>
        </p:nvSpPr>
        <p:spPr>
          <a:xfrm>
            <a:off x="1517902" y="562965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35</a:t>
            </a:r>
          </a:p>
        </p:txBody>
      </p:sp>
      <p:sp>
        <p:nvSpPr>
          <p:cNvPr id="923" name="TextBox 15"/>
          <p:cNvSpPr txBox="1"/>
          <p:nvPr/>
        </p:nvSpPr>
        <p:spPr>
          <a:xfrm>
            <a:off x="2600094" y="562965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All Total Cash buying power</a:t>
            </a:r>
          </a:p>
        </p:txBody>
      </p:sp>
      <p:sp>
        <p:nvSpPr>
          <p:cNvPr id="924" name="TextBox 16"/>
          <p:cNvSpPr txBox="1"/>
          <p:nvPr/>
        </p:nvSpPr>
        <p:spPr>
          <a:xfrm>
            <a:off x="9093250" y="562965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25" name="TextBox 17"/>
          <p:cNvSpPr txBox="1"/>
          <p:nvPr/>
        </p:nvSpPr>
        <p:spPr>
          <a:xfrm>
            <a:off x="18832982" y="5629654"/>
            <a:ext cx="230465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ARCD-72218</a:t>
            </a:r>
          </a:p>
        </p:txBody>
      </p:sp>
      <p:sp>
        <p:nvSpPr>
          <p:cNvPr id="926" name="Connector 18"/>
          <p:cNvSpPr/>
          <p:nvPr/>
        </p:nvSpPr>
        <p:spPr>
          <a:xfrm>
            <a:off x="1371600" y="604723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7" name="TextBox 19"/>
          <p:cNvSpPr txBox="1"/>
          <p:nvPr/>
        </p:nvSpPr>
        <p:spPr>
          <a:xfrm>
            <a:off x="1517902" y="609904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36</a:t>
            </a:r>
          </a:p>
        </p:txBody>
      </p:sp>
      <p:sp>
        <p:nvSpPr>
          <p:cNvPr id="928" name="TextBox 20"/>
          <p:cNvSpPr txBox="1"/>
          <p:nvPr/>
        </p:nvSpPr>
        <p:spPr>
          <a:xfrm>
            <a:off x="2600094" y="609904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Multi Virtual IBANs</a:t>
            </a:r>
          </a:p>
        </p:txBody>
      </p:sp>
      <p:sp>
        <p:nvSpPr>
          <p:cNvPr id="929" name="TextBox 21"/>
          <p:cNvSpPr txBox="1"/>
          <p:nvPr/>
        </p:nvSpPr>
        <p:spPr>
          <a:xfrm>
            <a:off x="9093250" y="609904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30" name="TextBox 22"/>
          <p:cNvSpPr txBox="1"/>
          <p:nvPr/>
        </p:nvSpPr>
        <p:spPr>
          <a:xfrm>
            <a:off x="18832982" y="6099047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ARCD-72196</a:t>
            </a:r>
          </a:p>
        </p:txBody>
      </p:sp>
      <p:sp>
        <p:nvSpPr>
          <p:cNvPr id="931" name="Connector 23"/>
          <p:cNvSpPr/>
          <p:nvPr/>
        </p:nvSpPr>
        <p:spPr>
          <a:xfrm>
            <a:off x="1371600" y="651662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2" name="TextBox 24"/>
          <p:cNvSpPr txBox="1"/>
          <p:nvPr/>
        </p:nvSpPr>
        <p:spPr>
          <a:xfrm>
            <a:off x="1517902" y="65684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37</a:t>
            </a:r>
          </a:p>
        </p:txBody>
      </p:sp>
      <p:sp>
        <p:nvSpPr>
          <p:cNvPr id="933" name="TextBox 25"/>
          <p:cNvSpPr txBox="1"/>
          <p:nvPr/>
        </p:nvSpPr>
        <p:spPr>
          <a:xfrm>
            <a:off x="2600094" y="65684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Multi-Currency Wallet</a:t>
            </a:r>
          </a:p>
        </p:txBody>
      </p:sp>
      <p:sp>
        <p:nvSpPr>
          <p:cNvPr id="934" name="TextBox 26"/>
          <p:cNvSpPr txBox="1"/>
          <p:nvPr/>
        </p:nvSpPr>
        <p:spPr>
          <a:xfrm>
            <a:off x="9093250" y="65684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35" name="TextBox 27"/>
          <p:cNvSpPr txBox="1"/>
          <p:nvPr/>
        </p:nvSpPr>
        <p:spPr>
          <a:xfrm>
            <a:off x="18832982" y="6568440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ARCD-72195</a:t>
            </a:r>
          </a:p>
        </p:txBody>
      </p:sp>
      <p:sp>
        <p:nvSpPr>
          <p:cNvPr id="936" name="Connector 28"/>
          <p:cNvSpPr/>
          <p:nvPr/>
        </p:nvSpPr>
        <p:spPr>
          <a:xfrm>
            <a:off x="1371600" y="698601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7" name="TextBox 29"/>
          <p:cNvSpPr txBox="1"/>
          <p:nvPr/>
        </p:nvSpPr>
        <p:spPr>
          <a:xfrm>
            <a:off x="1517902" y="703783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38</a:t>
            </a:r>
          </a:p>
        </p:txBody>
      </p:sp>
      <p:sp>
        <p:nvSpPr>
          <p:cNvPr id="938" name="TextBox 30"/>
          <p:cNvSpPr txBox="1"/>
          <p:nvPr/>
        </p:nvSpPr>
        <p:spPr>
          <a:xfrm>
            <a:off x="2600094" y="703783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Client Money (Overnight Investments)</a:t>
            </a:r>
          </a:p>
        </p:txBody>
      </p:sp>
      <p:sp>
        <p:nvSpPr>
          <p:cNvPr id="939" name="TextBox 31"/>
          <p:cNvSpPr txBox="1"/>
          <p:nvPr/>
        </p:nvSpPr>
        <p:spPr>
          <a:xfrm>
            <a:off x="9093250" y="7037830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40" name="TextBox 32"/>
          <p:cNvSpPr txBox="1"/>
          <p:nvPr/>
        </p:nvSpPr>
        <p:spPr>
          <a:xfrm>
            <a:off x="18832982" y="7037830"/>
            <a:ext cx="230465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ARCD-2647</a:t>
            </a:r>
          </a:p>
        </p:txBody>
      </p:sp>
      <p:sp>
        <p:nvSpPr>
          <p:cNvPr id="941" name="Connector 33"/>
          <p:cNvSpPr/>
          <p:nvPr/>
        </p:nvSpPr>
        <p:spPr>
          <a:xfrm>
            <a:off x="1371600" y="745540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2" name="TextBox 34"/>
          <p:cNvSpPr txBox="1"/>
          <p:nvPr/>
        </p:nvSpPr>
        <p:spPr>
          <a:xfrm>
            <a:off x="1517902" y="750722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39</a:t>
            </a:r>
          </a:p>
        </p:txBody>
      </p:sp>
      <p:sp>
        <p:nvSpPr>
          <p:cNvPr id="943" name="TextBox 35"/>
          <p:cNvSpPr txBox="1"/>
          <p:nvPr/>
        </p:nvSpPr>
        <p:spPr>
          <a:xfrm>
            <a:off x="2600094" y="750722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Buying Power Swap (Local/ International)</a:t>
            </a:r>
          </a:p>
        </p:txBody>
      </p:sp>
      <p:sp>
        <p:nvSpPr>
          <p:cNvPr id="944" name="TextBox 36"/>
          <p:cNvSpPr txBox="1"/>
          <p:nvPr/>
        </p:nvSpPr>
        <p:spPr>
          <a:xfrm>
            <a:off x="9093250" y="750722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45" name="TextBox 37"/>
          <p:cNvSpPr txBox="1"/>
          <p:nvPr/>
        </p:nvSpPr>
        <p:spPr>
          <a:xfrm>
            <a:off x="18832982" y="7507223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ARCD-2644</a:t>
            </a:r>
          </a:p>
        </p:txBody>
      </p:sp>
      <p:sp>
        <p:nvSpPr>
          <p:cNvPr id="946" name="Connector 38"/>
          <p:cNvSpPr/>
          <p:nvPr/>
        </p:nvSpPr>
        <p:spPr>
          <a:xfrm>
            <a:off x="1371600" y="79248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7" name="TextBox 39"/>
          <p:cNvSpPr txBox="1"/>
          <p:nvPr/>
        </p:nvSpPr>
        <p:spPr>
          <a:xfrm>
            <a:off x="1517902" y="797661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40</a:t>
            </a:r>
          </a:p>
        </p:txBody>
      </p:sp>
      <p:sp>
        <p:nvSpPr>
          <p:cNvPr id="948" name="TextBox 40"/>
          <p:cNvSpPr txBox="1"/>
          <p:nvPr/>
        </p:nvSpPr>
        <p:spPr>
          <a:xfrm>
            <a:off x="2600094" y="7976616"/>
            <a:ext cx="6200549" cy="584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Add cash to any product of ARC from any source of cash in ARB</a:t>
            </a:r>
          </a:p>
        </p:txBody>
      </p:sp>
      <p:sp>
        <p:nvSpPr>
          <p:cNvPr id="949" name="TextBox 41"/>
          <p:cNvSpPr txBox="1"/>
          <p:nvPr/>
        </p:nvSpPr>
        <p:spPr>
          <a:xfrm>
            <a:off x="9093250" y="797661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50" name="TextBox 42"/>
          <p:cNvSpPr txBox="1"/>
          <p:nvPr/>
        </p:nvSpPr>
        <p:spPr>
          <a:xfrm>
            <a:off x="18832982" y="7976616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ARCD-2426</a:t>
            </a:r>
          </a:p>
        </p:txBody>
      </p:sp>
      <p:sp>
        <p:nvSpPr>
          <p:cNvPr id="951" name="Connector 43"/>
          <p:cNvSpPr/>
          <p:nvPr/>
        </p:nvSpPr>
        <p:spPr>
          <a:xfrm>
            <a:off x="1371600" y="839419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2" name="TextBox 44"/>
          <p:cNvSpPr txBox="1"/>
          <p:nvPr/>
        </p:nvSpPr>
        <p:spPr>
          <a:xfrm>
            <a:off x="1517902" y="8446006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41</a:t>
            </a:r>
          </a:p>
        </p:txBody>
      </p:sp>
      <p:sp>
        <p:nvSpPr>
          <p:cNvPr id="953" name="TextBox 45"/>
          <p:cNvSpPr txBox="1"/>
          <p:nvPr/>
        </p:nvSpPr>
        <p:spPr>
          <a:xfrm>
            <a:off x="2600094" y="8446006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Crowdfund Fees details</a:t>
            </a:r>
          </a:p>
        </p:txBody>
      </p:sp>
      <p:sp>
        <p:nvSpPr>
          <p:cNvPr id="954" name="TextBox 46"/>
          <p:cNvSpPr txBox="1"/>
          <p:nvPr/>
        </p:nvSpPr>
        <p:spPr>
          <a:xfrm>
            <a:off x="9093250" y="844600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55" name="TextBox 47"/>
          <p:cNvSpPr txBox="1"/>
          <p:nvPr/>
        </p:nvSpPr>
        <p:spPr>
          <a:xfrm>
            <a:off x="18832982" y="8446006"/>
            <a:ext cx="230465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ARCD-72343</a:t>
            </a:r>
          </a:p>
        </p:txBody>
      </p:sp>
      <p:sp>
        <p:nvSpPr>
          <p:cNvPr id="956" name="Connector 48"/>
          <p:cNvSpPr/>
          <p:nvPr/>
        </p:nvSpPr>
        <p:spPr>
          <a:xfrm>
            <a:off x="1371600" y="88635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7" name="TextBox 49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42</a:t>
            </a:r>
          </a:p>
        </p:txBody>
      </p:sp>
      <p:sp>
        <p:nvSpPr>
          <p:cNvPr id="958" name="TextBox 50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crowdfund insight and summary</a:t>
            </a:r>
          </a:p>
        </p:txBody>
      </p:sp>
      <p:sp>
        <p:nvSpPr>
          <p:cNvPr id="959" name="TextBox 51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60" name="TextBox 52"/>
          <p:cNvSpPr txBox="1"/>
          <p:nvPr/>
        </p:nvSpPr>
        <p:spPr>
          <a:xfrm>
            <a:off x="18832982" y="8915400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ARCD-72336</a:t>
            </a:r>
          </a:p>
        </p:txBody>
      </p:sp>
      <p:sp>
        <p:nvSpPr>
          <p:cNvPr id="961" name="Connector 53"/>
          <p:cNvSpPr/>
          <p:nvPr/>
        </p:nvSpPr>
        <p:spPr>
          <a:xfrm>
            <a:off x="1371600" y="933297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2" name="TextBox 54"/>
          <p:cNvSpPr txBox="1"/>
          <p:nvPr/>
        </p:nvSpPr>
        <p:spPr>
          <a:xfrm>
            <a:off x="1517902" y="9384792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43</a:t>
            </a:r>
          </a:p>
        </p:txBody>
      </p:sp>
      <p:sp>
        <p:nvSpPr>
          <p:cNvPr id="963" name="TextBox 55"/>
          <p:cNvSpPr txBox="1"/>
          <p:nvPr/>
        </p:nvSpPr>
        <p:spPr>
          <a:xfrm>
            <a:off x="2600094" y="9384792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Crowd funding Public offering</a:t>
            </a:r>
          </a:p>
        </p:txBody>
      </p:sp>
      <p:sp>
        <p:nvSpPr>
          <p:cNvPr id="964" name="TextBox 56"/>
          <p:cNvSpPr txBox="1"/>
          <p:nvPr/>
        </p:nvSpPr>
        <p:spPr>
          <a:xfrm>
            <a:off x="9093250" y="938479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65" name="TextBox 57"/>
          <p:cNvSpPr txBox="1"/>
          <p:nvPr/>
        </p:nvSpPr>
        <p:spPr>
          <a:xfrm>
            <a:off x="18832982" y="9384792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ARCD-38549</a:t>
            </a:r>
          </a:p>
        </p:txBody>
      </p:sp>
      <p:sp>
        <p:nvSpPr>
          <p:cNvPr id="966" name="Connector 58"/>
          <p:cNvSpPr/>
          <p:nvPr/>
        </p:nvSpPr>
        <p:spPr>
          <a:xfrm>
            <a:off x="1371600" y="980236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7" name="TextBox 59"/>
          <p:cNvSpPr txBox="1"/>
          <p:nvPr/>
        </p:nvSpPr>
        <p:spPr>
          <a:xfrm>
            <a:off x="1517902" y="985418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44</a:t>
            </a:r>
          </a:p>
        </p:txBody>
      </p:sp>
      <p:sp>
        <p:nvSpPr>
          <p:cNvPr id="968" name="TextBox 60"/>
          <p:cNvSpPr txBox="1"/>
          <p:nvPr/>
        </p:nvSpPr>
        <p:spPr>
          <a:xfrm>
            <a:off x="2600094" y="985418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Remove username &amp; password authentication</a:t>
            </a:r>
          </a:p>
        </p:txBody>
      </p:sp>
      <p:sp>
        <p:nvSpPr>
          <p:cNvPr id="969" name="TextBox 61"/>
          <p:cNvSpPr txBox="1"/>
          <p:nvPr/>
        </p:nvSpPr>
        <p:spPr>
          <a:xfrm>
            <a:off x="9093250" y="985418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70" name="TextBox 62"/>
          <p:cNvSpPr txBox="1"/>
          <p:nvPr/>
        </p:nvSpPr>
        <p:spPr>
          <a:xfrm>
            <a:off x="18832982" y="9854183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ARCD-91706</a:t>
            </a:r>
          </a:p>
        </p:txBody>
      </p:sp>
      <p:sp>
        <p:nvSpPr>
          <p:cNvPr id="971" name="Connector 63"/>
          <p:cNvSpPr/>
          <p:nvPr/>
        </p:nvSpPr>
        <p:spPr>
          <a:xfrm>
            <a:off x="1371600" y="102717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2" name="TextBox 64"/>
          <p:cNvSpPr txBox="1"/>
          <p:nvPr/>
        </p:nvSpPr>
        <p:spPr>
          <a:xfrm>
            <a:off x="1517902" y="1032357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45</a:t>
            </a:r>
          </a:p>
        </p:txBody>
      </p:sp>
      <p:sp>
        <p:nvSpPr>
          <p:cNvPr id="973" name="TextBox 65"/>
          <p:cNvSpPr txBox="1"/>
          <p:nvPr/>
        </p:nvSpPr>
        <p:spPr>
          <a:xfrm>
            <a:off x="2600094" y="1032357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Stocks Key Facts</a:t>
            </a:r>
          </a:p>
        </p:txBody>
      </p:sp>
      <p:sp>
        <p:nvSpPr>
          <p:cNvPr id="974" name="TextBox 66"/>
          <p:cNvSpPr txBox="1"/>
          <p:nvPr/>
        </p:nvSpPr>
        <p:spPr>
          <a:xfrm>
            <a:off x="9093250" y="103235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75" name="TextBox 67"/>
          <p:cNvSpPr txBox="1"/>
          <p:nvPr/>
        </p:nvSpPr>
        <p:spPr>
          <a:xfrm>
            <a:off x="18832982" y="10323576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ARCD-72344</a:t>
            </a:r>
          </a:p>
        </p:txBody>
      </p:sp>
      <p:sp>
        <p:nvSpPr>
          <p:cNvPr id="976" name="Connector 68"/>
          <p:cNvSpPr/>
          <p:nvPr/>
        </p:nvSpPr>
        <p:spPr>
          <a:xfrm>
            <a:off x="1371600" y="107411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7" name="TextBox 69"/>
          <p:cNvSpPr txBox="1"/>
          <p:nvPr/>
        </p:nvSpPr>
        <p:spPr>
          <a:xfrm>
            <a:off x="1517902" y="1079296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46</a:t>
            </a:r>
          </a:p>
        </p:txBody>
      </p:sp>
      <p:sp>
        <p:nvSpPr>
          <p:cNvPr id="978" name="TextBox 70"/>
          <p:cNvSpPr txBox="1"/>
          <p:nvPr/>
        </p:nvSpPr>
        <p:spPr>
          <a:xfrm>
            <a:off x="2600094" y="1079296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Global Notification</a:t>
            </a:r>
          </a:p>
        </p:txBody>
      </p:sp>
      <p:sp>
        <p:nvSpPr>
          <p:cNvPr id="979" name="TextBox 71"/>
          <p:cNvSpPr txBox="1"/>
          <p:nvPr/>
        </p:nvSpPr>
        <p:spPr>
          <a:xfrm>
            <a:off x="9093250" y="1079296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80" name="TextBox 72"/>
          <p:cNvSpPr txBox="1"/>
          <p:nvPr/>
        </p:nvSpPr>
        <p:spPr>
          <a:xfrm>
            <a:off x="18832982" y="10792968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ARCD-75525</a:t>
            </a:r>
          </a:p>
        </p:txBody>
      </p:sp>
      <p:sp>
        <p:nvSpPr>
          <p:cNvPr id="981" name="Connector 73"/>
          <p:cNvSpPr/>
          <p:nvPr/>
        </p:nvSpPr>
        <p:spPr>
          <a:xfrm>
            <a:off x="1371600" y="1121054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2" name="TextBox 74"/>
          <p:cNvSpPr txBox="1"/>
          <p:nvPr/>
        </p:nvSpPr>
        <p:spPr>
          <a:xfrm>
            <a:off x="1517902" y="112623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47</a:t>
            </a:r>
          </a:p>
        </p:txBody>
      </p:sp>
      <p:sp>
        <p:nvSpPr>
          <p:cNvPr id="983" name="TextBox 75"/>
          <p:cNvSpPr txBox="1"/>
          <p:nvPr/>
        </p:nvSpPr>
        <p:spPr>
          <a:xfrm>
            <a:off x="2600094" y="112623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Social Trading</a:t>
            </a:r>
          </a:p>
        </p:txBody>
      </p:sp>
      <p:sp>
        <p:nvSpPr>
          <p:cNvPr id="984" name="TextBox 76"/>
          <p:cNvSpPr txBox="1"/>
          <p:nvPr/>
        </p:nvSpPr>
        <p:spPr>
          <a:xfrm>
            <a:off x="9093250" y="112623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85" name="TextBox 77"/>
          <p:cNvSpPr txBox="1"/>
          <p:nvPr/>
        </p:nvSpPr>
        <p:spPr>
          <a:xfrm>
            <a:off x="18832982" y="11262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ARCD-72352</a:t>
            </a:r>
          </a:p>
        </p:txBody>
      </p:sp>
      <p:sp>
        <p:nvSpPr>
          <p:cNvPr id="986" name="Connector 78"/>
          <p:cNvSpPr/>
          <p:nvPr/>
        </p:nvSpPr>
        <p:spPr>
          <a:xfrm>
            <a:off x="1371600" y="1167993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7" name="TextBox 79"/>
          <p:cNvSpPr txBox="1"/>
          <p:nvPr/>
        </p:nvSpPr>
        <p:spPr>
          <a:xfrm>
            <a:off x="1517902" y="1173175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48</a:t>
            </a:r>
          </a:p>
        </p:txBody>
      </p:sp>
      <p:sp>
        <p:nvSpPr>
          <p:cNvPr id="988" name="TextBox 80"/>
          <p:cNvSpPr txBox="1"/>
          <p:nvPr/>
        </p:nvSpPr>
        <p:spPr>
          <a:xfrm>
            <a:off x="2600094" y="1173175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Trading View Integration</a:t>
            </a:r>
          </a:p>
        </p:txBody>
      </p:sp>
      <p:sp>
        <p:nvSpPr>
          <p:cNvPr id="989" name="TextBox 81"/>
          <p:cNvSpPr txBox="1"/>
          <p:nvPr/>
        </p:nvSpPr>
        <p:spPr>
          <a:xfrm>
            <a:off x="9093250" y="117317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90" name="TextBox 82"/>
          <p:cNvSpPr txBox="1"/>
          <p:nvPr/>
        </p:nvSpPr>
        <p:spPr>
          <a:xfrm>
            <a:off x="18832982" y="11731752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ARCD-19429</a:t>
            </a:r>
          </a:p>
        </p:txBody>
      </p:sp>
      <p:sp>
        <p:nvSpPr>
          <p:cNvPr id="991" name="Connector 83"/>
          <p:cNvSpPr/>
          <p:nvPr/>
        </p:nvSpPr>
        <p:spPr>
          <a:xfrm>
            <a:off x="1371600" y="1214932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2" name="TextBox 84"/>
          <p:cNvSpPr txBox="1"/>
          <p:nvPr/>
        </p:nvSpPr>
        <p:spPr>
          <a:xfrm>
            <a:off x="1517902" y="12201142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49</a:t>
            </a:r>
          </a:p>
        </p:txBody>
      </p:sp>
      <p:sp>
        <p:nvSpPr>
          <p:cNvPr id="993" name="TextBox 85"/>
          <p:cNvSpPr txBox="1"/>
          <p:nvPr/>
        </p:nvSpPr>
        <p:spPr>
          <a:xfrm>
            <a:off x="2600094" y="12201142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Fast Onboarding</a:t>
            </a:r>
          </a:p>
        </p:txBody>
      </p:sp>
      <p:sp>
        <p:nvSpPr>
          <p:cNvPr id="994" name="TextBox 86"/>
          <p:cNvSpPr txBox="1"/>
          <p:nvPr/>
        </p:nvSpPr>
        <p:spPr>
          <a:xfrm>
            <a:off x="9093250" y="12201142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995" name="TextBox 87"/>
          <p:cNvSpPr txBox="1"/>
          <p:nvPr/>
        </p:nvSpPr>
        <p:spPr>
          <a:xfrm>
            <a:off x="18832982" y="12201142"/>
            <a:ext cx="230465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ARCD-13281</a:t>
            </a:r>
          </a:p>
        </p:txBody>
      </p:sp>
      <p:sp>
        <p:nvSpPr>
          <p:cNvPr id="996" name="Connector 88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997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565882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998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612632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999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659381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0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706130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1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752879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2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799628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3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846377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4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893126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5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939875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6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986624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7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1033373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8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8827" y="1080291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9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566051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0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612800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1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659549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2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706298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3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753047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4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799796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5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846546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6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893295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7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940044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8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986793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9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1033542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0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1080291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1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1127242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2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1173991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3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8827" y="1220909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4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1127411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5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1174160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6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12209092"/>
            <a:ext cx="292610" cy="2926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1029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016 / 111</a:t>
            </a:r>
          </a:p>
        </p:txBody>
      </p:sp>
      <p:sp>
        <p:nvSpPr>
          <p:cNvPr id="1030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DIGITAL CAPABILITIES  ·  CAPABILITY ASSESSMENT</a:t>
            </a:r>
          </a:p>
        </p:txBody>
      </p:sp>
      <p:sp>
        <p:nvSpPr>
          <p:cNvPr id="1031" name="TextBox 4"/>
          <p:cNvSpPr txBox="1"/>
          <p:nvPr/>
        </p:nvSpPr>
        <p:spPr>
          <a:xfrm>
            <a:off x="1371600" y="2817997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Digital Capabilities</a:t>
            </a:r>
          </a:p>
        </p:txBody>
      </p:sp>
      <p:sp>
        <p:nvSpPr>
          <p:cNvPr id="1032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1033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1034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1035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1036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1037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1038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1039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040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1" name="TextBox 14"/>
          <p:cNvSpPr txBox="1"/>
          <p:nvPr/>
        </p:nvSpPr>
        <p:spPr>
          <a:xfrm>
            <a:off x="1517902" y="5614415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50</a:t>
            </a:r>
          </a:p>
        </p:txBody>
      </p:sp>
      <p:sp>
        <p:nvSpPr>
          <p:cNvPr id="1042" name="TextBox 15"/>
          <p:cNvSpPr txBox="1"/>
          <p:nvPr/>
        </p:nvSpPr>
        <p:spPr>
          <a:xfrm>
            <a:off x="2600094" y="5614415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Client ID Expiry</a:t>
            </a:r>
          </a:p>
        </p:txBody>
      </p:sp>
      <p:sp>
        <p:nvSpPr>
          <p:cNvPr id="1043" name="TextBox 16"/>
          <p:cNvSpPr txBox="1"/>
          <p:nvPr/>
        </p:nvSpPr>
        <p:spPr>
          <a:xfrm>
            <a:off x="9093250" y="5614415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044" name="Connector 17"/>
          <p:cNvSpPr/>
          <p:nvPr/>
        </p:nvSpPr>
        <p:spPr>
          <a:xfrm>
            <a:off x="1371600" y="60167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5" name="TextBox 18"/>
          <p:cNvSpPr txBox="1"/>
          <p:nvPr/>
        </p:nvSpPr>
        <p:spPr>
          <a:xfrm>
            <a:off x="1517902" y="605332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51</a:t>
            </a:r>
          </a:p>
        </p:txBody>
      </p:sp>
      <p:sp>
        <p:nvSpPr>
          <p:cNvPr id="1046" name="TextBox 19"/>
          <p:cNvSpPr txBox="1"/>
          <p:nvPr/>
        </p:nvSpPr>
        <p:spPr>
          <a:xfrm>
            <a:off x="2600094" y="6053328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Minor ID Expiry</a:t>
            </a:r>
          </a:p>
        </p:txBody>
      </p:sp>
      <p:sp>
        <p:nvSpPr>
          <p:cNvPr id="1047" name="TextBox 20"/>
          <p:cNvSpPr txBox="1"/>
          <p:nvPr/>
        </p:nvSpPr>
        <p:spPr>
          <a:xfrm>
            <a:off x="9093250" y="605332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048" name="TextBox 21"/>
          <p:cNvSpPr txBox="1"/>
          <p:nvPr/>
        </p:nvSpPr>
        <p:spPr>
          <a:xfrm>
            <a:off x="18832982" y="6053328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ARCD-13108</a:t>
            </a:r>
          </a:p>
        </p:txBody>
      </p:sp>
      <p:sp>
        <p:nvSpPr>
          <p:cNvPr id="1049" name="Connector 22"/>
          <p:cNvSpPr/>
          <p:nvPr/>
        </p:nvSpPr>
        <p:spPr>
          <a:xfrm>
            <a:off x="1371600" y="6455664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0" name="TextBox 23"/>
          <p:cNvSpPr txBox="1"/>
          <p:nvPr/>
        </p:nvSpPr>
        <p:spPr>
          <a:xfrm>
            <a:off x="1517902" y="64922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52</a:t>
            </a:r>
          </a:p>
        </p:txBody>
      </p:sp>
      <p:sp>
        <p:nvSpPr>
          <p:cNvPr id="1051" name="TextBox 24"/>
          <p:cNvSpPr txBox="1"/>
          <p:nvPr/>
        </p:nvSpPr>
        <p:spPr>
          <a:xfrm>
            <a:off x="2600094" y="64922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KYC update</a:t>
            </a:r>
          </a:p>
        </p:txBody>
      </p:sp>
      <p:sp>
        <p:nvSpPr>
          <p:cNvPr id="1052" name="TextBox 25"/>
          <p:cNvSpPr txBox="1"/>
          <p:nvPr/>
        </p:nvSpPr>
        <p:spPr>
          <a:xfrm>
            <a:off x="9093250" y="6492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053" name="Connector 26"/>
          <p:cNvSpPr/>
          <p:nvPr/>
        </p:nvSpPr>
        <p:spPr>
          <a:xfrm>
            <a:off x="1371600" y="689457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4" name="TextBox 27"/>
          <p:cNvSpPr txBox="1"/>
          <p:nvPr/>
        </p:nvSpPr>
        <p:spPr>
          <a:xfrm>
            <a:off x="1517902" y="693115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53</a:t>
            </a:r>
          </a:p>
        </p:txBody>
      </p:sp>
      <p:sp>
        <p:nvSpPr>
          <p:cNvPr id="1055" name="TextBox 28"/>
          <p:cNvSpPr txBox="1"/>
          <p:nvPr/>
        </p:nvSpPr>
        <p:spPr>
          <a:xfrm>
            <a:off x="2600094" y="693115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Live Prices New Clients</a:t>
            </a:r>
          </a:p>
        </p:txBody>
      </p:sp>
      <p:sp>
        <p:nvSpPr>
          <p:cNvPr id="1056" name="TextBox 29"/>
          <p:cNvSpPr txBox="1"/>
          <p:nvPr/>
        </p:nvSpPr>
        <p:spPr>
          <a:xfrm>
            <a:off x="9093250" y="69311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057" name="TextBox 30"/>
          <p:cNvSpPr txBox="1"/>
          <p:nvPr/>
        </p:nvSpPr>
        <p:spPr>
          <a:xfrm>
            <a:off x="14504212" y="6931152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Enchantment requires</a:t>
            </a:r>
          </a:p>
        </p:txBody>
      </p:sp>
      <p:sp>
        <p:nvSpPr>
          <p:cNvPr id="1058" name="TextBox 31"/>
          <p:cNvSpPr txBox="1"/>
          <p:nvPr/>
        </p:nvSpPr>
        <p:spPr>
          <a:xfrm>
            <a:off x="18832982" y="6931152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ARCD-91702</a:t>
            </a:r>
          </a:p>
        </p:txBody>
      </p:sp>
      <p:sp>
        <p:nvSpPr>
          <p:cNvPr id="1059" name="Connector 32"/>
          <p:cNvSpPr/>
          <p:nvPr/>
        </p:nvSpPr>
        <p:spPr>
          <a:xfrm>
            <a:off x="1371600" y="73334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0" name="TextBox 33"/>
          <p:cNvSpPr txBox="1"/>
          <p:nvPr/>
        </p:nvSpPr>
        <p:spPr>
          <a:xfrm>
            <a:off x="1517902" y="737006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54</a:t>
            </a:r>
          </a:p>
        </p:txBody>
      </p:sp>
      <p:sp>
        <p:nvSpPr>
          <p:cNvPr id="1061" name="TextBox 34"/>
          <p:cNvSpPr txBox="1"/>
          <p:nvPr/>
        </p:nvSpPr>
        <p:spPr>
          <a:xfrm>
            <a:off x="2600094" y="737006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Live Prices Current Clients</a:t>
            </a:r>
          </a:p>
        </p:txBody>
      </p:sp>
      <p:sp>
        <p:nvSpPr>
          <p:cNvPr id="1062" name="TextBox 35"/>
          <p:cNvSpPr txBox="1"/>
          <p:nvPr/>
        </p:nvSpPr>
        <p:spPr>
          <a:xfrm>
            <a:off x="9093250" y="737006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063" name="TextBox 36"/>
          <p:cNvSpPr txBox="1"/>
          <p:nvPr/>
        </p:nvSpPr>
        <p:spPr>
          <a:xfrm>
            <a:off x="14504212" y="7370064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Enchantment requires</a:t>
            </a:r>
          </a:p>
        </p:txBody>
      </p:sp>
      <p:sp>
        <p:nvSpPr>
          <p:cNvPr id="1064" name="TextBox 37"/>
          <p:cNvSpPr txBox="1"/>
          <p:nvPr/>
        </p:nvSpPr>
        <p:spPr>
          <a:xfrm>
            <a:off x="18832982" y="7370064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ARCD-91702</a:t>
            </a:r>
          </a:p>
        </p:txBody>
      </p:sp>
      <p:sp>
        <p:nvSpPr>
          <p:cNvPr id="1065" name="Connector 38"/>
          <p:cNvSpPr/>
          <p:nvPr/>
        </p:nvSpPr>
        <p:spPr>
          <a:xfrm>
            <a:off x="1371600" y="77724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6" name="TextBox 39"/>
          <p:cNvSpPr txBox="1"/>
          <p:nvPr/>
        </p:nvSpPr>
        <p:spPr>
          <a:xfrm>
            <a:off x="1517902" y="780897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55</a:t>
            </a:r>
          </a:p>
        </p:txBody>
      </p:sp>
      <p:sp>
        <p:nvSpPr>
          <p:cNvPr id="1067" name="TextBox 40"/>
          <p:cNvSpPr txBox="1"/>
          <p:nvPr/>
        </p:nvSpPr>
        <p:spPr>
          <a:xfrm>
            <a:off x="2600094" y="780897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TILA joureny</a:t>
            </a:r>
          </a:p>
        </p:txBody>
      </p:sp>
      <p:sp>
        <p:nvSpPr>
          <p:cNvPr id="1068" name="TextBox 41"/>
          <p:cNvSpPr txBox="1"/>
          <p:nvPr/>
        </p:nvSpPr>
        <p:spPr>
          <a:xfrm>
            <a:off x="9093250" y="78089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069" name="TextBox 42"/>
          <p:cNvSpPr txBox="1"/>
          <p:nvPr/>
        </p:nvSpPr>
        <p:spPr>
          <a:xfrm>
            <a:off x="14504212" y="7808976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Enchantment requires</a:t>
            </a:r>
          </a:p>
        </p:txBody>
      </p:sp>
      <p:sp>
        <p:nvSpPr>
          <p:cNvPr id="1070" name="TextBox 43"/>
          <p:cNvSpPr txBox="1"/>
          <p:nvPr/>
        </p:nvSpPr>
        <p:spPr>
          <a:xfrm>
            <a:off x="18832982" y="7808976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ARCD-91702</a:t>
            </a:r>
          </a:p>
        </p:txBody>
      </p:sp>
      <p:sp>
        <p:nvSpPr>
          <p:cNvPr id="1071" name="Connector 44"/>
          <p:cNvSpPr/>
          <p:nvPr/>
        </p:nvSpPr>
        <p:spPr>
          <a:xfrm>
            <a:off x="1371600" y="821131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2" name="TextBox 45"/>
          <p:cNvSpPr txBox="1"/>
          <p:nvPr/>
        </p:nvSpPr>
        <p:spPr>
          <a:xfrm>
            <a:off x="1517902" y="824788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56</a:t>
            </a:r>
          </a:p>
        </p:txBody>
      </p:sp>
      <p:sp>
        <p:nvSpPr>
          <p:cNvPr id="1073" name="TextBox 46"/>
          <p:cNvSpPr txBox="1"/>
          <p:nvPr/>
        </p:nvSpPr>
        <p:spPr>
          <a:xfrm>
            <a:off x="2600094" y="8247888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Tracking T&amp;C Versions</a:t>
            </a:r>
          </a:p>
        </p:txBody>
      </p:sp>
      <p:sp>
        <p:nvSpPr>
          <p:cNvPr id="1074" name="TextBox 47"/>
          <p:cNvSpPr txBox="1"/>
          <p:nvPr/>
        </p:nvSpPr>
        <p:spPr>
          <a:xfrm>
            <a:off x="9093250" y="824788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075" name="TextBox 48"/>
          <p:cNvSpPr txBox="1"/>
          <p:nvPr/>
        </p:nvSpPr>
        <p:spPr>
          <a:xfrm>
            <a:off x="18832982" y="8247888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ARCD-91710</a:t>
            </a:r>
          </a:p>
        </p:txBody>
      </p:sp>
      <p:sp>
        <p:nvSpPr>
          <p:cNvPr id="1076" name="Connector 49"/>
          <p:cNvSpPr/>
          <p:nvPr/>
        </p:nvSpPr>
        <p:spPr>
          <a:xfrm>
            <a:off x="1371600" y="865022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7" name="TextBox 50"/>
          <p:cNvSpPr txBox="1"/>
          <p:nvPr/>
        </p:nvSpPr>
        <p:spPr>
          <a:xfrm>
            <a:off x="1517902" y="86868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57</a:t>
            </a:r>
          </a:p>
        </p:txBody>
      </p:sp>
      <p:sp>
        <p:nvSpPr>
          <p:cNvPr id="1078" name="TextBox 51"/>
          <p:cNvSpPr txBox="1"/>
          <p:nvPr/>
        </p:nvSpPr>
        <p:spPr>
          <a:xfrm>
            <a:off x="2600094" y="86868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Data Consent</a:t>
            </a:r>
          </a:p>
        </p:txBody>
      </p:sp>
      <p:sp>
        <p:nvSpPr>
          <p:cNvPr id="1079" name="TextBox 52"/>
          <p:cNvSpPr txBox="1"/>
          <p:nvPr/>
        </p:nvSpPr>
        <p:spPr>
          <a:xfrm>
            <a:off x="9093250" y="86867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080" name="Connector 53"/>
          <p:cNvSpPr/>
          <p:nvPr/>
        </p:nvSpPr>
        <p:spPr>
          <a:xfrm>
            <a:off x="1371600" y="908913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1" name="TextBox 54"/>
          <p:cNvSpPr txBox="1"/>
          <p:nvPr/>
        </p:nvSpPr>
        <p:spPr>
          <a:xfrm>
            <a:off x="1517902" y="912571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58</a:t>
            </a:r>
          </a:p>
        </p:txBody>
      </p:sp>
      <p:sp>
        <p:nvSpPr>
          <p:cNvPr id="1082" name="TextBox 55"/>
          <p:cNvSpPr txBox="1"/>
          <p:nvPr/>
        </p:nvSpPr>
        <p:spPr>
          <a:xfrm>
            <a:off x="2600094" y="912571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Prepaid Commission</a:t>
            </a:r>
          </a:p>
        </p:txBody>
      </p:sp>
      <p:sp>
        <p:nvSpPr>
          <p:cNvPr id="1083" name="TextBox 56"/>
          <p:cNvSpPr txBox="1"/>
          <p:nvPr/>
        </p:nvSpPr>
        <p:spPr>
          <a:xfrm>
            <a:off x="9093250" y="912571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084" name="TextBox 57"/>
          <p:cNvSpPr txBox="1"/>
          <p:nvPr/>
        </p:nvSpPr>
        <p:spPr>
          <a:xfrm>
            <a:off x="18832982" y="9125711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ARCD-17031</a:t>
            </a:r>
          </a:p>
        </p:txBody>
      </p:sp>
      <p:sp>
        <p:nvSpPr>
          <p:cNvPr id="1085" name="Connector 58"/>
          <p:cNvSpPr/>
          <p:nvPr/>
        </p:nvSpPr>
        <p:spPr>
          <a:xfrm>
            <a:off x="1371600" y="9528047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6" name="TextBox 59"/>
          <p:cNvSpPr txBox="1"/>
          <p:nvPr/>
        </p:nvSpPr>
        <p:spPr>
          <a:xfrm>
            <a:off x="1517902" y="956462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59</a:t>
            </a:r>
          </a:p>
        </p:txBody>
      </p:sp>
      <p:sp>
        <p:nvSpPr>
          <p:cNvPr id="1087" name="TextBox 60"/>
          <p:cNvSpPr txBox="1"/>
          <p:nvPr/>
        </p:nvSpPr>
        <p:spPr>
          <a:xfrm>
            <a:off x="2600094" y="956462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Spin the Wheel Discount</a:t>
            </a:r>
          </a:p>
        </p:txBody>
      </p:sp>
      <p:sp>
        <p:nvSpPr>
          <p:cNvPr id="1088" name="TextBox 61"/>
          <p:cNvSpPr txBox="1"/>
          <p:nvPr/>
        </p:nvSpPr>
        <p:spPr>
          <a:xfrm>
            <a:off x="9093250" y="956462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089" name="TextBox 62"/>
          <p:cNvSpPr txBox="1"/>
          <p:nvPr/>
        </p:nvSpPr>
        <p:spPr>
          <a:xfrm>
            <a:off x="18832982" y="9564623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ARCD-16056</a:t>
            </a:r>
          </a:p>
        </p:txBody>
      </p:sp>
      <p:sp>
        <p:nvSpPr>
          <p:cNvPr id="1090" name="Connector 63"/>
          <p:cNvSpPr/>
          <p:nvPr/>
        </p:nvSpPr>
        <p:spPr>
          <a:xfrm>
            <a:off x="1371600" y="99669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1" name="TextBox 64"/>
          <p:cNvSpPr txBox="1"/>
          <p:nvPr/>
        </p:nvSpPr>
        <p:spPr>
          <a:xfrm>
            <a:off x="1517902" y="10003535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60</a:t>
            </a:r>
          </a:p>
        </p:txBody>
      </p:sp>
      <p:sp>
        <p:nvSpPr>
          <p:cNvPr id="1092" name="TextBox 65"/>
          <p:cNvSpPr txBox="1"/>
          <p:nvPr/>
        </p:nvSpPr>
        <p:spPr>
          <a:xfrm>
            <a:off x="2600094" y="10003535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Trading on behalf of minors</a:t>
            </a:r>
          </a:p>
        </p:txBody>
      </p:sp>
      <p:sp>
        <p:nvSpPr>
          <p:cNvPr id="1093" name="TextBox 66"/>
          <p:cNvSpPr txBox="1"/>
          <p:nvPr/>
        </p:nvSpPr>
        <p:spPr>
          <a:xfrm>
            <a:off x="9093250" y="10003535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094" name="Connector 67"/>
          <p:cNvSpPr/>
          <p:nvPr/>
        </p:nvSpPr>
        <p:spPr>
          <a:xfrm>
            <a:off x="1371600" y="1040587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5" name="TextBox 68"/>
          <p:cNvSpPr txBox="1"/>
          <p:nvPr/>
        </p:nvSpPr>
        <p:spPr>
          <a:xfrm>
            <a:off x="1517902" y="1044244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61</a:t>
            </a:r>
          </a:p>
        </p:txBody>
      </p:sp>
      <p:sp>
        <p:nvSpPr>
          <p:cNvPr id="1096" name="TextBox 69"/>
          <p:cNvSpPr txBox="1"/>
          <p:nvPr/>
        </p:nvSpPr>
        <p:spPr>
          <a:xfrm>
            <a:off x="2600094" y="1044244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Manage Card and account</a:t>
            </a:r>
          </a:p>
        </p:txBody>
      </p:sp>
      <p:sp>
        <p:nvSpPr>
          <p:cNvPr id="1097" name="TextBox 70"/>
          <p:cNvSpPr txBox="1"/>
          <p:nvPr/>
        </p:nvSpPr>
        <p:spPr>
          <a:xfrm>
            <a:off x="9093250" y="1044244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098" name="Connector 71"/>
          <p:cNvSpPr/>
          <p:nvPr/>
        </p:nvSpPr>
        <p:spPr>
          <a:xfrm>
            <a:off x="1371600" y="108447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9" name="TextBox 72"/>
          <p:cNvSpPr txBox="1"/>
          <p:nvPr/>
        </p:nvSpPr>
        <p:spPr>
          <a:xfrm>
            <a:off x="1517902" y="108813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62</a:t>
            </a:r>
          </a:p>
        </p:txBody>
      </p:sp>
      <p:sp>
        <p:nvSpPr>
          <p:cNvPr id="1100" name="TextBox 73"/>
          <p:cNvSpPr txBox="1"/>
          <p:nvPr/>
        </p:nvSpPr>
        <p:spPr>
          <a:xfrm>
            <a:off x="2600094" y="108813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How to?</a:t>
            </a:r>
          </a:p>
        </p:txBody>
      </p:sp>
      <p:sp>
        <p:nvSpPr>
          <p:cNvPr id="1101" name="TextBox 74"/>
          <p:cNvSpPr txBox="1"/>
          <p:nvPr/>
        </p:nvSpPr>
        <p:spPr>
          <a:xfrm>
            <a:off x="9093250" y="108813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102" name="Connector 75"/>
          <p:cNvSpPr/>
          <p:nvPr/>
        </p:nvSpPr>
        <p:spPr>
          <a:xfrm>
            <a:off x="1371600" y="11283694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3" name="TextBox 76"/>
          <p:cNvSpPr txBox="1"/>
          <p:nvPr/>
        </p:nvSpPr>
        <p:spPr>
          <a:xfrm>
            <a:off x="1517902" y="1132027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63</a:t>
            </a:r>
          </a:p>
        </p:txBody>
      </p:sp>
      <p:sp>
        <p:nvSpPr>
          <p:cNvPr id="1104" name="TextBox 77"/>
          <p:cNvSpPr txBox="1"/>
          <p:nvPr/>
        </p:nvSpPr>
        <p:spPr>
          <a:xfrm>
            <a:off x="2600094" y="1132027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Charity Donation</a:t>
            </a:r>
          </a:p>
        </p:txBody>
      </p:sp>
      <p:sp>
        <p:nvSpPr>
          <p:cNvPr id="1105" name="TextBox 78"/>
          <p:cNvSpPr txBox="1"/>
          <p:nvPr/>
        </p:nvSpPr>
        <p:spPr>
          <a:xfrm>
            <a:off x="9093250" y="1132027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106" name="Connector 79"/>
          <p:cNvSpPr/>
          <p:nvPr/>
        </p:nvSpPr>
        <p:spPr>
          <a:xfrm>
            <a:off x="1371600" y="1172260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7" name="TextBox 80"/>
          <p:cNvSpPr txBox="1"/>
          <p:nvPr/>
        </p:nvSpPr>
        <p:spPr>
          <a:xfrm>
            <a:off x="1517902" y="1175918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1108" name="TextBox 81"/>
          <p:cNvSpPr txBox="1"/>
          <p:nvPr/>
        </p:nvSpPr>
        <p:spPr>
          <a:xfrm>
            <a:off x="2600094" y="1175918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Dark/Light Theme</a:t>
            </a:r>
          </a:p>
        </p:txBody>
      </p:sp>
      <p:sp>
        <p:nvSpPr>
          <p:cNvPr id="1109" name="TextBox 82"/>
          <p:cNvSpPr txBox="1"/>
          <p:nvPr/>
        </p:nvSpPr>
        <p:spPr>
          <a:xfrm>
            <a:off x="9093250" y="1175918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110" name="Connector 83"/>
          <p:cNvSpPr/>
          <p:nvPr/>
        </p:nvSpPr>
        <p:spPr>
          <a:xfrm>
            <a:off x="1371600" y="121615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1" name="TextBox 84"/>
          <p:cNvSpPr txBox="1"/>
          <p:nvPr/>
        </p:nvSpPr>
        <p:spPr>
          <a:xfrm>
            <a:off x="1517902" y="1219809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65</a:t>
            </a:r>
          </a:p>
        </p:txBody>
      </p:sp>
      <p:sp>
        <p:nvSpPr>
          <p:cNvPr id="1112" name="TextBox 85"/>
          <p:cNvSpPr txBox="1"/>
          <p:nvPr/>
        </p:nvSpPr>
        <p:spPr>
          <a:xfrm>
            <a:off x="2600094" y="1219809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Arabic/English Language</a:t>
            </a:r>
          </a:p>
        </p:txBody>
      </p:sp>
      <p:sp>
        <p:nvSpPr>
          <p:cNvPr id="1113" name="TextBox 86"/>
          <p:cNvSpPr txBox="1"/>
          <p:nvPr/>
        </p:nvSpPr>
        <p:spPr>
          <a:xfrm>
            <a:off x="9093250" y="1219809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114" name="Connector 87"/>
          <p:cNvSpPr/>
          <p:nvPr/>
        </p:nvSpPr>
        <p:spPr>
          <a:xfrm>
            <a:off x="1371600" y="1260043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5" name="TextBox 88"/>
          <p:cNvSpPr txBox="1"/>
          <p:nvPr/>
        </p:nvSpPr>
        <p:spPr>
          <a:xfrm>
            <a:off x="1517902" y="12637006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66</a:t>
            </a:r>
          </a:p>
        </p:txBody>
      </p:sp>
      <p:sp>
        <p:nvSpPr>
          <p:cNvPr id="1116" name="TextBox 89"/>
          <p:cNvSpPr txBox="1"/>
          <p:nvPr/>
        </p:nvSpPr>
        <p:spPr>
          <a:xfrm>
            <a:off x="2600094" y="12637006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MPIN</a:t>
            </a:r>
          </a:p>
        </p:txBody>
      </p:sp>
      <p:sp>
        <p:nvSpPr>
          <p:cNvPr id="1117" name="TextBox 90"/>
          <p:cNvSpPr txBox="1"/>
          <p:nvPr/>
        </p:nvSpPr>
        <p:spPr>
          <a:xfrm>
            <a:off x="9093250" y="1263700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118" name="Connector 91"/>
          <p:cNvSpPr/>
          <p:nvPr/>
        </p:nvSpPr>
        <p:spPr>
          <a:xfrm>
            <a:off x="1371600" y="1303934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119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612632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0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827344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1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870318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2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587690" y="915120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3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09909" y="959647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4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612800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5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827512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6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870487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7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22549" y="915288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8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4768" y="959815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9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3519" y="563381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0" name="Picture 37" descr="Picture 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027" y="563381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1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3519" y="654962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2" name="Picture 37" descr="Picture 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027" y="654962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3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3519" y="699515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4" name="Picture 37" descr="Picture 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027" y="699515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5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3519" y="746261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6" name="Picture 37" descr="Picture 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027" y="746261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7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3519" y="787444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8" name="Picture 37" descr="Picture 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027" y="787444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9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3519" y="1003607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0" name="Picture 37" descr="Picture 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027" y="1003607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1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3519" y="1048160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2" name="Picture 37" descr="Picture 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027" y="1048160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3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3519" y="1094905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4" name="Picture 37" descr="Picture 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027" y="1094905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5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3519" y="1136088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6" name="Picture 37" descr="Picture 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027" y="1136088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7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3519" y="1179559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8" name="Picture 37" descr="Picture 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027" y="1179559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9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3519" y="1226304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0" name="Picture 37" descr="Picture 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027" y="1226304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1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3519" y="1267487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2" name="Picture 37" descr="Picture 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027" y="12674879"/>
            <a:ext cx="292610" cy="2926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1155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017 / 111</a:t>
            </a:r>
          </a:p>
        </p:txBody>
      </p:sp>
      <p:sp>
        <p:nvSpPr>
          <p:cNvPr id="1156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DIGITAL CAPABILITIES  ·  CAPABILITY ASSESSMENT</a:t>
            </a:r>
          </a:p>
        </p:txBody>
      </p:sp>
      <p:sp>
        <p:nvSpPr>
          <p:cNvPr id="1157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Digital Capabilities</a:t>
            </a:r>
          </a:p>
        </p:txBody>
      </p:sp>
      <p:sp>
        <p:nvSpPr>
          <p:cNvPr id="1158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1159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1160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1161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1162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1163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1164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1165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166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7" name="TextBox 14"/>
          <p:cNvSpPr txBox="1"/>
          <p:nvPr/>
        </p:nvSpPr>
        <p:spPr>
          <a:xfrm>
            <a:off x="1517902" y="566576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67</a:t>
            </a:r>
          </a:p>
        </p:txBody>
      </p:sp>
      <p:sp>
        <p:nvSpPr>
          <p:cNvPr id="1168" name="TextBox 15"/>
          <p:cNvSpPr txBox="1"/>
          <p:nvPr/>
        </p:nvSpPr>
        <p:spPr>
          <a:xfrm>
            <a:off x="2600094" y="566576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Session Timeout</a:t>
            </a:r>
          </a:p>
        </p:txBody>
      </p:sp>
      <p:sp>
        <p:nvSpPr>
          <p:cNvPr id="1169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170" name="Connector 17"/>
          <p:cNvSpPr/>
          <p:nvPr/>
        </p:nvSpPr>
        <p:spPr>
          <a:xfrm>
            <a:off x="1371600" y="611944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1" name="TextBox 18"/>
          <p:cNvSpPr txBox="1"/>
          <p:nvPr/>
        </p:nvSpPr>
        <p:spPr>
          <a:xfrm>
            <a:off x="1517902" y="620736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68</a:t>
            </a:r>
          </a:p>
        </p:txBody>
      </p:sp>
      <p:sp>
        <p:nvSpPr>
          <p:cNvPr id="1172" name="TextBox 19"/>
          <p:cNvSpPr txBox="1"/>
          <p:nvPr/>
        </p:nvSpPr>
        <p:spPr>
          <a:xfrm>
            <a:off x="2600094" y="620736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Notifications</a:t>
            </a:r>
          </a:p>
        </p:txBody>
      </p:sp>
      <p:sp>
        <p:nvSpPr>
          <p:cNvPr id="1173" name="TextBox 20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174" name="TextBox 21"/>
          <p:cNvSpPr txBox="1"/>
          <p:nvPr/>
        </p:nvSpPr>
        <p:spPr>
          <a:xfrm>
            <a:off x="14504212" y="620736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InBox</a:t>
            </a:r>
          </a:p>
        </p:txBody>
      </p:sp>
      <p:sp>
        <p:nvSpPr>
          <p:cNvPr id="1175" name="Connector 22"/>
          <p:cNvSpPr/>
          <p:nvPr/>
        </p:nvSpPr>
        <p:spPr>
          <a:xfrm>
            <a:off x="1371600" y="66610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6" name="TextBox 23"/>
          <p:cNvSpPr txBox="1"/>
          <p:nvPr/>
        </p:nvSpPr>
        <p:spPr>
          <a:xfrm>
            <a:off x="1517902" y="674897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69</a:t>
            </a:r>
          </a:p>
        </p:txBody>
      </p:sp>
      <p:sp>
        <p:nvSpPr>
          <p:cNvPr id="1177" name="TextBox 24"/>
          <p:cNvSpPr txBox="1"/>
          <p:nvPr/>
        </p:nvSpPr>
        <p:spPr>
          <a:xfrm>
            <a:off x="2600094" y="674897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Preference</a:t>
            </a:r>
          </a:p>
        </p:txBody>
      </p:sp>
      <p:sp>
        <p:nvSpPr>
          <p:cNvPr id="1178" name="TextBox 25"/>
          <p:cNvSpPr txBox="1"/>
          <p:nvPr/>
        </p:nvSpPr>
        <p:spPr>
          <a:xfrm>
            <a:off x="9093250" y="674897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179" name="Connector 26"/>
          <p:cNvSpPr/>
          <p:nvPr/>
        </p:nvSpPr>
        <p:spPr>
          <a:xfrm>
            <a:off x="1371600" y="720265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0" name="TextBox 27"/>
          <p:cNvSpPr txBox="1"/>
          <p:nvPr/>
        </p:nvSpPr>
        <p:spPr>
          <a:xfrm>
            <a:off x="1517902" y="729058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70</a:t>
            </a:r>
          </a:p>
        </p:txBody>
      </p:sp>
      <p:sp>
        <p:nvSpPr>
          <p:cNvPr id="1181" name="TextBox 28"/>
          <p:cNvSpPr txBox="1"/>
          <p:nvPr/>
        </p:nvSpPr>
        <p:spPr>
          <a:xfrm>
            <a:off x="2600094" y="729058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Shariah List (Local/US)</a:t>
            </a:r>
          </a:p>
        </p:txBody>
      </p:sp>
      <p:sp>
        <p:nvSpPr>
          <p:cNvPr id="1182" name="TextBox 29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183" name="Connector 30"/>
          <p:cNvSpPr/>
          <p:nvPr/>
        </p:nvSpPr>
        <p:spPr>
          <a:xfrm>
            <a:off x="1371600" y="774426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4" name="TextBox 31"/>
          <p:cNvSpPr txBox="1"/>
          <p:nvPr/>
        </p:nvSpPr>
        <p:spPr>
          <a:xfrm>
            <a:off x="1517902" y="783218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71</a:t>
            </a:r>
          </a:p>
        </p:txBody>
      </p:sp>
      <p:sp>
        <p:nvSpPr>
          <p:cNvPr id="1185" name="TextBox 32"/>
          <p:cNvSpPr txBox="1"/>
          <p:nvPr/>
        </p:nvSpPr>
        <p:spPr>
          <a:xfrm>
            <a:off x="2600094" y="783218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Always on Display</a:t>
            </a:r>
          </a:p>
        </p:txBody>
      </p:sp>
      <p:sp>
        <p:nvSpPr>
          <p:cNvPr id="1186" name="TextBox 33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187" name="Connector 34"/>
          <p:cNvSpPr/>
          <p:nvPr/>
        </p:nvSpPr>
        <p:spPr>
          <a:xfrm>
            <a:off x="1371600" y="828587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8" name="TextBox 35"/>
          <p:cNvSpPr txBox="1"/>
          <p:nvPr/>
        </p:nvSpPr>
        <p:spPr>
          <a:xfrm>
            <a:off x="1517902" y="837379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72</a:t>
            </a:r>
          </a:p>
        </p:txBody>
      </p:sp>
      <p:sp>
        <p:nvSpPr>
          <p:cNvPr id="1189" name="TextBox 36"/>
          <p:cNvSpPr txBox="1"/>
          <p:nvPr/>
        </p:nvSpPr>
        <p:spPr>
          <a:xfrm>
            <a:off x="2600094" y="837379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FAQs</a:t>
            </a:r>
          </a:p>
        </p:txBody>
      </p:sp>
      <p:sp>
        <p:nvSpPr>
          <p:cNvPr id="1190" name="TextBox 37"/>
          <p:cNvSpPr txBox="1"/>
          <p:nvPr/>
        </p:nvSpPr>
        <p:spPr>
          <a:xfrm>
            <a:off x="9093250" y="837379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191" name="Connector 38"/>
          <p:cNvSpPr/>
          <p:nvPr/>
        </p:nvSpPr>
        <p:spPr>
          <a:xfrm>
            <a:off x="1371600" y="882747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2" name="TextBox 39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73</a:t>
            </a:r>
          </a:p>
        </p:txBody>
      </p:sp>
      <p:sp>
        <p:nvSpPr>
          <p:cNvPr id="1193" name="TextBox 40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Invite Friends</a:t>
            </a:r>
          </a:p>
        </p:txBody>
      </p:sp>
      <p:sp>
        <p:nvSpPr>
          <p:cNvPr id="1194" name="TextBox 41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195" name="Connector 42"/>
          <p:cNvSpPr/>
          <p:nvPr/>
        </p:nvSpPr>
        <p:spPr>
          <a:xfrm>
            <a:off x="1371600" y="93690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6" name="TextBox 43"/>
          <p:cNvSpPr txBox="1"/>
          <p:nvPr/>
        </p:nvSpPr>
        <p:spPr>
          <a:xfrm>
            <a:off x="1517902" y="945700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74</a:t>
            </a:r>
          </a:p>
        </p:txBody>
      </p:sp>
      <p:sp>
        <p:nvSpPr>
          <p:cNvPr id="1197" name="TextBox 44"/>
          <p:cNvSpPr txBox="1"/>
          <p:nvPr/>
        </p:nvSpPr>
        <p:spPr>
          <a:xfrm>
            <a:off x="2600094" y="945700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Font Size (Small/Regular/Large)</a:t>
            </a:r>
          </a:p>
        </p:txBody>
      </p:sp>
      <p:sp>
        <p:nvSpPr>
          <p:cNvPr id="1198" name="TextBox 45"/>
          <p:cNvSpPr txBox="1"/>
          <p:nvPr/>
        </p:nvSpPr>
        <p:spPr>
          <a:xfrm>
            <a:off x="9093250" y="945700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199" name="Connector 46"/>
          <p:cNvSpPr/>
          <p:nvPr/>
        </p:nvSpPr>
        <p:spPr>
          <a:xfrm>
            <a:off x="1371600" y="99106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0" name="TextBox 47"/>
          <p:cNvSpPr txBox="1"/>
          <p:nvPr/>
        </p:nvSpPr>
        <p:spPr>
          <a:xfrm>
            <a:off x="1517902" y="999861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75</a:t>
            </a:r>
          </a:p>
        </p:txBody>
      </p:sp>
      <p:sp>
        <p:nvSpPr>
          <p:cNvPr id="1201" name="TextBox 48"/>
          <p:cNvSpPr txBox="1"/>
          <p:nvPr/>
        </p:nvSpPr>
        <p:spPr>
          <a:xfrm>
            <a:off x="2600094" y="999861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Face ID</a:t>
            </a:r>
          </a:p>
        </p:txBody>
      </p:sp>
      <p:sp>
        <p:nvSpPr>
          <p:cNvPr id="1202" name="TextBox 49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203" name="Connector 50"/>
          <p:cNvSpPr/>
          <p:nvPr/>
        </p:nvSpPr>
        <p:spPr>
          <a:xfrm>
            <a:off x="1371600" y="1045229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4" name="TextBox 51"/>
          <p:cNvSpPr txBox="1"/>
          <p:nvPr/>
        </p:nvSpPr>
        <p:spPr>
          <a:xfrm>
            <a:off x="1517902" y="1054021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76</a:t>
            </a:r>
          </a:p>
        </p:txBody>
      </p:sp>
      <p:sp>
        <p:nvSpPr>
          <p:cNvPr id="1205" name="TextBox 52"/>
          <p:cNvSpPr txBox="1"/>
          <p:nvPr/>
        </p:nvSpPr>
        <p:spPr>
          <a:xfrm>
            <a:off x="2600094" y="1054021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Global Search</a:t>
            </a:r>
          </a:p>
        </p:txBody>
      </p:sp>
      <p:sp>
        <p:nvSpPr>
          <p:cNvPr id="1206" name="TextBox 53"/>
          <p:cNvSpPr txBox="1"/>
          <p:nvPr/>
        </p:nvSpPr>
        <p:spPr>
          <a:xfrm>
            <a:off x="9093250" y="105402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207" name="Connector 54"/>
          <p:cNvSpPr/>
          <p:nvPr/>
        </p:nvSpPr>
        <p:spPr>
          <a:xfrm>
            <a:off x="1371600" y="1099390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8" name="TextBox 55"/>
          <p:cNvSpPr txBox="1"/>
          <p:nvPr/>
        </p:nvSpPr>
        <p:spPr>
          <a:xfrm>
            <a:off x="1517902" y="1108182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77</a:t>
            </a:r>
          </a:p>
        </p:txBody>
      </p:sp>
      <p:sp>
        <p:nvSpPr>
          <p:cNvPr id="1209" name="TextBox 56"/>
          <p:cNvSpPr txBox="1"/>
          <p:nvPr/>
        </p:nvSpPr>
        <p:spPr>
          <a:xfrm>
            <a:off x="2600094" y="1108182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PopUp notification</a:t>
            </a:r>
          </a:p>
        </p:txBody>
      </p:sp>
      <p:sp>
        <p:nvSpPr>
          <p:cNvPr id="1210" name="TextBox 57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211" name="Connector 58"/>
          <p:cNvSpPr/>
          <p:nvPr/>
        </p:nvSpPr>
        <p:spPr>
          <a:xfrm>
            <a:off x="1371600" y="1153550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2" name="TextBox 59"/>
          <p:cNvSpPr txBox="1"/>
          <p:nvPr/>
        </p:nvSpPr>
        <p:spPr>
          <a:xfrm>
            <a:off x="1517902" y="1162343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78</a:t>
            </a:r>
          </a:p>
        </p:txBody>
      </p:sp>
      <p:sp>
        <p:nvSpPr>
          <p:cNvPr id="1213" name="TextBox 60"/>
          <p:cNvSpPr txBox="1"/>
          <p:nvPr/>
        </p:nvSpPr>
        <p:spPr>
          <a:xfrm>
            <a:off x="2600094" y="1162343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Any to any Transfer</a:t>
            </a:r>
          </a:p>
        </p:txBody>
      </p:sp>
      <p:sp>
        <p:nvSpPr>
          <p:cNvPr id="1214" name="TextBox 61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215" name="Connector 62"/>
          <p:cNvSpPr/>
          <p:nvPr/>
        </p:nvSpPr>
        <p:spPr>
          <a:xfrm>
            <a:off x="1371600" y="1207711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6" name="TextBox 63"/>
          <p:cNvSpPr txBox="1"/>
          <p:nvPr/>
        </p:nvSpPr>
        <p:spPr>
          <a:xfrm>
            <a:off x="1517902" y="1216503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79</a:t>
            </a:r>
          </a:p>
        </p:txBody>
      </p:sp>
      <p:sp>
        <p:nvSpPr>
          <p:cNvPr id="1217" name="TextBox 64"/>
          <p:cNvSpPr txBox="1"/>
          <p:nvPr/>
        </p:nvSpPr>
        <p:spPr>
          <a:xfrm>
            <a:off x="2600094" y="1216503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App Widgets</a:t>
            </a:r>
          </a:p>
        </p:txBody>
      </p:sp>
      <p:sp>
        <p:nvSpPr>
          <p:cNvPr id="1218" name="TextBox 65"/>
          <p:cNvSpPr txBox="1"/>
          <p:nvPr/>
        </p:nvSpPr>
        <p:spPr>
          <a:xfrm>
            <a:off x="9093250" y="1216503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219" name="Connector 66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220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569731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1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027" y="569731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2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629187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3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688643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4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748099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5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807555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6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867011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7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926467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8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985923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9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1045379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0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1104835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1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1164292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2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3519" y="1223748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3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7" y="629187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4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7" y="688643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5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7" y="748099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6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7" y="807555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7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7" y="867011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8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7" y="926467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9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7" y="985923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0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7" y="1045379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1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7" y="1104835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2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7" y="1164292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3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47" y="12237480"/>
            <a:ext cx="292610" cy="2926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TextBox 3"/>
          <p:cNvSpPr txBox="1"/>
          <p:nvPr/>
        </p:nvSpPr>
        <p:spPr>
          <a:xfrm>
            <a:off x="18900646" y="1097280"/>
            <a:ext cx="4114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300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APRIL 2026</a:t>
            </a:r>
          </a:p>
        </p:txBody>
      </p:sp>
      <p:sp>
        <p:nvSpPr>
          <p:cNvPr id="1246" name="Rectangle 4"/>
          <p:cNvSpPr/>
          <p:nvPr/>
        </p:nvSpPr>
        <p:spPr>
          <a:xfrm>
            <a:off x="1371600" y="4114799"/>
            <a:ext cx="1371600" cy="36579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1247" name="TextBox 5"/>
          <p:cNvSpPr txBox="1"/>
          <p:nvPr/>
        </p:nvSpPr>
        <p:spPr>
          <a:xfrm>
            <a:off x="1371600" y="4389120"/>
            <a:ext cx="20116800" cy="1719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Local </a:t>
            </a:r>
            <a:r>
              <a:rPr>
                <a:solidFill>
                  <a:srgbClr val="0333E8"/>
                </a:solidFill>
              </a:rPr>
              <a:t>Market</a:t>
            </a:r>
          </a:p>
        </p:txBody>
      </p:sp>
      <p:sp>
        <p:nvSpPr>
          <p:cNvPr id="1248" name="TextBox 6"/>
          <p:cNvSpPr txBox="1"/>
          <p:nvPr/>
        </p:nvSpPr>
        <p:spPr>
          <a:xfrm>
            <a:off x="1371600" y="7863840"/>
            <a:ext cx="20116800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Retail equity trading on the Saudi Exchange</a:t>
            </a:r>
          </a:p>
        </p:txBody>
      </p:sp>
      <p:sp>
        <p:nvSpPr>
          <p:cNvPr id="1249" name="TextBox 7"/>
          <p:cNvSpPr txBox="1"/>
          <p:nvPr/>
        </p:nvSpPr>
        <p:spPr>
          <a:xfrm>
            <a:off x="1371600" y="9143999"/>
            <a:ext cx="20116800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 LIVE STATUS  ·  JIRA COVERAGE</a:t>
            </a:r>
          </a:p>
        </p:txBody>
      </p:sp>
      <p:sp>
        <p:nvSpPr>
          <p:cNvPr id="1250" name="TextBox 8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018 / 111</a:t>
            </a:r>
          </a:p>
        </p:txBody>
      </p:sp>
      <p:pic>
        <p:nvPicPr>
          <p:cNvPr id="125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2200" cy="8220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1254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019 / 113</a:t>
            </a:r>
          </a:p>
        </p:txBody>
      </p:sp>
      <p:sp>
        <p:nvSpPr>
          <p:cNvPr id="1255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SECTION SUMMARY</a:t>
            </a:r>
          </a:p>
        </p:txBody>
      </p:sp>
      <p:sp>
        <p:nvSpPr>
          <p:cNvPr id="1256" name="TextBox 4"/>
          <p:cNvSpPr txBox="1"/>
          <p:nvPr/>
        </p:nvSpPr>
        <p:spPr>
          <a:xfrm>
            <a:off x="1371600" y="2834638"/>
            <a:ext cx="20116800" cy="769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4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236 capabilities assessed. 149 already live.</a:t>
            </a:r>
          </a:p>
        </p:txBody>
      </p:sp>
      <p:sp>
        <p:nvSpPr>
          <p:cNvPr id="1257" name="TextBox 5"/>
          <p:cNvSpPr txBox="1"/>
          <p:nvPr/>
        </p:nvSpPr>
        <p:spPr>
          <a:xfrm>
            <a:off x="1371600" y="5760720"/>
            <a:ext cx="6400800" cy="3200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8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236</a:t>
            </a:r>
          </a:p>
        </p:txBody>
      </p:sp>
      <p:sp>
        <p:nvSpPr>
          <p:cNvPr id="1258" name="TextBox 6"/>
          <p:cNvSpPr txBox="1"/>
          <p:nvPr/>
        </p:nvSpPr>
        <p:spPr>
          <a:xfrm>
            <a:off x="1371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TOTAL CAPABILITIES</a:t>
            </a:r>
          </a:p>
        </p:txBody>
      </p:sp>
      <p:sp>
        <p:nvSpPr>
          <p:cNvPr id="1259" name="Rectangle 7"/>
          <p:cNvSpPr/>
          <p:nvPr/>
        </p:nvSpPr>
        <p:spPr>
          <a:xfrm>
            <a:off x="1371600" y="9098280"/>
            <a:ext cx="1371600" cy="36578"/>
          </a:xfrm>
          <a:prstGeom prst="rect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1260" name="TextBox 8"/>
          <p:cNvSpPr txBox="1"/>
          <p:nvPr/>
        </p:nvSpPr>
        <p:spPr>
          <a:xfrm>
            <a:off x="8229600" y="5760720"/>
            <a:ext cx="6400800" cy="3200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8000">
                <a:solidFill>
                  <a:srgbClr val="059669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149</a:t>
            </a:r>
          </a:p>
        </p:txBody>
      </p:sp>
      <p:sp>
        <p:nvSpPr>
          <p:cNvPr id="1261" name="TextBox 9"/>
          <p:cNvSpPr txBox="1"/>
          <p:nvPr/>
        </p:nvSpPr>
        <p:spPr>
          <a:xfrm>
            <a:off x="8229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LIVE ON APP   (63% OF 236)</a:t>
            </a:r>
          </a:p>
        </p:txBody>
      </p:sp>
      <p:sp>
        <p:nvSpPr>
          <p:cNvPr id="1262" name="Rectangle 10"/>
          <p:cNvSpPr/>
          <p:nvPr/>
        </p:nvSpPr>
        <p:spPr>
          <a:xfrm>
            <a:off x="8229600" y="9098280"/>
            <a:ext cx="1371600" cy="36578"/>
          </a:xfrm>
          <a:prstGeom prst="rect">
            <a:avLst/>
          </a:prstGeom>
          <a:solidFill>
            <a:srgbClr val="05966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1263" name="TextBox 11"/>
          <p:cNvSpPr txBox="1"/>
          <p:nvPr/>
        </p:nvSpPr>
        <p:spPr>
          <a:xfrm>
            <a:off x="15087600" y="5760720"/>
            <a:ext cx="6400800" cy="3200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8000">
                <a:solidFill>
                  <a:srgbClr val="0333E8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23</a:t>
            </a:r>
          </a:p>
        </p:txBody>
      </p:sp>
      <p:sp>
        <p:nvSpPr>
          <p:cNvPr id="1264" name="TextBox 12"/>
          <p:cNvSpPr txBox="1"/>
          <p:nvPr/>
        </p:nvSpPr>
        <p:spPr>
          <a:xfrm>
            <a:off x="15087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TRACKED IN JIRA   (9% OF 236)</a:t>
            </a:r>
          </a:p>
        </p:txBody>
      </p:sp>
      <p:sp>
        <p:nvSpPr>
          <p:cNvPr id="1265" name="Rectangle 13"/>
          <p:cNvSpPr/>
          <p:nvPr/>
        </p:nvSpPr>
        <p:spPr>
          <a:xfrm>
            <a:off x="15087600" y="9098280"/>
            <a:ext cx="1371600" cy="36578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1266" name="Connector 14"/>
          <p:cNvSpPr/>
          <p:nvPr/>
        </p:nvSpPr>
        <p:spPr>
          <a:xfrm>
            <a:off x="1371600" y="10789918"/>
            <a:ext cx="21643849" cy="2"/>
          </a:xfrm>
          <a:prstGeom prst="line">
            <a:avLst/>
          </a:prstGeom>
          <a:ln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7" name="TextBox 15"/>
          <p:cNvSpPr txBox="1"/>
          <p:nvPr/>
        </p:nvSpPr>
        <p:spPr>
          <a:xfrm>
            <a:off x="1371600" y="11109959"/>
            <a:ext cx="1828800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TWO HEADLINES</a:t>
            </a:r>
          </a:p>
        </p:txBody>
      </p:sp>
      <p:sp>
        <p:nvSpPr>
          <p:cNvPr id="1268" name="TextBox 16"/>
          <p:cNvSpPr txBox="1"/>
          <p:nvPr/>
        </p:nvSpPr>
        <p:spPr>
          <a:xfrm>
            <a:off x="1371600" y="11612880"/>
            <a:ext cx="10058400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80 gaps stand between today and full app parity.</a:t>
            </a:r>
          </a:p>
        </p:txBody>
      </p:sp>
      <p:sp>
        <p:nvSpPr>
          <p:cNvPr id="1269" name="TextBox 17"/>
          <p:cNvSpPr txBox="1"/>
          <p:nvPr/>
        </p:nvSpPr>
        <p:spPr>
          <a:xfrm>
            <a:off x="11978640" y="11612880"/>
            <a:ext cx="10058402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Only 9% of capabilities are linked to a Jira ticket.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Rectangle 6"/>
          <p:cNvSpPr/>
          <p:nvPr/>
        </p:nvSpPr>
        <p:spPr>
          <a:xfrm>
            <a:off x="117674" y="14407852"/>
            <a:ext cx="4450085" cy="50800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272" name="Picture 373" descr="Picture 37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1273" name="TextBox 374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020 / 111</a:t>
            </a:r>
          </a:p>
        </p:txBody>
      </p:sp>
      <p:sp>
        <p:nvSpPr>
          <p:cNvPr id="1274" name="TextBox 375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</a:t>
            </a:r>
          </a:p>
        </p:txBody>
      </p:sp>
      <p:sp>
        <p:nvSpPr>
          <p:cNvPr id="1275" name="TextBox 376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Sitemap</a:t>
            </a:r>
          </a:p>
        </p:txBody>
      </p:sp>
      <p:sp>
        <p:nvSpPr>
          <p:cNvPr id="1276" name="Connector 377"/>
          <p:cNvSpPr/>
          <p:nvPr/>
        </p:nvSpPr>
        <p:spPr>
          <a:xfrm flipV="1">
            <a:off x="2926079" y="8415911"/>
            <a:ext cx="227235" cy="8801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7" name="Connector 378"/>
          <p:cNvSpPr/>
          <p:nvPr/>
        </p:nvSpPr>
        <p:spPr>
          <a:xfrm flipV="1">
            <a:off x="3153312" y="8275718"/>
            <a:ext cx="213438" cy="14019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8" name="Connector 379"/>
          <p:cNvSpPr/>
          <p:nvPr/>
        </p:nvSpPr>
        <p:spPr>
          <a:xfrm flipV="1">
            <a:off x="3366749" y="8092739"/>
            <a:ext cx="202643" cy="182982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9" name="Connector 380"/>
          <p:cNvSpPr/>
          <p:nvPr/>
        </p:nvSpPr>
        <p:spPr>
          <a:xfrm flipV="1">
            <a:off x="3569391" y="7876368"/>
            <a:ext cx="194845" cy="216372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0" name="Connector 381"/>
          <p:cNvSpPr/>
          <p:nvPr/>
        </p:nvSpPr>
        <p:spPr>
          <a:xfrm flipV="1">
            <a:off x="3764234" y="7636006"/>
            <a:ext cx="190047" cy="24036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1" name="Connector 382"/>
          <p:cNvSpPr/>
          <p:nvPr/>
        </p:nvSpPr>
        <p:spPr>
          <a:xfrm flipV="1">
            <a:off x="3954279" y="7381047"/>
            <a:ext cx="188247" cy="25496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2" name="Connector 383"/>
          <p:cNvSpPr/>
          <p:nvPr/>
        </p:nvSpPr>
        <p:spPr>
          <a:xfrm flipV="1">
            <a:off x="4142525" y="7120891"/>
            <a:ext cx="189447" cy="260157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3" name="Connector 384"/>
          <p:cNvSpPr/>
          <p:nvPr/>
        </p:nvSpPr>
        <p:spPr>
          <a:xfrm flipV="1">
            <a:off x="4331968" y="6864933"/>
            <a:ext cx="193645" cy="255959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4" name="Connector 385"/>
          <p:cNvSpPr/>
          <p:nvPr/>
        </p:nvSpPr>
        <p:spPr>
          <a:xfrm flipV="1">
            <a:off x="4525612" y="6622567"/>
            <a:ext cx="200843" cy="24236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5" name="Connector 386"/>
          <p:cNvSpPr/>
          <p:nvPr/>
        </p:nvSpPr>
        <p:spPr>
          <a:xfrm flipV="1">
            <a:off x="4726454" y="6403200"/>
            <a:ext cx="211041" cy="21937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6" name="Connector 387"/>
          <p:cNvSpPr/>
          <p:nvPr/>
        </p:nvSpPr>
        <p:spPr>
          <a:xfrm flipV="1">
            <a:off x="4937492" y="6216220"/>
            <a:ext cx="224237" cy="18698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7" name="Connector 388"/>
          <p:cNvSpPr/>
          <p:nvPr/>
        </p:nvSpPr>
        <p:spPr>
          <a:xfrm flipV="1">
            <a:off x="5161727" y="6071029"/>
            <a:ext cx="240431" cy="145193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8" name="Connector 389"/>
          <p:cNvSpPr/>
          <p:nvPr/>
        </p:nvSpPr>
        <p:spPr>
          <a:xfrm flipV="1">
            <a:off x="5402157" y="5977023"/>
            <a:ext cx="259626" cy="94008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9" name="Connector 390"/>
          <p:cNvSpPr/>
          <p:nvPr/>
        </p:nvSpPr>
        <p:spPr>
          <a:xfrm flipV="1">
            <a:off x="5661781" y="5943598"/>
            <a:ext cx="281820" cy="3342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0" name="Connector 391"/>
          <p:cNvSpPr/>
          <p:nvPr/>
        </p:nvSpPr>
        <p:spPr>
          <a:xfrm>
            <a:off x="5943600" y="5943600"/>
            <a:ext cx="12344401" cy="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1" name="Connector 392"/>
          <p:cNvSpPr/>
          <p:nvPr/>
        </p:nvSpPr>
        <p:spPr>
          <a:xfrm>
            <a:off x="2926078" y="8503918"/>
            <a:ext cx="227235" cy="86676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2" name="Connector 393"/>
          <p:cNvSpPr/>
          <p:nvPr/>
        </p:nvSpPr>
        <p:spPr>
          <a:xfrm>
            <a:off x="3153311" y="8590594"/>
            <a:ext cx="213440" cy="136462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3" name="Connector 394"/>
          <p:cNvSpPr/>
          <p:nvPr/>
        </p:nvSpPr>
        <p:spPr>
          <a:xfrm>
            <a:off x="3366751" y="8727054"/>
            <a:ext cx="202643" cy="17725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4" name="Connector 395"/>
          <p:cNvSpPr/>
          <p:nvPr/>
        </p:nvSpPr>
        <p:spPr>
          <a:xfrm>
            <a:off x="3569391" y="8904302"/>
            <a:ext cx="194845" cy="20904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5" name="Connector 396"/>
          <p:cNvSpPr/>
          <p:nvPr/>
        </p:nvSpPr>
        <p:spPr>
          <a:xfrm>
            <a:off x="3764234" y="9113342"/>
            <a:ext cx="190047" cy="23183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6" name="Connector 397"/>
          <p:cNvSpPr/>
          <p:nvPr/>
        </p:nvSpPr>
        <p:spPr>
          <a:xfrm>
            <a:off x="3954279" y="9345172"/>
            <a:ext cx="188247" cy="24563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7" name="Connector 398"/>
          <p:cNvSpPr/>
          <p:nvPr/>
        </p:nvSpPr>
        <p:spPr>
          <a:xfrm>
            <a:off x="4142525" y="9590802"/>
            <a:ext cx="189447" cy="250429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8" name="Connector 399"/>
          <p:cNvSpPr/>
          <p:nvPr/>
        </p:nvSpPr>
        <p:spPr>
          <a:xfrm>
            <a:off x="4331970" y="9841230"/>
            <a:ext cx="193645" cy="24623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9" name="Connector 400"/>
          <p:cNvSpPr/>
          <p:nvPr/>
        </p:nvSpPr>
        <p:spPr>
          <a:xfrm>
            <a:off x="4525612" y="10087457"/>
            <a:ext cx="200843" cy="23303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0" name="Connector 401"/>
          <p:cNvSpPr/>
          <p:nvPr/>
        </p:nvSpPr>
        <p:spPr>
          <a:xfrm>
            <a:off x="4726454" y="10320490"/>
            <a:ext cx="211041" cy="21084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1" name="Connector 402"/>
          <p:cNvSpPr/>
          <p:nvPr/>
        </p:nvSpPr>
        <p:spPr>
          <a:xfrm>
            <a:off x="4937492" y="10531326"/>
            <a:ext cx="224237" cy="17965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2" name="Connector 403"/>
          <p:cNvSpPr/>
          <p:nvPr/>
        </p:nvSpPr>
        <p:spPr>
          <a:xfrm>
            <a:off x="5161727" y="10710975"/>
            <a:ext cx="240431" cy="13946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3" name="Connector 404"/>
          <p:cNvSpPr/>
          <p:nvPr/>
        </p:nvSpPr>
        <p:spPr>
          <a:xfrm>
            <a:off x="5402155" y="10850435"/>
            <a:ext cx="259626" cy="90276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4" name="Connector 405"/>
          <p:cNvSpPr/>
          <p:nvPr/>
        </p:nvSpPr>
        <p:spPr>
          <a:xfrm>
            <a:off x="5661781" y="10940708"/>
            <a:ext cx="281820" cy="3209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5" name="Connector 406"/>
          <p:cNvSpPr/>
          <p:nvPr/>
        </p:nvSpPr>
        <p:spPr>
          <a:xfrm>
            <a:off x="5943600" y="10972800"/>
            <a:ext cx="12344401" cy="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6" name="Oval 407"/>
          <p:cNvSpPr/>
          <p:nvPr/>
        </p:nvSpPr>
        <p:spPr>
          <a:xfrm>
            <a:off x="2148838" y="7726680"/>
            <a:ext cx="1554484" cy="1554483"/>
          </a:xfrm>
          <a:prstGeom prst="ellipse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1307" name="Oval 408"/>
          <p:cNvSpPr/>
          <p:nvPr/>
        </p:nvSpPr>
        <p:spPr>
          <a:xfrm>
            <a:off x="2286000" y="7863840"/>
            <a:ext cx="1280162" cy="1280163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1308" name="TextBox 409"/>
          <p:cNvSpPr txBox="1"/>
          <p:nvPr/>
        </p:nvSpPr>
        <p:spPr>
          <a:xfrm>
            <a:off x="640079" y="9281159"/>
            <a:ext cx="4572003" cy="248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HOME</a:t>
            </a:r>
          </a:p>
        </p:txBody>
      </p:sp>
      <p:sp>
        <p:nvSpPr>
          <p:cNvPr id="1309" name="TextBox 410"/>
          <p:cNvSpPr txBox="1"/>
          <p:nvPr/>
        </p:nvSpPr>
        <p:spPr>
          <a:xfrm>
            <a:off x="640079" y="9646918"/>
            <a:ext cx="4572003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ROOT  ·  INTERCHANGE</a:t>
            </a:r>
          </a:p>
        </p:txBody>
      </p:sp>
      <p:sp>
        <p:nvSpPr>
          <p:cNvPr id="1310" name="Oval 411"/>
          <p:cNvSpPr/>
          <p:nvPr/>
        </p:nvSpPr>
        <p:spPr>
          <a:xfrm>
            <a:off x="5646420" y="5646420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1311" name="TextBox 412"/>
          <p:cNvSpPr txBox="1"/>
          <p:nvPr/>
        </p:nvSpPr>
        <p:spPr>
          <a:xfrm>
            <a:off x="36576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312" name="TextBox 413"/>
          <p:cNvSpPr txBox="1"/>
          <p:nvPr/>
        </p:nvSpPr>
        <p:spPr>
          <a:xfrm>
            <a:off x="3657600" y="521207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Saudi Market</a:t>
            </a:r>
          </a:p>
        </p:txBody>
      </p:sp>
      <p:sp>
        <p:nvSpPr>
          <p:cNvPr id="1313" name="Oval 414"/>
          <p:cNvSpPr/>
          <p:nvPr/>
        </p:nvSpPr>
        <p:spPr>
          <a:xfrm>
            <a:off x="9761218" y="5646420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1314" name="TextBox 415"/>
          <p:cNvSpPr txBox="1"/>
          <p:nvPr/>
        </p:nvSpPr>
        <p:spPr>
          <a:xfrm>
            <a:off x="77724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315" name="TextBox 416"/>
          <p:cNvSpPr txBox="1"/>
          <p:nvPr/>
        </p:nvSpPr>
        <p:spPr>
          <a:xfrm>
            <a:off x="7772400" y="521207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Index / Stock</a:t>
            </a:r>
          </a:p>
        </p:txBody>
      </p:sp>
      <p:sp>
        <p:nvSpPr>
          <p:cNvPr id="1316" name="Oval 417"/>
          <p:cNvSpPr/>
          <p:nvPr/>
        </p:nvSpPr>
        <p:spPr>
          <a:xfrm>
            <a:off x="13876019" y="5646420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1317" name="TextBox 418"/>
          <p:cNvSpPr txBox="1"/>
          <p:nvPr/>
        </p:nvSpPr>
        <p:spPr>
          <a:xfrm>
            <a:off x="118872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318" name="TextBox 419"/>
          <p:cNvSpPr txBox="1"/>
          <p:nvPr/>
        </p:nvSpPr>
        <p:spPr>
          <a:xfrm>
            <a:off x="11887200" y="521207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Stock Details</a:t>
            </a:r>
          </a:p>
        </p:txBody>
      </p:sp>
      <p:sp>
        <p:nvSpPr>
          <p:cNvPr id="1319" name="Oval 420"/>
          <p:cNvSpPr/>
          <p:nvPr/>
        </p:nvSpPr>
        <p:spPr>
          <a:xfrm>
            <a:off x="17990819" y="5646420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1320" name="TextBox 421"/>
          <p:cNvSpPr txBox="1"/>
          <p:nvPr/>
        </p:nvSpPr>
        <p:spPr>
          <a:xfrm>
            <a:off x="160020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321" name="TextBox 422"/>
          <p:cNvSpPr txBox="1"/>
          <p:nvPr/>
        </p:nvSpPr>
        <p:spPr>
          <a:xfrm>
            <a:off x="16002000" y="521207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Trade</a:t>
            </a:r>
          </a:p>
        </p:txBody>
      </p:sp>
      <p:sp>
        <p:nvSpPr>
          <p:cNvPr id="1322" name="Oval 423"/>
          <p:cNvSpPr/>
          <p:nvPr/>
        </p:nvSpPr>
        <p:spPr>
          <a:xfrm>
            <a:off x="5646420" y="10675618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1323" name="TextBox 424"/>
          <p:cNvSpPr txBox="1"/>
          <p:nvPr/>
        </p:nvSpPr>
        <p:spPr>
          <a:xfrm>
            <a:off x="3657600" y="11475718"/>
            <a:ext cx="4572000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324" name="TextBox 425"/>
          <p:cNvSpPr txBox="1"/>
          <p:nvPr/>
        </p:nvSpPr>
        <p:spPr>
          <a:xfrm>
            <a:off x="3657600" y="1179575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Portfolios</a:t>
            </a:r>
          </a:p>
        </p:txBody>
      </p:sp>
      <p:sp>
        <p:nvSpPr>
          <p:cNvPr id="1325" name="Oval 426"/>
          <p:cNvSpPr/>
          <p:nvPr/>
        </p:nvSpPr>
        <p:spPr>
          <a:xfrm>
            <a:off x="11818618" y="10675618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1326" name="TextBox 427"/>
          <p:cNvSpPr txBox="1"/>
          <p:nvPr/>
        </p:nvSpPr>
        <p:spPr>
          <a:xfrm>
            <a:off x="9829800" y="11475718"/>
            <a:ext cx="4572000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327" name="TextBox 428"/>
          <p:cNvSpPr txBox="1"/>
          <p:nvPr/>
        </p:nvSpPr>
        <p:spPr>
          <a:xfrm>
            <a:off x="9829800" y="1179575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Saudi Portfolios</a:t>
            </a:r>
          </a:p>
        </p:txBody>
      </p:sp>
      <p:sp>
        <p:nvSpPr>
          <p:cNvPr id="1328" name="Oval 429"/>
          <p:cNvSpPr/>
          <p:nvPr/>
        </p:nvSpPr>
        <p:spPr>
          <a:xfrm>
            <a:off x="17990819" y="10675618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1329" name="TextBox 430"/>
          <p:cNvSpPr txBox="1"/>
          <p:nvPr/>
        </p:nvSpPr>
        <p:spPr>
          <a:xfrm>
            <a:off x="16002000" y="11475718"/>
            <a:ext cx="4572000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330" name="TextBox 431"/>
          <p:cNvSpPr txBox="1"/>
          <p:nvPr/>
        </p:nvSpPr>
        <p:spPr>
          <a:xfrm>
            <a:off x="16002000" y="1179575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View / Trade</a:t>
            </a:r>
          </a:p>
        </p:txBody>
      </p:sp>
      <p:sp>
        <p:nvSpPr>
          <p:cNvPr id="1331" name="Rounded Rectangle 432"/>
          <p:cNvSpPr/>
          <p:nvPr/>
        </p:nvSpPr>
        <p:spPr>
          <a:xfrm>
            <a:off x="19659600" y="4389120"/>
            <a:ext cx="3474721" cy="146304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1332" name="Connector 433"/>
          <p:cNvSpPr/>
          <p:nvPr/>
        </p:nvSpPr>
        <p:spPr>
          <a:xfrm>
            <a:off x="19933919" y="4800600"/>
            <a:ext cx="640082" cy="0"/>
          </a:xfrm>
          <a:prstGeom prst="line">
            <a:avLst/>
          </a:prstGeom>
          <a:ln w="889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3" name="TextBox 434"/>
          <p:cNvSpPr txBox="1"/>
          <p:nvPr/>
        </p:nvSpPr>
        <p:spPr>
          <a:xfrm>
            <a:off x="20756880" y="4663440"/>
            <a:ext cx="274320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PRIMARY LINE</a:t>
            </a:r>
          </a:p>
        </p:txBody>
      </p:sp>
      <p:sp>
        <p:nvSpPr>
          <p:cNvPr id="1334" name="Connector 435"/>
          <p:cNvSpPr/>
          <p:nvPr/>
        </p:nvSpPr>
        <p:spPr>
          <a:xfrm>
            <a:off x="19933919" y="5486400"/>
            <a:ext cx="640082" cy="0"/>
          </a:xfrm>
          <a:prstGeom prst="line">
            <a:avLst/>
          </a:prstGeom>
          <a:ln w="889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5" name="TextBox 436"/>
          <p:cNvSpPr txBox="1"/>
          <p:nvPr/>
        </p:nvSpPr>
        <p:spPr>
          <a:xfrm>
            <a:off x="20756880" y="5349240"/>
            <a:ext cx="274320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PORTFOLIO 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1338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021 / 111</a:t>
            </a:r>
          </a:p>
        </p:txBody>
      </p:sp>
      <p:sp>
        <p:nvSpPr>
          <p:cNvPr id="1339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1340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Portfolio Identity &amp; Structure</a:t>
            </a:r>
          </a:p>
        </p:txBody>
      </p:sp>
      <p:sp>
        <p:nvSpPr>
          <p:cNvPr id="1341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1342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1343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1344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1345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1346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1347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1348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349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0" name="TextBox 14"/>
          <p:cNvSpPr txBox="1"/>
          <p:nvPr/>
        </p:nvSpPr>
        <p:spPr>
          <a:xfrm>
            <a:off x="1517902" y="5614415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351" name="TextBox 15"/>
          <p:cNvSpPr txBox="1"/>
          <p:nvPr/>
        </p:nvSpPr>
        <p:spPr>
          <a:xfrm>
            <a:off x="2600094" y="5614415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name/number display</a:t>
            </a:r>
          </a:p>
        </p:txBody>
      </p:sp>
      <p:sp>
        <p:nvSpPr>
          <p:cNvPr id="1352" name="TextBox 16"/>
          <p:cNvSpPr txBox="1"/>
          <p:nvPr/>
        </p:nvSpPr>
        <p:spPr>
          <a:xfrm>
            <a:off x="9093250" y="5614415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353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099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4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099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355" name="Connector 19"/>
          <p:cNvSpPr/>
          <p:nvPr/>
        </p:nvSpPr>
        <p:spPr>
          <a:xfrm>
            <a:off x="1371600" y="60167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6" name="TextBox 20"/>
          <p:cNvSpPr txBox="1"/>
          <p:nvPr/>
        </p:nvSpPr>
        <p:spPr>
          <a:xfrm>
            <a:off x="1517902" y="605332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357" name="TextBox 21"/>
          <p:cNvSpPr txBox="1"/>
          <p:nvPr/>
        </p:nvSpPr>
        <p:spPr>
          <a:xfrm>
            <a:off x="2600094" y="6053328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identity visibility (Local Portfolio)</a:t>
            </a:r>
          </a:p>
        </p:txBody>
      </p:sp>
      <p:sp>
        <p:nvSpPr>
          <p:cNvPr id="1358" name="TextBox 22"/>
          <p:cNvSpPr txBox="1"/>
          <p:nvPr/>
        </p:nvSpPr>
        <p:spPr>
          <a:xfrm>
            <a:off x="9093250" y="605332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359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8990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0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8990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361" name="Connector 25"/>
          <p:cNvSpPr/>
          <p:nvPr/>
        </p:nvSpPr>
        <p:spPr>
          <a:xfrm>
            <a:off x="1371600" y="6455664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2" name="TextBox 26"/>
          <p:cNvSpPr txBox="1"/>
          <p:nvPr/>
        </p:nvSpPr>
        <p:spPr>
          <a:xfrm>
            <a:off x="1517902" y="64922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363" name="TextBox 27"/>
          <p:cNvSpPr txBox="1"/>
          <p:nvPr/>
        </p:nvSpPr>
        <p:spPr>
          <a:xfrm>
            <a:off x="2600094" y="64922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balance visibility</a:t>
            </a:r>
          </a:p>
        </p:txBody>
      </p:sp>
      <p:sp>
        <p:nvSpPr>
          <p:cNvPr id="1364" name="TextBox 28"/>
          <p:cNvSpPr txBox="1"/>
          <p:nvPr/>
        </p:nvSpPr>
        <p:spPr>
          <a:xfrm>
            <a:off x="9093250" y="6492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365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52881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6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52881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367" name="Connector 31"/>
          <p:cNvSpPr/>
          <p:nvPr/>
        </p:nvSpPr>
        <p:spPr>
          <a:xfrm>
            <a:off x="1371600" y="689457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8" name="TextBox 32"/>
          <p:cNvSpPr txBox="1"/>
          <p:nvPr/>
        </p:nvSpPr>
        <p:spPr>
          <a:xfrm>
            <a:off x="1517902" y="693115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369" name="TextBox 33"/>
          <p:cNvSpPr txBox="1"/>
          <p:nvPr/>
        </p:nvSpPr>
        <p:spPr>
          <a:xfrm>
            <a:off x="2600094" y="693115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number / ID</a:t>
            </a:r>
          </a:p>
        </p:txBody>
      </p:sp>
      <p:sp>
        <p:nvSpPr>
          <p:cNvPr id="1370" name="TextBox 34"/>
          <p:cNvSpPr txBox="1"/>
          <p:nvPr/>
        </p:nvSpPr>
        <p:spPr>
          <a:xfrm>
            <a:off x="9093250" y="69311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371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96772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2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96772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373" name="Connector 37"/>
          <p:cNvSpPr/>
          <p:nvPr/>
        </p:nvSpPr>
        <p:spPr>
          <a:xfrm>
            <a:off x="1371600" y="73334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4" name="TextBox 38"/>
          <p:cNvSpPr txBox="1"/>
          <p:nvPr/>
        </p:nvSpPr>
        <p:spPr>
          <a:xfrm>
            <a:off x="1517902" y="737006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375" name="TextBox 39"/>
          <p:cNvSpPr txBox="1"/>
          <p:nvPr/>
        </p:nvSpPr>
        <p:spPr>
          <a:xfrm>
            <a:off x="2600094" y="737006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metadata view</a:t>
            </a:r>
          </a:p>
        </p:txBody>
      </p:sp>
      <p:sp>
        <p:nvSpPr>
          <p:cNvPr id="1376" name="TextBox 40"/>
          <p:cNvSpPr txBox="1"/>
          <p:nvPr/>
        </p:nvSpPr>
        <p:spPr>
          <a:xfrm>
            <a:off x="9093250" y="737006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377" name="Picture 41" descr="Picture 4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740664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8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740664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379" name="TextBox 43"/>
          <p:cNvSpPr txBox="1"/>
          <p:nvPr/>
        </p:nvSpPr>
        <p:spPr>
          <a:xfrm>
            <a:off x="14504212" y="7370064"/>
            <a:ext cx="4036163" cy="380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Full portfolio profile (strategy / goal / risk profile / creation date)</a:t>
            </a:r>
          </a:p>
        </p:txBody>
      </p:sp>
      <p:sp>
        <p:nvSpPr>
          <p:cNvPr id="1380" name="Connector 44"/>
          <p:cNvSpPr/>
          <p:nvPr/>
        </p:nvSpPr>
        <p:spPr>
          <a:xfrm>
            <a:off x="1371600" y="77724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1" name="TextBox 45"/>
          <p:cNvSpPr txBox="1"/>
          <p:nvPr/>
        </p:nvSpPr>
        <p:spPr>
          <a:xfrm>
            <a:off x="1517902" y="780897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382" name="TextBox 46"/>
          <p:cNvSpPr txBox="1"/>
          <p:nvPr/>
        </p:nvSpPr>
        <p:spPr>
          <a:xfrm>
            <a:off x="2600094" y="780897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Rename portfolio</a:t>
            </a:r>
          </a:p>
        </p:txBody>
      </p:sp>
      <p:sp>
        <p:nvSpPr>
          <p:cNvPr id="1383" name="TextBox 47"/>
          <p:cNvSpPr txBox="1"/>
          <p:nvPr/>
        </p:nvSpPr>
        <p:spPr>
          <a:xfrm>
            <a:off x="9093250" y="78089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384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4555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5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45552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386" name="Connector 50"/>
          <p:cNvSpPr/>
          <p:nvPr/>
        </p:nvSpPr>
        <p:spPr>
          <a:xfrm>
            <a:off x="1371600" y="821131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7" name="TextBox 51"/>
          <p:cNvSpPr txBox="1"/>
          <p:nvPr/>
        </p:nvSpPr>
        <p:spPr>
          <a:xfrm>
            <a:off x="1517902" y="824788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388" name="TextBox 52"/>
          <p:cNvSpPr txBox="1"/>
          <p:nvPr/>
        </p:nvSpPr>
        <p:spPr>
          <a:xfrm>
            <a:off x="2600094" y="8247888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Create portfolio instant (5 min)</a:t>
            </a:r>
          </a:p>
        </p:txBody>
      </p:sp>
      <p:sp>
        <p:nvSpPr>
          <p:cNvPr id="1389" name="TextBox 53"/>
          <p:cNvSpPr txBox="1"/>
          <p:nvPr/>
        </p:nvSpPr>
        <p:spPr>
          <a:xfrm>
            <a:off x="9093250" y="824788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390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28446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1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28446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392" name="Connector 56"/>
          <p:cNvSpPr/>
          <p:nvPr/>
        </p:nvSpPr>
        <p:spPr>
          <a:xfrm>
            <a:off x="1371600" y="865022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3" name="TextBox 57"/>
          <p:cNvSpPr txBox="1"/>
          <p:nvPr/>
        </p:nvSpPr>
        <p:spPr>
          <a:xfrm>
            <a:off x="1517902" y="86868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394" name="TextBox 58"/>
          <p:cNvSpPr txBox="1"/>
          <p:nvPr/>
        </p:nvSpPr>
        <p:spPr>
          <a:xfrm>
            <a:off x="2600094" y="86868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Multiple portfolios  (up to 5 portfolios)</a:t>
            </a:r>
          </a:p>
        </p:txBody>
      </p:sp>
      <p:sp>
        <p:nvSpPr>
          <p:cNvPr id="1395" name="TextBox 59"/>
          <p:cNvSpPr txBox="1"/>
          <p:nvPr/>
        </p:nvSpPr>
        <p:spPr>
          <a:xfrm>
            <a:off x="9093250" y="86867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396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7233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7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7233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398" name="Connector 62"/>
          <p:cNvSpPr/>
          <p:nvPr/>
        </p:nvSpPr>
        <p:spPr>
          <a:xfrm>
            <a:off x="1371600" y="908913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9" name="TextBox 63"/>
          <p:cNvSpPr txBox="1"/>
          <p:nvPr/>
        </p:nvSpPr>
        <p:spPr>
          <a:xfrm>
            <a:off x="1517902" y="912571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400" name="TextBox 64"/>
          <p:cNvSpPr txBox="1"/>
          <p:nvPr/>
        </p:nvSpPr>
        <p:spPr>
          <a:xfrm>
            <a:off x="2600094" y="912571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Trade on the portfolio</a:t>
            </a:r>
          </a:p>
        </p:txBody>
      </p:sp>
      <p:sp>
        <p:nvSpPr>
          <p:cNvPr id="1401" name="TextBox 65"/>
          <p:cNvSpPr txBox="1"/>
          <p:nvPr/>
        </p:nvSpPr>
        <p:spPr>
          <a:xfrm>
            <a:off x="9093250" y="912571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402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16228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3" name="Picture 67" descr="Picture 6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16228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404" name="Connector 68"/>
          <p:cNvSpPr/>
          <p:nvPr/>
        </p:nvSpPr>
        <p:spPr>
          <a:xfrm>
            <a:off x="1371600" y="9528047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5" name="TextBox 69"/>
          <p:cNvSpPr txBox="1"/>
          <p:nvPr/>
        </p:nvSpPr>
        <p:spPr>
          <a:xfrm>
            <a:off x="1517902" y="956462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406" name="TextBox 70"/>
          <p:cNvSpPr txBox="1"/>
          <p:nvPr/>
        </p:nvSpPr>
        <p:spPr>
          <a:xfrm>
            <a:off x="2600094" y="956462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transfer/withdraw</a:t>
            </a:r>
          </a:p>
        </p:txBody>
      </p:sp>
      <p:sp>
        <p:nvSpPr>
          <p:cNvPr id="1407" name="TextBox 71"/>
          <p:cNvSpPr txBox="1"/>
          <p:nvPr/>
        </p:nvSpPr>
        <p:spPr>
          <a:xfrm>
            <a:off x="9093250" y="956462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408" name="Picture 72" descr="Picture 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60120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9" name="Picture 73" descr="Picture 7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60120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410" name="Connector 74"/>
          <p:cNvSpPr/>
          <p:nvPr/>
        </p:nvSpPr>
        <p:spPr>
          <a:xfrm>
            <a:off x="1371600" y="99669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1" name="TextBox 75"/>
          <p:cNvSpPr txBox="1"/>
          <p:nvPr/>
        </p:nvSpPr>
        <p:spPr>
          <a:xfrm>
            <a:off x="1517902" y="10003535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412" name="TextBox 76"/>
          <p:cNvSpPr txBox="1"/>
          <p:nvPr/>
        </p:nvSpPr>
        <p:spPr>
          <a:xfrm>
            <a:off x="2600094" y="10003535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Copy portfolio number</a:t>
            </a:r>
          </a:p>
        </p:txBody>
      </p:sp>
      <p:sp>
        <p:nvSpPr>
          <p:cNvPr id="1413" name="TextBox 77"/>
          <p:cNvSpPr txBox="1"/>
          <p:nvPr/>
        </p:nvSpPr>
        <p:spPr>
          <a:xfrm>
            <a:off x="9093250" y="10003535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414" name="Picture 78" descr="Picture 7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4011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5" name="Picture 79" descr="Picture 7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4011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416" name="Connector 80"/>
          <p:cNvSpPr/>
          <p:nvPr/>
        </p:nvSpPr>
        <p:spPr>
          <a:xfrm>
            <a:off x="1371600" y="1040587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7" name="TextBox 81"/>
          <p:cNvSpPr txBox="1"/>
          <p:nvPr/>
        </p:nvSpPr>
        <p:spPr>
          <a:xfrm>
            <a:off x="1517902" y="1044244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1418" name="TextBox 82"/>
          <p:cNvSpPr txBox="1"/>
          <p:nvPr/>
        </p:nvSpPr>
        <p:spPr>
          <a:xfrm>
            <a:off x="2600094" y="1044244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Disable empty portfolios</a:t>
            </a:r>
          </a:p>
        </p:txBody>
      </p:sp>
      <p:sp>
        <p:nvSpPr>
          <p:cNvPr id="1419" name="TextBox 83"/>
          <p:cNvSpPr txBox="1"/>
          <p:nvPr/>
        </p:nvSpPr>
        <p:spPr>
          <a:xfrm>
            <a:off x="9093250" y="1044244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420" name="Picture 84" descr="Picture 8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47902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21" name="Picture 85" descr="Picture 8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47902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422" name="Connector 86"/>
          <p:cNvSpPr/>
          <p:nvPr/>
        </p:nvSpPr>
        <p:spPr>
          <a:xfrm>
            <a:off x="1371600" y="108447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3" name="TextBox 87"/>
          <p:cNvSpPr txBox="1"/>
          <p:nvPr/>
        </p:nvSpPr>
        <p:spPr>
          <a:xfrm>
            <a:off x="1517902" y="108813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1424" name="TextBox 88"/>
          <p:cNvSpPr txBox="1"/>
          <p:nvPr/>
        </p:nvSpPr>
        <p:spPr>
          <a:xfrm>
            <a:off x="2600094" y="108813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Select primary portfolio</a:t>
            </a:r>
          </a:p>
        </p:txBody>
      </p:sp>
      <p:sp>
        <p:nvSpPr>
          <p:cNvPr id="1425" name="TextBox 89"/>
          <p:cNvSpPr txBox="1"/>
          <p:nvPr/>
        </p:nvSpPr>
        <p:spPr>
          <a:xfrm>
            <a:off x="9093250" y="108813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426" name="Picture 90" descr="Picture 9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9179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27" name="Picture 91" descr="Picture 9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9179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428" name="Connector 92"/>
          <p:cNvSpPr/>
          <p:nvPr/>
        </p:nvSpPr>
        <p:spPr>
          <a:xfrm>
            <a:off x="1371600" y="11283694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9" name="TextBox 93"/>
          <p:cNvSpPr txBox="1"/>
          <p:nvPr/>
        </p:nvSpPr>
        <p:spPr>
          <a:xfrm>
            <a:off x="1517902" y="1132027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1430" name="TextBox 94"/>
          <p:cNvSpPr txBox="1"/>
          <p:nvPr/>
        </p:nvSpPr>
        <p:spPr>
          <a:xfrm>
            <a:off x="2600094" y="1132027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Liquidate portfolio</a:t>
            </a:r>
          </a:p>
        </p:txBody>
      </p:sp>
      <p:sp>
        <p:nvSpPr>
          <p:cNvPr id="1431" name="TextBox 95"/>
          <p:cNvSpPr txBox="1"/>
          <p:nvPr/>
        </p:nvSpPr>
        <p:spPr>
          <a:xfrm>
            <a:off x="9093250" y="1132027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432" name="Picture 96" descr="Picture 9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35684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3" name="Picture 97" descr="Picture 9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356847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434" name="Connector 98"/>
          <p:cNvSpPr/>
          <p:nvPr/>
        </p:nvSpPr>
        <p:spPr>
          <a:xfrm>
            <a:off x="1371600" y="1172260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5" name="TextBox 99"/>
          <p:cNvSpPr txBox="1"/>
          <p:nvPr/>
        </p:nvSpPr>
        <p:spPr>
          <a:xfrm>
            <a:off x="1517902" y="1175918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1436" name="TextBox 100"/>
          <p:cNvSpPr txBox="1"/>
          <p:nvPr/>
        </p:nvSpPr>
        <p:spPr>
          <a:xfrm>
            <a:off x="2600094" y="1175918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stocks between portfolios</a:t>
            </a:r>
          </a:p>
        </p:txBody>
      </p:sp>
      <p:sp>
        <p:nvSpPr>
          <p:cNvPr id="1437" name="TextBox 101"/>
          <p:cNvSpPr txBox="1"/>
          <p:nvPr/>
        </p:nvSpPr>
        <p:spPr>
          <a:xfrm>
            <a:off x="9093250" y="1175918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438" name="Picture 102" descr="Picture 10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79575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9" name="Picture 103" descr="Picture 10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795759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440" name="Connector 104"/>
          <p:cNvSpPr/>
          <p:nvPr/>
        </p:nvSpPr>
        <p:spPr>
          <a:xfrm>
            <a:off x="1371600" y="121615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1" name="TextBox 105"/>
          <p:cNvSpPr txBox="1"/>
          <p:nvPr/>
        </p:nvSpPr>
        <p:spPr>
          <a:xfrm>
            <a:off x="1517902" y="1219809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442" name="TextBox 106"/>
          <p:cNvSpPr txBox="1"/>
          <p:nvPr/>
        </p:nvSpPr>
        <p:spPr>
          <a:xfrm>
            <a:off x="2600094" y="1219809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Delete portfolio</a:t>
            </a:r>
          </a:p>
        </p:txBody>
      </p:sp>
      <p:sp>
        <p:nvSpPr>
          <p:cNvPr id="1443" name="TextBox 107"/>
          <p:cNvSpPr txBox="1"/>
          <p:nvPr/>
        </p:nvSpPr>
        <p:spPr>
          <a:xfrm>
            <a:off x="9093250" y="1219809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444" name="Picture 108" descr="Picture 10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223467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45" name="Picture 109" descr="Picture 10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23467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446" name="Connector 110"/>
          <p:cNvSpPr/>
          <p:nvPr/>
        </p:nvSpPr>
        <p:spPr>
          <a:xfrm>
            <a:off x="1371600" y="1260043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7" name="TextBox 111"/>
          <p:cNvSpPr txBox="1"/>
          <p:nvPr/>
        </p:nvSpPr>
        <p:spPr>
          <a:xfrm>
            <a:off x="1517902" y="12637006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1448" name="TextBox 112"/>
          <p:cNvSpPr txBox="1"/>
          <p:nvPr/>
        </p:nvSpPr>
        <p:spPr>
          <a:xfrm>
            <a:off x="2600094" y="12637006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visibility settings</a:t>
            </a:r>
          </a:p>
        </p:txBody>
      </p:sp>
      <p:sp>
        <p:nvSpPr>
          <p:cNvPr id="1449" name="TextBox 113"/>
          <p:cNvSpPr txBox="1"/>
          <p:nvPr/>
        </p:nvSpPr>
        <p:spPr>
          <a:xfrm>
            <a:off x="9093250" y="1263700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450" name="Picture 114" descr="Picture 11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67358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51" name="Picture 115" descr="Picture 1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67358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452" name="Connector 116"/>
          <p:cNvSpPr/>
          <p:nvPr/>
        </p:nvSpPr>
        <p:spPr>
          <a:xfrm>
            <a:off x="1371600" y="1303934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1455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022 / 111</a:t>
            </a:r>
          </a:p>
        </p:txBody>
      </p:sp>
      <p:sp>
        <p:nvSpPr>
          <p:cNvPr id="1456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1457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Portfolio Valuation &amp; Performance</a:t>
            </a:r>
          </a:p>
        </p:txBody>
      </p:sp>
      <p:sp>
        <p:nvSpPr>
          <p:cNvPr id="1458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1459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1460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1461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1462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1463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1464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1465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466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7" name="TextBox 14"/>
          <p:cNvSpPr txBox="1"/>
          <p:nvPr/>
        </p:nvSpPr>
        <p:spPr>
          <a:xfrm>
            <a:off x="1517902" y="566576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468" name="TextBox 15"/>
          <p:cNvSpPr txBox="1"/>
          <p:nvPr/>
        </p:nvSpPr>
        <p:spPr>
          <a:xfrm>
            <a:off x="2600094" y="566576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portfolio value</a:t>
            </a:r>
          </a:p>
        </p:txBody>
      </p:sp>
      <p:sp>
        <p:nvSpPr>
          <p:cNvPr id="1469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470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1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472" name="Connector 19"/>
          <p:cNvSpPr/>
          <p:nvPr/>
        </p:nvSpPr>
        <p:spPr>
          <a:xfrm>
            <a:off x="1371600" y="611944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3" name="TextBox 20"/>
          <p:cNvSpPr txBox="1"/>
          <p:nvPr/>
        </p:nvSpPr>
        <p:spPr>
          <a:xfrm>
            <a:off x="1517902" y="620736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74" name="TextBox 21"/>
          <p:cNvSpPr txBox="1"/>
          <p:nvPr/>
        </p:nvSpPr>
        <p:spPr>
          <a:xfrm>
            <a:off x="2600094" y="620736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value</a:t>
            </a:r>
          </a:p>
        </p:txBody>
      </p:sp>
      <p:sp>
        <p:nvSpPr>
          <p:cNvPr id="1475" name="TextBox 22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476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7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478" name="TextBox 25"/>
          <p:cNvSpPr txBox="1"/>
          <p:nvPr/>
        </p:nvSpPr>
        <p:spPr>
          <a:xfrm>
            <a:off x="14504212" y="620736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Asset allocation breakdown</a:t>
            </a:r>
          </a:p>
        </p:txBody>
      </p:sp>
      <p:sp>
        <p:nvSpPr>
          <p:cNvPr id="1479" name="Connector 26"/>
          <p:cNvSpPr/>
          <p:nvPr/>
        </p:nvSpPr>
        <p:spPr>
          <a:xfrm>
            <a:off x="1371600" y="66610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0" name="TextBox 27"/>
          <p:cNvSpPr txBox="1"/>
          <p:nvPr/>
        </p:nvSpPr>
        <p:spPr>
          <a:xfrm>
            <a:off x="1517902" y="674897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481" name="TextBox 28"/>
          <p:cNvSpPr txBox="1"/>
          <p:nvPr/>
        </p:nvSpPr>
        <p:spPr>
          <a:xfrm>
            <a:off x="2600094" y="674897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 / loss value</a:t>
            </a:r>
          </a:p>
        </p:txBody>
      </p:sp>
      <p:sp>
        <p:nvSpPr>
          <p:cNvPr id="1482" name="TextBox 29"/>
          <p:cNvSpPr txBox="1"/>
          <p:nvPr/>
        </p:nvSpPr>
        <p:spPr>
          <a:xfrm>
            <a:off x="9093250" y="674897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483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4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485" name="Connector 32"/>
          <p:cNvSpPr/>
          <p:nvPr/>
        </p:nvSpPr>
        <p:spPr>
          <a:xfrm>
            <a:off x="1371600" y="720265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6" name="TextBox 33"/>
          <p:cNvSpPr txBox="1"/>
          <p:nvPr/>
        </p:nvSpPr>
        <p:spPr>
          <a:xfrm>
            <a:off x="1517902" y="729058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487" name="TextBox 34"/>
          <p:cNvSpPr txBox="1"/>
          <p:nvPr/>
        </p:nvSpPr>
        <p:spPr>
          <a:xfrm>
            <a:off x="2600094" y="729058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 / loss %</a:t>
            </a:r>
          </a:p>
        </p:txBody>
      </p:sp>
      <p:sp>
        <p:nvSpPr>
          <p:cNvPr id="1488" name="TextBox 35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489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0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491" name="Connector 38"/>
          <p:cNvSpPr/>
          <p:nvPr/>
        </p:nvSpPr>
        <p:spPr>
          <a:xfrm>
            <a:off x="1371600" y="774426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2" name="TextBox 39"/>
          <p:cNvSpPr txBox="1"/>
          <p:nvPr/>
        </p:nvSpPr>
        <p:spPr>
          <a:xfrm>
            <a:off x="1517902" y="783218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493" name="TextBox 40"/>
          <p:cNvSpPr txBox="1"/>
          <p:nvPr/>
        </p:nvSpPr>
        <p:spPr>
          <a:xfrm>
            <a:off x="2600094" y="783218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gain / loss (overall)</a:t>
            </a:r>
          </a:p>
        </p:txBody>
      </p:sp>
      <p:sp>
        <p:nvSpPr>
          <p:cNvPr id="1494" name="TextBox 41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495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6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497" name="TextBox 44"/>
          <p:cNvSpPr txBox="1"/>
          <p:nvPr/>
        </p:nvSpPr>
        <p:spPr>
          <a:xfrm>
            <a:off x="14504212" y="7832187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Performance attribution insight</a:t>
            </a:r>
          </a:p>
        </p:txBody>
      </p:sp>
      <p:sp>
        <p:nvSpPr>
          <p:cNvPr id="1498" name="Connector 45"/>
          <p:cNvSpPr/>
          <p:nvPr/>
        </p:nvSpPr>
        <p:spPr>
          <a:xfrm>
            <a:off x="1371600" y="828587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9" name="TextBox 46"/>
          <p:cNvSpPr txBox="1"/>
          <p:nvPr/>
        </p:nvSpPr>
        <p:spPr>
          <a:xfrm>
            <a:off x="1517902" y="837379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500" name="TextBox 47"/>
          <p:cNvSpPr txBox="1"/>
          <p:nvPr/>
        </p:nvSpPr>
        <p:spPr>
          <a:xfrm>
            <a:off x="2600094" y="837379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cash</a:t>
            </a:r>
          </a:p>
        </p:txBody>
      </p:sp>
      <p:sp>
        <p:nvSpPr>
          <p:cNvPr id="1501" name="TextBox 48"/>
          <p:cNvSpPr txBox="1"/>
          <p:nvPr/>
        </p:nvSpPr>
        <p:spPr>
          <a:xfrm>
            <a:off x="9093250" y="837379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502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03" name="Picture 50" descr="Picture 5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504" name="Connector 51"/>
          <p:cNvSpPr/>
          <p:nvPr/>
        </p:nvSpPr>
        <p:spPr>
          <a:xfrm>
            <a:off x="1371600" y="882747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5" name="TextBox 52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506" name="TextBox 53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Buying power</a:t>
            </a:r>
          </a:p>
        </p:txBody>
      </p:sp>
      <p:sp>
        <p:nvSpPr>
          <p:cNvPr id="1507" name="TextBox 54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508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09" name="Picture 56" descr="Picture 5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510" name="Connector 57"/>
          <p:cNvSpPr/>
          <p:nvPr/>
        </p:nvSpPr>
        <p:spPr>
          <a:xfrm>
            <a:off x="1371600" y="93690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1" name="TextBox 58"/>
          <p:cNvSpPr txBox="1"/>
          <p:nvPr/>
        </p:nvSpPr>
        <p:spPr>
          <a:xfrm>
            <a:off x="1517902" y="945700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512" name="TextBox 59"/>
          <p:cNvSpPr txBox="1"/>
          <p:nvPr/>
        </p:nvSpPr>
        <p:spPr>
          <a:xfrm>
            <a:off x="2600094" y="945700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cost</a:t>
            </a:r>
          </a:p>
        </p:txBody>
      </p:sp>
      <p:sp>
        <p:nvSpPr>
          <p:cNvPr id="1513" name="TextBox 60"/>
          <p:cNvSpPr txBox="1"/>
          <p:nvPr/>
        </p:nvSpPr>
        <p:spPr>
          <a:xfrm>
            <a:off x="9093250" y="945700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514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5" name="Picture 62" descr="Picture 6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516" name="TextBox 63"/>
          <p:cNvSpPr txBox="1"/>
          <p:nvPr/>
        </p:nvSpPr>
        <p:spPr>
          <a:xfrm>
            <a:off x="14504212" y="9457004"/>
            <a:ext cx="403616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Cost analysis insights</a:t>
            </a:r>
          </a:p>
        </p:txBody>
      </p:sp>
      <p:sp>
        <p:nvSpPr>
          <p:cNvPr id="1517" name="Connector 64"/>
          <p:cNvSpPr/>
          <p:nvPr/>
        </p:nvSpPr>
        <p:spPr>
          <a:xfrm>
            <a:off x="1371600" y="99106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8" name="TextBox 65"/>
          <p:cNvSpPr txBox="1"/>
          <p:nvPr/>
        </p:nvSpPr>
        <p:spPr>
          <a:xfrm>
            <a:off x="1517902" y="999861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519" name="TextBox 66"/>
          <p:cNvSpPr txBox="1"/>
          <p:nvPr/>
        </p:nvSpPr>
        <p:spPr>
          <a:xfrm>
            <a:off x="2600094" y="999861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Cost value Gain/loss after sell</a:t>
            </a:r>
          </a:p>
        </p:txBody>
      </p:sp>
      <p:sp>
        <p:nvSpPr>
          <p:cNvPr id="1520" name="TextBox 67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521" name="Picture 68" descr="Picture 6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2" name="Picture 69" descr="Picture 6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523" name="Connector 70"/>
          <p:cNvSpPr/>
          <p:nvPr/>
        </p:nvSpPr>
        <p:spPr>
          <a:xfrm>
            <a:off x="1371600" y="1045229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24" name="TextBox 71"/>
          <p:cNvSpPr txBox="1"/>
          <p:nvPr/>
        </p:nvSpPr>
        <p:spPr>
          <a:xfrm>
            <a:off x="1517902" y="1054021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525" name="TextBox 72"/>
          <p:cNvSpPr txBox="1"/>
          <p:nvPr/>
        </p:nvSpPr>
        <p:spPr>
          <a:xfrm>
            <a:off x="2600094" y="1054021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</a:t>
            </a:r>
          </a:p>
        </p:txBody>
      </p:sp>
      <p:sp>
        <p:nvSpPr>
          <p:cNvPr id="1526" name="TextBox 73"/>
          <p:cNvSpPr txBox="1"/>
          <p:nvPr/>
        </p:nvSpPr>
        <p:spPr>
          <a:xfrm>
            <a:off x="9093250" y="105402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527" name="Picture 74" descr="Picture 7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8" name="Picture 75" descr="Picture 7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529" name="Connector 76"/>
          <p:cNvSpPr/>
          <p:nvPr/>
        </p:nvSpPr>
        <p:spPr>
          <a:xfrm>
            <a:off x="1371600" y="1099390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0" name="TextBox 77"/>
          <p:cNvSpPr txBox="1"/>
          <p:nvPr/>
        </p:nvSpPr>
        <p:spPr>
          <a:xfrm>
            <a:off x="1517902" y="1108182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531" name="TextBox 78"/>
          <p:cNvSpPr txBox="1"/>
          <p:nvPr/>
        </p:nvSpPr>
        <p:spPr>
          <a:xfrm>
            <a:off x="2600094" y="1108182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performance chart</a:t>
            </a:r>
          </a:p>
        </p:txBody>
      </p:sp>
      <p:sp>
        <p:nvSpPr>
          <p:cNvPr id="1532" name="TextBox 79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533" name="Picture 80" descr="Picture 8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34" name="Picture 81" descr="Picture 8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535" name="TextBox 82"/>
          <p:cNvSpPr txBox="1"/>
          <p:nvPr/>
        </p:nvSpPr>
        <p:spPr>
          <a:xfrm>
            <a:off x="14504212" y="11081824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Basic chart</a:t>
            </a:r>
          </a:p>
        </p:txBody>
      </p:sp>
      <p:sp>
        <p:nvSpPr>
          <p:cNvPr id="1536" name="Connector 83"/>
          <p:cNvSpPr/>
          <p:nvPr/>
        </p:nvSpPr>
        <p:spPr>
          <a:xfrm>
            <a:off x="1371600" y="1153550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7" name="TextBox 84"/>
          <p:cNvSpPr txBox="1"/>
          <p:nvPr/>
        </p:nvSpPr>
        <p:spPr>
          <a:xfrm>
            <a:off x="1517902" y="1162343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1538" name="TextBox 85"/>
          <p:cNvSpPr txBox="1"/>
          <p:nvPr/>
        </p:nvSpPr>
        <p:spPr>
          <a:xfrm>
            <a:off x="2600094" y="1162343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Change performance period</a:t>
            </a:r>
          </a:p>
        </p:txBody>
      </p:sp>
      <p:sp>
        <p:nvSpPr>
          <p:cNvPr id="1539" name="TextBox 86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540" name="Picture 87" descr="Picture 8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41" name="Picture 88" descr="Picture 8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542" name="Connector 89"/>
          <p:cNvSpPr/>
          <p:nvPr/>
        </p:nvSpPr>
        <p:spPr>
          <a:xfrm>
            <a:off x="1371600" y="1207711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3" name="TextBox 90"/>
          <p:cNvSpPr txBox="1"/>
          <p:nvPr/>
        </p:nvSpPr>
        <p:spPr>
          <a:xfrm>
            <a:off x="1517902" y="1216503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1544" name="TextBox 91"/>
          <p:cNvSpPr txBox="1"/>
          <p:nvPr/>
        </p:nvSpPr>
        <p:spPr>
          <a:xfrm>
            <a:off x="2600094" y="1216503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Performance period selector (1W / 1M / 2M / 3M)</a:t>
            </a:r>
          </a:p>
        </p:txBody>
      </p:sp>
      <p:sp>
        <p:nvSpPr>
          <p:cNvPr id="1545" name="TextBox 92"/>
          <p:cNvSpPr txBox="1"/>
          <p:nvPr/>
        </p:nvSpPr>
        <p:spPr>
          <a:xfrm>
            <a:off x="9093250" y="1216503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1546" name="Picture 93" descr="Picture 9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47" name="Picture 94" descr="Picture 9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548" name="TextBox 95"/>
          <p:cNvSpPr txBox="1"/>
          <p:nvPr/>
        </p:nvSpPr>
        <p:spPr>
          <a:xfrm>
            <a:off x="14504212" y="12165034"/>
            <a:ext cx="403616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history</a:t>
            </a:r>
          </a:p>
        </p:txBody>
      </p:sp>
      <p:sp>
        <p:nvSpPr>
          <p:cNvPr id="1549" name="Connector 96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1552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023 / 111</a:t>
            </a:r>
          </a:p>
        </p:txBody>
      </p:sp>
      <p:sp>
        <p:nvSpPr>
          <p:cNvPr id="1553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1554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Holdings Management</a:t>
            </a:r>
          </a:p>
        </p:txBody>
      </p:sp>
      <p:sp>
        <p:nvSpPr>
          <p:cNvPr id="1555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1556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1557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1558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1559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1560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1561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1562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563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4" name="TextBox 14"/>
          <p:cNvSpPr txBox="1"/>
          <p:nvPr/>
        </p:nvSpPr>
        <p:spPr>
          <a:xfrm>
            <a:off x="1517902" y="566576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65" name="TextBox 15"/>
          <p:cNvSpPr txBox="1"/>
          <p:nvPr/>
        </p:nvSpPr>
        <p:spPr>
          <a:xfrm>
            <a:off x="2600094" y="566576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Holdings list view</a:t>
            </a:r>
          </a:p>
        </p:txBody>
      </p:sp>
      <p:sp>
        <p:nvSpPr>
          <p:cNvPr id="1566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567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68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569" name="Connector 19"/>
          <p:cNvSpPr/>
          <p:nvPr/>
        </p:nvSpPr>
        <p:spPr>
          <a:xfrm>
            <a:off x="1371600" y="611944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0" name="TextBox 20"/>
          <p:cNvSpPr txBox="1"/>
          <p:nvPr/>
        </p:nvSpPr>
        <p:spPr>
          <a:xfrm>
            <a:off x="1517902" y="620736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571" name="TextBox 21"/>
          <p:cNvSpPr txBox="1"/>
          <p:nvPr/>
        </p:nvSpPr>
        <p:spPr>
          <a:xfrm>
            <a:off x="2600094" y="620736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name &amp; symbol</a:t>
            </a:r>
          </a:p>
        </p:txBody>
      </p:sp>
      <p:sp>
        <p:nvSpPr>
          <p:cNvPr id="1572" name="TextBox 22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573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74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575" name="Connector 25"/>
          <p:cNvSpPr/>
          <p:nvPr/>
        </p:nvSpPr>
        <p:spPr>
          <a:xfrm>
            <a:off x="1371600" y="66610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6" name="TextBox 26"/>
          <p:cNvSpPr txBox="1"/>
          <p:nvPr/>
        </p:nvSpPr>
        <p:spPr>
          <a:xfrm>
            <a:off x="1517902" y="674897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577" name="TextBox 27"/>
          <p:cNvSpPr txBox="1"/>
          <p:nvPr/>
        </p:nvSpPr>
        <p:spPr>
          <a:xfrm>
            <a:off x="2600094" y="674897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Position market value</a:t>
            </a:r>
          </a:p>
        </p:txBody>
      </p:sp>
      <p:sp>
        <p:nvSpPr>
          <p:cNvPr id="1578" name="TextBox 28"/>
          <p:cNvSpPr txBox="1"/>
          <p:nvPr/>
        </p:nvSpPr>
        <p:spPr>
          <a:xfrm>
            <a:off x="9093250" y="674897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579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0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581" name="Connector 31"/>
          <p:cNvSpPr/>
          <p:nvPr/>
        </p:nvSpPr>
        <p:spPr>
          <a:xfrm>
            <a:off x="1371600" y="720265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82" name="TextBox 32"/>
          <p:cNvSpPr txBox="1"/>
          <p:nvPr/>
        </p:nvSpPr>
        <p:spPr>
          <a:xfrm>
            <a:off x="1517902" y="729058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583" name="TextBox 33"/>
          <p:cNvSpPr txBox="1"/>
          <p:nvPr/>
        </p:nvSpPr>
        <p:spPr>
          <a:xfrm>
            <a:off x="2600094" y="729058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Quantity held</a:t>
            </a:r>
          </a:p>
        </p:txBody>
      </p:sp>
      <p:sp>
        <p:nvSpPr>
          <p:cNvPr id="1584" name="TextBox 34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585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6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587" name="TextBox 37"/>
          <p:cNvSpPr txBox="1"/>
          <p:nvPr/>
        </p:nvSpPr>
        <p:spPr>
          <a:xfrm>
            <a:off x="14504212" y="7290581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Lot-level position breakdown</a:t>
            </a:r>
          </a:p>
        </p:txBody>
      </p:sp>
      <p:sp>
        <p:nvSpPr>
          <p:cNvPr id="1588" name="Connector 38"/>
          <p:cNvSpPr/>
          <p:nvPr/>
        </p:nvSpPr>
        <p:spPr>
          <a:xfrm>
            <a:off x="1371600" y="774426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89" name="TextBox 39"/>
          <p:cNvSpPr txBox="1"/>
          <p:nvPr/>
        </p:nvSpPr>
        <p:spPr>
          <a:xfrm>
            <a:off x="1517902" y="783218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590" name="TextBox 40"/>
          <p:cNvSpPr txBox="1"/>
          <p:nvPr/>
        </p:nvSpPr>
        <p:spPr>
          <a:xfrm>
            <a:off x="2600094" y="783218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Average cost</a:t>
            </a:r>
          </a:p>
        </p:txBody>
      </p:sp>
      <p:sp>
        <p:nvSpPr>
          <p:cNvPr id="1591" name="TextBox 41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592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3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594" name="Connector 44"/>
          <p:cNvSpPr/>
          <p:nvPr/>
        </p:nvSpPr>
        <p:spPr>
          <a:xfrm>
            <a:off x="1371600" y="828587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5" name="TextBox 45"/>
          <p:cNvSpPr txBox="1"/>
          <p:nvPr/>
        </p:nvSpPr>
        <p:spPr>
          <a:xfrm>
            <a:off x="1517902" y="837379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596" name="TextBox 46"/>
          <p:cNvSpPr txBox="1"/>
          <p:nvPr/>
        </p:nvSpPr>
        <p:spPr>
          <a:xfrm>
            <a:off x="2600094" y="837379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Last price</a:t>
            </a:r>
          </a:p>
        </p:txBody>
      </p:sp>
      <p:sp>
        <p:nvSpPr>
          <p:cNvPr id="1597" name="TextBox 47"/>
          <p:cNvSpPr txBox="1"/>
          <p:nvPr/>
        </p:nvSpPr>
        <p:spPr>
          <a:xfrm>
            <a:off x="9093250" y="837379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598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9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600" name="Connector 50"/>
          <p:cNvSpPr/>
          <p:nvPr/>
        </p:nvSpPr>
        <p:spPr>
          <a:xfrm>
            <a:off x="1371600" y="882747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1" name="TextBox 51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602" name="TextBox 52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Position gain / loss</a:t>
            </a:r>
          </a:p>
        </p:txBody>
      </p:sp>
      <p:sp>
        <p:nvSpPr>
          <p:cNvPr id="1603" name="TextBox 53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604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05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606" name="Connector 56"/>
          <p:cNvSpPr/>
          <p:nvPr/>
        </p:nvSpPr>
        <p:spPr>
          <a:xfrm>
            <a:off x="1371600" y="93690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7" name="TextBox 57"/>
          <p:cNvSpPr txBox="1"/>
          <p:nvPr/>
        </p:nvSpPr>
        <p:spPr>
          <a:xfrm>
            <a:off x="1517902" y="945700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608" name="TextBox 58"/>
          <p:cNvSpPr txBox="1"/>
          <p:nvPr/>
        </p:nvSpPr>
        <p:spPr>
          <a:xfrm>
            <a:off x="2600094" y="945700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Position gain / loss %</a:t>
            </a:r>
          </a:p>
        </p:txBody>
      </p:sp>
      <p:sp>
        <p:nvSpPr>
          <p:cNvPr id="1609" name="TextBox 59"/>
          <p:cNvSpPr txBox="1"/>
          <p:nvPr/>
        </p:nvSpPr>
        <p:spPr>
          <a:xfrm>
            <a:off x="9093250" y="945700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610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1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612" name="Connector 62"/>
          <p:cNvSpPr/>
          <p:nvPr/>
        </p:nvSpPr>
        <p:spPr>
          <a:xfrm>
            <a:off x="1371600" y="99106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3" name="TextBox 63"/>
          <p:cNvSpPr txBox="1"/>
          <p:nvPr/>
        </p:nvSpPr>
        <p:spPr>
          <a:xfrm>
            <a:off x="1517902" y="999861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614" name="TextBox 64"/>
          <p:cNvSpPr txBox="1"/>
          <p:nvPr/>
        </p:nvSpPr>
        <p:spPr>
          <a:xfrm>
            <a:off x="2600094" y="999861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Tradable rights position</a:t>
            </a:r>
          </a:p>
        </p:txBody>
      </p:sp>
      <p:sp>
        <p:nvSpPr>
          <p:cNvPr id="1615" name="TextBox 65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616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7" name="Picture 67" descr="Picture 6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618" name="TextBox 68"/>
          <p:cNvSpPr txBox="1"/>
          <p:nvPr/>
        </p:nvSpPr>
        <p:spPr>
          <a:xfrm>
            <a:off x="14504212" y="9998612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Rights lifecycle tracking</a:t>
            </a:r>
          </a:p>
        </p:txBody>
      </p:sp>
      <p:sp>
        <p:nvSpPr>
          <p:cNvPr id="1619" name="Connector 69"/>
          <p:cNvSpPr/>
          <p:nvPr/>
        </p:nvSpPr>
        <p:spPr>
          <a:xfrm>
            <a:off x="1371600" y="1045229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0" name="TextBox 70"/>
          <p:cNvSpPr txBox="1"/>
          <p:nvPr/>
        </p:nvSpPr>
        <p:spPr>
          <a:xfrm>
            <a:off x="1517902" y="1054021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621" name="TextBox 71"/>
          <p:cNvSpPr txBox="1"/>
          <p:nvPr/>
        </p:nvSpPr>
        <p:spPr>
          <a:xfrm>
            <a:off x="2600094" y="1054021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Dividend</a:t>
            </a:r>
          </a:p>
        </p:txBody>
      </p:sp>
      <p:sp>
        <p:nvSpPr>
          <p:cNvPr id="1622" name="TextBox 72"/>
          <p:cNvSpPr txBox="1"/>
          <p:nvPr/>
        </p:nvSpPr>
        <p:spPr>
          <a:xfrm>
            <a:off x="9093250" y="105402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623" name="Picture 73" descr="Picture 7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24" name="Picture 74" descr="Picture 7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625" name="Connector 75"/>
          <p:cNvSpPr/>
          <p:nvPr/>
        </p:nvSpPr>
        <p:spPr>
          <a:xfrm>
            <a:off x="1371600" y="1099390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6" name="TextBox 76"/>
          <p:cNvSpPr txBox="1"/>
          <p:nvPr/>
        </p:nvSpPr>
        <p:spPr>
          <a:xfrm>
            <a:off x="1517902" y="1108182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627" name="TextBox 77"/>
          <p:cNvSpPr txBox="1"/>
          <p:nvPr/>
        </p:nvSpPr>
        <p:spPr>
          <a:xfrm>
            <a:off x="2600094" y="1108182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 from position</a:t>
            </a:r>
          </a:p>
        </p:txBody>
      </p:sp>
      <p:sp>
        <p:nvSpPr>
          <p:cNvPr id="1628" name="TextBox 78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629" name="Picture 79" descr="Picture 7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30" name="Picture 80" descr="Picture 8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631" name="Connector 81"/>
          <p:cNvSpPr/>
          <p:nvPr/>
        </p:nvSpPr>
        <p:spPr>
          <a:xfrm>
            <a:off x="1371600" y="1153550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2" name="TextBox 82"/>
          <p:cNvSpPr txBox="1"/>
          <p:nvPr/>
        </p:nvSpPr>
        <p:spPr>
          <a:xfrm>
            <a:off x="1517902" y="1162343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1633" name="TextBox 83"/>
          <p:cNvSpPr txBox="1"/>
          <p:nvPr/>
        </p:nvSpPr>
        <p:spPr>
          <a:xfrm>
            <a:off x="2600094" y="1162343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Sell from position</a:t>
            </a:r>
          </a:p>
        </p:txBody>
      </p:sp>
      <p:sp>
        <p:nvSpPr>
          <p:cNvPr id="1634" name="TextBox 84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635" name="Picture 85" descr="Picture 8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36" name="Picture 86" descr="Picture 8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637" name="Connector 87"/>
          <p:cNvSpPr/>
          <p:nvPr/>
        </p:nvSpPr>
        <p:spPr>
          <a:xfrm>
            <a:off x="1371600" y="1207711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8" name="TextBox 88"/>
          <p:cNvSpPr txBox="1"/>
          <p:nvPr/>
        </p:nvSpPr>
        <p:spPr>
          <a:xfrm>
            <a:off x="1517902" y="1216503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1639" name="TextBox 89"/>
          <p:cNvSpPr txBox="1"/>
          <p:nvPr/>
        </p:nvSpPr>
        <p:spPr>
          <a:xfrm>
            <a:off x="2600094" y="1216503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Navigate to position details</a:t>
            </a:r>
          </a:p>
        </p:txBody>
      </p:sp>
      <p:sp>
        <p:nvSpPr>
          <p:cNvPr id="1640" name="TextBox 90"/>
          <p:cNvSpPr txBox="1"/>
          <p:nvPr/>
        </p:nvSpPr>
        <p:spPr>
          <a:xfrm>
            <a:off x="9093250" y="1216503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1641" name="Picture 91" descr="Picture 9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42" name="Picture 92" descr="Picture 9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643" name="Connector 93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1646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024 / 111</a:t>
            </a:r>
          </a:p>
        </p:txBody>
      </p:sp>
      <p:sp>
        <p:nvSpPr>
          <p:cNvPr id="1647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1648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Holding Details</a:t>
            </a:r>
          </a:p>
        </p:txBody>
      </p:sp>
      <p:sp>
        <p:nvSpPr>
          <p:cNvPr id="1649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1650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1651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1652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1653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1654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1655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1656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657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58" name="TextBox 14"/>
          <p:cNvSpPr txBox="1"/>
          <p:nvPr/>
        </p:nvSpPr>
        <p:spPr>
          <a:xfrm>
            <a:off x="1517902" y="561498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659" name="TextBox 15"/>
          <p:cNvSpPr txBox="1"/>
          <p:nvPr/>
        </p:nvSpPr>
        <p:spPr>
          <a:xfrm>
            <a:off x="2600094" y="561498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value</a:t>
            </a:r>
          </a:p>
        </p:txBody>
      </p:sp>
      <p:sp>
        <p:nvSpPr>
          <p:cNvPr id="1660" name="TextBox 16"/>
          <p:cNvSpPr txBox="1"/>
          <p:nvPr/>
        </p:nvSpPr>
        <p:spPr>
          <a:xfrm>
            <a:off x="9093250" y="56149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661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156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2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156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663" name="Connector 19"/>
          <p:cNvSpPr/>
          <p:nvPr/>
        </p:nvSpPr>
        <p:spPr>
          <a:xfrm>
            <a:off x="1371600" y="601789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64" name="TextBox 20"/>
          <p:cNvSpPr txBox="1"/>
          <p:nvPr/>
        </p:nvSpPr>
        <p:spPr>
          <a:xfrm>
            <a:off x="1517902" y="605504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65" name="TextBox 21"/>
          <p:cNvSpPr txBox="1"/>
          <p:nvPr/>
        </p:nvSpPr>
        <p:spPr>
          <a:xfrm>
            <a:off x="2600094" y="605504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quantity</a:t>
            </a:r>
          </a:p>
        </p:txBody>
      </p:sp>
      <p:sp>
        <p:nvSpPr>
          <p:cNvPr id="1666" name="TextBox 22"/>
          <p:cNvSpPr txBox="1"/>
          <p:nvPr/>
        </p:nvSpPr>
        <p:spPr>
          <a:xfrm>
            <a:off x="9093250" y="605504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667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9161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8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9161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669" name="TextBox 25"/>
          <p:cNvSpPr txBox="1"/>
          <p:nvPr/>
        </p:nvSpPr>
        <p:spPr>
          <a:xfrm>
            <a:off x="14504212" y="6055042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Lot-level quantity breakdown</a:t>
            </a:r>
          </a:p>
        </p:txBody>
      </p:sp>
      <p:sp>
        <p:nvSpPr>
          <p:cNvPr id="1670" name="Connector 26"/>
          <p:cNvSpPr/>
          <p:nvPr/>
        </p:nvSpPr>
        <p:spPr>
          <a:xfrm>
            <a:off x="1371600" y="645795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1" name="TextBox 27"/>
          <p:cNvSpPr txBox="1"/>
          <p:nvPr/>
        </p:nvSpPr>
        <p:spPr>
          <a:xfrm>
            <a:off x="1517902" y="649509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672" name="TextBox 28"/>
          <p:cNvSpPr txBox="1"/>
          <p:nvPr/>
        </p:nvSpPr>
        <p:spPr>
          <a:xfrm>
            <a:off x="2600094" y="649509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Average cost</a:t>
            </a:r>
          </a:p>
        </p:txBody>
      </p:sp>
      <p:sp>
        <p:nvSpPr>
          <p:cNvPr id="1673" name="TextBox 29"/>
          <p:cNvSpPr txBox="1"/>
          <p:nvPr/>
        </p:nvSpPr>
        <p:spPr>
          <a:xfrm>
            <a:off x="9093250" y="649509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674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53167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5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53167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676" name="Connector 32"/>
          <p:cNvSpPr/>
          <p:nvPr/>
        </p:nvSpPr>
        <p:spPr>
          <a:xfrm>
            <a:off x="1371600" y="689800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7" name="TextBox 33"/>
          <p:cNvSpPr txBox="1"/>
          <p:nvPr/>
        </p:nvSpPr>
        <p:spPr>
          <a:xfrm>
            <a:off x="1517902" y="693515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678" name="TextBox 34"/>
          <p:cNvSpPr txBox="1"/>
          <p:nvPr/>
        </p:nvSpPr>
        <p:spPr>
          <a:xfrm>
            <a:off x="2600094" y="693515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cost value</a:t>
            </a:r>
          </a:p>
        </p:txBody>
      </p:sp>
      <p:sp>
        <p:nvSpPr>
          <p:cNvPr id="1679" name="TextBox 35"/>
          <p:cNvSpPr txBox="1"/>
          <p:nvPr/>
        </p:nvSpPr>
        <p:spPr>
          <a:xfrm>
            <a:off x="9093250" y="693515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680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97172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1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971727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682" name="TextBox 38"/>
          <p:cNvSpPr txBox="1"/>
          <p:nvPr/>
        </p:nvSpPr>
        <p:spPr>
          <a:xfrm>
            <a:off x="14504212" y="6935151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Cost history tracking</a:t>
            </a:r>
          </a:p>
        </p:txBody>
      </p:sp>
      <p:sp>
        <p:nvSpPr>
          <p:cNvPr id="1683" name="Connector 39"/>
          <p:cNvSpPr/>
          <p:nvPr/>
        </p:nvSpPr>
        <p:spPr>
          <a:xfrm>
            <a:off x="1371600" y="73380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4" name="TextBox 40"/>
          <p:cNvSpPr txBox="1"/>
          <p:nvPr/>
        </p:nvSpPr>
        <p:spPr>
          <a:xfrm>
            <a:off x="1517902" y="737520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685" name="TextBox 41"/>
          <p:cNvSpPr txBox="1"/>
          <p:nvPr/>
        </p:nvSpPr>
        <p:spPr>
          <a:xfrm>
            <a:off x="2600094" y="737520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Last traded price</a:t>
            </a:r>
          </a:p>
        </p:txBody>
      </p:sp>
      <p:sp>
        <p:nvSpPr>
          <p:cNvPr id="1686" name="TextBox 42"/>
          <p:cNvSpPr txBox="1"/>
          <p:nvPr/>
        </p:nvSpPr>
        <p:spPr>
          <a:xfrm>
            <a:off x="9093250" y="737520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687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41178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8" name="Picture 44" descr="Picture 4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41178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689" name="Connector 45"/>
          <p:cNvSpPr/>
          <p:nvPr/>
        </p:nvSpPr>
        <p:spPr>
          <a:xfrm>
            <a:off x="1371600" y="777811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0" name="TextBox 46"/>
          <p:cNvSpPr txBox="1"/>
          <p:nvPr/>
        </p:nvSpPr>
        <p:spPr>
          <a:xfrm>
            <a:off x="1517902" y="781526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691" name="TextBox 47"/>
          <p:cNvSpPr txBox="1"/>
          <p:nvPr/>
        </p:nvSpPr>
        <p:spPr>
          <a:xfrm>
            <a:off x="2600094" y="781526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Gain / loss value</a:t>
            </a:r>
          </a:p>
        </p:txBody>
      </p:sp>
      <p:sp>
        <p:nvSpPr>
          <p:cNvPr id="1692" name="TextBox 48"/>
          <p:cNvSpPr txBox="1"/>
          <p:nvPr/>
        </p:nvSpPr>
        <p:spPr>
          <a:xfrm>
            <a:off x="9093250" y="7815260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693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5183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94" name="Picture 50" descr="Picture 5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51837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695" name="Connector 51"/>
          <p:cNvSpPr/>
          <p:nvPr/>
        </p:nvSpPr>
        <p:spPr>
          <a:xfrm>
            <a:off x="1371600" y="821816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6" name="TextBox 52"/>
          <p:cNvSpPr txBox="1"/>
          <p:nvPr/>
        </p:nvSpPr>
        <p:spPr>
          <a:xfrm>
            <a:off x="1517902" y="825531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697" name="TextBox 53"/>
          <p:cNvSpPr txBox="1"/>
          <p:nvPr/>
        </p:nvSpPr>
        <p:spPr>
          <a:xfrm>
            <a:off x="2600094" y="825531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gain/loss per share</a:t>
            </a:r>
          </a:p>
        </p:txBody>
      </p:sp>
      <p:sp>
        <p:nvSpPr>
          <p:cNvPr id="1698" name="TextBox 54"/>
          <p:cNvSpPr txBox="1"/>
          <p:nvPr/>
        </p:nvSpPr>
        <p:spPr>
          <a:xfrm>
            <a:off x="9093250" y="82553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699" name="Picture 55" descr="Picture 5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829189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0" name="Picture 56" descr="Picture 5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829189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701" name="Connector 57"/>
          <p:cNvSpPr/>
          <p:nvPr/>
        </p:nvSpPr>
        <p:spPr>
          <a:xfrm>
            <a:off x="1371600" y="8658225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2" name="TextBox 58"/>
          <p:cNvSpPr txBox="1"/>
          <p:nvPr/>
        </p:nvSpPr>
        <p:spPr>
          <a:xfrm>
            <a:off x="1517902" y="8695372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703" name="TextBox 59"/>
          <p:cNvSpPr txBox="1"/>
          <p:nvPr/>
        </p:nvSpPr>
        <p:spPr>
          <a:xfrm>
            <a:off x="2600094" y="8695372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Gain / loss percentage</a:t>
            </a:r>
          </a:p>
        </p:txBody>
      </p:sp>
      <p:sp>
        <p:nvSpPr>
          <p:cNvPr id="1704" name="TextBox 60"/>
          <p:cNvSpPr txBox="1"/>
          <p:nvPr/>
        </p:nvSpPr>
        <p:spPr>
          <a:xfrm>
            <a:off x="9093250" y="869537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705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73194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6" name="Picture 62" descr="Picture 6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73194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707" name="Connector 63"/>
          <p:cNvSpPr/>
          <p:nvPr/>
        </p:nvSpPr>
        <p:spPr>
          <a:xfrm>
            <a:off x="1371600" y="90982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8" name="TextBox 64"/>
          <p:cNvSpPr txBox="1"/>
          <p:nvPr/>
        </p:nvSpPr>
        <p:spPr>
          <a:xfrm>
            <a:off x="1517902" y="913542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709" name="TextBox 65"/>
          <p:cNvSpPr txBox="1"/>
          <p:nvPr/>
        </p:nvSpPr>
        <p:spPr>
          <a:xfrm>
            <a:off x="2600094" y="913542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Cost value P/L</a:t>
            </a:r>
          </a:p>
        </p:txBody>
      </p:sp>
      <p:sp>
        <p:nvSpPr>
          <p:cNvPr id="1710" name="TextBox 66"/>
          <p:cNvSpPr txBox="1"/>
          <p:nvPr/>
        </p:nvSpPr>
        <p:spPr>
          <a:xfrm>
            <a:off x="9093250" y="913542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711" name="Picture 67" descr="Picture 6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17200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12" name="Picture 68" descr="Picture 6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172002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713" name="Connector 69"/>
          <p:cNvSpPr/>
          <p:nvPr/>
        </p:nvSpPr>
        <p:spPr>
          <a:xfrm>
            <a:off x="1371600" y="9538334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4" name="TextBox 70"/>
          <p:cNvSpPr txBox="1"/>
          <p:nvPr/>
        </p:nvSpPr>
        <p:spPr>
          <a:xfrm>
            <a:off x="1517902" y="957548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715" name="TextBox 71"/>
          <p:cNvSpPr txBox="1"/>
          <p:nvPr/>
        </p:nvSpPr>
        <p:spPr>
          <a:xfrm>
            <a:off x="2600094" y="957548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Avg price P/L</a:t>
            </a:r>
          </a:p>
        </p:txBody>
      </p:sp>
      <p:sp>
        <p:nvSpPr>
          <p:cNvPr id="1716" name="TextBox 72"/>
          <p:cNvSpPr txBox="1"/>
          <p:nvPr/>
        </p:nvSpPr>
        <p:spPr>
          <a:xfrm>
            <a:off x="9093250" y="957548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717" name="Picture 73" descr="Picture 7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61205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18" name="Picture 74" descr="Picture 7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61205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719" name="Connector 75"/>
          <p:cNvSpPr/>
          <p:nvPr/>
        </p:nvSpPr>
        <p:spPr>
          <a:xfrm>
            <a:off x="1371600" y="997839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0" name="TextBox 76"/>
          <p:cNvSpPr txBox="1"/>
          <p:nvPr/>
        </p:nvSpPr>
        <p:spPr>
          <a:xfrm>
            <a:off x="1517902" y="10015535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721" name="TextBox 77"/>
          <p:cNvSpPr txBox="1"/>
          <p:nvPr/>
        </p:nvSpPr>
        <p:spPr>
          <a:xfrm>
            <a:off x="2600094" y="10015535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After sell P/L</a:t>
            </a:r>
          </a:p>
        </p:txBody>
      </p:sp>
      <p:sp>
        <p:nvSpPr>
          <p:cNvPr id="1722" name="TextBox 78"/>
          <p:cNvSpPr txBox="1"/>
          <p:nvPr/>
        </p:nvSpPr>
        <p:spPr>
          <a:xfrm>
            <a:off x="9093250" y="100155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723" name="Picture 79" descr="Picture 7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5211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24" name="Picture 80" descr="Picture 8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52112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725" name="Connector 81"/>
          <p:cNvSpPr/>
          <p:nvPr/>
        </p:nvSpPr>
        <p:spPr>
          <a:xfrm>
            <a:off x="1371600" y="1041844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6" name="TextBox 82"/>
          <p:cNvSpPr txBox="1"/>
          <p:nvPr/>
        </p:nvSpPr>
        <p:spPr>
          <a:xfrm>
            <a:off x="1517902" y="1045559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1727" name="TextBox 83"/>
          <p:cNvSpPr txBox="1"/>
          <p:nvPr/>
        </p:nvSpPr>
        <p:spPr>
          <a:xfrm>
            <a:off x="2600094" y="1045559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Sell capital</a:t>
            </a:r>
          </a:p>
        </p:txBody>
      </p:sp>
      <p:sp>
        <p:nvSpPr>
          <p:cNvPr id="1728" name="TextBox 84"/>
          <p:cNvSpPr txBox="1"/>
          <p:nvPr/>
        </p:nvSpPr>
        <p:spPr>
          <a:xfrm>
            <a:off x="9093250" y="1045559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729" name="Picture 85" descr="Picture 8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49216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30" name="Picture 86" descr="Picture 8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49216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731" name="Connector 87"/>
          <p:cNvSpPr/>
          <p:nvPr/>
        </p:nvSpPr>
        <p:spPr>
          <a:xfrm>
            <a:off x="1371600" y="108585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32" name="TextBox 88"/>
          <p:cNvSpPr txBox="1"/>
          <p:nvPr/>
        </p:nvSpPr>
        <p:spPr>
          <a:xfrm>
            <a:off x="1517902" y="10895647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1733" name="TextBox 89"/>
          <p:cNvSpPr txBox="1"/>
          <p:nvPr/>
        </p:nvSpPr>
        <p:spPr>
          <a:xfrm>
            <a:off x="2600094" y="10895647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Sell gain</a:t>
            </a:r>
          </a:p>
        </p:txBody>
      </p:sp>
      <p:sp>
        <p:nvSpPr>
          <p:cNvPr id="1734" name="TextBox 90"/>
          <p:cNvSpPr txBox="1"/>
          <p:nvPr/>
        </p:nvSpPr>
        <p:spPr>
          <a:xfrm>
            <a:off x="9093250" y="1089564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735" name="Picture 91" descr="Picture 9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93222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36" name="Picture 92" descr="Picture 9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93222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737" name="Connector 93"/>
          <p:cNvSpPr/>
          <p:nvPr/>
        </p:nvSpPr>
        <p:spPr>
          <a:xfrm>
            <a:off x="1371600" y="1129855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38" name="TextBox 94"/>
          <p:cNvSpPr txBox="1"/>
          <p:nvPr/>
        </p:nvSpPr>
        <p:spPr>
          <a:xfrm>
            <a:off x="1517902" y="1133570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1739" name="TextBox 95"/>
          <p:cNvSpPr txBox="1"/>
          <p:nvPr/>
        </p:nvSpPr>
        <p:spPr>
          <a:xfrm>
            <a:off x="2600094" y="1133570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Tradable rights position</a:t>
            </a:r>
          </a:p>
        </p:txBody>
      </p:sp>
      <p:sp>
        <p:nvSpPr>
          <p:cNvPr id="1740" name="TextBox 96"/>
          <p:cNvSpPr txBox="1"/>
          <p:nvPr/>
        </p:nvSpPr>
        <p:spPr>
          <a:xfrm>
            <a:off x="9093250" y="1133570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741" name="Picture 97" descr="Picture 9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37227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2" name="Picture 98" descr="Picture 9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372277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743" name="Connector 99"/>
          <p:cNvSpPr/>
          <p:nvPr/>
        </p:nvSpPr>
        <p:spPr>
          <a:xfrm>
            <a:off x="1371600" y="1173860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4" name="TextBox 100"/>
          <p:cNvSpPr txBox="1"/>
          <p:nvPr/>
        </p:nvSpPr>
        <p:spPr>
          <a:xfrm>
            <a:off x="1517902" y="1177575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1745" name="TextBox 101"/>
          <p:cNvSpPr txBox="1"/>
          <p:nvPr/>
        </p:nvSpPr>
        <p:spPr>
          <a:xfrm>
            <a:off x="2600094" y="1177575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Buy/Sell</a:t>
            </a:r>
          </a:p>
        </p:txBody>
      </p:sp>
      <p:sp>
        <p:nvSpPr>
          <p:cNvPr id="1746" name="TextBox 102"/>
          <p:cNvSpPr txBox="1"/>
          <p:nvPr/>
        </p:nvSpPr>
        <p:spPr>
          <a:xfrm>
            <a:off x="9093250" y="1177575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747" name="Picture 103" descr="Picture 10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81233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8" name="Picture 104" descr="Picture 10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81233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749" name="Connector 105"/>
          <p:cNvSpPr/>
          <p:nvPr/>
        </p:nvSpPr>
        <p:spPr>
          <a:xfrm>
            <a:off x="1371600" y="1217866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0" name="TextBox 106"/>
          <p:cNvSpPr txBox="1"/>
          <p:nvPr/>
        </p:nvSpPr>
        <p:spPr>
          <a:xfrm>
            <a:off x="1517902" y="1221581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1751" name="TextBox 107"/>
          <p:cNvSpPr txBox="1"/>
          <p:nvPr/>
        </p:nvSpPr>
        <p:spPr>
          <a:xfrm>
            <a:off x="2600094" y="1221581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Update average cost</a:t>
            </a:r>
          </a:p>
        </p:txBody>
      </p:sp>
      <p:sp>
        <p:nvSpPr>
          <p:cNvPr id="1752" name="TextBox 108"/>
          <p:cNvSpPr txBox="1"/>
          <p:nvPr/>
        </p:nvSpPr>
        <p:spPr>
          <a:xfrm>
            <a:off x="9093250" y="12215810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753" name="TextBox 111"/>
          <p:cNvSpPr txBox="1"/>
          <p:nvPr/>
        </p:nvSpPr>
        <p:spPr>
          <a:xfrm>
            <a:off x="18832982" y="12317410"/>
            <a:ext cx="230465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ARCD-2650</a:t>
            </a:r>
          </a:p>
        </p:txBody>
      </p:sp>
      <p:sp>
        <p:nvSpPr>
          <p:cNvPr id="1754" name="Connector 112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755" name="Picture 103" descr="Picture 10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1581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56" name="Picture 104" descr="Picture 10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15811"/>
            <a:ext cx="292610" cy="2926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1759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025 / 111</a:t>
            </a:r>
          </a:p>
        </p:txBody>
      </p:sp>
      <p:sp>
        <p:nvSpPr>
          <p:cNvPr id="1760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1761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Cash &amp; Liquidity Management</a:t>
            </a:r>
          </a:p>
        </p:txBody>
      </p:sp>
      <p:sp>
        <p:nvSpPr>
          <p:cNvPr id="1762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1763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1764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1765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1766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1767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1768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1769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770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1" name="TextBox 14"/>
          <p:cNvSpPr txBox="1"/>
          <p:nvPr/>
        </p:nvSpPr>
        <p:spPr>
          <a:xfrm>
            <a:off x="1517902" y="5737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772" name="TextBox 15"/>
          <p:cNvSpPr txBox="1"/>
          <p:nvPr/>
        </p:nvSpPr>
        <p:spPr>
          <a:xfrm>
            <a:off x="2600094" y="5737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cash</a:t>
            </a:r>
          </a:p>
        </p:txBody>
      </p:sp>
      <p:sp>
        <p:nvSpPr>
          <p:cNvPr id="1773" name="TextBox 16"/>
          <p:cNvSpPr txBox="1"/>
          <p:nvPr/>
        </p:nvSpPr>
        <p:spPr>
          <a:xfrm>
            <a:off x="9093250" y="5737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774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5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776" name="Connector 19"/>
          <p:cNvSpPr/>
          <p:nvPr/>
        </p:nvSpPr>
        <p:spPr>
          <a:xfrm>
            <a:off x="1371600" y="6263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7" name="TextBox 20"/>
          <p:cNvSpPr txBox="1"/>
          <p:nvPr/>
        </p:nvSpPr>
        <p:spPr>
          <a:xfrm>
            <a:off x="1517902" y="6423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778" name="TextBox 21"/>
          <p:cNvSpPr txBox="1"/>
          <p:nvPr/>
        </p:nvSpPr>
        <p:spPr>
          <a:xfrm>
            <a:off x="2600094" y="6423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Available cash for withdraw</a:t>
            </a:r>
          </a:p>
        </p:txBody>
      </p:sp>
      <p:sp>
        <p:nvSpPr>
          <p:cNvPr id="1779" name="TextBox 22"/>
          <p:cNvSpPr txBox="1"/>
          <p:nvPr/>
        </p:nvSpPr>
        <p:spPr>
          <a:xfrm>
            <a:off x="9093250" y="6423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780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1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782" name="TextBox 25"/>
          <p:cNvSpPr txBox="1"/>
          <p:nvPr/>
        </p:nvSpPr>
        <p:spPr>
          <a:xfrm>
            <a:off x="14504212" y="64236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Withdrawal eligibility rules visibility</a:t>
            </a:r>
          </a:p>
        </p:txBody>
      </p:sp>
      <p:sp>
        <p:nvSpPr>
          <p:cNvPr id="1783" name="Connector 26"/>
          <p:cNvSpPr/>
          <p:nvPr/>
        </p:nvSpPr>
        <p:spPr>
          <a:xfrm>
            <a:off x="1371600" y="6949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4" name="TextBox 27"/>
          <p:cNvSpPr txBox="1"/>
          <p:nvPr/>
        </p:nvSpPr>
        <p:spPr>
          <a:xfrm>
            <a:off x="1517902" y="7109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785" name="TextBox 28"/>
          <p:cNvSpPr txBox="1"/>
          <p:nvPr/>
        </p:nvSpPr>
        <p:spPr>
          <a:xfrm>
            <a:off x="2600094" y="7109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Buying power</a:t>
            </a:r>
          </a:p>
        </p:txBody>
      </p:sp>
      <p:sp>
        <p:nvSpPr>
          <p:cNvPr id="1786" name="TextBox 29"/>
          <p:cNvSpPr txBox="1"/>
          <p:nvPr/>
        </p:nvSpPr>
        <p:spPr>
          <a:xfrm>
            <a:off x="9093250" y="7109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787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8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789" name="Connector 32"/>
          <p:cNvSpPr/>
          <p:nvPr/>
        </p:nvSpPr>
        <p:spPr>
          <a:xfrm>
            <a:off x="1371600" y="763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90" name="TextBox 33"/>
          <p:cNvSpPr txBox="1"/>
          <p:nvPr/>
        </p:nvSpPr>
        <p:spPr>
          <a:xfrm>
            <a:off x="1517902" y="7795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791" name="TextBox 34"/>
          <p:cNvSpPr txBox="1"/>
          <p:nvPr/>
        </p:nvSpPr>
        <p:spPr>
          <a:xfrm>
            <a:off x="2600094" y="7795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under processing</a:t>
            </a:r>
          </a:p>
        </p:txBody>
      </p:sp>
      <p:sp>
        <p:nvSpPr>
          <p:cNvPr id="1792" name="TextBox 35"/>
          <p:cNvSpPr txBox="1"/>
          <p:nvPr/>
        </p:nvSpPr>
        <p:spPr>
          <a:xfrm>
            <a:off x="9093250" y="7795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793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4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795" name="TextBox 38"/>
          <p:cNvSpPr txBox="1"/>
          <p:nvPr/>
        </p:nvSpPr>
        <p:spPr>
          <a:xfrm>
            <a:off x="14504212" y="77952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Processing status tracking</a:t>
            </a:r>
          </a:p>
        </p:txBody>
      </p:sp>
      <p:sp>
        <p:nvSpPr>
          <p:cNvPr id="1796" name="Connector 39"/>
          <p:cNvSpPr/>
          <p:nvPr/>
        </p:nvSpPr>
        <p:spPr>
          <a:xfrm>
            <a:off x="1371600" y="8321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97" name="TextBox 40"/>
          <p:cNvSpPr txBox="1"/>
          <p:nvPr/>
        </p:nvSpPr>
        <p:spPr>
          <a:xfrm>
            <a:off x="1517902" y="84810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798" name="TextBox 41"/>
          <p:cNvSpPr txBox="1"/>
          <p:nvPr/>
        </p:nvSpPr>
        <p:spPr>
          <a:xfrm>
            <a:off x="2600094" y="84810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breakdown details</a:t>
            </a:r>
          </a:p>
        </p:txBody>
      </p:sp>
      <p:sp>
        <p:nvSpPr>
          <p:cNvPr id="1799" name="TextBox 42"/>
          <p:cNvSpPr txBox="1"/>
          <p:nvPr/>
        </p:nvSpPr>
        <p:spPr>
          <a:xfrm>
            <a:off x="9093250" y="84810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800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1" name="Picture 44" descr="Picture 4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802" name="Connector 45"/>
          <p:cNvSpPr/>
          <p:nvPr/>
        </p:nvSpPr>
        <p:spPr>
          <a:xfrm>
            <a:off x="1371600" y="90068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03" name="TextBox 46"/>
          <p:cNvSpPr txBox="1"/>
          <p:nvPr/>
        </p:nvSpPr>
        <p:spPr>
          <a:xfrm>
            <a:off x="1517902" y="9166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804" name="TextBox 47"/>
          <p:cNvSpPr txBox="1"/>
          <p:nvPr/>
        </p:nvSpPr>
        <p:spPr>
          <a:xfrm>
            <a:off x="2600094" y="9166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Liquidity visibility</a:t>
            </a:r>
          </a:p>
        </p:txBody>
      </p:sp>
      <p:sp>
        <p:nvSpPr>
          <p:cNvPr id="1805" name="TextBox 48"/>
          <p:cNvSpPr txBox="1"/>
          <p:nvPr/>
        </p:nvSpPr>
        <p:spPr>
          <a:xfrm>
            <a:off x="9093250" y="9166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806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7" name="Picture 50" descr="Picture 5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808" name="Connector 51"/>
          <p:cNvSpPr/>
          <p:nvPr/>
        </p:nvSpPr>
        <p:spPr>
          <a:xfrm>
            <a:off x="1371600" y="9692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09" name="TextBox 52"/>
          <p:cNvSpPr txBox="1"/>
          <p:nvPr/>
        </p:nvSpPr>
        <p:spPr>
          <a:xfrm>
            <a:off x="1517902" y="9852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810" name="TextBox 53"/>
          <p:cNvSpPr txBox="1"/>
          <p:nvPr/>
        </p:nvSpPr>
        <p:spPr>
          <a:xfrm>
            <a:off x="2600094" y="9852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cash navigation</a:t>
            </a:r>
          </a:p>
        </p:txBody>
      </p:sp>
      <p:sp>
        <p:nvSpPr>
          <p:cNvPr id="1811" name="TextBox 54"/>
          <p:cNvSpPr txBox="1"/>
          <p:nvPr/>
        </p:nvSpPr>
        <p:spPr>
          <a:xfrm>
            <a:off x="9093250" y="9852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1812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8892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3" name="Picture 56" descr="Picture 5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8892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814" name="Connector 57"/>
          <p:cNvSpPr/>
          <p:nvPr/>
        </p:nvSpPr>
        <p:spPr>
          <a:xfrm>
            <a:off x="1371600" y="10378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5" name="TextBox 58"/>
          <p:cNvSpPr txBox="1"/>
          <p:nvPr/>
        </p:nvSpPr>
        <p:spPr>
          <a:xfrm>
            <a:off x="1517902" y="10538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816" name="TextBox 59"/>
          <p:cNvSpPr txBox="1"/>
          <p:nvPr/>
        </p:nvSpPr>
        <p:spPr>
          <a:xfrm>
            <a:off x="2600094" y="10538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display preferences</a:t>
            </a:r>
          </a:p>
        </p:txBody>
      </p:sp>
      <p:sp>
        <p:nvSpPr>
          <p:cNvPr id="1817" name="TextBox 60"/>
          <p:cNvSpPr txBox="1"/>
          <p:nvPr/>
        </p:nvSpPr>
        <p:spPr>
          <a:xfrm>
            <a:off x="9093250" y="10538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1818" name="Picture 61" descr="Picture 6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5750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9" name="Picture 62" descr="Picture 6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5750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820" name="TextBox 63"/>
          <p:cNvSpPr txBox="1"/>
          <p:nvPr/>
        </p:nvSpPr>
        <p:spPr>
          <a:xfrm>
            <a:off x="14504212" y="105384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customization</a:t>
            </a:r>
          </a:p>
        </p:txBody>
      </p:sp>
      <p:sp>
        <p:nvSpPr>
          <p:cNvPr id="1821" name="Connector 64"/>
          <p:cNvSpPr/>
          <p:nvPr/>
        </p:nvSpPr>
        <p:spPr>
          <a:xfrm>
            <a:off x="1371600" y="11064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1824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026 / 111</a:t>
            </a:r>
          </a:p>
        </p:txBody>
      </p:sp>
      <p:sp>
        <p:nvSpPr>
          <p:cNvPr id="1825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1826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Orders &amp; Execution Management</a:t>
            </a:r>
          </a:p>
        </p:txBody>
      </p:sp>
      <p:sp>
        <p:nvSpPr>
          <p:cNvPr id="1827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1828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1829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1830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1831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1832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1833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1834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835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6" name="TextBox 14"/>
          <p:cNvSpPr txBox="1"/>
          <p:nvPr/>
        </p:nvSpPr>
        <p:spPr>
          <a:xfrm>
            <a:off x="1517902" y="564642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837" name="TextBox 15"/>
          <p:cNvSpPr txBox="1"/>
          <p:nvPr/>
        </p:nvSpPr>
        <p:spPr>
          <a:xfrm>
            <a:off x="2600094" y="564642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Orders list view</a:t>
            </a:r>
          </a:p>
        </p:txBody>
      </p:sp>
      <p:sp>
        <p:nvSpPr>
          <p:cNvPr id="1838" name="TextBox 16"/>
          <p:cNvSpPr txBox="1"/>
          <p:nvPr/>
        </p:nvSpPr>
        <p:spPr>
          <a:xfrm>
            <a:off x="9093250" y="564642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839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8299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0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8299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841" name="Connector 19"/>
          <p:cNvSpPr/>
          <p:nvPr/>
        </p:nvSpPr>
        <p:spPr>
          <a:xfrm>
            <a:off x="1371600" y="60807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2" name="TextBox 20"/>
          <p:cNvSpPr txBox="1"/>
          <p:nvPr/>
        </p:nvSpPr>
        <p:spPr>
          <a:xfrm>
            <a:off x="1517902" y="61493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843" name="TextBox 21"/>
          <p:cNvSpPr txBox="1"/>
          <p:nvPr/>
        </p:nvSpPr>
        <p:spPr>
          <a:xfrm>
            <a:off x="2600094" y="61493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status visibility</a:t>
            </a:r>
          </a:p>
        </p:txBody>
      </p:sp>
      <p:sp>
        <p:nvSpPr>
          <p:cNvPr id="1844" name="TextBox 22"/>
          <p:cNvSpPr txBox="1"/>
          <p:nvPr/>
        </p:nvSpPr>
        <p:spPr>
          <a:xfrm>
            <a:off x="9093250" y="61493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845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18591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6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18591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847" name="Connector 25"/>
          <p:cNvSpPr/>
          <p:nvPr/>
        </p:nvSpPr>
        <p:spPr>
          <a:xfrm>
            <a:off x="1371600" y="65836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8" name="TextBox 26"/>
          <p:cNvSpPr txBox="1"/>
          <p:nvPr/>
        </p:nvSpPr>
        <p:spPr>
          <a:xfrm>
            <a:off x="1517902" y="6652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849" name="TextBox 27"/>
          <p:cNvSpPr txBox="1"/>
          <p:nvPr/>
        </p:nvSpPr>
        <p:spPr>
          <a:xfrm>
            <a:off x="2600094" y="6652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details view</a:t>
            </a:r>
          </a:p>
        </p:txBody>
      </p:sp>
      <p:sp>
        <p:nvSpPr>
          <p:cNvPr id="1850" name="TextBox 28"/>
          <p:cNvSpPr txBox="1"/>
          <p:nvPr/>
        </p:nvSpPr>
        <p:spPr>
          <a:xfrm>
            <a:off x="9093250" y="6652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851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6888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2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6888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853" name="Connector 31"/>
          <p:cNvSpPr/>
          <p:nvPr/>
        </p:nvSpPr>
        <p:spPr>
          <a:xfrm>
            <a:off x="1371600" y="70866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54" name="TextBox 32"/>
          <p:cNvSpPr txBox="1"/>
          <p:nvPr/>
        </p:nvSpPr>
        <p:spPr>
          <a:xfrm>
            <a:off x="1517902" y="715518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855" name="TextBox 33"/>
          <p:cNvSpPr txBox="1"/>
          <p:nvPr/>
        </p:nvSpPr>
        <p:spPr>
          <a:xfrm>
            <a:off x="2600094" y="715518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Transaction history (1 month in a year)</a:t>
            </a:r>
          </a:p>
        </p:txBody>
      </p:sp>
      <p:sp>
        <p:nvSpPr>
          <p:cNvPr id="1856" name="TextBox 34"/>
          <p:cNvSpPr txBox="1"/>
          <p:nvPr/>
        </p:nvSpPr>
        <p:spPr>
          <a:xfrm>
            <a:off x="9093250" y="715518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857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9175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8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9175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859" name="TextBox 37"/>
          <p:cNvSpPr txBox="1"/>
          <p:nvPr/>
        </p:nvSpPr>
        <p:spPr>
          <a:xfrm>
            <a:off x="14504212" y="7155180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history</a:t>
            </a:r>
          </a:p>
        </p:txBody>
      </p:sp>
      <p:sp>
        <p:nvSpPr>
          <p:cNvPr id="1860" name="Connector 38"/>
          <p:cNvSpPr/>
          <p:nvPr/>
        </p:nvSpPr>
        <p:spPr>
          <a:xfrm>
            <a:off x="1371600" y="75895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61" name="TextBox 39"/>
          <p:cNvSpPr txBox="1"/>
          <p:nvPr/>
        </p:nvSpPr>
        <p:spPr>
          <a:xfrm>
            <a:off x="1517902" y="76581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862" name="TextBox 40"/>
          <p:cNvSpPr txBox="1"/>
          <p:nvPr/>
        </p:nvSpPr>
        <p:spPr>
          <a:xfrm>
            <a:off x="2600094" y="76581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details view</a:t>
            </a:r>
          </a:p>
        </p:txBody>
      </p:sp>
      <p:sp>
        <p:nvSpPr>
          <p:cNvPr id="1863" name="TextBox 41"/>
          <p:cNvSpPr txBox="1"/>
          <p:nvPr/>
        </p:nvSpPr>
        <p:spPr>
          <a:xfrm>
            <a:off x="9093250" y="76580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864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6946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65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6946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866" name="Connector 44"/>
          <p:cNvSpPr/>
          <p:nvPr/>
        </p:nvSpPr>
        <p:spPr>
          <a:xfrm>
            <a:off x="1371600" y="8092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67" name="TextBox 45"/>
          <p:cNvSpPr txBox="1"/>
          <p:nvPr/>
        </p:nvSpPr>
        <p:spPr>
          <a:xfrm>
            <a:off x="1517902" y="816101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868" name="TextBox 46"/>
          <p:cNvSpPr txBox="1"/>
          <p:nvPr/>
        </p:nvSpPr>
        <p:spPr>
          <a:xfrm>
            <a:off x="2600094" y="816101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Execution price visibility</a:t>
            </a:r>
          </a:p>
        </p:txBody>
      </p:sp>
      <p:sp>
        <p:nvSpPr>
          <p:cNvPr id="1869" name="TextBox 47"/>
          <p:cNvSpPr txBox="1"/>
          <p:nvPr/>
        </p:nvSpPr>
        <p:spPr>
          <a:xfrm>
            <a:off x="9093250" y="816101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870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19759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1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19759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872" name="Connector 50"/>
          <p:cNvSpPr/>
          <p:nvPr/>
        </p:nvSpPr>
        <p:spPr>
          <a:xfrm>
            <a:off x="1371600" y="85953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73" name="TextBox 51"/>
          <p:cNvSpPr txBox="1"/>
          <p:nvPr/>
        </p:nvSpPr>
        <p:spPr>
          <a:xfrm>
            <a:off x="1517902" y="86639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874" name="TextBox 52"/>
          <p:cNvSpPr txBox="1"/>
          <p:nvPr/>
        </p:nvSpPr>
        <p:spPr>
          <a:xfrm>
            <a:off x="2600094" y="86639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validity visibility</a:t>
            </a:r>
          </a:p>
        </p:txBody>
      </p:sp>
      <p:sp>
        <p:nvSpPr>
          <p:cNvPr id="1875" name="TextBox 53"/>
          <p:cNvSpPr txBox="1"/>
          <p:nvPr/>
        </p:nvSpPr>
        <p:spPr>
          <a:xfrm>
            <a:off x="9093250" y="86639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876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70051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7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70051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878" name="Connector 56"/>
          <p:cNvSpPr/>
          <p:nvPr/>
        </p:nvSpPr>
        <p:spPr>
          <a:xfrm>
            <a:off x="1371600" y="90982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79" name="TextBox 57"/>
          <p:cNvSpPr txBox="1"/>
          <p:nvPr/>
        </p:nvSpPr>
        <p:spPr>
          <a:xfrm>
            <a:off x="1517902" y="9166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880" name="TextBox 58"/>
          <p:cNvSpPr txBox="1"/>
          <p:nvPr/>
        </p:nvSpPr>
        <p:spPr>
          <a:xfrm>
            <a:off x="2600094" y="9166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Partially execution details</a:t>
            </a:r>
          </a:p>
        </p:txBody>
      </p:sp>
      <p:sp>
        <p:nvSpPr>
          <p:cNvPr id="1881" name="TextBox 59"/>
          <p:cNvSpPr txBox="1"/>
          <p:nvPr/>
        </p:nvSpPr>
        <p:spPr>
          <a:xfrm>
            <a:off x="9093250" y="9166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1882" name="Picture 60" descr="Picture 6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3" name="Picture 61" descr="Picture 6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884" name="Connector 62"/>
          <p:cNvSpPr/>
          <p:nvPr/>
        </p:nvSpPr>
        <p:spPr>
          <a:xfrm>
            <a:off x="1371600" y="96012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5" name="TextBox 63"/>
          <p:cNvSpPr txBox="1"/>
          <p:nvPr/>
        </p:nvSpPr>
        <p:spPr>
          <a:xfrm>
            <a:off x="1517902" y="966978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886" name="TextBox 64"/>
          <p:cNvSpPr txBox="1"/>
          <p:nvPr/>
        </p:nvSpPr>
        <p:spPr>
          <a:xfrm>
            <a:off x="2600094" y="966978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Place/Cancel/Modify/Reorder order</a:t>
            </a:r>
          </a:p>
        </p:txBody>
      </p:sp>
      <p:sp>
        <p:nvSpPr>
          <p:cNvPr id="1887" name="TextBox 65"/>
          <p:cNvSpPr txBox="1"/>
          <p:nvPr/>
        </p:nvSpPr>
        <p:spPr>
          <a:xfrm>
            <a:off x="9093250" y="966978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888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70635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9" name="Picture 67" descr="Picture 6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70635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890" name="Connector 68"/>
          <p:cNvSpPr/>
          <p:nvPr/>
        </p:nvSpPr>
        <p:spPr>
          <a:xfrm>
            <a:off x="1371600" y="101041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1" name="TextBox 69"/>
          <p:cNvSpPr txBox="1"/>
          <p:nvPr/>
        </p:nvSpPr>
        <p:spPr>
          <a:xfrm>
            <a:off x="1517902" y="101727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892" name="TextBox 70"/>
          <p:cNvSpPr txBox="1"/>
          <p:nvPr/>
        </p:nvSpPr>
        <p:spPr>
          <a:xfrm>
            <a:off x="2600094" y="101727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Change to market price</a:t>
            </a:r>
          </a:p>
        </p:txBody>
      </p:sp>
      <p:sp>
        <p:nvSpPr>
          <p:cNvPr id="1893" name="TextBox 71"/>
          <p:cNvSpPr txBox="1"/>
          <p:nvPr/>
        </p:nvSpPr>
        <p:spPr>
          <a:xfrm>
            <a:off x="9093250" y="101726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894" name="Picture 72" descr="Picture 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2092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5" name="Picture 73" descr="Picture 7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2092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896" name="Connector 74"/>
          <p:cNvSpPr/>
          <p:nvPr/>
        </p:nvSpPr>
        <p:spPr>
          <a:xfrm>
            <a:off x="1371600" y="10607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7" name="TextBox 75"/>
          <p:cNvSpPr txBox="1"/>
          <p:nvPr/>
        </p:nvSpPr>
        <p:spPr>
          <a:xfrm>
            <a:off x="1517902" y="1067561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898" name="TextBox 76"/>
          <p:cNvSpPr txBox="1"/>
          <p:nvPr/>
        </p:nvSpPr>
        <p:spPr>
          <a:xfrm>
            <a:off x="2600094" y="1067561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Advanced order types (stop loss / take profit / basket)</a:t>
            </a:r>
          </a:p>
        </p:txBody>
      </p:sp>
      <p:sp>
        <p:nvSpPr>
          <p:cNvPr id="1899" name="TextBox 77"/>
          <p:cNvSpPr txBox="1"/>
          <p:nvPr/>
        </p:nvSpPr>
        <p:spPr>
          <a:xfrm>
            <a:off x="9093250" y="1067561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900" name="Picture 78" descr="Picture 7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71219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1" name="Picture 79" descr="Picture 7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71219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902" name="Connector 80"/>
          <p:cNvSpPr/>
          <p:nvPr/>
        </p:nvSpPr>
        <p:spPr>
          <a:xfrm>
            <a:off x="1371600" y="111099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3" name="TextBox 81"/>
          <p:cNvSpPr txBox="1"/>
          <p:nvPr/>
        </p:nvSpPr>
        <p:spPr>
          <a:xfrm>
            <a:off x="1517902" y="111785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1904" name="TextBox 82"/>
          <p:cNvSpPr txBox="1"/>
          <p:nvPr/>
        </p:nvSpPr>
        <p:spPr>
          <a:xfrm>
            <a:off x="2600094" y="11178540"/>
            <a:ext cx="6200549" cy="584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Advanced order types (Attached / Slicing / Chain / Bracket / Market on close / Trailing)</a:t>
            </a:r>
          </a:p>
        </p:txBody>
      </p:sp>
      <p:sp>
        <p:nvSpPr>
          <p:cNvPr id="1905" name="TextBox 83"/>
          <p:cNvSpPr txBox="1"/>
          <p:nvPr/>
        </p:nvSpPr>
        <p:spPr>
          <a:xfrm>
            <a:off x="9093250" y="111785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906" name="Picture 84" descr="Picture 8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21511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7" name="Picture 85" descr="Picture 8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21511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908" name="Connector 86"/>
          <p:cNvSpPr/>
          <p:nvPr/>
        </p:nvSpPr>
        <p:spPr>
          <a:xfrm>
            <a:off x="1371600" y="116128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9" name="TextBox 87"/>
          <p:cNvSpPr txBox="1"/>
          <p:nvPr/>
        </p:nvSpPr>
        <p:spPr>
          <a:xfrm>
            <a:off x="1517902" y="11681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1910" name="TextBox 88"/>
          <p:cNvSpPr txBox="1"/>
          <p:nvPr/>
        </p:nvSpPr>
        <p:spPr>
          <a:xfrm>
            <a:off x="2600094" y="11681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Customize order view (card/table)</a:t>
            </a:r>
          </a:p>
        </p:txBody>
      </p:sp>
      <p:sp>
        <p:nvSpPr>
          <p:cNvPr id="1911" name="TextBox 89"/>
          <p:cNvSpPr txBox="1"/>
          <p:nvPr/>
        </p:nvSpPr>
        <p:spPr>
          <a:xfrm>
            <a:off x="9093250" y="11681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1912" name="Picture 90" descr="Picture 9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7180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13" name="Picture 91" descr="Picture 9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7180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914" name="Connector 92"/>
          <p:cNvSpPr/>
          <p:nvPr/>
        </p:nvSpPr>
        <p:spPr>
          <a:xfrm>
            <a:off x="1371600" y="121158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5" name="TextBox 93"/>
          <p:cNvSpPr txBox="1"/>
          <p:nvPr/>
        </p:nvSpPr>
        <p:spPr>
          <a:xfrm>
            <a:off x="1517902" y="1218438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1916" name="TextBox 94"/>
          <p:cNvSpPr txBox="1"/>
          <p:nvPr/>
        </p:nvSpPr>
        <p:spPr>
          <a:xfrm>
            <a:off x="2600094" y="1218438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filtering</a:t>
            </a:r>
          </a:p>
        </p:txBody>
      </p:sp>
      <p:sp>
        <p:nvSpPr>
          <p:cNvPr id="1917" name="TextBox 95"/>
          <p:cNvSpPr txBox="1"/>
          <p:nvPr/>
        </p:nvSpPr>
        <p:spPr>
          <a:xfrm>
            <a:off x="9093250" y="1218438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1918" name="Picture 96" descr="Picture 9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2095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19" name="Picture 97" descr="Picture 9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2095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920" name="Connector 98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1923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027 / 111</a:t>
            </a:r>
          </a:p>
        </p:txBody>
      </p:sp>
      <p:sp>
        <p:nvSpPr>
          <p:cNvPr id="1924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1925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Orders Type</a:t>
            </a:r>
          </a:p>
        </p:txBody>
      </p:sp>
      <p:sp>
        <p:nvSpPr>
          <p:cNvPr id="1926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1927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1928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1929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1930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1931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1932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1933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934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5" name="TextBox 14"/>
          <p:cNvSpPr txBox="1"/>
          <p:nvPr/>
        </p:nvSpPr>
        <p:spPr>
          <a:xfrm>
            <a:off x="1517902" y="561498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936" name="TextBox 15"/>
          <p:cNvSpPr txBox="1"/>
          <p:nvPr/>
        </p:nvSpPr>
        <p:spPr>
          <a:xfrm>
            <a:off x="2600094" y="561498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</a:t>
            </a:r>
          </a:p>
        </p:txBody>
      </p:sp>
      <p:sp>
        <p:nvSpPr>
          <p:cNvPr id="1937" name="TextBox 16"/>
          <p:cNvSpPr txBox="1"/>
          <p:nvPr/>
        </p:nvSpPr>
        <p:spPr>
          <a:xfrm>
            <a:off x="9093250" y="56149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938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156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9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156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940" name="Connector 19"/>
          <p:cNvSpPr/>
          <p:nvPr/>
        </p:nvSpPr>
        <p:spPr>
          <a:xfrm>
            <a:off x="1371600" y="601789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41" name="TextBox 20"/>
          <p:cNvSpPr txBox="1"/>
          <p:nvPr/>
        </p:nvSpPr>
        <p:spPr>
          <a:xfrm>
            <a:off x="1517902" y="605504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942" name="TextBox 21"/>
          <p:cNvSpPr txBox="1"/>
          <p:nvPr/>
        </p:nvSpPr>
        <p:spPr>
          <a:xfrm>
            <a:off x="2600094" y="605504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Limit</a:t>
            </a:r>
          </a:p>
        </p:txBody>
      </p:sp>
      <p:sp>
        <p:nvSpPr>
          <p:cNvPr id="1943" name="TextBox 22"/>
          <p:cNvSpPr txBox="1"/>
          <p:nvPr/>
        </p:nvSpPr>
        <p:spPr>
          <a:xfrm>
            <a:off x="9093250" y="605504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944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9161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45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9161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946" name="Connector 25"/>
          <p:cNvSpPr/>
          <p:nvPr/>
        </p:nvSpPr>
        <p:spPr>
          <a:xfrm>
            <a:off x="1371600" y="645795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47" name="TextBox 26"/>
          <p:cNvSpPr txBox="1"/>
          <p:nvPr/>
        </p:nvSpPr>
        <p:spPr>
          <a:xfrm>
            <a:off x="1517902" y="649509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948" name="TextBox 27"/>
          <p:cNvSpPr txBox="1"/>
          <p:nvPr/>
        </p:nvSpPr>
        <p:spPr>
          <a:xfrm>
            <a:off x="2600094" y="649509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Conditional (per stock/ sector/ market) movement</a:t>
            </a:r>
          </a:p>
        </p:txBody>
      </p:sp>
      <p:sp>
        <p:nvSpPr>
          <p:cNvPr id="1949" name="TextBox 28"/>
          <p:cNvSpPr txBox="1"/>
          <p:nvPr/>
        </p:nvSpPr>
        <p:spPr>
          <a:xfrm>
            <a:off x="9093250" y="649509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950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53167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51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53167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952" name="Connector 31"/>
          <p:cNvSpPr/>
          <p:nvPr/>
        </p:nvSpPr>
        <p:spPr>
          <a:xfrm>
            <a:off x="1371600" y="689800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3" name="TextBox 32"/>
          <p:cNvSpPr txBox="1"/>
          <p:nvPr/>
        </p:nvSpPr>
        <p:spPr>
          <a:xfrm>
            <a:off x="1517902" y="693515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954" name="TextBox 33"/>
          <p:cNvSpPr txBox="1"/>
          <p:nvPr/>
        </p:nvSpPr>
        <p:spPr>
          <a:xfrm>
            <a:off x="2600094" y="693515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Disclosed order (more than 50K stocks )</a:t>
            </a:r>
          </a:p>
        </p:txBody>
      </p:sp>
      <p:sp>
        <p:nvSpPr>
          <p:cNvPr id="1955" name="TextBox 34"/>
          <p:cNvSpPr txBox="1"/>
          <p:nvPr/>
        </p:nvSpPr>
        <p:spPr>
          <a:xfrm>
            <a:off x="9093250" y="693515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956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97172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57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971727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958" name="Connector 37"/>
          <p:cNvSpPr/>
          <p:nvPr/>
        </p:nvSpPr>
        <p:spPr>
          <a:xfrm>
            <a:off x="1371600" y="73380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9" name="TextBox 38"/>
          <p:cNvSpPr txBox="1"/>
          <p:nvPr/>
        </p:nvSpPr>
        <p:spPr>
          <a:xfrm>
            <a:off x="1517902" y="737520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960" name="TextBox 39"/>
          <p:cNvSpPr txBox="1"/>
          <p:nvPr/>
        </p:nvSpPr>
        <p:spPr>
          <a:xfrm>
            <a:off x="2600094" y="737520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Basket</a:t>
            </a:r>
          </a:p>
        </p:txBody>
      </p:sp>
      <p:sp>
        <p:nvSpPr>
          <p:cNvPr id="1961" name="TextBox 40"/>
          <p:cNvSpPr txBox="1"/>
          <p:nvPr/>
        </p:nvSpPr>
        <p:spPr>
          <a:xfrm>
            <a:off x="9093250" y="737520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962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41178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3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41178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964" name="Connector 43"/>
          <p:cNvSpPr/>
          <p:nvPr/>
        </p:nvSpPr>
        <p:spPr>
          <a:xfrm>
            <a:off x="1371600" y="777811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5" name="TextBox 44"/>
          <p:cNvSpPr txBox="1"/>
          <p:nvPr/>
        </p:nvSpPr>
        <p:spPr>
          <a:xfrm>
            <a:off x="1517902" y="781526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966" name="TextBox 45"/>
          <p:cNvSpPr txBox="1"/>
          <p:nvPr/>
        </p:nvSpPr>
        <p:spPr>
          <a:xfrm>
            <a:off x="2600094" y="781526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Take profit (sell)</a:t>
            </a:r>
          </a:p>
        </p:txBody>
      </p:sp>
      <p:sp>
        <p:nvSpPr>
          <p:cNvPr id="1967" name="TextBox 46"/>
          <p:cNvSpPr txBox="1"/>
          <p:nvPr/>
        </p:nvSpPr>
        <p:spPr>
          <a:xfrm>
            <a:off x="9093250" y="7815260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968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5183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9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51837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970" name="Connector 49"/>
          <p:cNvSpPr/>
          <p:nvPr/>
        </p:nvSpPr>
        <p:spPr>
          <a:xfrm>
            <a:off x="1371600" y="821816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1" name="TextBox 50"/>
          <p:cNvSpPr txBox="1"/>
          <p:nvPr/>
        </p:nvSpPr>
        <p:spPr>
          <a:xfrm>
            <a:off x="1517902" y="825531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972" name="TextBox 51"/>
          <p:cNvSpPr txBox="1"/>
          <p:nvPr/>
        </p:nvSpPr>
        <p:spPr>
          <a:xfrm>
            <a:off x="2600094" y="825531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Stop loss (sell)</a:t>
            </a:r>
          </a:p>
        </p:txBody>
      </p:sp>
      <p:sp>
        <p:nvSpPr>
          <p:cNvPr id="1973" name="TextBox 52"/>
          <p:cNvSpPr txBox="1"/>
          <p:nvPr/>
        </p:nvSpPr>
        <p:spPr>
          <a:xfrm>
            <a:off x="9093250" y="82553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974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29189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75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29189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976" name="Connector 55"/>
          <p:cNvSpPr/>
          <p:nvPr/>
        </p:nvSpPr>
        <p:spPr>
          <a:xfrm>
            <a:off x="1371600" y="8658225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7" name="TextBox 56"/>
          <p:cNvSpPr txBox="1"/>
          <p:nvPr/>
        </p:nvSpPr>
        <p:spPr>
          <a:xfrm>
            <a:off x="1517902" y="8695372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978" name="TextBox 57"/>
          <p:cNvSpPr txBox="1"/>
          <p:nvPr/>
        </p:nvSpPr>
        <p:spPr>
          <a:xfrm>
            <a:off x="2600094" y="8695372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Attached order</a:t>
            </a:r>
          </a:p>
        </p:txBody>
      </p:sp>
      <p:sp>
        <p:nvSpPr>
          <p:cNvPr id="1979" name="TextBox 58"/>
          <p:cNvSpPr txBox="1"/>
          <p:nvPr/>
        </p:nvSpPr>
        <p:spPr>
          <a:xfrm>
            <a:off x="9093250" y="869537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980" name="Picture 59" descr="Picture 5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873194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81" name="Picture 60" descr="Picture 6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873194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982" name="Connector 61"/>
          <p:cNvSpPr/>
          <p:nvPr/>
        </p:nvSpPr>
        <p:spPr>
          <a:xfrm>
            <a:off x="1371600" y="90982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83" name="TextBox 62"/>
          <p:cNvSpPr txBox="1"/>
          <p:nvPr/>
        </p:nvSpPr>
        <p:spPr>
          <a:xfrm>
            <a:off x="1517902" y="913542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984" name="TextBox 63"/>
          <p:cNvSpPr txBox="1"/>
          <p:nvPr/>
        </p:nvSpPr>
        <p:spPr>
          <a:xfrm>
            <a:off x="2600094" y="913542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Slicing order</a:t>
            </a:r>
          </a:p>
        </p:txBody>
      </p:sp>
      <p:sp>
        <p:nvSpPr>
          <p:cNvPr id="1985" name="TextBox 64"/>
          <p:cNvSpPr txBox="1"/>
          <p:nvPr/>
        </p:nvSpPr>
        <p:spPr>
          <a:xfrm>
            <a:off x="9093250" y="913542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986" name="Picture 65" descr="Picture 6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17200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87" name="Picture 66" descr="Picture 6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172002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988" name="TextBox 67"/>
          <p:cNvSpPr txBox="1"/>
          <p:nvPr/>
        </p:nvSpPr>
        <p:spPr>
          <a:xfrm>
            <a:off x="18832982" y="9135426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ARCD-1532</a:t>
            </a:r>
          </a:p>
        </p:txBody>
      </p:sp>
      <p:sp>
        <p:nvSpPr>
          <p:cNvPr id="1989" name="Connector 68"/>
          <p:cNvSpPr/>
          <p:nvPr/>
        </p:nvSpPr>
        <p:spPr>
          <a:xfrm>
            <a:off x="1371600" y="9538334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90" name="TextBox 69"/>
          <p:cNvSpPr txBox="1"/>
          <p:nvPr/>
        </p:nvSpPr>
        <p:spPr>
          <a:xfrm>
            <a:off x="1517902" y="957548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991" name="TextBox 70"/>
          <p:cNvSpPr txBox="1"/>
          <p:nvPr/>
        </p:nvSpPr>
        <p:spPr>
          <a:xfrm>
            <a:off x="2600094" y="957548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Chain order</a:t>
            </a:r>
          </a:p>
        </p:txBody>
      </p:sp>
      <p:sp>
        <p:nvSpPr>
          <p:cNvPr id="1992" name="TextBox 71"/>
          <p:cNvSpPr txBox="1"/>
          <p:nvPr/>
        </p:nvSpPr>
        <p:spPr>
          <a:xfrm>
            <a:off x="9093250" y="957548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1993" name="Picture 72" descr="Picture 7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61205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4" name="Picture 73" descr="Picture 7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61205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995" name="TextBox 74"/>
          <p:cNvSpPr txBox="1"/>
          <p:nvPr/>
        </p:nvSpPr>
        <p:spPr>
          <a:xfrm>
            <a:off x="18832982" y="9575482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ARCD-2652</a:t>
            </a:r>
          </a:p>
        </p:txBody>
      </p:sp>
      <p:sp>
        <p:nvSpPr>
          <p:cNvPr id="1996" name="Connector 75"/>
          <p:cNvSpPr/>
          <p:nvPr/>
        </p:nvSpPr>
        <p:spPr>
          <a:xfrm>
            <a:off x="1371600" y="997839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97" name="TextBox 76"/>
          <p:cNvSpPr txBox="1"/>
          <p:nvPr/>
        </p:nvSpPr>
        <p:spPr>
          <a:xfrm>
            <a:off x="1517902" y="10015535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998" name="TextBox 77"/>
          <p:cNvSpPr txBox="1"/>
          <p:nvPr/>
        </p:nvSpPr>
        <p:spPr>
          <a:xfrm>
            <a:off x="2600094" y="10015535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Bracket order</a:t>
            </a:r>
          </a:p>
        </p:txBody>
      </p:sp>
      <p:sp>
        <p:nvSpPr>
          <p:cNvPr id="1999" name="TextBox 78"/>
          <p:cNvSpPr txBox="1"/>
          <p:nvPr/>
        </p:nvSpPr>
        <p:spPr>
          <a:xfrm>
            <a:off x="9093250" y="100155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000" name="Picture 79" descr="Picture 7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05211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01" name="Picture 80" descr="Picture 8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052112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002" name="TextBox 81"/>
          <p:cNvSpPr txBox="1"/>
          <p:nvPr/>
        </p:nvSpPr>
        <p:spPr>
          <a:xfrm>
            <a:off x="18832982" y="10015535"/>
            <a:ext cx="230465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ARCD-1708</a:t>
            </a:r>
          </a:p>
        </p:txBody>
      </p:sp>
      <p:sp>
        <p:nvSpPr>
          <p:cNvPr id="2003" name="Connector 82"/>
          <p:cNvSpPr/>
          <p:nvPr/>
        </p:nvSpPr>
        <p:spPr>
          <a:xfrm>
            <a:off x="1371600" y="1041844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04" name="TextBox 83"/>
          <p:cNvSpPr txBox="1"/>
          <p:nvPr/>
        </p:nvSpPr>
        <p:spPr>
          <a:xfrm>
            <a:off x="1517902" y="1045559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005" name="TextBox 84"/>
          <p:cNvSpPr txBox="1"/>
          <p:nvPr/>
        </p:nvSpPr>
        <p:spPr>
          <a:xfrm>
            <a:off x="2600094" y="1045559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on close (MOC)</a:t>
            </a:r>
          </a:p>
        </p:txBody>
      </p:sp>
      <p:sp>
        <p:nvSpPr>
          <p:cNvPr id="2006" name="TextBox 85"/>
          <p:cNvSpPr txBox="1"/>
          <p:nvPr/>
        </p:nvSpPr>
        <p:spPr>
          <a:xfrm>
            <a:off x="9093250" y="1045559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007" name="Picture 86" descr="Picture 8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49216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08" name="Picture 87" descr="Picture 8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49216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009" name="TextBox 88"/>
          <p:cNvSpPr txBox="1"/>
          <p:nvPr/>
        </p:nvSpPr>
        <p:spPr>
          <a:xfrm>
            <a:off x="18832982" y="10455592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ARCD-9245</a:t>
            </a:r>
          </a:p>
        </p:txBody>
      </p:sp>
      <p:sp>
        <p:nvSpPr>
          <p:cNvPr id="2010" name="Connector 89"/>
          <p:cNvSpPr/>
          <p:nvPr/>
        </p:nvSpPr>
        <p:spPr>
          <a:xfrm>
            <a:off x="1371600" y="108585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1" name="TextBox 90"/>
          <p:cNvSpPr txBox="1"/>
          <p:nvPr/>
        </p:nvSpPr>
        <p:spPr>
          <a:xfrm>
            <a:off x="1517902" y="10895647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012" name="TextBox 91"/>
          <p:cNvSpPr txBox="1"/>
          <p:nvPr/>
        </p:nvSpPr>
        <p:spPr>
          <a:xfrm>
            <a:off x="2600094" y="10895647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Trailing order</a:t>
            </a:r>
          </a:p>
        </p:txBody>
      </p:sp>
      <p:sp>
        <p:nvSpPr>
          <p:cNvPr id="2013" name="TextBox 92"/>
          <p:cNvSpPr txBox="1"/>
          <p:nvPr/>
        </p:nvSpPr>
        <p:spPr>
          <a:xfrm>
            <a:off x="9093250" y="1089564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014" name="Picture 93" descr="Picture 9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93222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15" name="Picture 94" descr="Picture 9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93222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016" name="Connector 95"/>
          <p:cNvSpPr/>
          <p:nvPr/>
        </p:nvSpPr>
        <p:spPr>
          <a:xfrm>
            <a:off x="1371600" y="1129855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7" name="TextBox 96"/>
          <p:cNvSpPr txBox="1"/>
          <p:nvPr/>
        </p:nvSpPr>
        <p:spPr>
          <a:xfrm>
            <a:off x="1517902" y="1133570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2018" name="TextBox 97"/>
          <p:cNvSpPr txBox="1"/>
          <p:nvPr/>
        </p:nvSpPr>
        <p:spPr>
          <a:xfrm>
            <a:off x="2600094" y="1133570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Trading session (regular/pre market/ post market)</a:t>
            </a:r>
          </a:p>
        </p:txBody>
      </p:sp>
      <p:sp>
        <p:nvSpPr>
          <p:cNvPr id="2019" name="TextBox 98"/>
          <p:cNvSpPr txBox="1"/>
          <p:nvPr/>
        </p:nvSpPr>
        <p:spPr>
          <a:xfrm>
            <a:off x="9093250" y="1133570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2020" name="TextBox 99"/>
          <p:cNvSpPr txBox="1"/>
          <p:nvPr/>
        </p:nvSpPr>
        <p:spPr>
          <a:xfrm>
            <a:off x="10894893" y="11335701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2021" name="TextBox 100"/>
          <p:cNvSpPr txBox="1"/>
          <p:nvPr/>
        </p:nvSpPr>
        <p:spPr>
          <a:xfrm>
            <a:off x="12626399" y="11335701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2022" name="Connector 101"/>
          <p:cNvSpPr/>
          <p:nvPr/>
        </p:nvSpPr>
        <p:spPr>
          <a:xfrm>
            <a:off x="1371600" y="1173860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3" name="TextBox 102"/>
          <p:cNvSpPr txBox="1"/>
          <p:nvPr/>
        </p:nvSpPr>
        <p:spPr>
          <a:xfrm>
            <a:off x="1517902" y="1177575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2024" name="TextBox 103"/>
          <p:cNvSpPr txBox="1"/>
          <p:nvPr/>
        </p:nvSpPr>
        <p:spPr>
          <a:xfrm>
            <a:off x="2600094" y="1177575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Overnight trading</a:t>
            </a:r>
          </a:p>
        </p:txBody>
      </p:sp>
      <p:sp>
        <p:nvSpPr>
          <p:cNvPr id="2025" name="TextBox 104"/>
          <p:cNvSpPr txBox="1"/>
          <p:nvPr/>
        </p:nvSpPr>
        <p:spPr>
          <a:xfrm>
            <a:off x="9093250" y="1177575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2026" name="TextBox 105"/>
          <p:cNvSpPr txBox="1"/>
          <p:nvPr/>
        </p:nvSpPr>
        <p:spPr>
          <a:xfrm>
            <a:off x="10894893" y="11775757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2027" name="TextBox 106"/>
          <p:cNvSpPr txBox="1"/>
          <p:nvPr/>
        </p:nvSpPr>
        <p:spPr>
          <a:xfrm>
            <a:off x="12626399" y="11775757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2028" name="Connector 107"/>
          <p:cNvSpPr/>
          <p:nvPr/>
        </p:nvSpPr>
        <p:spPr>
          <a:xfrm>
            <a:off x="1371600" y="1217866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9" name="TextBox 108"/>
          <p:cNvSpPr txBox="1"/>
          <p:nvPr/>
        </p:nvSpPr>
        <p:spPr>
          <a:xfrm>
            <a:off x="1517902" y="1221581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2030" name="TextBox 109"/>
          <p:cNvSpPr txBox="1"/>
          <p:nvPr/>
        </p:nvSpPr>
        <p:spPr>
          <a:xfrm>
            <a:off x="2600094" y="1221581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Frication Shares</a:t>
            </a:r>
          </a:p>
        </p:txBody>
      </p:sp>
      <p:sp>
        <p:nvSpPr>
          <p:cNvPr id="2031" name="TextBox 110"/>
          <p:cNvSpPr txBox="1"/>
          <p:nvPr/>
        </p:nvSpPr>
        <p:spPr>
          <a:xfrm>
            <a:off x="9093250" y="12215810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2032" name="TextBox 111"/>
          <p:cNvSpPr txBox="1"/>
          <p:nvPr/>
        </p:nvSpPr>
        <p:spPr>
          <a:xfrm>
            <a:off x="10894893" y="12215810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2033" name="TextBox 112"/>
          <p:cNvSpPr txBox="1"/>
          <p:nvPr/>
        </p:nvSpPr>
        <p:spPr>
          <a:xfrm>
            <a:off x="12626399" y="12215810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2034" name="Connector 113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2037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028 / 111</a:t>
            </a:r>
          </a:p>
        </p:txBody>
      </p:sp>
      <p:sp>
        <p:nvSpPr>
          <p:cNvPr id="2038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2039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Orders Validity</a:t>
            </a:r>
          </a:p>
        </p:txBody>
      </p:sp>
      <p:sp>
        <p:nvSpPr>
          <p:cNvPr id="2040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2041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2042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2043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2044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2045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2046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2047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2048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49" name="TextBox 14"/>
          <p:cNvSpPr txBox="1"/>
          <p:nvPr/>
        </p:nvSpPr>
        <p:spPr>
          <a:xfrm>
            <a:off x="1517902" y="5737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050" name="TextBox 15"/>
          <p:cNvSpPr txBox="1"/>
          <p:nvPr/>
        </p:nvSpPr>
        <p:spPr>
          <a:xfrm>
            <a:off x="2600094" y="5737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</a:t>
            </a:r>
          </a:p>
        </p:txBody>
      </p:sp>
      <p:sp>
        <p:nvSpPr>
          <p:cNvPr id="2051" name="TextBox 16"/>
          <p:cNvSpPr txBox="1"/>
          <p:nvPr/>
        </p:nvSpPr>
        <p:spPr>
          <a:xfrm>
            <a:off x="9093250" y="5737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052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3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054" name="Connector 19"/>
          <p:cNvSpPr/>
          <p:nvPr/>
        </p:nvSpPr>
        <p:spPr>
          <a:xfrm>
            <a:off x="1371600" y="6263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55" name="TextBox 20"/>
          <p:cNvSpPr txBox="1"/>
          <p:nvPr/>
        </p:nvSpPr>
        <p:spPr>
          <a:xfrm>
            <a:off x="1517902" y="6423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056" name="TextBox 21"/>
          <p:cNvSpPr txBox="1"/>
          <p:nvPr/>
        </p:nvSpPr>
        <p:spPr>
          <a:xfrm>
            <a:off x="2600094" y="6423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Till date</a:t>
            </a:r>
          </a:p>
        </p:txBody>
      </p:sp>
      <p:sp>
        <p:nvSpPr>
          <p:cNvPr id="2057" name="TextBox 22"/>
          <p:cNvSpPr txBox="1"/>
          <p:nvPr/>
        </p:nvSpPr>
        <p:spPr>
          <a:xfrm>
            <a:off x="9093250" y="6423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058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9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060" name="Connector 25"/>
          <p:cNvSpPr/>
          <p:nvPr/>
        </p:nvSpPr>
        <p:spPr>
          <a:xfrm>
            <a:off x="1371600" y="6949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61" name="TextBox 26"/>
          <p:cNvSpPr txBox="1"/>
          <p:nvPr/>
        </p:nvSpPr>
        <p:spPr>
          <a:xfrm>
            <a:off x="1517902" y="7109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062" name="TextBox 27"/>
          <p:cNvSpPr txBox="1"/>
          <p:nvPr/>
        </p:nvSpPr>
        <p:spPr>
          <a:xfrm>
            <a:off x="2600094" y="7109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Fill or kill (up to 30 days)</a:t>
            </a:r>
          </a:p>
        </p:txBody>
      </p:sp>
      <p:sp>
        <p:nvSpPr>
          <p:cNvPr id="2063" name="TextBox 28"/>
          <p:cNvSpPr txBox="1"/>
          <p:nvPr/>
        </p:nvSpPr>
        <p:spPr>
          <a:xfrm>
            <a:off x="9093250" y="7109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064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65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066" name="Connector 31"/>
          <p:cNvSpPr/>
          <p:nvPr/>
        </p:nvSpPr>
        <p:spPr>
          <a:xfrm>
            <a:off x="1371600" y="763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67" name="TextBox 32"/>
          <p:cNvSpPr txBox="1"/>
          <p:nvPr/>
        </p:nvSpPr>
        <p:spPr>
          <a:xfrm>
            <a:off x="1517902" y="7795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068" name="TextBox 33"/>
          <p:cNvSpPr txBox="1"/>
          <p:nvPr/>
        </p:nvSpPr>
        <p:spPr>
          <a:xfrm>
            <a:off x="2600094" y="7795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Till cancellation (up to 30 days)</a:t>
            </a:r>
          </a:p>
        </p:txBody>
      </p:sp>
      <p:sp>
        <p:nvSpPr>
          <p:cNvPr id="2069" name="TextBox 34"/>
          <p:cNvSpPr txBox="1"/>
          <p:nvPr/>
        </p:nvSpPr>
        <p:spPr>
          <a:xfrm>
            <a:off x="9093250" y="7795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070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1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072" name="Connector 37"/>
          <p:cNvSpPr/>
          <p:nvPr/>
        </p:nvSpPr>
        <p:spPr>
          <a:xfrm>
            <a:off x="1371600" y="8321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3" name="TextBox 38"/>
          <p:cNvSpPr txBox="1"/>
          <p:nvPr/>
        </p:nvSpPr>
        <p:spPr>
          <a:xfrm>
            <a:off x="1517902" y="84810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074" name="TextBox 39"/>
          <p:cNvSpPr txBox="1"/>
          <p:nvPr/>
        </p:nvSpPr>
        <p:spPr>
          <a:xfrm>
            <a:off x="2600094" y="84810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Immediate or cancel</a:t>
            </a:r>
          </a:p>
        </p:txBody>
      </p:sp>
      <p:sp>
        <p:nvSpPr>
          <p:cNvPr id="2075" name="TextBox 40"/>
          <p:cNvSpPr txBox="1"/>
          <p:nvPr/>
        </p:nvSpPr>
        <p:spPr>
          <a:xfrm>
            <a:off x="9093250" y="84810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076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7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078" name="Connector 43"/>
          <p:cNvSpPr/>
          <p:nvPr/>
        </p:nvSpPr>
        <p:spPr>
          <a:xfrm>
            <a:off x="1371600" y="90068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9" name="TextBox 44"/>
          <p:cNvSpPr txBox="1"/>
          <p:nvPr/>
        </p:nvSpPr>
        <p:spPr>
          <a:xfrm>
            <a:off x="1517902" y="9166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080" name="TextBox 45"/>
          <p:cNvSpPr txBox="1"/>
          <p:nvPr/>
        </p:nvSpPr>
        <p:spPr>
          <a:xfrm>
            <a:off x="2600094" y="9166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At the opening</a:t>
            </a:r>
          </a:p>
        </p:txBody>
      </p:sp>
      <p:sp>
        <p:nvSpPr>
          <p:cNvPr id="2081" name="TextBox 46"/>
          <p:cNvSpPr txBox="1"/>
          <p:nvPr/>
        </p:nvSpPr>
        <p:spPr>
          <a:xfrm>
            <a:off x="9093250" y="9166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082" name="Picture 47" descr="Picture 4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3" name="Picture 48" descr="Picture 4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084" name="Connector 49"/>
          <p:cNvSpPr/>
          <p:nvPr/>
        </p:nvSpPr>
        <p:spPr>
          <a:xfrm>
            <a:off x="1371600" y="9692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2087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029 / 111</a:t>
            </a:r>
          </a:p>
        </p:txBody>
      </p:sp>
      <p:sp>
        <p:nvSpPr>
          <p:cNvPr id="2088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2089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Transfer &amp; Funding</a:t>
            </a:r>
          </a:p>
        </p:txBody>
      </p:sp>
      <p:sp>
        <p:nvSpPr>
          <p:cNvPr id="2090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2091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2092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2093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2094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2095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2096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2097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2098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99" name="TextBox 14"/>
          <p:cNvSpPr txBox="1"/>
          <p:nvPr/>
        </p:nvSpPr>
        <p:spPr>
          <a:xfrm>
            <a:off x="1517902" y="5737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100" name="TextBox 15"/>
          <p:cNvSpPr txBox="1"/>
          <p:nvPr/>
        </p:nvSpPr>
        <p:spPr>
          <a:xfrm>
            <a:off x="2600094" y="5737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transfer options visibility</a:t>
            </a:r>
          </a:p>
        </p:txBody>
      </p:sp>
      <p:sp>
        <p:nvSpPr>
          <p:cNvPr id="2101" name="TextBox 16"/>
          <p:cNvSpPr txBox="1"/>
          <p:nvPr/>
        </p:nvSpPr>
        <p:spPr>
          <a:xfrm>
            <a:off x="9093250" y="5737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102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03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104" name="Connector 19"/>
          <p:cNvSpPr/>
          <p:nvPr/>
        </p:nvSpPr>
        <p:spPr>
          <a:xfrm>
            <a:off x="1371600" y="6263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05" name="TextBox 20"/>
          <p:cNvSpPr txBox="1"/>
          <p:nvPr/>
        </p:nvSpPr>
        <p:spPr>
          <a:xfrm>
            <a:off x="1517902" y="6423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106" name="TextBox 21"/>
          <p:cNvSpPr txBox="1"/>
          <p:nvPr/>
        </p:nvSpPr>
        <p:spPr>
          <a:xfrm>
            <a:off x="2600094" y="6423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status visibility</a:t>
            </a:r>
          </a:p>
        </p:txBody>
      </p:sp>
      <p:sp>
        <p:nvSpPr>
          <p:cNvPr id="2107" name="TextBox 22"/>
          <p:cNvSpPr txBox="1"/>
          <p:nvPr/>
        </p:nvSpPr>
        <p:spPr>
          <a:xfrm>
            <a:off x="9093250" y="6423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108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09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110" name="Connector 25"/>
          <p:cNvSpPr/>
          <p:nvPr/>
        </p:nvSpPr>
        <p:spPr>
          <a:xfrm>
            <a:off x="1371600" y="6949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11" name="TextBox 26"/>
          <p:cNvSpPr txBox="1"/>
          <p:nvPr/>
        </p:nvSpPr>
        <p:spPr>
          <a:xfrm>
            <a:off x="1517902" y="7109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112" name="TextBox 27"/>
          <p:cNvSpPr txBox="1"/>
          <p:nvPr/>
        </p:nvSpPr>
        <p:spPr>
          <a:xfrm>
            <a:off x="2600094" y="7109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history</a:t>
            </a:r>
          </a:p>
        </p:txBody>
      </p:sp>
      <p:sp>
        <p:nvSpPr>
          <p:cNvPr id="2113" name="TextBox 28"/>
          <p:cNvSpPr txBox="1"/>
          <p:nvPr/>
        </p:nvSpPr>
        <p:spPr>
          <a:xfrm>
            <a:off x="9093250" y="7109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114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15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116" name="Connector 31"/>
          <p:cNvSpPr/>
          <p:nvPr/>
        </p:nvSpPr>
        <p:spPr>
          <a:xfrm>
            <a:off x="1371600" y="763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17" name="TextBox 32"/>
          <p:cNvSpPr txBox="1"/>
          <p:nvPr/>
        </p:nvSpPr>
        <p:spPr>
          <a:xfrm>
            <a:off x="1517902" y="7795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118" name="TextBox 33"/>
          <p:cNvSpPr txBox="1"/>
          <p:nvPr/>
        </p:nvSpPr>
        <p:spPr>
          <a:xfrm>
            <a:off x="2600094" y="7795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source visibility</a:t>
            </a:r>
          </a:p>
        </p:txBody>
      </p:sp>
      <p:sp>
        <p:nvSpPr>
          <p:cNvPr id="2119" name="TextBox 34"/>
          <p:cNvSpPr txBox="1"/>
          <p:nvPr/>
        </p:nvSpPr>
        <p:spPr>
          <a:xfrm>
            <a:off x="9093250" y="7795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120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21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122" name="Connector 37"/>
          <p:cNvSpPr/>
          <p:nvPr/>
        </p:nvSpPr>
        <p:spPr>
          <a:xfrm>
            <a:off x="1371600" y="8321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23" name="TextBox 38"/>
          <p:cNvSpPr txBox="1"/>
          <p:nvPr/>
        </p:nvSpPr>
        <p:spPr>
          <a:xfrm>
            <a:off x="1517902" y="84810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124" name="TextBox 39"/>
          <p:cNvSpPr txBox="1"/>
          <p:nvPr/>
        </p:nvSpPr>
        <p:spPr>
          <a:xfrm>
            <a:off x="2600094" y="84810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eligibility visibility</a:t>
            </a:r>
          </a:p>
        </p:txBody>
      </p:sp>
      <p:sp>
        <p:nvSpPr>
          <p:cNvPr id="2125" name="TextBox 40"/>
          <p:cNvSpPr txBox="1"/>
          <p:nvPr/>
        </p:nvSpPr>
        <p:spPr>
          <a:xfrm>
            <a:off x="9093250" y="84810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126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27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128" name="Connector 43"/>
          <p:cNvSpPr/>
          <p:nvPr/>
        </p:nvSpPr>
        <p:spPr>
          <a:xfrm>
            <a:off x="1371600" y="90068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29" name="TextBox 44"/>
          <p:cNvSpPr txBox="1"/>
          <p:nvPr/>
        </p:nvSpPr>
        <p:spPr>
          <a:xfrm>
            <a:off x="1517902" y="9166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130" name="TextBox 45"/>
          <p:cNvSpPr txBox="1"/>
          <p:nvPr/>
        </p:nvSpPr>
        <p:spPr>
          <a:xfrm>
            <a:off x="2600094" y="9166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Deposit cash (cash in)</a:t>
            </a:r>
          </a:p>
        </p:txBody>
      </p:sp>
      <p:sp>
        <p:nvSpPr>
          <p:cNvPr id="2131" name="TextBox 46"/>
          <p:cNvSpPr txBox="1"/>
          <p:nvPr/>
        </p:nvSpPr>
        <p:spPr>
          <a:xfrm>
            <a:off x="9093250" y="9166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132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33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134" name="Connector 49"/>
          <p:cNvSpPr/>
          <p:nvPr/>
        </p:nvSpPr>
        <p:spPr>
          <a:xfrm>
            <a:off x="1371600" y="9692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35" name="TextBox 50"/>
          <p:cNvSpPr txBox="1"/>
          <p:nvPr/>
        </p:nvSpPr>
        <p:spPr>
          <a:xfrm>
            <a:off x="1517902" y="9852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136" name="TextBox 51"/>
          <p:cNvSpPr txBox="1"/>
          <p:nvPr/>
        </p:nvSpPr>
        <p:spPr>
          <a:xfrm>
            <a:off x="2600094" y="9852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Withdraw (cash out)</a:t>
            </a:r>
          </a:p>
        </p:txBody>
      </p:sp>
      <p:sp>
        <p:nvSpPr>
          <p:cNvPr id="2137" name="TextBox 52"/>
          <p:cNvSpPr txBox="1"/>
          <p:nvPr/>
        </p:nvSpPr>
        <p:spPr>
          <a:xfrm>
            <a:off x="9093250" y="9852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138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8892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39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8892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140" name="Connector 55"/>
          <p:cNvSpPr/>
          <p:nvPr/>
        </p:nvSpPr>
        <p:spPr>
          <a:xfrm>
            <a:off x="1371600" y="10378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2143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030 / 111</a:t>
            </a:r>
          </a:p>
        </p:txBody>
      </p:sp>
      <p:sp>
        <p:nvSpPr>
          <p:cNvPr id="2144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2145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Cash in to local portfolio</a:t>
            </a:r>
          </a:p>
        </p:txBody>
      </p:sp>
      <p:sp>
        <p:nvSpPr>
          <p:cNvPr id="2146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2147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2148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2149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2150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2151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2152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2153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2154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5" name="TextBox 14"/>
          <p:cNvSpPr txBox="1"/>
          <p:nvPr/>
        </p:nvSpPr>
        <p:spPr>
          <a:xfrm>
            <a:off x="1517902" y="566576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156" name="TextBox 15"/>
          <p:cNvSpPr txBox="1"/>
          <p:nvPr/>
        </p:nvSpPr>
        <p:spPr>
          <a:xfrm>
            <a:off x="2600094" y="566576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Linked account (if ARB)</a:t>
            </a:r>
          </a:p>
        </p:txBody>
      </p:sp>
      <p:sp>
        <p:nvSpPr>
          <p:cNvPr id="2157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158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9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160" name="Connector 19"/>
          <p:cNvSpPr/>
          <p:nvPr/>
        </p:nvSpPr>
        <p:spPr>
          <a:xfrm>
            <a:off x="1371600" y="611944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1" name="TextBox 20"/>
          <p:cNvSpPr txBox="1"/>
          <p:nvPr/>
        </p:nvSpPr>
        <p:spPr>
          <a:xfrm>
            <a:off x="1517902" y="620736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162" name="TextBox 21"/>
          <p:cNvSpPr txBox="1"/>
          <p:nvPr/>
        </p:nvSpPr>
        <p:spPr>
          <a:xfrm>
            <a:off x="2600094" y="620736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ARB account</a:t>
            </a:r>
          </a:p>
        </p:txBody>
      </p:sp>
      <p:sp>
        <p:nvSpPr>
          <p:cNvPr id="2163" name="TextBox 22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164" name="Picture 23" descr="Picture 2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65" name="Picture 24" descr="Picture 2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166" name="Connector 25"/>
          <p:cNvSpPr/>
          <p:nvPr/>
        </p:nvSpPr>
        <p:spPr>
          <a:xfrm>
            <a:off x="1371600" y="66610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7" name="TextBox 26"/>
          <p:cNvSpPr txBox="1"/>
          <p:nvPr/>
        </p:nvSpPr>
        <p:spPr>
          <a:xfrm>
            <a:off x="1517902" y="674897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168" name="TextBox 27"/>
          <p:cNvSpPr txBox="1"/>
          <p:nvPr/>
        </p:nvSpPr>
        <p:spPr>
          <a:xfrm>
            <a:off x="2600094" y="674897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banks</a:t>
            </a:r>
          </a:p>
        </p:txBody>
      </p:sp>
      <p:sp>
        <p:nvSpPr>
          <p:cNvPr id="2169" name="TextBox 28"/>
          <p:cNvSpPr txBox="1"/>
          <p:nvPr/>
        </p:nvSpPr>
        <p:spPr>
          <a:xfrm>
            <a:off x="9093250" y="674897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170" name="Picture 29" descr="Picture 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71" name="Picture 30" descr="Picture 3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172" name="Connector 31"/>
          <p:cNvSpPr/>
          <p:nvPr/>
        </p:nvSpPr>
        <p:spPr>
          <a:xfrm>
            <a:off x="1371600" y="720265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73" name="TextBox 32"/>
          <p:cNvSpPr txBox="1"/>
          <p:nvPr/>
        </p:nvSpPr>
        <p:spPr>
          <a:xfrm>
            <a:off x="1517902" y="729058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174" name="TextBox 33"/>
          <p:cNvSpPr txBox="1"/>
          <p:nvPr/>
        </p:nvSpPr>
        <p:spPr>
          <a:xfrm>
            <a:off x="2600094" y="729058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Apply pay</a:t>
            </a:r>
          </a:p>
        </p:txBody>
      </p:sp>
      <p:sp>
        <p:nvSpPr>
          <p:cNvPr id="2175" name="TextBox 34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176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77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178" name="Connector 37"/>
          <p:cNvSpPr/>
          <p:nvPr/>
        </p:nvSpPr>
        <p:spPr>
          <a:xfrm>
            <a:off x="1371600" y="774426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79" name="TextBox 38"/>
          <p:cNvSpPr txBox="1"/>
          <p:nvPr/>
        </p:nvSpPr>
        <p:spPr>
          <a:xfrm>
            <a:off x="1517902" y="783218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180" name="TextBox 39"/>
          <p:cNvSpPr txBox="1"/>
          <p:nvPr/>
        </p:nvSpPr>
        <p:spPr>
          <a:xfrm>
            <a:off x="2600094" y="783218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Debit/Credit cards</a:t>
            </a:r>
          </a:p>
        </p:txBody>
      </p:sp>
      <p:sp>
        <p:nvSpPr>
          <p:cNvPr id="2181" name="TextBox 40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182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3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184" name="Connector 43"/>
          <p:cNvSpPr/>
          <p:nvPr/>
        </p:nvSpPr>
        <p:spPr>
          <a:xfrm>
            <a:off x="1371600" y="828587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85" name="TextBox 44"/>
          <p:cNvSpPr txBox="1"/>
          <p:nvPr/>
        </p:nvSpPr>
        <p:spPr>
          <a:xfrm>
            <a:off x="1517902" y="837379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186" name="TextBox 45"/>
          <p:cNvSpPr txBox="1"/>
          <p:nvPr/>
        </p:nvSpPr>
        <p:spPr>
          <a:xfrm>
            <a:off x="2600094" y="837379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Mokafaa</a:t>
            </a:r>
          </a:p>
        </p:txBody>
      </p:sp>
      <p:sp>
        <p:nvSpPr>
          <p:cNvPr id="2187" name="TextBox 46"/>
          <p:cNvSpPr txBox="1"/>
          <p:nvPr/>
        </p:nvSpPr>
        <p:spPr>
          <a:xfrm>
            <a:off x="9093250" y="837379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188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9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190" name="Connector 49"/>
          <p:cNvSpPr/>
          <p:nvPr/>
        </p:nvSpPr>
        <p:spPr>
          <a:xfrm>
            <a:off x="1371600" y="882747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91" name="TextBox 50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192" name="TextBox 51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ARC Account (UCM)</a:t>
            </a:r>
          </a:p>
        </p:txBody>
      </p:sp>
      <p:sp>
        <p:nvSpPr>
          <p:cNvPr id="2193" name="TextBox 52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194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5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196" name="Connector 55"/>
          <p:cNvSpPr/>
          <p:nvPr/>
        </p:nvSpPr>
        <p:spPr>
          <a:xfrm>
            <a:off x="1371600" y="93690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97" name="TextBox 56"/>
          <p:cNvSpPr txBox="1"/>
          <p:nvPr/>
        </p:nvSpPr>
        <p:spPr>
          <a:xfrm>
            <a:off x="1517902" y="945700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198" name="TextBox 57"/>
          <p:cNvSpPr txBox="1"/>
          <p:nvPr/>
        </p:nvSpPr>
        <p:spPr>
          <a:xfrm>
            <a:off x="2600094" y="945700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local portfolio</a:t>
            </a:r>
          </a:p>
        </p:txBody>
      </p:sp>
      <p:sp>
        <p:nvSpPr>
          <p:cNvPr id="2199" name="TextBox 58"/>
          <p:cNvSpPr txBox="1"/>
          <p:nvPr/>
        </p:nvSpPr>
        <p:spPr>
          <a:xfrm>
            <a:off x="9093250" y="945700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200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1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202" name="Connector 61"/>
          <p:cNvSpPr/>
          <p:nvPr/>
        </p:nvSpPr>
        <p:spPr>
          <a:xfrm>
            <a:off x="1371600" y="99106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03" name="TextBox 62"/>
          <p:cNvSpPr txBox="1"/>
          <p:nvPr/>
        </p:nvSpPr>
        <p:spPr>
          <a:xfrm>
            <a:off x="1517902" y="999861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204" name="TextBox 63"/>
          <p:cNvSpPr txBox="1"/>
          <p:nvPr/>
        </p:nvSpPr>
        <p:spPr>
          <a:xfrm>
            <a:off x="2600094" y="999861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portfolio</a:t>
            </a:r>
          </a:p>
        </p:txBody>
      </p:sp>
      <p:sp>
        <p:nvSpPr>
          <p:cNvPr id="2205" name="TextBox 64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206" name="Picture 65" descr="Picture 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7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208" name="Connector 67"/>
          <p:cNvSpPr/>
          <p:nvPr/>
        </p:nvSpPr>
        <p:spPr>
          <a:xfrm>
            <a:off x="1371600" y="1045229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09" name="TextBox 68"/>
          <p:cNvSpPr txBox="1"/>
          <p:nvPr/>
        </p:nvSpPr>
        <p:spPr>
          <a:xfrm>
            <a:off x="1517902" y="1054021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210" name="TextBox 69"/>
          <p:cNvSpPr txBox="1"/>
          <p:nvPr/>
        </p:nvSpPr>
        <p:spPr>
          <a:xfrm>
            <a:off x="2600094" y="1054021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US portfolio</a:t>
            </a:r>
          </a:p>
        </p:txBody>
      </p:sp>
      <p:sp>
        <p:nvSpPr>
          <p:cNvPr id="2211" name="TextBox 70"/>
          <p:cNvSpPr txBox="1"/>
          <p:nvPr/>
        </p:nvSpPr>
        <p:spPr>
          <a:xfrm>
            <a:off x="9093250" y="105402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212" name="Picture 71" descr="Picture 7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13" name="Picture 72" descr="Picture 7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214" name="Connector 73"/>
          <p:cNvSpPr/>
          <p:nvPr/>
        </p:nvSpPr>
        <p:spPr>
          <a:xfrm>
            <a:off x="1371600" y="1099390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15" name="TextBox 74"/>
          <p:cNvSpPr txBox="1"/>
          <p:nvPr/>
        </p:nvSpPr>
        <p:spPr>
          <a:xfrm>
            <a:off x="1517902" y="1108182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216" name="TextBox 75"/>
          <p:cNvSpPr txBox="1"/>
          <p:nvPr/>
        </p:nvSpPr>
        <p:spPr>
          <a:xfrm>
            <a:off x="2600094" y="1108182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international portfolio</a:t>
            </a:r>
          </a:p>
        </p:txBody>
      </p:sp>
      <p:sp>
        <p:nvSpPr>
          <p:cNvPr id="2217" name="TextBox 76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218" name="Picture 77" descr="Picture 7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19" name="Picture 78" descr="Picture 7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220" name="Connector 79"/>
          <p:cNvSpPr/>
          <p:nvPr/>
        </p:nvSpPr>
        <p:spPr>
          <a:xfrm>
            <a:off x="1371600" y="1153550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21" name="TextBox 80"/>
          <p:cNvSpPr txBox="1"/>
          <p:nvPr/>
        </p:nvSpPr>
        <p:spPr>
          <a:xfrm>
            <a:off x="1517902" y="1162343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222" name="TextBox 81"/>
          <p:cNvSpPr txBox="1"/>
          <p:nvPr/>
        </p:nvSpPr>
        <p:spPr>
          <a:xfrm>
            <a:off x="2600094" y="1162343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Crowd fund portfolio</a:t>
            </a:r>
          </a:p>
        </p:txBody>
      </p:sp>
      <p:sp>
        <p:nvSpPr>
          <p:cNvPr id="2223" name="TextBox 82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224" name="Picture 83" descr="Picture 8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25" name="Picture 84" descr="Picture 8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226" name="Connector 85"/>
          <p:cNvSpPr/>
          <p:nvPr/>
        </p:nvSpPr>
        <p:spPr>
          <a:xfrm>
            <a:off x="1371600" y="1207711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27" name="TextBox 86"/>
          <p:cNvSpPr txBox="1"/>
          <p:nvPr/>
        </p:nvSpPr>
        <p:spPr>
          <a:xfrm>
            <a:off x="1517902" y="1216503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228" name="TextBox 87"/>
          <p:cNvSpPr txBox="1"/>
          <p:nvPr/>
        </p:nvSpPr>
        <p:spPr>
          <a:xfrm>
            <a:off x="2600094" y="1216503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Robo portfolio</a:t>
            </a:r>
          </a:p>
        </p:txBody>
      </p:sp>
      <p:sp>
        <p:nvSpPr>
          <p:cNvPr id="2229" name="TextBox 88"/>
          <p:cNvSpPr txBox="1"/>
          <p:nvPr/>
        </p:nvSpPr>
        <p:spPr>
          <a:xfrm>
            <a:off x="9093250" y="1216503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230" name="Picture 89" descr="Picture 8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1" name="Picture 90" descr="Picture 9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232" name="Connector 91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2235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031 / 111</a:t>
            </a:r>
          </a:p>
        </p:txBody>
      </p:sp>
      <p:sp>
        <p:nvSpPr>
          <p:cNvPr id="2236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2237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Cash out to local portfolio</a:t>
            </a:r>
          </a:p>
        </p:txBody>
      </p:sp>
      <p:sp>
        <p:nvSpPr>
          <p:cNvPr id="2238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2239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2240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2241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2242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2243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2244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2245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2246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47" name="TextBox 14"/>
          <p:cNvSpPr txBox="1"/>
          <p:nvPr/>
        </p:nvSpPr>
        <p:spPr>
          <a:xfrm>
            <a:off x="1517902" y="566576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48" name="TextBox 15"/>
          <p:cNvSpPr txBox="1"/>
          <p:nvPr/>
        </p:nvSpPr>
        <p:spPr>
          <a:xfrm>
            <a:off x="2600094" y="566576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Linked account (if ARB)</a:t>
            </a:r>
          </a:p>
        </p:txBody>
      </p:sp>
      <p:sp>
        <p:nvSpPr>
          <p:cNvPr id="2249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250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1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252" name="Connector 19"/>
          <p:cNvSpPr/>
          <p:nvPr/>
        </p:nvSpPr>
        <p:spPr>
          <a:xfrm>
            <a:off x="1371600" y="611944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3" name="TextBox 20"/>
          <p:cNvSpPr txBox="1"/>
          <p:nvPr/>
        </p:nvSpPr>
        <p:spPr>
          <a:xfrm>
            <a:off x="1517902" y="620736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254" name="TextBox 21"/>
          <p:cNvSpPr txBox="1"/>
          <p:nvPr/>
        </p:nvSpPr>
        <p:spPr>
          <a:xfrm>
            <a:off x="2600094" y="620736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ARB account</a:t>
            </a:r>
          </a:p>
        </p:txBody>
      </p:sp>
      <p:sp>
        <p:nvSpPr>
          <p:cNvPr id="2255" name="TextBox 22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256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7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258" name="Connector 25"/>
          <p:cNvSpPr/>
          <p:nvPr/>
        </p:nvSpPr>
        <p:spPr>
          <a:xfrm>
            <a:off x="1371600" y="66610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9" name="TextBox 26"/>
          <p:cNvSpPr txBox="1"/>
          <p:nvPr/>
        </p:nvSpPr>
        <p:spPr>
          <a:xfrm>
            <a:off x="1517902" y="674897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260" name="TextBox 27"/>
          <p:cNvSpPr txBox="1"/>
          <p:nvPr/>
        </p:nvSpPr>
        <p:spPr>
          <a:xfrm>
            <a:off x="2600094" y="674897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banks</a:t>
            </a:r>
          </a:p>
        </p:txBody>
      </p:sp>
      <p:sp>
        <p:nvSpPr>
          <p:cNvPr id="2261" name="TextBox 28"/>
          <p:cNvSpPr txBox="1"/>
          <p:nvPr/>
        </p:nvSpPr>
        <p:spPr>
          <a:xfrm>
            <a:off x="9093250" y="674897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262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3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264" name="Connector 31"/>
          <p:cNvSpPr/>
          <p:nvPr/>
        </p:nvSpPr>
        <p:spPr>
          <a:xfrm>
            <a:off x="1371600" y="720265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65" name="TextBox 32"/>
          <p:cNvSpPr txBox="1"/>
          <p:nvPr/>
        </p:nvSpPr>
        <p:spPr>
          <a:xfrm>
            <a:off x="1517902" y="729058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266" name="TextBox 33"/>
          <p:cNvSpPr txBox="1"/>
          <p:nvPr/>
        </p:nvSpPr>
        <p:spPr>
          <a:xfrm>
            <a:off x="2600094" y="729058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Apply pay</a:t>
            </a:r>
          </a:p>
        </p:txBody>
      </p:sp>
      <p:sp>
        <p:nvSpPr>
          <p:cNvPr id="2267" name="TextBox 34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2268" name="TextBox 35"/>
          <p:cNvSpPr txBox="1"/>
          <p:nvPr/>
        </p:nvSpPr>
        <p:spPr>
          <a:xfrm>
            <a:off x="10894893" y="7290581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2269" name="TextBox 36"/>
          <p:cNvSpPr txBox="1"/>
          <p:nvPr/>
        </p:nvSpPr>
        <p:spPr>
          <a:xfrm>
            <a:off x="12626399" y="7290581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2270" name="Connector 37"/>
          <p:cNvSpPr/>
          <p:nvPr/>
        </p:nvSpPr>
        <p:spPr>
          <a:xfrm>
            <a:off x="1371600" y="774426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71" name="TextBox 38"/>
          <p:cNvSpPr txBox="1"/>
          <p:nvPr/>
        </p:nvSpPr>
        <p:spPr>
          <a:xfrm>
            <a:off x="1517902" y="783218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272" name="TextBox 39"/>
          <p:cNvSpPr txBox="1"/>
          <p:nvPr/>
        </p:nvSpPr>
        <p:spPr>
          <a:xfrm>
            <a:off x="2600094" y="783218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Debit/Credit cards</a:t>
            </a:r>
          </a:p>
        </p:txBody>
      </p:sp>
      <p:sp>
        <p:nvSpPr>
          <p:cNvPr id="2273" name="TextBox 40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2274" name="TextBox 41"/>
          <p:cNvSpPr txBox="1"/>
          <p:nvPr/>
        </p:nvSpPr>
        <p:spPr>
          <a:xfrm>
            <a:off x="10894893" y="7832187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2275" name="TextBox 42"/>
          <p:cNvSpPr txBox="1"/>
          <p:nvPr/>
        </p:nvSpPr>
        <p:spPr>
          <a:xfrm>
            <a:off x="12626399" y="7832187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2276" name="Connector 43"/>
          <p:cNvSpPr/>
          <p:nvPr/>
        </p:nvSpPr>
        <p:spPr>
          <a:xfrm>
            <a:off x="1371600" y="828587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77" name="TextBox 44"/>
          <p:cNvSpPr txBox="1"/>
          <p:nvPr/>
        </p:nvSpPr>
        <p:spPr>
          <a:xfrm>
            <a:off x="1517902" y="837379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278" name="TextBox 45"/>
          <p:cNvSpPr txBox="1"/>
          <p:nvPr/>
        </p:nvSpPr>
        <p:spPr>
          <a:xfrm>
            <a:off x="2600094" y="837379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Mokafaa</a:t>
            </a:r>
          </a:p>
        </p:txBody>
      </p:sp>
      <p:sp>
        <p:nvSpPr>
          <p:cNvPr id="2279" name="TextBox 46"/>
          <p:cNvSpPr txBox="1"/>
          <p:nvPr/>
        </p:nvSpPr>
        <p:spPr>
          <a:xfrm>
            <a:off x="9093250" y="837379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2280" name="TextBox 47"/>
          <p:cNvSpPr txBox="1"/>
          <p:nvPr/>
        </p:nvSpPr>
        <p:spPr>
          <a:xfrm>
            <a:off x="10894893" y="8373791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2281" name="TextBox 48"/>
          <p:cNvSpPr txBox="1"/>
          <p:nvPr/>
        </p:nvSpPr>
        <p:spPr>
          <a:xfrm>
            <a:off x="12626399" y="8373791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2282" name="Connector 49"/>
          <p:cNvSpPr/>
          <p:nvPr/>
        </p:nvSpPr>
        <p:spPr>
          <a:xfrm>
            <a:off x="1371600" y="882747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83" name="TextBox 50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284" name="TextBox 51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ARC Account (UCM)</a:t>
            </a:r>
          </a:p>
        </p:txBody>
      </p:sp>
      <p:sp>
        <p:nvSpPr>
          <p:cNvPr id="2285" name="TextBox 52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286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87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288" name="Connector 55"/>
          <p:cNvSpPr/>
          <p:nvPr/>
        </p:nvSpPr>
        <p:spPr>
          <a:xfrm>
            <a:off x="1371600" y="93690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89" name="TextBox 56"/>
          <p:cNvSpPr txBox="1"/>
          <p:nvPr/>
        </p:nvSpPr>
        <p:spPr>
          <a:xfrm>
            <a:off x="1517902" y="945700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290" name="TextBox 57"/>
          <p:cNvSpPr txBox="1"/>
          <p:nvPr/>
        </p:nvSpPr>
        <p:spPr>
          <a:xfrm>
            <a:off x="2600094" y="945700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local portfolio</a:t>
            </a:r>
          </a:p>
        </p:txBody>
      </p:sp>
      <p:sp>
        <p:nvSpPr>
          <p:cNvPr id="2291" name="TextBox 58"/>
          <p:cNvSpPr txBox="1"/>
          <p:nvPr/>
        </p:nvSpPr>
        <p:spPr>
          <a:xfrm>
            <a:off x="9093250" y="945700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292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3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294" name="Connector 61"/>
          <p:cNvSpPr/>
          <p:nvPr/>
        </p:nvSpPr>
        <p:spPr>
          <a:xfrm>
            <a:off x="1371600" y="99106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5" name="TextBox 62"/>
          <p:cNvSpPr txBox="1"/>
          <p:nvPr/>
        </p:nvSpPr>
        <p:spPr>
          <a:xfrm>
            <a:off x="1517902" y="999861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296" name="TextBox 63"/>
          <p:cNvSpPr txBox="1"/>
          <p:nvPr/>
        </p:nvSpPr>
        <p:spPr>
          <a:xfrm>
            <a:off x="2600094" y="999861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portfolio</a:t>
            </a:r>
          </a:p>
        </p:txBody>
      </p:sp>
      <p:sp>
        <p:nvSpPr>
          <p:cNvPr id="2297" name="TextBox 64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298" name="Picture 65" descr="Picture 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9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300" name="Connector 67"/>
          <p:cNvSpPr/>
          <p:nvPr/>
        </p:nvSpPr>
        <p:spPr>
          <a:xfrm>
            <a:off x="1371600" y="1045229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01" name="TextBox 68"/>
          <p:cNvSpPr txBox="1"/>
          <p:nvPr/>
        </p:nvSpPr>
        <p:spPr>
          <a:xfrm>
            <a:off x="1517902" y="1054021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302" name="TextBox 69"/>
          <p:cNvSpPr txBox="1"/>
          <p:nvPr/>
        </p:nvSpPr>
        <p:spPr>
          <a:xfrm>
            <a:off x="2600094" y="1054021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US portfolio</a:t>
            </a:r>
          </a:p>
        </p:txBody>
      </p:sp>
      <p:sp>
        <p:nvSpPr>
          <p:cNvPr id="2303" name="TextBox 70"/>
          <p:cNvSpPr txBox="1"/>
          <p:nvPr/>
        </p:nvSpPr>
        <p:spPr>
          <a:xfrm>
            <a:off x="9093250" y="105402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304" name="Picture 71" descr="Picture 7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05" name="Picture 72" descr="Picture 7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306" name="Connector 73"/>
          <p:cNvSpPr/>
          <p:nvPr/>
        </p:nvSpPr>
        <p:spPr>
          <a:xfrm>
            <a:off x="1371600" y="1099390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07" name="TextBox 74"/>
          <p:cNvSpPr txBox="1"/>
          <p:nvPr/>
        </p:nvSpPr>
        <p:spPr>
          <a:xfrm>
            <a:off x="1517902" y="1108182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308" name="TextBox 75"/>
          <p:cNvSpPr txBox="1"/>
          <p:nvPr/>
        </p:nvSpPr>
        <p:spPr>
          <a:xfrm>
            <a:off x="2600094" y="1108182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international portfolio</a:t>
            </a:r>
          </a:p>
        </p:txBody>
      </p:sp>
      <p:sp>
        <p:nvSpPr>
          <p:cNvPr id="2309" name="TextBox 76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310" name="Picture 77" descr="Picture 7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1" name="Picture 78" descr="Picture 7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312" name="Connector 79"/>
          <p:cNvSpPr/>
          <p:nvPr/>
        </p:nvSpPr>
        <p:spPr>
          <a:xfrm>
            <a:off x="1371600" y="1153550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13" name="TextBox 80"/>
          <p:cNvSpPr txBox="1"/>
          <p:nvPr/>
        </p:nvSpPr>
        <p:spPr>
          <a:xfrm>
            <a:off x="1517902" y="1162343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14" name="TextBox 81"/>
          <p:cNvSpPr txBox="1"/>
          <p:nvPr/>
        </p:nvSpPr>
        <p:spPr>
          <a:xfrm>
            <a:off x="2600094" y="1162343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Crowd fund portfolio</a:t>
            </a:r>
          </a:p>
        </p:txBody>
      </p:sp>
      <p:sp>
        <p:nvSpPr>
          <p:cNvPr id="2315" name="TextBox 82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316" name="Picture 83" descr="Picture 8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7" name="Picture 84" descr="Picture 8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318" name="Connector 85"/>
          <p:cNvSpPr/>
          <p:nvPr/>
        </p:nvSpPr>
        <p:spPr>
          <a:xfrm>
            <a:off x="1371600" y="1207711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19" name="TextBox 86"/>
          <p:cNvSpPr txBox="1"/>
          <p:nvPr/>
        </p:nvSpPr>
        <p:spPr>
          <a:xfrm>
            <a:off x="1517902" y="1216503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320" name="TextBox 87"/>
          <p:cNvSpPr txBox="1"/>
          <p:nvPr/>
        </p:nvSpPr>
        <p:spPr>
          <a:xfrm>
            <a:off x="2600094" y="1216503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Robo portfolio</a:t>
            </a:r>
          </a:p>
        </p:txBody>
      </p:sp>
      <p:sp>
        <p:nvSpPr>
          <p:cNvPr id="2321" name="TextBox 88"/>
          <p:cNvSpPr txBox="1"/>
          <p:nvPr/>
        </p:nvSpPr>
        <p:spPr>
          <a:xfrm>
            <a:off x="9093250" y="1216503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322" name="Picture 89" descr="Picture 8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23" name="Picture 90" descr="Picture 9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324" name="Connector 91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2327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032 / 111</a:t>
            </a:r>
          </a:p>
        </p:txBody>
      </p:sp>
      <p:sp>
        <p:nvSpPr>
          <p:cNvPr id="2328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2329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Reporting &amp; Statements</a:t>
            </a:r>
          </a:p>
        </p:txBody>
      </p:sp>
      <p:sp>
        <p:nvSpPr>
          <p:cNvPr id="2330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2331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2332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2333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2334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2335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2336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2337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2338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39" name="TextBox 14"/>
          <p:cNvSpPr txBox="1"/>
          <p:nvPr/>
        </p:nvSpPr>
        <p:spPr>
          <a:xfrm>
            <a:off x="1517902" y="5737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40" name="TextBox 15"/>
          <p:cNvSpPr txBox="1"/>
          <p:nvPr/>
        </p:nvSpPr>
        <p:spPr>
          <a:xfrm>
            <a:off x="2600094" y="5737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overall report</a:t>
            </a:r>
          </a:p>
        </p:txBody>
      </p:sp>
      <p:sp>
        <p:nvSpPr>
          <p:cNvPr id="2341" name="TextBox 16"/>
          <p:cNvSpPr txBox="1"/>
          <p:nvPr/>
        </p:nvSpPr>
        <p:spPr>
          <a:xfrm>
            <a:off x="9093250" y="5737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342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3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344" name="Connector 19"/>
          <p:cNvSpPr/>
          <p:nvPr/>
        </p:nvSpPr>
        <p:spPr>
          <a:xfrm>
            <a:off x="1371600" y="6263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45" name="TextBox 20"/>
          <p:cNvSpPr txBox="1"/>
          <p:nvPr/>
        </p:nvSpPr>
        <p:spPr>
          <a:xfrm>
            <a:off x="1517902" y="6423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346" name="TextBox 21"/>
          <p:cNvSpPr txBox="1"/>
          <p:nvPr/>
        </p:nvSpPr>
        <p:spPr>
          <a:xfrm>
            <a:off x="2600094" y="6423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Profit / loss report (1 month within a year)</a:t>
            </a:r>
          </a:p>
        </p:txBody>
      </p:sp>
      <p:sp>
        <p:nvSpPr>
          <p:cNvPr id="2347" name="TextBox 22"/>
          <p:cNvSpPr txBox="1"/>
          <p:nvPr/>
        </p:nvSpPr>
        <p:spPr>
          <a:xfrm>
            <a:off x="9093250" y="6423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348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9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350" name="TextBox 25"/>
          <p:cNvSpPr txBox="1"/>
          <p:nvPr/>
        </p:nvSpPr>
        <p:spPr>
          <a:xfrm>
            <a:off x="14504212" y="64236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2351" name="Connector 26"/>
          <p:cNvSpPr/>
          <p:nvPr/>
        </p:nvSpPr>
        <p:spPr>
          <a:xfrm>
            <a:off x="1371600" y="6949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52" name="TextBox 27"/>
          <p:cNvSpPr txBox="1"/>
          <p:nvPr/>
        </p:nvSpPr>
        <p:spPr>
          <a:xfrm>
            <a:off x="1517902" y="7109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353" name="TextBox 28"/>
          <p:cNvSpPr txBox="1"/>
          <p:nvPr/>
        </p:nvSpPr>
        <p:spPr>
          <a:xfrm>
            <a:off x="2600094" y="7109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Account statement (1 month within a year)</a:t>
            </a:r>
          </a:p>
        </p:txBody>
      </p:sp>
      <p:sp>
        <p:nvSpPr>
          <p:cNvPr id="2354" name="TextBox 29"/>
          <p:cNvSpPr txBox="1"/>
          <p:nvPr/>
        </p:nvSpPr>
        <p:spPr>
          <a:xfrm>
            <a:off x="9093250" y="7109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355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56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357" name="TextBox 32"/>
          <p:cNvSpPr txBox="1"/>
          <p:nvPr/>
        </p:nvSpPr>
        <p:spPr>
          <a:xfrm>
            <a:off x="14504212" y="71094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2358" name="Connector 33"/>
          <p:cNvSpPr/>
          <p:nvPr/>
        </p:nvSpPr>
        <p:spPr>
          <a:xfrm>
            <a:off x="1371600" y="763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59" name="TextBox 34"/>
          <p:cNvSpPr txBox="1"/>
          <p:nvPr/>
        </p:nvSpPr>
        <p:spPr>
          <a:xfrm>
            <a:off x="1517902" y="7795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360" name="TextBox 35"/>
          <p:cNvSpPr txBox="1"/>
          <p:nvPr/>
        </p:nvSpPr>
        <p:spPr>
          <a:xfrm>
            <a:off x="2600094" y="7795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Orders report (1 month within a year)</a:t>
            </a:r>
          </a:p>
        </p:txBody>
      </p:sp>
      <p:sp>
        <p:nvSpPr>
          <p:cNvPr id="2361" name="TextBox 36"/>
          <p:cNvSpPr txBox="1"/>
          <p:nvPr/>
        </p:nvSpPr>
        <p:spPr>
          <a:xfrm>
            <a:off x="9093250" y="7795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362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3" name="Picture 38" descr="Picture 3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364" name="TextBox 39"/>
          <p:cNvSpPr txBox="1"/>
          <p:nvPr/>
        </p:nvSpPr>
        <p:spPr>
          <a:xfrm>
            <a:off x="14504212" y="77952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2365" name="Connector 40"/>
          <p:cNvSpPr/>
          <p:nvPr/>
        </p:nvSpPr>
        <p:spPr>
          <a:xfrm>
            <a:off x="1371600" y="8321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6" name="TextBox 41"/>
          <p:cNvSpPr txBox="1"/>
          <p:nvPr/>
        </p:nvSpPr>
        <p:spPr>
          <a:xfrm>
            <a:off x="1517902" y="84810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367" name="TextBox 42"/>
          <p:cNvSpPr txBox="1"/>
          <p:nvPr/>
        </p:nvSpPr>
        <p:spPr>
          <a:xfrm>
            <a:off x="2600094" y="84810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Transaction report (1 month within a year)</a:t>
            </a:r>
          </a:p>
        </p:txBody>
      </p:sp>
      <p:sp>
        <p:nvSpPr>
          <p:cNvPr id="2368" name="TextBox 43"/>
          <p:cNvSpPr txBox="1"/>
          <p:nvPr/>
        </p:nvSpPr>
        <p:spPr>
          <a:xfrm>
            <a:off x="9093250" y="84810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369" name="Picture 44" descr="Picture 4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70" name="Picture 45" descr="Picture 4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371" name="TextBox 46"/>
          <p:cNvSpPr txBox="1"/>
          <p:nvPr/>
        </p:nvSpPr>
        <p:spPr>
          <a:xfrm>
            <a:off x="14504212" y="84810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2372" name="Connector 47"/>
          <p:cNvSpPr/>
          <p:nvPr/>
        </p:nvSpPr>
        <p:spPr>
          <a:xfrm>
            <a:off x="1371600" y="90068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3" name="TextBox 48"/>
          <p:cNvSpPr txBox="1"/>
          <p:nvPr/>
        </p:nvSpPr>
        <p:spPr>
          <a:xfrm>
            <a:off x="1517902" y="9166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374" name="TextBox 49"/>
          <p:cNvSpPr txBox="1"/>
          <p:nvPr/>
        </p:nvSpPr>
        <p:spPr>
          <a:xfrm>
            <a:off x="2600094" y="9166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Holding Statement</a:t>
            </a:r>
          </a:p>
        </p:txBody>
      </p:sp>
      <p:sp>
        <p:nvSpPr>
          <p:cNvPr id="2375" name="TextBox 50"/>
          <p:cNvSpPr txBox="1"/>
          <p:nvPr/>
        </p:nvSpPr>
        <p:spPr>
          <a:xfrm>
            <a:off x="9093250" y="9166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376" name="Picture 51" descr="Picture 5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77" name="Picture 52" descr="Picture 5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378" name="Connector 53"/>
          <p:cNvSpPr/>
          <p:nvPr/>
        </p:nvSpPr>
        <p:spPr>
          <a:xfrm>
            <a:off x="1371600" y="9692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9" name="TextBox 54"/>
          <p:cNvSpPr txBox="1"/>
          <p:nvPr/>
        </p:nvSpPr>
        <p:spPr>
          <a:xfrm>
            <a:off x="1517902" y="9852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380" name="TextBox 55"/>
          <p:cNvSpPr txBox="1"/>
          <p:nvPr/>
        </p:nvSpPr>
        <p:spPr>
          <a:xfrm>
            <a:off x="2600094" y="9852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Generate portfolio report</a:t>
            </a:r>
          </a:p>
        </p:txBody>
      </p:sp>
      <p:sp>
        <p:nvSpPr>
          <p:cNvPr id="2381" name="TextBox 56"/>
          <p:cNvSpPr txBox="1"/>
          <p:nvPr/>
        </p:nvSpPr>
        <p:spPr>
          <a:xfrm>
            <a:off x="9093250" y="9852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382" name="Picture 57" descr="Picture 5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8892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83" name="Picture 58" descr="Picture 5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8892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384" name="Connector 59"/>
          <p:cNvSpPr/>
          <p:nvPr/>
        </p:nvSpPr>
        <p:spPr>
          <a:xfrm>
            <a:off x="1371600" y="10378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5" name="TextBox 60"/>
          <p:cNvSpPr txBox="1"/>
          <p:nvPr/>
        </p:nvSpPr>
        <p:spPr>
          <a:xfrm>
            <a:off x="1517902" y="10538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386" name="TextBox 61"/>
          <p:cNvSpPr txBox="1"/>
          <p:nvPr/>
        </p:nvSpPr>
        <p:spPr>
          <a:xfrm>
            <a:off x="2600094" y="10538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Export report (PDF/Excel)</a:t>
            </a:r>
          </a:p>
        </p:txBody>
      </p:sp>
      <p:sp>
        <p:nvSpPr>
          <p:cNvPr id="2387" name="TextBox 62"/>
          <p:cNvSpPr txBox="1"/>
          <p:nvPr/>
        </p:nvSpPr>
        <p:spPr>
          <a:xfrm>
            <a:off x="9093250" y="10538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388" name="Picture 63" descr="Picture 6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50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89" name="Picture 64" descr="Picture 6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50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390" name="Connector 65"/>
          <p:cNvSpPr/>
          <p:nvPr/>
        </p:nvSpPr>
        <p:spPr>
          <a:xfrm>
            <a:off x="1371600" y="11064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91" name="TextBox 66"/>
          <p:cNvSpPr txBox="1"/>
          <p:nvPr/>
        </p:nvSpPr>
        <p:spPr>
          <a:xfrm>
            <a:off x="1517902" y="11224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392" name="TextBox 67"/>
          <p:cNvSpPr txBox="1"/>
          <p:nvPr/>
        </p:nvSpPr>
        <p:spPr>
          <a:xfrm>
            <a:off x="2600094" y="11224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Download account statement</a:t>
            </a:r>
          </a:p>
        </p:txBody>
      </p:sp>
      <p:sp>
        <p:nvSpPr>
          <p:cNvPr id="2393" name="TextBox 68"/>
          <p:cNvSpPr txBox="1"/>
          <p:nvPr/>
        </p:nvSpPr>
        <p:spPr>
          <a:xfrm>
            <a:off x="9093250" y="11224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394" name="Picture 69" descr="Picture 6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2608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95" name="Picture 70" descr="Picture 7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2608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396" name="Connector 71"/>
          <p:cNvSpPr/>
          <p:nvPr/>
        </p:nvSpPr>
        <p:spPr>
          <a:xfrm>
            <a:off x="1371600" y="11750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97" name="TextBox 72"/>
          <p:cNvSpPr txBox="1"/>
          <p:nvPr/>
        </p:nvSpPr>
        <p:spPr>
          <a:xfrm>
            <a:off x="1517902" y="119100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398" name="TextBox 73"/>
          <p:cNvSpPr txBox="1"/>
          <p:nvPr/>
        </p:nvSpPr>
        <p:spPr>
          <a:xfrm>
            <a:off x="2600094" y="119100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Report period selection</a:t>
            </a:r>
          </a:p>
        </p:txBody>
      </p:sp>
      <p:sp>
        <p:nvSpPr>
          <p:cNvPr id="2399" name="TextBox 74"/>
          <p:cNvSpPr txBox="1"/>
          <p:nvPr/>
        </p:nvSpPr>
        <p:spPr>
          <a:xfrm>
            <a:off x="9093250" y="119100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2400" name="Picture 75" descr="Picture 7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9466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01" name="Picture 76" descr="Picture 7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9466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402" name="TextBox 77"/>
          <p:cNvSpPr txBox="1"/>
          <p:nvPr/>
        </p:nvSpPr>
        <p:spPr>
          <a:xfrm>
            <a:off x="14504212" y="119100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Flexible custom period selection</a:t>
            </a:r>
          </a:p>
        </p:txBody>
      </p:sp>
      <p:sp>
        <p:nvSpPr>
          <p:cNvPr id="2403" name="Connector 78"/>
          <p:cNvSpPr/>
          <p:nvPr/>
        </p:nvSpPr>
        <p:spPr>
          <a:xfrm>
            <a:off x="1371600" y="124358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2406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033 / 111</a:t>
            </a:r>
          </a:p>
        </p:txBody>
      </p:sp>
      <p:sp>
        <p:nvSpPr>
          <p:cNvPr id="2407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2408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Market Intelligence &amp; Context</a:t>
            </a:r>
          </a:p>
        </p:txBody>
      </p:sp>
      <p:sp>
        <p:nvSpPr>
          <p:cNvPr id="2409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2410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2411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2412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2413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2414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2415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2416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2417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8" name="TextBox 14"/>
          <p:cNvSpPr txBox="1"/>
          <p:nvPr/>
        </p:nvSpPr>
        <p:spPr>
          <a:xfrm>
            <a:off x="1517902" y="5614415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419" name="TextBox 15"/>
          <p:cNvSpPr txBox="1"/>
          <p:nvPr/>
        </p:nvSpPr>
        <p:spPr>
          <a:xfrm>
            <a:off x="2600094" y="5614415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index visibility</a:t>
            </a:r>
          </a:p>
        </p:txBody>
      </p:sp>
      <p:sp>
        <p:nvSpPr>
          <p:cNvPr id="2420" name="TextBox 16"/>
          <p:cNvSpPr txBox="1"/>
          <p:nvPr/>
        </p:nvSpPr>
        <p:spPr>
          <a:xfrm>
            <a:off x="9093250" y="5614415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421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099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2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099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423" name="Connector 19"/>
          <p:cNvSpPr/>
          <p:nvPr/>
        </p:nvSpPr>
        <p:spPr>
          <a:xfrm>
            <a:off x="1371600" y="60167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24" name="TextBox 20"/>
          <p:cNvSpPr txBox="1"/>
          <p:nvPr/>
        </p:nvSpPr>
        <p:spPr>
          <a:xfrm>
            <a:off x="1517902" y="605332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425" name="TextBox 21"/>
          <p:cNvSpPr txBox="1"/>
          <p:nvPr/>
        </p:nvSpPr>
        <p:spPr>
          <a:xfrm>
            <a:off x="2600094" y="6053328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news integration</a:t>
            </a:r>
          </a:p>
        </p:txBody>
      </p:sp>
      <p:sp>
        <p:nvSpPr>
          <p:cNvPr id="2426" name="TextBox 22"/>
          <p:cNvSpPr txBox="1"/>
          <p:nvPr/>
        </p:nvSpPr>
        <p:spPr>
          <a:xfrm>
            <a:off x="9093250" y="605332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427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8990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8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8990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429" name="Connector 25"/>
          <p:cNvSpPr/>
          <p:nvPr/>
        </p:nvSpPr>
        <p:spPr>
          <a:xfrm>
            <a:off x="1371600" y="6455664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30" name="TextBox 26"/>
          <p:cNvSpPr txBox="1"/>
          <p:nvPr/>
        </p:nvSpPr>
        <p:spPr>
          <a:xfrm>
            <a:off x="1517902" y="64922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431" name="TextBox 27"/>
          <p:cNvSpPr txBox="1"/>
          <p:nvPr/>
        </p:nvSpPr>
        <p:spPr>
          <a:xfrm>
            <a:off x="2600094" y="64922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Advance market chart</a:t>
            </a:r>
          </a:p>
        </p:txBody>
      </p:sp>
      <p:sp>
        <p:nvSpPr>
          <p:cNvPr id="2432" name="TextBox 28"/>
          <p:cNvSpPr txBox="1"/>
          <p:nvPr/>
        </p:nvSpPr>
        <p:spPr>
          <a:xfrm>
            <a:off x="9093250" y="6492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433" name="Picture 29" descr="Picture 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652881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4" name="Picture 30" descr="Picture 3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652881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435" name="Connector 31"/>
          <p:cNvSpPr/>
          <p:nvPr/>
        </p:nvSpPr>
        <p:spPr>
          <a:xfrm>
            <a:off x="1371600" y="689457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36" name="TextBox 32"/>
          <p:cNvSpPr txBox="1"/>
          <p:nvPr/>
        </p:nvSpPr>
        <p:spPr>
          <a:xfrm>
            <a:off x="1517902" y="693115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437" name="TextBox 33"/>
          <p:cNvSpPr txBox="1"/>
          <p:nvPr/>
        </p:nvSpPr>
        <p:spPr>
          <a:xfrm>
            <a:off x="2600094" y="693115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benchmark comparison</a:t>
            </a:r>
          </a:p>
        </p:txBody>
      </p:sp>
      <p:sp>
        <p:nvSpPr>
          <p:cNvPr id="2438" name="TextBox 34"/>
          <p:cNvSpPr txBox="1"/>
          <p:nvPr/>
        </p:nvSpPr>
        <p:spPr>
          <a:xfrm>
            <a:off x="9093250" y="69311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439" name="Picture 35" descr="Picture 3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696772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0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696772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441" name="Connector 37"/>
          <p:cNvSpPr/>
          <p:nvPr/>
        </p:nvSpPr>
        <p:spPr>
          <a:xfrm>
            <a:off x="1371600" y="73334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42" name="TextBox 38"/>
          <p:cNvSpPr txBox="1"/>
          <p:nvPr/>
        </p:nvSpPr>
        <p:spPr>
          <a:xfrm>
            <a:off x="1517902" y="737006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443" name="TextBox 39"/>
          <p:cNvSpPr txBox="1"/>
          <p:nvPr/>
        </p:nvSpPr>
        <p:spPr>
          <a:xfrm>
            <a:off x="2600094" y="737006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trends visibility</a:t>
            </a:r>
          </a:p>
        </p:txBody>
      </p:sp>
      <p:sp>
        <p:nvSpPr>
          <p:cNvPr id="2444" name="TextBox 40"/>
          <p:cNvSpPr txBox="1"/>
          <p:nvPr/>
        </p:nvSpPr>
        <p:spPr>
          <a:xfrm>
            <a:off x="9093250" y="737006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445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40664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6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40664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447" name="Connector 43"/>
          <p:cNvSpPr/>
          <p:nvPr/>
        </p:nvSpPr>
        <p:spPr>
          <a:xfrm>
            <a:off x="1371600" y="77724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48" name="TextBox 44"/>
          <p:cNvSpPr txBox="1"/>
          <p:nvPr/>
        </p:nvSpPr>
        <p:spPr>
          <a:xfrm>
            <a:off x="1517902" y="780897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449" name="TextBox 45"/>
          <p:cNvSpPr txBox="1"/>
          <p:nvPr/>
        </p:nvSpPr>
        <p:spPr>
          <a:xfrm>
            <a:off x="2600094" y="780897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Stocks List</a:t>
            </a:r>
          </a:p>
        </p:txBody>
      </p:sp>
      <p:sp>
        <p:nvSpPr>
          <p:cNvPr id="2450" name="TextBox 46"/>
          <p:cNvSpPr txBox="1"/>
          <p:nvPr/>
        </p:nvSpPr>
        <p:spPr>
          <a:xfrm>
            <a:off x="9093250" y="78089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451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4555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52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45552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453" name="Connector 49"/>
          <p:cNvSpPr/>
          <p:nvPr/>
        </p:nvSpPr>
        <p:spPr>
          <a:xfrm>
            <a:off x="1371600" y="821131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4" name="TextBox 50"/>
          <p:cNvSpPr txBox="1"/>
          <p:nvPr/>
        </p:nvSpPr>
        <p:spPr>
          <a:xfrm>
            <a:off x="1517902" y="824788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455" name="TextBox 51"/>
          <p:cNvSpPr txBox="1"/>
          <p:nvPr/>
        </p:nvSpPr>
        <p:spPr>
          <a:xfrm>
            <a:off x="2600094" y="8247888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Shariah Stocks List</a:t>
            </a:r>
          </a:p>
        </p:txBody>
      </p:sp>
      <p:sp>
        <p:nvSpPr>
          <p:cNvPr id="2456" name="TextBox 52"/>
          <p:cNvSpPr txBox="1"/>
          <p:nvPr/>
        </p:nvSpPr>
        <p:spPr>
          <a:xfrm>
            <a:off x="9093250" y="824788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457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28446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58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28446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459" name="Connector 55"/>
          <p:cNvSpPr/>
          <p:nvPr/>
        </p:nvSpPr>
        <p:spPr>
          <a:xfrm>
            <a:off x="1371600" y="865022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60" name="TextBox 56"/>
          <p:cNvSpPr txBox="1"/>
          <p:nvPr/>
        </p:nvSpPr>
        <p:spPr>
          <a:xfrm>
            <a:off x="1517902" y="86868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461" name="TextBox 57"/>
          <p:cNvSpPr txBox="1"/>
          <p:nvPr/>
        </p:nvSpPr>
        <p:spPr>
          <a:xfrm>
            <a:off x="2600094" y="86868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Options List</a:t>
            </a:r>
          </a:p>
        </p:txBody>
      </p:sp>
      <p:sp>
        <p:nvSpPr>
          <p:cNvPr id="2462" name="TextBox 58"/>
          <p:cNvSpPr txBox="1"/>
          <p:nvPr/>
        </p:nvSpPr>
        <p:spPr>
          <a:xfrm>
            <a:off x="9093250" y="86867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463" name="Picture 59" descr="Picture 5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87233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64" name="Picture 60" descr="Picture 6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87233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465" name="Connector 61"/>
          <p:cNvSpPr/>
          <p:nvPr/>
        </p:nvSpPr>
        <p:spPr>
          <a:xfrm>
            <a:off x="1371600" y="908913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66" name="TextBox 62"/>
          <p:cNvSpPr txBox="1"/>
          <p:nvPr/>
        </p:nvSpPr>
        <p:spPr>
          <a:xfrm>
            <a:off x="1517902" y="912571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467" name="TextBox 63"/>
          <p:cNvSpPr txBox="1"/>
          <p:nvPr/>
        </p:nvSpPr>
        <p:spPr>
          <a:xfrm>
            <a:off x="2600094" y="912571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Trending Stocks</a:t>
            </a:r>
          </a:p>
        </p:txBody>
      </p:sp>
      <p:sp>
        <p:nvSpPr>
          <p:cNvPr id="2468" name="TextBox 64"/>
          <p:cNvSpPr txBox="1"/>
          <p:nvPr/>
        </p:nvSpPr>
        <p:spPr>
          <a:xfrm>
            <a:off x="9093250" y="912571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469" name="Picture 65" descr="Picture 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16228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70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16228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471" name="Connector 67"/>
          <p:cNvSpPr/>
          <p:nvPr/>
        </p:nvSpPr>
        <p:spPr>
          <a:xfrm>
            <a:off x="1371600" y="9528047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72" name="TextBox 68"/>
          <p:cNvSpPr txBox="1"/>
          <p:nvPr/>
        </p:nvSpPr>
        <p:spPr>
          <a:xfrm>
            <a:off x="1517902" y="956462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473" name="TextBox 69"/>
          <p:cNvSpPr txBox="1"/>
          <p:nvPr/>
        </p:nvSpPr>
        <p:spPr>
          <a:xfrm>
            <a:off x="2600094" y="956462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Top Movers stocks (Gainers/Losers/Value/ Quantity)</a:t>
            </a:r>
          </a:p>
        </p:txBody>
      </p:sp>
      <p:sp>
        <p:nvSpPr>
          <p:cNvPr id="2474" name="TextBox 70"/>
          <p:cNvSpPr txBox="1"/>
          <p:nvPr/>
        </p:nvSpPr>
        <p:spPr>
          <a:xfrm>
            <a:off x="9093250" y="956462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475" name="Picture 71" descr="Picture 7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60120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76" name="Picture 72" descr="Picture 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60120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477" name="Connector 73"/>
          <p:cNvSpPr/>
          <p:nvPr/>
        </p:nvSpPr>
        <p:spPr>
          <a:xfrm>
            <a:off x="1371600" y="99669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78" name="TextBox 74"/>
          <p:cNvSpPr txBox="1"/>
          <p:nvPr/>
        </p:nvSpPr>
        <p:spPr>
          <a:xfrm>
            <a:off x="1517902" y="10003535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479" name="TextBox 75"/>
          <p:cNvSpPr txBox="1"/>
          <p:nvPr/>
        </p:nvSpPr>
        <p:spPr>
          <a:xfrm>
            <a:off x="2600094" y="10003535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Top Movers stocks (Per/Post market/Overnight)</a:t>
            </a:r>
          </a:p>
        </p:txBody>
      </p:sp>
      <p:sp>
        <p:nvSpPr>
          <p:cNvPr id="2480" name="TextBox 76"/>
          <p:cNvSpPr txBox="1"/>
          <p:nvPr/>
        </p:nvSpPr>
        <p:spPr>
          <a:xfrm>
            <a:off x="9093250" y="10003535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2481" name="TextBox 77"/>
          <p:cNvSpPr txBox="1"/>
          <p:nvPr/>
        </p:nvSpPr>
        <p:spPr>
          <a:xfrm>
            <a:off x="10894893" y="10003535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2482" name="TextBox 78"/>
          <p:cNvSpPr txBox="1"/>
          <p:nvPr/>
        </p:nvSpPr>
        <p:spPr>
          <a:xfrm>
            <a:off x="12626399" y="10003535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2483" name="Connector 79"/>
          <p:cNvSpPr/>
          <p:nvPr/>
        </p:nvSpPr>
        <p:spPr>
          <a:xfrm>
            <a:off x="1371600" y="1040587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84" name="TextBox 80"/>
          <p:cNvSpPr txBox="1"/>
          <p:nvPr/>
        </p:nvSpPr>
        <p:spPr>
          <a:xfrm>
            <a:off x="1517902" y="1044244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485" name="TextBox 81"/>
          <p:cNvSpPr txBox="1"/>
          <p:nvPr/>
        </p:nvSpPr>
        <p:spPr>
          <a:xfrm>
            <a:off x="2600094" y="1044244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watch</a:t>
            </a:r>
          </a:p>
        </p:txBody>
      </p:sp>
      <p:sp>
        <p:nvSpPr>
          <p:cNvPr id="2486" name="TextBox 82"/>
          <p:cNvSpPr txBox="1"/>
          <p:nvPr/>
        </p:nvSpPr>
        <p:spPr>
          <a:xfrm>
            <a:off x="9093250" y="1044244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487" name="Picture 83" descr="Picture 8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47902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88" name="Picture 84" descr="Picture 8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47902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489" name="Connector 85"/>
          <p:cNvSpPr/>
          <p:nvPr/>
        </p:nvSpPr>
        <p:spPr>
          <a:xfrm>
            <a:off x="1371600" y="108447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90" name="TextBox 86"/>
          <p:cNvSpPr txBox="1"/>
          <p:nvPr/>
        </p:nvSpPr>
        <p:spPr>
          <a:xfrm>
            <a:off x="1517902" y="108813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491" name="TextBox 87"/>
          <p:cNvSpPr txBox="1"/>
          <p:nvPr/>
        </p:nvSpPr>
        <p:spPr>
          <a:xfrm>
            <a:off x="2600094" y="108813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Sector market performance</a:t>
            </a:r>
          </a:p>
        </p:txBody>
      </p:sp>
      <p:sp>
        <p:nvSpPr>
          <p:cNvPr id="2492" name="TextBox 88"/>
          <p:cNvSpPr txBox="1"/>
          <p:nvPr/>
        </p:nvSpPr>
        <p:spPr>
          <a:xfrm>
            <a:off x="9093250" y="108813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493" name="Picture 89" descr="Picture 8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9179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4" name="Picture 90" descr="Picture 9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9179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495" name="Connector 91"/>
          <p:cNvSpPr/>
          <p:nvPr/>
        </p:nvSpPr>
        <p:spPr>
          <a:xfrm>
            <a:off x="1371600" y="11283694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96" name="TextBox 92"/>
          <p:cNvSpPr txBox="1"/>
          <p:nvPr/>
        </p:nvSpPr>
        <p:spPr>
          <a:xfrm>
            <a:off x="1517902" y="1132027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2497" name="TextBox 93"/>
          <p:cNvSpPr txBox="1"/>
          <p:nvPr/>
        </p:nvSpPr>
        <p:spPr>
          <a:xfrm>
            <a:off x="2600094" y="1132027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Sector Heatmap</a:t>
            </a:r>
          </a:p>
        </p:txBody>
      </p:sp>
      <p:sp>
        <p:nvSpPr>
          <p:cNvPr id="2498" name="TextBox 94"/>
          <p:cNvSpPr txBox="1"/>
          <p:nvPr/>
        </p:nvSpPr>
        <p:spPr>
          <a:xfrm>
            <a:off x="9093250" y="1132027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499" name="Picture 95" descr="Picture 9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35684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0" name="Picture 96" descr="Picture 9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356847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501" name="Connector 97"/>
          <p:cNvSpPr/>
          <p:nvPr/>
        </p:nvSpPr>
        <p:spPr>
          <a:xfrm>
            <a:off x="1371600" y="1172260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02" name="TextBox 98"/>
          <p:cNvSpPr txBox="1"/>
          <p:nvPr/>
        </p:nvSpPr>
        <p:spPr>
          <a:xfrm>
            <a:off x="1517902" y="1175918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2503" name="TextBox 99"/>
          <p:cNvSpPr txBox="1"/>
          <p:nvPr/>
        </p:nvSpPr>
        <p:spPr>
          <a:xfrm>
            <a:off x="2600094" y="1175918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Instrument research access</a:t>
            </a:r>
          </a:p>
        </p:txBody>
      </p:sp>
      <p:sp>
        <p:nvSpPr>
          <p:cNvPr id="2504" name="TextBox 100"/>
          <p:cNvSpPr txBox="1"/>
          <p:nvPr/>
        </p:nvSpPr>
        <p:spPr>
          <a:xfrm>
            <a:off x="9093250" y="1175918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505" name="Picture 101" descr="Picture 10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79575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6" name="Picture 102" descr="Picture 10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795759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507" name="Connector 103"/>
          <p:cNvSpPr/>
          <p:nvPr/>
        </p:nvSpPr>
        <p:spPr>
          <a:xfrm>
            <a:off x="1371600" y="121615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08" name="TextBox 104"/>
          <p:cNvSpPr txBox="1"/>
          <p:nvPr/>
        </p:nvSpPr>
        <p:spPr>
          <a:xfrm>
            <a:off x="1517902" y="1219809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2509" name="TextBox 105"/>
          <p:cNvSpPr txBox="1"/>
          <p:nvPr/>
        </p:nvSpPr>
        <p:spPr>
          <a:xfrm>
            <a:off x="2600094" y="1219809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Corporate actions visibility</a:t>
            </a:r>
          </a:p>
        </p:txBody>
      </p:sp>
      <p:sp>
        <p:nvSpPr>
          <p:cNvPr id="2510" name="TextBox 106"/>
          <p:cNvSpPr txBox="1"/>
          <p:nvPr/>
        </p:nvSpPr>
        <p:spPr>
          <a:xfrm>
            <a:off x="9093250" y="1219809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511" name="Picture 107" descr="Picture 10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223467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2" name="Picture 108" descr="Picture 10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23467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513" name="Connector 109"/>
          <p:cNvSpPr/>
          <p:nvPr/>
        </p:nvSpPr>
        <p:spPr>
          <a:xfrm>
            <a:off x="1371600" y="1260043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14" name="TextBox 110"/>
          <p:cNvSpPr txBox="1"/>
          <p:nvPr/>
        </p:nvSpPr>
        <p:spPr>
          <a:xfrm>
            <a:off x="1517902" y="12637006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2515" name="TextBox 111"/>
          <p:cNvSpPr txBox="1"/>
          <p:nvPr/>
        </p:nvSpPr>
        <p:spPr>
          <a:xfrm>
            <a:off x="2600094" y="12637006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Subscribe for live prices banner</a:t>
            </a:r>
          </a:p>
        </p:txBody>
      </p:sp>
      <p:sp>
        <p:nvSpPr>
          <p:cNvPr id="2516" name="TextBox 112"/>
          <p:cNvSpPr txBox="1"/>
          <p:nvPr/>
        </p:nvSpPr>
        <p:spPr>
          <a:xfrm>
            <a:off x="9093250" y="1263700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517" name="Picture 113" descr="Picture 11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67358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8" name="Picture 114" descr="Picture 11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67358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519" name="Connector 115"/>
          <p:cNvSpPr/>
          <p:nvPr/>
        </p:nvSpPr>
        <p:spPr>
          <a:xfrm>
            <a:off x="1371600" y="1303934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2522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034 / 111</a:t>
            </a:r>
          </a:p>
        </p:txBody>
      </p:sp>
      <p:sp>
        <p:nvSpPr>
          <p:cNvPr id="2523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2524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Market Intelligence &amp; Context</a:t>
            </a:r>
          </a:p>
        </p:txBody>
      </p:sp>
      <p:sp>
        <p:nvSpPr>
          <p:cNvPr id="2525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2526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2527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2528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2529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2530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2531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2532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2533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34" name="TextBox 14"/>
          <p:cNvSpPr txBox="1"/>
          <p:nvPr/>
        </p:nvSpPr>
        <p:spPr>
          <a:xfrm>
            <a:off x="1517902" y="5614415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2535" name="TextBox 15"/>
          <p:cNvSpPr txBox="1"/>
          <p:nvPr/>
        </p:nvSpPr>
        <p:spPr>
          <a:xfrm>
            <a:off x="2600094" y="5614415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Advance Market overview (up/Down, Net Flow)</a:t>
            </a:r>
          </a:p>
        </p:txBody>
      </p:sp>
      <p:sp>
        <p:nvSpPr>
          <p:cNvPr id="2536" name="TextBox 16"/>
          <p:cNvSpPr txBox="1"/>
          <p:nvPr/>
        </p:nvSpPr>
        <p:spPr>
          <a:xfrm>
            <a:off x="9093250" y="5614415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2537" name="Connector 19"/>
          <p:cNvSpPr/>
          <p:nvPr/>
        </p:nvSpPr>
        <p:spPr>
          <a:xfrm>
            <a:off x="1371600" y="60167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38" name="TextBox 20"/>
          <p:cNvSpPr txBox="1"/>
          <p:nvPr/>
        </p:nvSpPr>
        <p:spPr>
          <a:xfrm>
            <a:off x="1517902" y="605332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19</a:t>
            </a:r>
          </a:p>
        </p:txBody>
      </p:sp>
      <p:sp>
        <p:nvSpPr>
          <p:cNvPr id="2539" name="TextBox 21"/>
          <p:cNvSpPr txBox="1"/>
          <p:nvPr/>
        </p:nvSpPr>
        <p:spPr>
          <a:xfrm>
            <a:off x="2600094" y="6053328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Screener (High Growth, Biggest Earnings)</a:t>
            </a:r>
          </a:p>
        </p:txBody>
      </p:sp>
      <p:sp>
        <p:nvSpPr>
          <p:cNvPr id="2540" name="TextBox 22"/>
          <p:cNvSpPr txBox="1"/>
          <p:nvPr/>
        </p:nvSpPr>
        <p:spPr>
          <a:xfrm>
            <a:off x="9093250" y="605332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2541" name="Connector 25"/>
          <p:cNvSpPr/>
          <p:nvPr/>
        </p:nvSpPr>
        <p:spPr>
          <a:xfrm>
            <a:off x="1371600" y="6455664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42" name="TextBox 26"/>
          <p:cNvSpPr txBox="1"/>
          <p:nvPr/>
        </p:nvSpPr>
        <p:spPr>
          <a:xfrm>
            <a:off x="1517902" y="64922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2543" name="TextBox 27"/>
          <p:cNvSpPr txBox="1"/>
          <p:nvPr/>
        </p:nvSpPr>
        <p:spPr>
          <a:xfrm>
            <a:off x="2600094" y="64922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Upcoming IPO</a:t>
            </a:r>
          </a:p>
        </p:txBody>
      </p:sp>
      <p:sp>
        <p:nvSpPr>
          <p:cNvPr id="2544" name="TextBox 28"/>
          <p:cNvSpPr txBox="1"/>
          <p:nvPr/>
        </p:nvSpPr>
        <p:spPr>
          <a:xfrm>
            <a:off x="9093250" y="6492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2545" name="Connector 31"/>
          <p:cNvSpPr/>
          <p:nvPr/>
        </p:nvSpPr>
        <p:spPr>
          <a:xfrm>
            <a:off x="1371600" y="689457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46" name="TextBox 32"/>
          <p:cNvSpPr txBox="1"/>
          <p:nvPr/>
        </p:nvSpPr>
        <p:spPr>
          <a:xfrm>
            <a:off x="1517902" y="693115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21</a:t>
            </a:r>
          </a:p>
        </p:txBody>
      </p:sp>
      <p:sp>
        <p:nvSpPr>
          <p:cNvPr id="2547" name="TextBox 33"/>
          <p:cNvSpPr txBox="1"/>
          <p:nvPr/>
        </p:nvSpPr>
        <p:spPr>
          <a:xfrm>
            <a:off x="2600094" y="693115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Recent IPO Performance</a:t>
            </a:r>
          </a:p>
        </p:txBody>
      </p:sp>
      <p:sp>
        <p:nvSpPr>
          <p:cNvPr id="2548" name="TextBox 34"/>
          <p:cNvSpPr txBox="1"/>
          <p:nvPr/>
        </p:nvSpPr>
        <p:spPr>
          <a:xfrm>
            <a:off x="9093250" y="69311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549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96772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50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96772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551" name="Connector 37"/>
          <p:cNvSpPr/>
          <p:nvPr/>
        </p:nvSpPr>
        <p:spPr>
          <a:xfrm>
            <a:off x="1371600" y="73334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52" name="TextBox 38"/>
          <p:cNvSpPr txBox="1"/>
          <p:nvPr/>
        </p:nvSpPr>
        <p:spPr>
          <a:xfrm>
            <a:off x="1517902" y="737006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22</a:t>
            </a:r>
          </a:p>
        </p:txBody>
      </p:sp>
      <p:sp>
        <p:nvSpPr>
          <p:cNvPr id="2553" name="TextBox 39"/>
          <p:cNvSpPr txBox="1"/>
          <p:nvPr/>
        </p:nvSpPr>
        <p:spPr>
          <a:xfrm>
            <a:off x="2600094" y="737006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Earnings Beat</a:t>
            </a:r>
          </a:p>
        </p:txBody>
      </p:sp>
      <p:sp>
        <p:nvSpPr>
          <p:cNvPr id="2554" name="TextBox 40"/>
          <p:cNvSpPr txBox="1"/>
          <p:nvPr/>
        </p:nvSpPr>
        <p:spPr>
          <a:xfrm>
            <a:off x="9093250" y="737006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2555" name="Connector 43"/>
          <p:cNvSpPr/>
          <p:nvPr/>
        </p:nvSpPr>
        <p:spPr>
          <a:xfrm>
            <a:off x="1371600" y="77724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56" name="TextBox 44"/>
          <p:cNvSpPr txBox="1"/>
          <p:nvPr/>
        </p:nvSpPr>
        <p:spPr>
          <a:xfrm>
            <a:off x="1517902" y="780897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23</a:t>
            </a:r>
          </a:p>
        </p:txBody>
      </p:sp>
      <p:sp>
        <p:nvSpPr>
          <p:cNvPr id="2557" name="TextBox 45"/>
          <p:cNvSpPr txBox="1"/>
          <p:nvPr/>
        </p:nvSpPr>
        <p:spPr>
          <a:xfrm>
            <a:off x="2600094" y="780897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Rating change list</a:t>
            </a:r>
          </a:p>
        </p:txBody>
      </p:sp>
      <p:sp>
        <p:nvSpPr>
          <p:cNvPr id="2558" name="TextBox 46"/>
          <p:cNvSpPr txBox="1"/>
          <p:nvPr/>
        </p:nvSpPr>
        <p:spPr>
          <a:xfrm>
            <a:off x="9093250" y="78089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2559" name="Connector 49"/>
          <p:cNvSpPr/>
          <p:nvPr/>
        </p:nvSpPr>
        <p:spPr>
          <a:xfrm>
            <a:off x="1371600" y="821131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60" name="TextBox 50"/>
          <p:cNvSpPr txBox="1"/>
          <p:nvPr/>
        </p:nvSpPr>
        <p:spPr>
          <a:xfrm>
            <a:off x="1517902" y="824788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24</a:t>
            </a:r>
          </a:p>
        </p:txBody>
      </p:sp>
      <p:sp>
        <p:nvSpPr>
          <p:cNvPr id="2561" name="TextBox 51"/>
          <p:cNvSpPr txBox="1"/>
          <p:nvPr/>
        </p:nvSpPr>
        <p:spPr>
          <a:xfrm>
            <a:off x="2600094" y="8247888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Monitor</a:t>
            </a:r>
          </a:p>
        </p:txBody>
      </p:sp>
      <p:sp>
        <p:nvSpPr>
          <p:cNvPr id="2562" name="TextBox 52"/>
          <p:cNvSpPr txBox="1"/>
          <p:nvPr/>
        </p:nvSpPr>
        <p:spPr>
          <a:xfrm>
            <a:off x="9093250" y="824788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2563" name="Connector 55"/>
          <p:cNvSpPr/>
          <p:nvPr/>
        </p:nvSpPr>
        <p:spPr>
          <a:xfrm>
            <a:off x="1371600" y="865022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64" name="TextBox 56"/>
          <p:cNvSpPr txBox="1"/>
          <p:nvPr/>
        </p:nvSpPr>
        <p:spPr>
          <a:xfrm>
            <a:off x="1517902" y="86868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25</a:t>
            </a:r>
          </a:p>
        </p:txBody>
      </p:sp>
      <p:sp>
        <p:nvSpPr>
          <p:cNvPr id="2565" name="TextBox 57"/>
          <p:cNvSpPr txBox="1"/>
          <p:nvPr/>
        </p:nvSpPr>
        <p:spPr>
          <a:xfrm>
            <a:off x="2600094" y="86868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Liquidity</a:t>
            </a:r>
          </a:p>
        </p:txBody>
      </p:sp>
      <p:sp>
        <p:nvSpPr>
          <p:cNvPr id="2566" name="TextBox 58"/>
          <p:cNvSpPr txBox="1"/>
          <p:nvPr/>
        </p:nvSpPr>
        <p:spPr>
          <a:xfrm>
            <a:off x="9093250" y="86867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567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7233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68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7233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569" name="Connector 61"/>
          <p:cNvSpPr/>
          <p:nvPr/>
        </p:nvSpPr>
        <p:spPr>
          <a:xfrm>
            <a:off x="1371600" y="908913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70" name="TextBox 62"/>
          <p:cNvSpPr txBox="1"/>
          <p:nvPr/>
        </p:nvSpPr>
        <p:spPr>
          <a:xfrm>
            <a:off x="1517902" y="912571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26</a:t>
            </a:r>
          </a:p>
        </p:txBody>
      </p:sp>
      <p:sp>
        <p:nvSpPr>
          <p:cNvPr id="2571" name="TextBox 63"/>
          <p:cNvSpPr txBox="1"/>
          <p:nvPr/>
        </p:nvSpPr>
        <p:spPr>
          <a:xfrm>
            <a:off x="2600094" y="912571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Volatility</a:t>
            </a:r>
          </a:p>
        </p:txBody>
      </p:sp>
      <p:sp>
        <p:nvSpPr>
          <p:cNvPr id="2572" name="TextBox 64"/>
          <p:cNvSpPr txBox="1"/>
          <p:nvPr/>
        </p:nvSpPr>
        <p:spPr>
          <a:xfrm>
            <a:off x="9093250" y="912571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2573" name="Connector 67"/>
          <p:cNvSpPr/>
          <p:nvPr/>
        </p:nvSpPr>
        <p:spPr>
          <a:xfrm>
            <a:off x="1371600" y="9528047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74" name="TextBox 68"/>
          <p:cNvSpPr txBox="1"/>
          <p:nvPr/>
        </p:nvSpPr>
        <p:spPr>
          <a:xfrm>
            <a:off x="1517902" y="956462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27</a:t>
            </a:r>
          </a:p>
        </p:txBody>
      </p:sp>
      <p:sp>
        <p:nvSpPr>
          <p:cNvPr id="2575" name="TextBox 69"/>
          <p:cNvSpPr txBox="1"/>
          <p:nvPr/>
        </p:nvSpPr>
        <p:spPr>
          <a:xfrm>
            <a:off x="2600094" y="956462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alerts</a:t>
            </a:r>
          </a:p>
        </p:txBody>
      </p:sp>
      <p:sp>
        <p:nvSpPr>
          <p:cNvPr id="2576" name="TextBox 70"/>
          <p:cNvSpPr txBox="1"/>
          <p:nvPr/>
        </p:nvSpPr>
        <p:spPr>
          <a:xfrm>
            <a:off x="9093250" y="956462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577" name="Picture 71" descr="Picture 7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60120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78" name="Picture 72" descr="Picture 7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60120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579" name="Connector 73"/>
          <p:cNvSpPr/>
          <p:nvPr/>
        </p:nvSpPr>
        <p:spPr>
          <a:xfrm>
            <a:off x="1371600" y="99669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80" name="TextBox 74"/>
          <p:cNvSpPr txBox="1"/>
          <p:nvPr/>
        </p:nvSpPr>
        <p:spPr>
          <a:xfrm>
            <a:off x="1517902" y="10003535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28</a:t>
            </a:r>
          </a:p>
        </p:txBody>
      </p:sp>
      <p:sp>
        <p:nvSpPr>
          <p:cNvPr id="2581" name="TextBox 75"/>
          <p:cNvSpPr txBox="1"/>
          <p:nvPr/>
        </p:nvSpPr>
        <p:spPr>
          <a:xfrm>
            <a:off x="2600094" y="10003535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display preferences</a:t>
            </a:r>
          </a:p>
        </p:txBody>
      </p:sp>
      <p:sp>
        <p:nvSpPr>
          <p:cNvPr id="2582" name="TextBox 76"/>
          <p:cNvSpPr txBox="1"/>
          <p:nvPr/>
        </p:nvSpPr>
        <p:spPr>
          <a:xfrm>
            <a:off x="9093250" y="10003535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sp>
        <p:nvSpPr>
          <p:cNvPr id="2583" name="TextBox 77"/>
          <p:cNvSpPr txBox="1"/>
          <p:nvPr/>
        </p:nvSpPr>
        <p:spPr>
          <a:xfrm>
            <a:off x="1517903" y="10442447"/>
            <a:ext cx="38278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29</a:t>
            </a:r>
          </a:p>
        </p:txBody>
      </p:sp>
      <p:sp>
        <p:nvSpPr>
          <p:cNvPr id="2584" name="Connector 79"/>
          <p:cNvSpPr/>
          <p:nvPr/>
        </p:nvSpPr>
        <p:spPr>
          <a:xfrm>
            <a:off x="1371600" y="1040587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85" name="TextBox 80"/>
          <p:cNvSpPr txBox="1"/>
          <p:nvPr/>
        </p:nvSpPr>
        <p:spPr>
          <a:xfrm>
            <a:off x="9093250" y="1044244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sp>
        <p:nvSpPr>
          <p:cNvPr id="2586" name="TextBox 82"/>
          <p:cNvSpPr txBox="1"/>
          <p:nvPr/>
        </p:nvSpPr>
        <p:spPr>
          <a:xfrm>
            <a:off x="2600095" y="10881359"/>
            <a:ext cx="1655337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Indices page</a:t>
            </a:r>
          </a:p>
        </p:txBody>
      </p:sp>
      <p:pic>
        <p:nvPicPr>
          <p:cNvPr id="2587" name="Picture 83" descr="Picture 8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47902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88" name="Picture 84" descr="Picture 8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47902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589" name="Connector 85"/>
          <p:cNvSpPr/>
          <p:nvPr/>
        </p:nvSpPr>
        <p:spPr>
          <a:xfrm>
            <a:off x="1371600" y="108447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90" name="TextBox 86"/>
          <p:cNvSpPr txBox="1"/>
          <p:nvPr/>
        </p:nvSpPr>
        <p:spPr>
          <a:xfrm>
            <a:off x="9093250" y="108813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2591" name="Picture 89" descr="Picture 8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9179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92" name="Picture 90" descr="Picture 9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9179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593" name="Connector 91"/>
          <p:cNvSpPr/>
          <p:nvPr/>
        </p:nvSpPr>
        <p:spPr>
          <a:xfrm>
            <a:off x="1371600" y="11283694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94" name="TextBox 75"/>
          <p:cNvSpPr txBox="1"/>
          <p:nvPr/>
        </p:nvSpPr>
        <p:spPr>
          <a:xfrm>
            <a:off x="2600094" y="1045251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My position watchlist</a:t>
            </a:r>
          </a:p>
        </p:txBody>
      </p:sp>
      <p:sp>
        <p:nvSpPr>
          <p:cNvPr id="2595" name="TextBox 77"/>
          <p:cNvSpPr txBox="1"/>
          <p:nvPr/>
        </p:nvSpPr>
        <p:spPr>
          <a:xfrm>
            <a:off x="1517902" y="10917935"/>
            <a:ext cx="38278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30</a:t>
            </a:r>
          </a:p>
        </p:txBody>
      </p:sp>
      <p:pic>
        <p:nvPicPr>
          <p:cNvPr id="2596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099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97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099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98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9307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99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9307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00" name="Picture 41" descr="Picture 4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652681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01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652681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02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40168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03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40168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04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040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05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040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06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27611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07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27611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08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16609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09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16609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10" name="Picture 71" descr="Picture 7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96695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11" name="Picture 72" descr="Picture 7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966959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612" name="TextBox 81"/>
          <p:cNvSpPr txBox="1"/>
          <p:nvPr/>
        </p:nvSpPr>
        <p:spPr>
          <a:xfrm>
            <a:off x="18832982" y="10514695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ARCD-91580</a:t>
            </a:r>
          </a:p>
        </p:txBody>
      </p:sp>
      <p:sp>
        <p:nvSpPr>
          <p:cNvPr id="2613" name="TextBox 81"/>
          <p:cNvSpPr txBox="1"/>
          <p:nvPr/>
        </p:nvSpPr>
        <p:spPr>
          <a:xfrm>
            <a:off x="18832982" y="8783273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ARCD-41013</a:t>
            </a:r>
          </a:p>
        </p:txBody>
      </p:sp>
      <p:sp>
        <p:nvSpPr>
          <p:cNvPr id="2614" name="TextBox 81"/>
          <p:cNvSpPr txBox="1"/>
          <p:nvPr/>
        </p:nvSpPr>
        <p:spPr>
          <a:xfrm>
            <a:off x="18832982" y="9187893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ARCD-58777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2617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035 / 111</a:t>
            </a:r>
          </a:p>
        </p:txBody>
      </p:sp>
      <p:sp>
        <p:nvSpPr>
          <p:cNvPr id="2618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2619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Stock Details</a:t>
            </a:r>
          </a:p>
        </p:txBody>
      </p:sp>
      <p:sp>
        <p:nvSpPr>
          <p:cNvPr id="2620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2621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2622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2623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2624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2625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2626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2627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2628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29" name="TextBox 14"/>
          <p:cNvSpPr txBox="1"/>
          <p:nvPr/>
        </p:nvSpPr>
        <p:spPr>
          <a:xfrm>
            <a:off x="1517902" y="5614415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630" name="TextBox 15"/>
          <p:cNvSpPr txBox="1"/>
          <p:nvPr/>
        </p:nvSpPr>
        <p:spPr>
          <a:xfrm>
            <a:off x="2600094" y="5614415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name/Symbol/Logo</a:t>
            </a:r>
          </a:p>
        </p:txBody>
      </p:sp>
      <p:sp>
        <p:nvSpPr>
          <p:cNvPr id="2631" name="TextBox 16"/>
          <p:cNvSpPr txBox="1"/>
          <p:nvPr/>
        </p:nvSpPr>
        <p:spPr>
          <a:xfrm>
            <a:off x="9093250" y="5614415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632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099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3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099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634" name="Connector 19"/>
          <p:cNvSpPr/>
          <p:nvPr/>
        </p:nvSpPr>
        <p:spPr>
          <a:xfrm>
            <a:off x="1371600" y="60167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35" name="TextBox 20"/>
          <p:cNvSpPr txBox="1"/>
          <p:nvPr/>
        </p:nvSpPr>
        <p:spPr>
          <a:xfrm>
            <a:off x="1517902" y="605332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636" name="TextBox 21"/>
          <p:cNvSpPr txBox="1"/>
          <p:nvPr/>
        </p:nvSpPr>
        <p:spPr>
          <a:xfrm>
            <a:off x="2600094" y="6053328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Chart performance</a:t>
            </a:r>
          </a:p>
        </p:txBody>
      </p:sp>
      <p:sp>
        <p:nvSpPr>
          <p:cNvPr id="2637" name="TextBox 22"/>
          <p:cNvSpPr txBox="1"/>
          <p:nvPr/>
        </p:nvSpPr>
        <p:spPr>
          <a:xfrm>
            <a:off x="9093250" y="605332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638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8990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9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8990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640" name="Connector 25"/>
          <p:cNvSpPr/>
          <p:nvPr/>
        </p:nvSpPr>
        <p:spPr>
          <a:xfrm>
            <a:off x="1371600" y="6455664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41" name="TextBox 26"/>
          <p:cNvSpPr txBox="1"/>
          <p:nvPr/>
        </p:nvSpPr>
        <p:spPr>
          <a:xfrm>
            <a:off x="1517902" y="64922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642" name="TextBox 27"/>
          <p:cNvSpPr txBox="1"/>
          <p:nvPr/>
        </p:nvSpPr>
        <p:spPr>
          <a:xfrm>
            <a:off x="2600094" y="64922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Market tag</a:t>
            </a:r>
          </a:p>
        </p:txBody>
      </p:sp>
      <p:sp>
        <p:nvSpPr>
          <p:cNvPr id="2643" name="TextBox 28"/>
          <p:cNvSpPr txBox="1"/>
          <p:nvPr/>
        </p:nvSpPr>
        <p:spPr>
          <a:xfrm>
            <a:off x="9093250" y="6492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644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52881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5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52881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646" name="Connector 31"/>
          <p:cNvSpPr/>
          <p:nvPr/>
        </p:nvSpPr>
        <p:spPr>
          <a:xfrm>
            <a:off x="1371600" y="689457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47" name="TextBox 32"/>
          <p:cNvSpPr txBox="1"/>
          <p:nvPr/>
        </p:nvSpPr>
        <p:spPr>
          <a:xfrm>
            <a:off x="1517902" y="693115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648" name="TextBox 33"/>
          <p:cNvSpPr txBox="1"/>
          <p:nvPr/>
        </p:nvSpPr>
        <p:spPr>
          <a:xfrm>
            <a:off x="2600094" y="693115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Sector tag</a:t>
            </a:r>
          </a:p>
        </p:txBody>
      </p:sp>
      <p:sp>
        <p:nvSpPr>
          <p:cNvPr id="2649" name="TextBox 34"/>
          <p:cNvSpPr txBox="1"/>
          <p:nvPr/>
        </p:nvSpPr>
        <p:spPr>
          <a:xfrm>
            <a:off x="9093250" y="69311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650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96772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51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96772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652" name="Connector 37"/>
          <p:cNvSpPr/>
          <p:nvPr/>
        </p:nvSpPr>
        <p:spPr>
          <a:xfrm>
            <a:off x="1371600" y="73334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53" name="TextBox 38"/>
          <p:cNvSpPr txBox="1"/>
          <p:nvPr/>
        </p:nvSpPr>
        <p:spPr>
          <a:xfrm>
            <a:off x="1517902" y="737006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654" name="TextBox 39"/>
          <p:cNvSpPr txBox="1"/>
          <p:nvPr/>
        </p:nvSpPr>
        <p:spPr>
          <a:xfrm>
            <a:off x="2600094" y="737006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last price/change</a:t>
            </a:r>
          </a:p>
        </p:txBody>
      </p:sp>
      <p:sp>
        <p:nvSpPr>
          <p:cNvPr id="2655" name="TextBox 40"/>
          <p:cNvSpPr txBox="1"/>
          <p:nvPr/>
        </p:nvSpPr>
        <p:spPr>
          <a:xfrm>
            <a:off x="9093250" y="737006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656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40664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57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40664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658" name="Connector 43"/>
          <p:cNvSpPr/>
          <p:nvPr/>
        </p:nvSpPr>
        <p:spPr>
          <a:xfrm>
            <a:off x="1371600" y="77724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59" name="TextBox 44"/>
          <p:cNvSpPr txBox="1"/>
          <p:nvPr/>
        </p:nvSpPr>
        <p:spPr>
          <a:xfrm>
            <a:off x="1517902" y="780897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660" name="TextBox 45"/>
          <p:cNvSpPr txBox="1"/>
          <p:nvPr/>
        </p:nvSpPr>
        <p:spPr>
          <a:xfrm>
            <a:off x="2600094" y="780897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Depth</a:t>
            </a:r>
          </a:p>
        </p:txBody>
      </p:sp>
      <p:sp>
        <p:nvSpPr>
          <p:cNvPr id="2661" name="TextBox 46"/>
          <p:cNvSpPr txBox="1"/>
          <p:nvPr/>
        </p:nvSpPr>
        <p:spPr>
          <a:xfrm>
            <a:off x="9093250" y="78089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662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4555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63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45552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664" name="Connector 49"/>
          <p:cNvSpPr/>
          <p:nvPr/>
        </p:nvSpPr>
        <p:spPr>
          <a:xfrm>
            <a:off x="1371600" y="821131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65" name="TextBox 50"/>
          <p:cNvSpPr txBox="1"/>
          <p:nvPr/>
        </p:nvSpPr>
        <p:spPr>
          <a:xfrm>
            <a:off x="1517902" y="824788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666" name="TextBox 51"/>
          <p:cNvSpPr txBox="1"/>
          <p:nvPr/>
        </p:nvSpPr>
        <p:spPr>
          <a:xfrm>
            <a:off x="2600094" y="8247888"/>
            <a:ext cx="6200549" cy="584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Key statistics (closing price, volume, P/E, P/B, market cap, day's range, 52-week range)</a:t>
            </a:r>
          </a:p>
        </p:txBody>
      </p:sp>
      <p:sp>
        <p:nvSpPr>
          <p:cNvPr id="2667" name="TextBox 52"/>
          <p:cNvSpPr txBox="1"/>
          <p:nvPr/>
        </p:nvSpPr>
        <p:spPr>
          <a:xfrm>
            <a:off x="9093250" y="824788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668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28446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69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28446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670" name="Connector 55"/>
          <p:cNvSpPr/>
          <p:nvPr/>
        </p:nvSpPr>
        <p:spPr>
          <a:xfrm>
            <a:off x="1371600" y="891692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71" name="TextBox 56"/>
          <p:cNvSpPr txBox="1"/>
          <p:nvPr/>
        </p:nvSpPr>
        <p:spPr>
          <a:xfrm>
            <a:off x="1517902" y="89535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672" name="TextBox 57"/>
          <p:cNvSpPr txBox="1"/>
          <p:nvPr/>
        </p:nvSpPr>
        <p:spPr>
          <a:xfrm>
            <a:off x="2600094" y="89535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News tab with articles</a:t>
            </a:r>
          </a:p>
        </p:txBody>
      </p:sp>
      <p:sp>
        <p:nvSpPr>
          <p:cNvPr id="2673" name="TextBox 58"/>
          <p:cNvSpPr txBox="1"/>
          <p:nvPr/>
        </p:nvSpPr>
        <p:spPr>
          <a:xfrm>
            <a:off x="9093250" y="89534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674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900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75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900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676" name="Connector 61"/>
          <p:cNvSpPr/>
          <p:nvPr/>
        </p:nvSpPr>
        <p:spPr>
          <a:xfrm>
            <a:off x="1371600" y="943203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77" name="TextBox 62"/>
          <p:cNvSpPr txBox="1"/>
          <p:nvPr/>
        </p:nvSpPr>
        <p:spPr>
          <a:xfrm>
            <a:off x="1517902" y="946861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678" name="TextBox 63"/>
          <p:cNvSpPr txBox="1"/>
          <p:nvPr/>
        </p:nvSpPr>
        <p:spPr>
          <a:xfrm>
            <a:off x="2600094" y="9468611"/>
            <a:ext cx="6200549" cy="584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Financial tab (valuation, income statement, balance sheet, cash flow, profitability, efficiency, dividends)</a:t>
            </a:r>
          </a:p>
        </p:txBody>
      </p:sp>
      <p:sp>
        <p:nvSpPr>
          <p:cNvPr id="2679" name="TextBox 64"/>
          <p:cNvSpPr txBox="1"/>
          <p:nvPr/>
        </p:nvSpPr>
        <p:spPr>
          <a:xfrm>
            <a:off x="9093250" y="946861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680" name="Picture 65" descr="Picture 6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50518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81" name="Picture 66" descr="Picture 6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50518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682" name="TextBox 67"/>
          <p:cNvSpPr txBox="1"/>
          <p:nvPr/>
        </p:nvSpPr>
        <p:spPr>
          <a:xfrm>
            <a:off x="14504212" y="9468611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 Native</a:t>
            </a:r>
          </a:p>
        </p:txBody>
      </p:sp>
      <p:sp>
        <p:nvSpPr>
          <p:cNvPr id="2683" name="Connector 68"/>
          <p:cNvSpPr/>
          <p:nvPr/>
        </p:nvSpPr>
        <p:spPr>
          <a:xfrm>
            <a:off x="1371600" y="10086847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84" name="TextBox 69"/>
          <p:cNvSpPr txBox="1"/>
          <p:nvPr/>
        </p:nvSpPr>
        <p:spPr>
          <a:xfrm>
            <a:off x="1517902" y="1012342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685" name="TextBox 70"/>
          <p:cNvSpPr txBox="1"/>
          <p:nvPr/>
        </p:nvSpPr>
        <p:spPr>
          <a:xfrm>
            <a:off x="2600094" y="1012342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Company profile (sector, industry, employees, description)</a:t>
            </a:r>
          </a:p>
        </p:txBody>
      </p:sp>
      <p:sp>
        <p:nvSpPr>
          <p:cNvPr id="2686" name="TextBox 71"/>
          <p:cNvSpPr txBox="1"/>
          <p:nvPr/>
        </p:nvSpPr>
        <p:spPr>
          <a:xfrm>
            <a:off x="9093250" y="1012342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687" name="Picture 72" descr="Picture 7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16000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88" name="Picture 73" descr="Picture 7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16000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689" name="TextBox 74"/>
          <p:cNvSpPr txBox="1"/>
          <p:nvPr/>
        </p:nvSpPr>
        <p:spPr>
          <a:xfrm>
            <a:off x="14504212" y="10123423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 Native</a:t>
            </a:r>
          </a:p>
        </p:txBody>
      </p:sp>
      <p:sp>
        <p:nvSpPr>
          <p:cNvPr id="2690" name="Connector 75"/>
          <p:cNvSpPr/>
          <p:nvPr/>
        </p:nvSpPr>
        <p:spPr>
          <a:xfrm>
            <a:off x="1371600" y="105257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91" name="TextBox 76"/>
          <p:cNvSpPr txBox="1"/>
          <p:nvPr/>
        </p:nvSpPr>
        <p:spPr>
          <a:xfrm>
            <a:off x="1517902" y="10562335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692" name="TextBox 77"/>
          <p:cNvSpPr txBox="1"/>
          <p:nvPr/>
        </p:nvSpPr>
        <p:spPr>
          <a:xfrm>
            <a:off x="2600094" y="10562335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Holdings tab</a:t>
            </a:r>
          </a:p>
        </p:txBody>
      </p:sp>
      <p:sp>
        <p:nvSpPr>
          <p:cNvPr id="2693" name="TextBox 78"/>
          <p:cNvSpPr txBox="1"/>
          <p:nvPr/>
        </p:nvSpPr>
        <p:spPr>
          <a:xfrm>
            <a:off x="9093250" y="10562335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694" name="Picture 79" descr="Picture 7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9891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95" name="Picture 80" descr="Picture 8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9891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696" name="Connector 81"/>
          <p:cNvSpPr/>
          <p:nvPr/>
        </p:nvSpPr>
        <p:spPr>
          <a:xfrm>
            <a:off x="1371600" y="1093104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97" name="TextBox 82"/>
          <p:cNvSpPr txBox="1"/>
          <p:nvPr/>
        </p:nvSpPr>
        <p:spPr>
          <a:xfrm>
            <a:off x="1517902" y="1100124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698" name="TextBox 83"/>
          <p:cNvSpPr txBox="1"/>
          <p:nvPr/>
        </p:nvSpPr>
        <p:spPr>
          <a:xfrm>
            <a:off x="2600094" y="1100124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Research Reports tab</a:t>
            </a:r>
          </a:p>
        </p:txBody>
      </p:sp>
      <p:sp>
        <p:nvSpPr>
          <p:cNvPr id="2699" name="TextBox 84"/>
          <p:cNvSpPr txBox="1"/>
          <p:nvPr/>
        </p:nvSpPr>
        <p:spPr>
          <a:xfrm>
            <a:off x="9093250" y="1100124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700" name="Picture 85" descr="Picture 8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03782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701" name="Picture 86" descr="Picture 8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03782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702" name="Connector 87"/>
          <p:cNvSpPr/>
          <p:nvPr/>
        </p:nvSpPr>
        <p:spPr>
          <a:xfrm>
            <a:off x="1371600" y="114035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03" name="TextBox 88"/>
          <p:cNvSpPr txBox="1"/>
          <p:nvPr/>
        </p:nvSpPr>
        <p:spPr>
          <a:xfrm>
            <a:off x="1517902" y="114401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704" name="TextBox 89"/>
          <p:cNvSpPr txBox="1"/>
          <p:nvPr/>
        </p:nvSpPr>
        <p:spPr>
          <a:xfrm>
            <a:off x="2600094" y="114401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Analysts Ratings tab</a:t>
            </a:r>
          </a:p>
        </p:txBody>
      </p:sp>
      <p:sp>
        <p:nvSpPr>
          <p:cNvPr id="2705" name="TextBox 90"/>
          <p:cNvSpPr txBox="1"/>
          <p:nvPr/>
        </p:nvSpPr>
        <p:spPr>
          <a:xfrm>
            <a:off x="9093250" y="114401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706" name="Picture 91" descr="Picture 9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4767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707" name="Picture 92" descr="Picture 9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4767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708" name="TextBox 93"/>
          <p:cNvSpPr txBox="1"/>
          <p:nvPr/>
        </p:nvSpPr>
        <p:spPr>
          <a:xfrm>
            <a:off x="14504212" y="114401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 Native</a:t>
            </a:r>
          </a:p>
        </p:txBody>
      </p:sp>
      <p:sp>
        <p:nvSpPr>
          <p:cNvPr id="2709" name="Connector 94"/>
          <p:cNvSpPr/>
          <p:nvPr/>
        </p:nvSpPr>
        <p:spPr>
          <a:xfrm>
            <a:off x="1371600" y="11842494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10" name="TextBox 95"/>
          <p:cNvSpPr txBox="1"/>
          <p:nvPr/>
        </p:nvSpPr>
        <p:spPr>
          <a:xfrm>
            <a:off x="1517902" y="1187907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2711" name="TextBox 96"/>
          <p:cNvSpPr txBox="1"/>
          <p:nvPr/>
        </p:nvSpPr>
        <p:spPr>
          <a:xfrm>
            <a:off x="2600094" y="1187907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EPS chart</a:t>
            </a:r>
          </a:p>
        </p:txBody>
      </p:sp>
      <p:sp>
        <p:nvSpPr>
          <p:cNvPr id="2712" name="TextBox 97"/>
          <p:cNvSpPr txBox="1"/>
          <p:nvPr/>
        </p:nvSpPr>
        <p:spPr>
          <a:xfrm>
            <a:off x="9093250" y="1187907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713" name="Picture 98" descr="Picture 9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91564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714" name="Picture 99" descr="Picture 9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915647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715" name="Connector 100"/>
          <p:cNvSpPr/>
          <p:nvPr/>
        </p:nvSpPr>
        <p:spPr>
          <a:xfrm>
            <a:off x="1371600" y="1228140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16" name="TextBox 101"/>
          <p:cNvSpPr txBox="1"/>
          <p:nvPr/>
        </p:nvSpPr>
        <p:spPr>
          <a:xfrm>
            <a:off x="1517902" y="1231798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2717" name="TextBox 102"/>
          <p:cNvSpPr txBox="1"/>
          <p:nvPr/>
        </p:nvSpPr>
        <p:spPr>
          <a:xfrm>
            <a:off x="2600094" y="1231798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Earnings surprise %</a:t>
            </a:r>
          </a:p>
        </p:txBody>
      </p:sp>
      <p:sp>
        <p:nvSpPr>
          <p:cNvPr id="2718" name="TextBox 103"/>
          <p:cNvSpPr txBox="1"/>
          <p:nvPr/>
        </p:nvSpPr>
        <p:spPr>
          <a:xfrm>
            <a:off x="9093250" y="1231798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719" name="Picture 104" descr="Picture 10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235455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720" name="Picture 105" descr="Picture 10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354559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721" name="Connector 106"/>
          <p:cNvSpPr/>
          <p:nvPr/>
        </p:nvSpPr>
        <p:spPr>
          <a:xfrm>
            <a:off x="1371600" y="127203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22" name="TextBox 107"/>
          <p:cNvSpPr txBox="1"/>
          <p:nvPr/>
        </p:nvSpPr>
        <p:spPr>
          <a:xfrm>
            <a:off x="1517902" y="1275689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2723" name="TextBox 108"/>
          <p:cNvSpPr txBox="1"/>
          <p:nvPr/>
        </p:nvSpPr>
        <p:spPr>
          <a:xfrm>
            <a:off x="2600094" y="1275689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 / Sell buttons</a:t>
            </a:r>
          </a:p>
        </p:txBody>
      </p:sp>
      <p:sp>
        <p:nvSpPr>
          <p:cNvPr id="2724" name="TextBox 109"/>
          <p:cNvSpPr txBox="1"/>
          <p:nvPr/>
        </p:nvSpPr>
        <p:spPr>
          <a:xfrm>
            <a:off x="9093250" y="1275689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725" name="Picture 110" descr="Picture 1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79347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726" name="Picture 111" descr="Picture 1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79347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727" name="Connector 112"/>
          <p:cNvSpPr/>
          <p:nvPr/>
        </p:nvSpPr>
        <p:spPr>
          <a:xfrm>
            <a:off x="1371600" y="1315923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28" name="TextBox 113"/>
          <p:cNvSpPr txBox="1"/>
          <p:nvPr/>
        </p:nvSpPr>
        <p:spPr>
          <a:xfrm>
            <a:off x="1517902" y="13195806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2729" name="TextBox 114"/>
          <p:cNvSpPr txBox="1"/>
          <p:nvPr/>
        </p:nvSpPr>
        <p:spPr>
          <a:xfrm>
            <a:off x="2600094" y="13195806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Watchlist &amp; notification buttons</a:t>
            </a:r>
          </a:p>
        </p:txBody>
      </p:sp>
      <p:sp>
        <p:nvSpPr>
          <p:cNvPr id="2730" name="TextBox 115"/>
          <p:cNvSpPr txBox="1"/>
          <p:nvPr/>
        </p:nvSpPr>
        <p:spPr>
          <a:xfrm>
            <a:off x="9093250" y="1319580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2731" name="Picture 116" descr="Picture 1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323238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732" name="Picture 117" descr="Picture 1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3232383"/>
            <a:ext cx="292610" cy="2926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2735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036 / 111</a:t>
            </a:r>
          </a:p>
        </p:txBody>
      </p:sp>
      <p:sp>
        <p:nvSpPr>
          <p:cNvPr id="2736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2737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Stock Details</a:t>
            </a:r>
          </a:p>
        </p:txBody>
      </p:sp>
      <p:sp>
        <p:nvSpPr>
          <p:cNvPr id="2738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2739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2740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2741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2742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2743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2744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2745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2746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47" name="TextBox 14"/>
          <p:cNvSpPr txBox="1"/>
          <p:nvPr/>
        </p:nvSpPr>
        <p:spPr>
          <a:xfrm>
            <a:off x="1517902" y="5614415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2748" name="TextBox 15"/>
          <p:cNvSpPr txBox="1"/>
          <p:nvPr/>
        </p:nvSpPr>
        <p:spPr>
          <a:xfrm>
            <a:off x="2600094" y="5614415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Next report estimation</a:t>
            </a:r>
          </a:p>
        </p:txBody>
      </p:sp>
      <p:sp>
        <p:nvSpPr>
          <p:cNvPr id="2749" name="TextBox 16"/>
          <p:cNvSpPr txBox="1"/>
          <p:nvPr/>
        </p:nvSpPr>
        <p:spPr>
          <a:xfrm>
            <a:off x="9093250" y="5614415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750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099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751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099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752" name="Connector 19"/>
          <p:cNvSpPr/>
          <p:nvPr/>
        </p:nvSpPr>
        <p:spPr>
          <a:xfrm>
            <a:off x="1371600" y="60167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53" name="TextBox 20"/>
          <p:cNvSpPr txBox="1"/>
          <p:nvPr/>
        </p:nvSpPr>
        <p:spPr>
          <a:xfrm>
            <a:off x="1517902" y="605332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19</a:t>
            </a:r>
          </a:p>
        </p:txBody>
      </p:sp>
      <p:sp>
        <p:nvSpPr>
          <p:cNvPr id="2754" name="TextBox 21"/>
          <p:cNvSpPr txBox="1"/>
          <p:nvPr/>
        </p:nvSpPr>
        <p:spPr>
          <a:xfrm>
            <a:off x="2600094" y="6053328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Annual revenue trend</a:t>
            </a:r>
          </a:p>
        </p:txBody>
      </p:sp>
      <p:sp>
        <p:nvSpPr>
          <p:cNvPr id="2755" name="TextBox 22"/>
          <p:cNvSpPr txBox="1"/>
          <p:nvPr/>
        </p:nvSpPr>
        <p:spPr>
          <a:xfrm>
            <a:off x="9093250" y="605332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756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8990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757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8990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758" name="Connector 25"/>
          <p:cNvSpPr/>
          <p:nvPr/>
        </p:nvSpPr>
        <p:spPr>
          <a:xfrm>
            <a:off x="1371600" y="6455664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59" name="TextBox 26"/>
          <p:cNvSpPr txBox="1"/>
          <p:nvPr/>
        </p:nvSpPr>
        <p:spPr>
          <a:xfrm>
            <a:off x="1517902" y="64922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2760" name="TextBox 27"/>
          <p:cNvSpPr txBox="1"/>
          <p:nvPr/>
        </p:nvSpPr>
        <p:spPr>
          <a:xfrm>
            <a:off x="2600094" y="64922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flow (Annual/Quarterly)</a:t>
            </a:r>
          </a:p>
        </p:txBody>
      </p:sp>
      <p:sp>
        <p:nvSpPr>
          <p:cNvPr id="2761" name="TextBox 28"/>
          <p:cNvSpPr txBox="1"/>
          <p:nvPr/>
        </p:nvSpPr>
        <p:spPr>
          <a:xfrm>
            <a:off x="9093250" y="6492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762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52881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3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52881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764" name="Connector 31"/>
          <p:cNvSpPr/>
          <p:nvPr/>
        </p:nvSpPr>
        <p:spPr>
          <a:xfrm>
            <a:off x="1371600" y="689457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65" name="TextBox 32"/>
          <p:cNvSpPr txBox="1"/>
          <p:nvPr/>
        </p:nvSpPr>
        <p:spPr>
          <a:xfrm>
            <a:off x="1517902" y="693115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21</a:t>
            </a:r>
          </a:p>
        </p:txBody>
      </p:sp>
      <p:sp>
        <p:nvSpPr>
          <p:cNvPr id="2766" name="TextBox 33"/>
          <p:cNvSpPr txBox="1"/>
          <p:nvPr/>
        </p:nvSpPr>
        <p:spPr>
          <a:xfrm>
            <a:off x="2600094" y="693115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Statements tab</a:t>
            </a:r>
          </a:p>
        </p:txBody>
      </p:sp>
      <p:sp>
        <p:nvSpPr>
          <p:cNvPr id="2767" name="TextBox 34"/>
          <p:cNvSpPr txBox="1"/>
          <p:nvPr/>
        </p:nvSpPr>
        <p:spPr>
          <a:xfrm>
            <a:off x="9093250" y="69311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768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96772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9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96772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770" name="Connector 37"/>
          <p:cNvSpPr/>
          <p:nvPr/>
        </p:nvSpPr>
        <p:spPr>
          <a:xfrm>
            <a:off x="1371600" y="73334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71" name="TextBox 38"/>
          <p:cNvSpPr txBox="1"/>
          <p:nvPr/>
        </p:nvSpPr>
        <p:spPr>
          <a:xfrm>
            <a:off x="1517902" y="737006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22</a:t>
            </a:r>
          </a:p>
        </p:txBody>
      </p:sp>
      <p:sp>
        <p:nvSpPr>
          <p:cNvPr id="2772" name="TextBox 39"/>
          <p:cNvSpPr txBox="1"/>
          <p:nvPr/>
        </p:nvSpPr>
        <p:spPr>
          <a:xfrm>
            <a:off x="2600094" y="737006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Actions tab (Dividends/Splits)</a:t>
            </a:r>
          </a:p>
        </p:txBody>
      </p:sp>
      <p:sp>
        <p:nvSpPr>
          <p:cNvPr id="2773" name="TextBox 40"/>
          <p:cNvSpPr txBox="1"/>
          <p:nvPr/>
        </p:nvSpPr>
        <p:spPr>
          <a:xfrm>
            <a:off x="9093250" y="737006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2774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40664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775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40664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776" name="Connector 43"/>
          <p:cNvSpPr/>
          <p:nvPr/>
        </p:nvSpPr>
        <p:spPr>
          <a:xfrm>
            <a:off x="1371600" y="77724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77" name="TextBox 44"/>
          <p:cNvSpPr txBox="1"/>
          <p:nvPr/>
        </p:nvSpPr>
        <p:spPr>
          <a:xfrm>
            <a:off x="1517902" y="780897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23</a:t>
            </a:r>
          </a:p>
        </p:txBody>
      </p:sp>
      <p:sp>
        <p:nvSpPr>
          <p:cNvPr id="2778" name="TextBox 45"/>
          <p:cNvSpPr txBox="1"/>
          <p:nvPr/>
        </p:nvSpPr>
        <p:spPr>
          <a:xfrm>
            <a:off x="2600094" y="780897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Insider Trades</a:t>
            </a:r>
          </a:p>
        </p:txBody>
      </p:sp>
      <p:sp>
        <p:nvSpPr>
          <p:cNvPr id="2779" name="TextBox 46"/>
          <p:cNvSpPr txBox="1"/>
          <p:nvPr/>
        </p:nvSpPr>
        <p:spPr>
          <a:xfrm>
            <a:off x="9093250" y="78089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780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4555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781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45552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782" name="Connector 49"/>
          <p:cNvSpPr/>
          <p:nvPr/>
        </p:nvSpPr>
        <p:spPr>
          <a:xfrm>
            <a:off x="1371600" y="821131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83" name="TextBox 50"/>
          <p:cNvSpPr txBox="1"/>
          <p:nvPr/>
        </p:nvSpPr>
        <p:spPr>
          <a:xfrm>
            <a:off x="1517902" y="824788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24</a:t>
            </a:r>
          </a:p>
        </p:txBody>
      </p:sp>
      <p:sp>
        <p:nvSpPr>
          <p:cNvPr id="2784" name="TextBox 51"/>
          <p:cNvSpPr txBox="1"/>
          <p:nvPr/>
        </p:nvSpPr>
        <p:spPr>
          <a:xfrm>
            <a:off x="2600094" y="8247888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Government Trades</a:t>
            </a:r>
          </a:p>
        </p:txBody>
      </p:sp>
      <p:sp>
        <p:nvSpPr>
          <p:cNvPr id="2785" name="TextBox 52"/>
          <p:cNvSpPr txBox="1"/>
          <p:nvPr/>
        </p:nvSpPr>
        <p:spPr>
          <a:xfrm>
            <a:off x="9093250" y="824788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786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28446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787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28446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788" name="Connector 55"/>
          <p:cNvSpPr/>
          <p:nvPr/>
        </p:nvSpPr>
        <p:spPr>
          <a:xfrm>
            <a:off x="1371600" y="865022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89" name="TextBox 56"/>
          <p:cNvSpPr txBox="1"/>
          <p:nvPr/>
        </p:nvSpPr>
        <p:spPr>
          <a:xfrm>
            <a:off x="1517902" y="86868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25</a:t>
            </a:r>
          </a:p>
        </p:txBody>
      </p:sp>
      <p:sp>
        <p:nvSpPr>
          <p:cNvPr id="2790" name="TextBox 57"/>
          <p:cNvSpPr txBox="1"/>
          <p:nvPr/>
        </p:nvSpPr>
        <p:spPr>
          <a:xfrm>
            <a:off x="2600094" y="86868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comparison</a:t>
            </a:r>
          </a:p>
        </p:txBody>
      </p:sp>
      <p:sp>
        <p:nvSpPr>
          <p:cNvPr id="2791" name="TextBox 58"/>
          <p:cNvSpPr txBox="1"/>
          <p:nvPr/>
        </p:nvSpPr>
        <p:spPr>
          <a:xfrm>
            <a:off x="9093250" y="86867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2792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7233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793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7233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794" name="Connector 61"/>
          <p:cNvSpPr/>
          <p:nvPr/>
        </p:nvSpPr>
        <p:spPr>
          <a:xfrm>
            <a:off x="1371600" y="908913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95" name="TextBox 62"/>
          <p:cNvSpPr txBox="1"/>
          <p:nvPr/>
        </p:nvSpPr>
        <p:spPr>
          <a:xfrm>
            <a:off x="1517902" y="912571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26</a:t>
            </a:r>
          </a:p>
        </p:txBody>
      </p:sp>
      <p:sp>
        <p:nvSpPr>
          <p:cNvPr id="2796" name="TextBox 63"/>
          <p:cNvSpPr txBox="1"/>
          <p:nvPr/>
        </p:nvSpPr>
        <p:spPr>
          <a:xfrm>
            <a:off x="2600094" y="912571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Trade on Chart</a:t>
            </a:r>
          </a:p>
        </p:txBody>
      </p:sp>
      <p:sp>
        <p:nvSpPr>
          <p:cNvPr id="2797" name="TextBox 64"/>
          <p:cNvSpPr txBox="1"/>
          <p:nvPr/>
        </p:nvSpPr>
        <p:spPr>
          <a:xfrm>
            <a:off x="9093250" y="912571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798" name="Picture 65" descr="Picture 6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16228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799" name="Picture 66" descr="Picture 6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162288"/>
            <a:ext cx="292610" cy="2926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2802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037 / 111</a:t>
            </a:r>
          </a:p>
        </p:txBody>
      </p:sp>
      <p:sp>
        <p:nvSpPr>
          <p:cNvPr id="2803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2804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Corporate Actions &amp; Events</a:t>
            </a:r>
          </a:p>
        </p:txBody>
      </p:sp>
      <p:sp>
        <p:nvSpPr>
          <p:cNvPr id="2805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2806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2807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2808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2809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2810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2811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2812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2813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14" name="TextBox 14"/>
          <p:cNvSpPr txBox="1"/>
          <p:nvPr/>
        </p:nvSpPr>
        <p:spPr>
          <a:xfrm>
            <a:off x="1517902" y="5737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815" name="TextBox 15"/>
          <p:cNvSpPr txBox="1"/>
          <p:nvPr/>
        </p:nvSpPr>
        <p:spPr>
          <a:xfrm>
            <a:off x="2600094" y="5737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Dividends history</a:t>
            </a:r>
          </a:p>
        </p:txBody>
      </p:sp>
      <p:sp>
        <p:nvSpPr>
          <p:cNvPr id="2816" name="TextBox 16"/>
          <p:cNvSpPr txBox="1"/>
          <p:nvPr/>
        </p:nvSpPr>
        <p:spPr>
          <a:xfrm>
            <a:off x="9093250" y="5737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817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18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819" name="Connector 19"/>
          <p:cNvSpPr/>
          <p:nvPr/>
        </p:nvSpPr>
        <p:spPr>
          <a:xfrm>
            <a:off x="1371600" y="6263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20" name="TextBox 20"/>
          <p:cNvSpPr txBox="1"/>
          <p:nvPr/>
        </p:nvSpPr>
        <p:spPr>
          <a:xfrm>
            <a:off x="1517902" y="6423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821" name="TextBox 21"/>
          <p:cNvSpPr txBox="1"/>
          <p:nvPr/>
        </p:nvSpPr>
        <p:spPr>
          <a:xfrm>
            <a:off x="2600094" y="6423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splits history</a:t>
            </a:r>
          </a:p>
        </p:txBody>
      </p:sp>
      <p:sp>
        <p:nvSpPr>
          <p:cNvPr id="2822" name="TextBox 22"/>
          <p:cNvSpPr txBox="1"/>
          <p:nvPr/>
        </p:nvSpPr>
        <p:spPr>
          <a:xfrm>
            <a:off x="9093250" y="6423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823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24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825" name="Connector 25"/>
          <p:cNvSpPr/>
          <p:nvPr/>
        </p:nvSpPr>
        <p:spPr>
          <a:xfrm>
            <a:off x="1371600" y="6949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26" name="TextBox 26"/>
          <p:cNvSpPr txBox="1"/>
          <p:nvPr/>
        </p:nvSpPr>
        <p:spPr>
          <a:xfrm>
            <a:off x="1517902" y="7109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827" name="TextBox 27"/>
          <p:cNvSpPr txBox="1"/>
          <p:nvPr/>
        </p:nvSpPr>
        <p:spPr>
          <a:xfrm>
            <a:off x="2600094" y="7109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Corporate actions filter (All / Dividends / Splits)</a:t>
            </a:r>
          </a:p>
        </p:txBody>
      </p:sp>
      <p:sp>
        <p:nvSpPr>
          <p:cNvPr id="2828" name="TextBox 28"/>
          <p:cNvSpPr txBox="1"/>
          <p:nvPr/>
        </p:nvSpPr>
        <p:spPr>
          <a:xfrm>
            <a:off x="9093250" y="7109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829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30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831" name="Connector 31"/>
          <p:cNvSpPr/>
          <p:nvPr/>
        </p:nvSpPr>
        <p:spPr>
          <a:xfrm>
            <a:off x="1371600" y="763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32" name="TextBox 32"/>
          <p:cNvSpPr txBox="1"/>
          <p:nvPr/>
        </p:nvSpPr>
        <p:spPr>
          <a:xfrm>
            <a:off x="1517902" y="7795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833" name="TextBox 33"/>
          <p:cNvSpPr txBox="1"/>
          <p:nvPr/>
        </p:nvSpPr>
        <p:spPr>
          <a:xfrm>
            <a:off x="2600094" y="7795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Distribution date display</a:t>
            </a:r>
          </a:p>
        </p:txBody>
      </p:sp>
      <p:sp>
        <p:nvSpPr>
          <p:cNvPr id="2834" name="TextBox 34"/>
          <p:cNvSpPr txBox="1"/>
          <p:nvPr/>
        </p:nvSpPr>
        <p:spPr>
          <a:xfrm>
            <a:off x="9093250" y="7795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835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36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837" name="Connector 37"/>
          <p:cNvSpPr/>
          <p:nvPr/>
        </p:nvSpPr>
        <p:spPr>
          <a:xfrm>
            <a:off x="1371600" y="8321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38" name="TextBox 38"/>
          <p:cNvSpPr txBox="1"/>
          <p:nvPr/>
        </p:nvSpPr>
        <p:spPr>
          <a:xfrm>
            <a:off x="1517902" y="84810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839" name="TextBox 39"/>
          <p:cNvSpPr txBox="1"/>
          <p:nvPr/>
        </p:nvSpPr>
        <p:spPr>
          <a:xfrm>
            <a:off x="2600094" y="84810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 per share display</a:t>
            </a:r>
          </a:p>
        </p:txBody>
      </p:sp>
      <p:sp>
        <p:nvSpPr>
          <p:cNvPr id="2840" name="TextBox 40"/>
          <p:cNvSpPr txBox="1"/>
          <p:nvPr/>
        </p:nvSpPr>
        <p:spPr>
          <a:xfrm>
            <a:off x="9093250" y="84810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841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42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843" name="Connector 43"/>
          <p:cNvSpPr/>
          <p:nvPr/>
        </p:nvSpPr>
        <p:spPr>
          <a:xfrm>
            <a:off x="1371600" y="90068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44" name="TextBox 44"/>
          <p:cNvSpPr txBox="1"/>
          <p:nvPr/>
        </p:nvSpPr>
        <p:spPr>
          <a:xfrm>
            <a:off x="1517902" y="9166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845" name="TextBox 45"/>
          <p:cNvSpPr txBox="1"/>
          <p:nvPr/>
        </p:nvSpPr>
        <p:spPr>
          <a:xfrm>
            <a:off x="2600094" y="9166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Financial Actions</a:t>
            </a:r>
          </a:p>
        </p:txBody>
      </p:sp>
      <p:sp>
        <p:nvSpPr>
          <p:cNvPr id="2846" name="TextBox 46"/>
          <p:cNvSpPr txBox="1"/>
          <p:nvPr/>
        </p:nvSpPr>
        <p:spPr>
          <a:xfrm>
            <a:off x="9093250" y="9166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847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48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849" name="Connector 49"/>
          <p:cNvSpPr/>
          <p:nvPr/>
        </p:nvSpPr>
        <p:spPr>
          <a:xfrm>
            <a:off x="1371600" y="9692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50" name="TextBox 50"/>
          <p:cNvSpPr txBox="1"/>
          <p:nvPr/>
        </p:nvSpPr>
        <p:spPr>
          <a:xfrm>
            <a:off x="1517902" y="9852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851" name="TextBox 51"/>
          <p:cNvSpPr txBox="1"/>
          <p:nvPr/>
        </p:nvSpPr>
        <p:spPr>
          <a:xfrm>
            <a:off x="2600094" y="9852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Earnings calendar date</a:t>
            </a:r>
          </a:p>
        </p:txBody>
      </p:sp>
      <p:sp>
        <p:nvSpPr>
          <p:cNvPr id="2852" name="TextBox 52"/>
          <p:cNvSpPr txBox="1"/>
          <p:nvPr/>
        </p:nvSpPr>
        <p:spPr>
          <a:xfrm>
            <a:off x="9093250" y="9852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853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8892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54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8892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855" name="Connector 55"/>
          <p:cNvSpPr/>
          <p:nvPr/>
        </p:nvSpPr>
        <p:spPr>
          <a:xfrm>
            <a:off x="1371600" y="10378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56" name="TextBox 56"/>
          <p:cNvSpPr txBox="1"/>
          <p:nvPr/>
        </p:nvSpPr>
        <p:spPr>
          <a:xfrm>
            <a:off x="1517902" y="10538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857" name="TextBox 57"/>
          <p:cNvSpPr txBox="1"/>
          <p:nvPr/>
        </p:nvSpPr>
        <p:spPr>
          <a:xfrm>
            <a:off x="2600094" y="10538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Quarterly / Annual toggle</a:t>
            </a:r>
          </a:p>
        </p:txBody>
      </p:sp>
      <p:sp>
        <p:nvSpPr>
          <p:cNvPr id="2858" name="TextBox 58"/>
          <p:cNvSpPr txBox="1"/>
          <p:nvPr/>
        </p:nvSpPr>
        <p:spPr>
          <a:xfrm>
            <a:off x="9093250" y="10538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2859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50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60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50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861" name="Connector 61"/>
          <p:cNvSpPr/>
          <p:nvPr/>
        </p:nvSpPr>
        <p:spPr>
          <a:xfrm>
            <a:off x="1371600" y="11064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62" name="TextBox 62"/>
          <p:cNvSpPr txBox="1"/>
          <p:nvPr/>
        </p:nvSpPr>
        <p:spPr>
          <a:xfrm>
            <a:off x="1517902" y="11224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863" name="TextBox 63"/>
          <p:cNvSpPr txBox="1"/>
          <p:nvPr/>
        </p:nvSpPr>
        <p:spPr>
          <a:xfrm>
            <a:off x="2600094" y="11224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Filter by period (Annual / Quarterly)</a:t>
            </a:r>
          </a:p>
        </p:txBody>
      </p:sp>
      <p:sp>
        <p:nvSpPr>
          <p:cNvPr id="2864" name="TextBox 64"/>
          <p:cNvSpPr txBox="1"/>
          <p:nvPr/>
        </p:nvSpPr>
        <p:spPr>
          <a:xfrm>
            <a:off x="9093250" y="11224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2865" name="Picture 65" descr="Picture 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2608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66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2608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867" name="Connector 67"/>
          <p:cNvSpPr/>
          <p:nvPr/>
        </p:nvSpPr>
        <p:spPr>
          <a:xfrm>
            <a:off x="1371600" y="11750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2870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038 / 111</a:t>
            </a:r>
          </a:p>
        </p:txBody>
      </p:sp>
      <p:sp>
        <p:nvSpPr>
          <p:cNvPr id="2871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2872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Portfolio analytics &amp; health</a:t>
            </a:r>
          </a:p>
        </p:txBody>
      </p:sp>
      <p:sp>
        <p:nvSpPr>
          <p:cNvPr id="2873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2874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2875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2876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2877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2878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2879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2880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2881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82" name="TextBox 14"/>
          <p:cNvSpPr txBox="1"/>
          <p:nvPr/>
        </p:nvSpPr>
        <p:spPr>
          <a:xfrm>
            <a:off x="1517902" y="566576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883" name="TextBox 15"/>
          <p:cNvSpPr txBox="1"/>
          <p:nvPr/>
        </p:nvSpPr>
        <p:spPr>
          <a:xfrm>
            <a:off x="2600094" y="566576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health score</a:t>
            </a:r>
          </a:p>
        </p:txBody>
      </p:sp>
      <p:sp>
        <p:nvSpPr>
          <p:cNvPr id="2884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885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86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887" name="TextBox 19"/>
          <p:cNvSpPr txBox="1"/>
          <p:nvPr/>
        </p:nvSpPr>
        <p:spPr>
          <a:xfrm>
            <a:off x="18832982" y="5665763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2888" name="Connector 20"/>
          <p:cNvSpPr/>
          <p:nvPr/>
        </p:nvSpPr>
        <p:spPr>
          <a:xfrm>
            <a:off x="1371600" y="611944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89" name="TextBox 21"/>
          <p:cNvSpPr txBox="1"/>
          <p:nvPr/>
        </p:nvSpPr>
        <p:spPr>
          <a:xfrm>
            <a:off x="1517902" y="620736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890" name="TextBox 22"/>
          <p:cNvSpPr txBox="1"/>
          <p:nvPr/>
        </p:nvSpPr>
        <p:spPr>
          <a:xfrm>
            <a:off x="2600094" y="620736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Risk concentration analysis</a:t>
            </a:r>
          </a:p>
        </p:txBody>
      </p:sp>
      <p:sp>
        <p:nvSpPr>
          <p:cNvPr id="2891" name="TextBox 23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892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93" name="Picture 25" descr="Picture 2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894" name="TextBox 26"/>
          <p:cNvSpPr txBox="1"/>
          <p:nvPr/>
        </p:nvSpPr>
        <p:spPr>
          <a:xfrm>
            <a:off x="18832982" y="620736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2895" name="Connector 27"/>
          <p:cNvSpPr/>
          <p:nvPr/>
        </p:nvSpPr>
        <p:spPr>
          <a:xfrm>
            <a:off x="1371600" y="66610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96" name="TextBox 28"/>
          <p:cNvSpPr txBox="1"/>
          <p:nvPr/>
        </p:nvSpPr>
        <p:spPr>
          <a:xfrm>
            <a:off x="1517902" y="674897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897" name="TextBox 29"/>
          <p:cNvSpPr txBox="1"/>
          <p:nvPr/>
        </p:nvSpPr>
        <p:spPr>
          <a:xfrm>
            <a:off x="2600094" y="674897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Diversification score</a:t>
            </a:r>
          </a:p>
        </p:txBody>
      </p:sp>
      <p:sp>
        <p:nvSpPr>
          <p:cNvPr id="2898" name="TextBox 30"/>
          <p:cNvSpPr txBox="1"/>
          <p:nvPr/>
        </p:nvSpPr>
        <p:spPr>
          <a:xfrm>
            <a:off x="9093250" y="674897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899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0" name="Picture 32" descr="Picture 3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901" name="TextBox 33"/>
          <p:cNvSpPr txBox="1"/>
          <p:nvPr/>
        </p:nvSpPr>
        <p:spPr>
          <a:xfrm>
            <a:off x="18832982" y="6748974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2902" name="Connector 34"/>
          <p:cNvSpPr/>
          <p:nvPr/>
        </p:nvSpPr>
        <p:spPr>
          <a:xfrm>
            <a:off x="1371600" y="720265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03" name="TextBox 35"/>
          <p:cNvSpPr txBox="1"/>
          <p:nvPr/>
        </p:nvSpPr>
        <p:spPr>
          <a:xfrm>
            <a:off x="1517902" y="729058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904" name="TextBox 36"/>
          <p:cNvSpPr txBox="1"/>
          <p:nvPr/>
        </p:nvSpPr>
        <p:spPr>
          <a:xfrm>
            <a:off x="2600094" y="729058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Performance vs benchmark</a:t>
            </a:r>
          </a:p>
        </p:txBody>
      </p:sp>
      <p:sp>
        <p:nvSpPr>
          <p:cNvPr id="2905" name="TextBox 37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906" name="Picture 38" descr="Picture 3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7" name="Picture 39" descr="Picture 3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908" name="TextBox 40"/>
          <p:cNvSpPr txBox="1"/>
          <p:nvPr/>
        </p:nvSpPr>
        <p:spPr>
          <a:xfrm>
            <a:off x="18832982" y="7290581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2909" name="Connector 41"/>
          <p:cNvSpPr/>
          <p:nvPr/>
        </p:nvSpPr>
        <p:spPr>
          <a:xfrm>
            <a:off x="1371600" y="774426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10" name="TextBox 42"/>
          <p:cNvSpPr txBox="1"/>
          <p:nvPr/>
        </p:nvSpPr>
        <p:spPr>
          <a:xfrm>
            <a:off x="1517902" y="783218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911" name="TextBox 43"/>
          <p:cNvSpPr txBox="1"/>
          <p:nvPr/>
        </p:nvSpPr>
        <p:spPr>
          <a:xfrm>
            <a:off x="2600094" y="783218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volatility analysis</a:t>
            </a:r>
          </a:p>
        </p:txBody>
      </p:sp>
      <p:sp>
        <p:nvSpPr>
          <p:cNvPr id="2912" name="TextBox 44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913" name="Picture 45" descr="Picture 4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4" name="Picture 46" descr="Picture 4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915" name="TextBox 47"/>
          <p:cNvSpPr txBox="1"/>
          <p:nvPr/>
        </p:nvSpPr>
        <p:spPr>
          <a:xfrm>
            <a:off x="18832982" y="7832187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2916" name="Connector 48"/>
          <p:cNvSpPr/>
          <p:nvPr/>
        </p:nvSpPr>
        <p:spPr>
          <a:xfrm>
            <a:off x="1371600" y="828587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17" name="TextBox 49"/>
          <p:cNvSpPr txBox="1"/>
          <p:nvPr/>
        </p:nvSpPr>
        <p:spPr>
          <a:xfrm>
            <a:off x="1517902" y="837379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918" name="TextBox 50"/>
          <p:cNvSpPr txBox="1"/>
          <p:nvPr/>
        </p:nvSpPr>
        <p:spPr>
          <a:xfrm>
            <a:off x="2600094" y="837379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diagnostics summary</a:t>
            </a:r>
          </a:p>
        </p:txBody>
      </p:sp>
      <p:sp>
        <p:nvSpPr>
          <p:cNvPr id="2919" name="TextBox 51"/>
          <p:cNvSpPr txBox="1"/>
          <p:nvPr/>
        </p:nvSpPr>
        <p:spPr>
          <a:xfrm>
            <a:off x="9093250" y="837379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920" name="Picture 52" descr="Picture 5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21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922" name="TextBox 54"/>
          <p:cNvSpPr txBox="1"/>
          <p:nvPr/>
        </p:nvSpPr>
        <p:spPr>
          <a:xfrm>
            <a:off x="18832982" y="8373791"/>
            <a:ext cx="230465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2923" name="Connector 55"/>
          <p:cNvSpPr/>
          <p:nvPr/>
        </p:nvSpPr>
        <p:spPr>
          <a:xfrm>
            <a:off x="1371600" y="882747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24" name="TextBox 56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925" name="TextBox 57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Peer portfolio comparison</a:t>
            </a:r>
          </a:p>
        </p:txBody>
      </p:sp>
      <p:sp>
        <p:nvSpPr>
          <p:cNvPr id="2926" name="TextBox 58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927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28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929" name="TextBox 61"/>
          <p:cNvSpPr txBox="1"/>
          <p:nvPr/>
        </p:nvSpPr>
        <p:spPr>
          <a:xfrm>
            <a:off x="18832982" y="8915400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2930" name="Connector 62"/>
          <p:cNvSpPr/>
          <p:nvPr/>
        </p:nvSpPr>
        <p:spPr>
          <a:xfrm>
            <a:off x="1371600" y="93690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31" name="TextBox 63"/>
          <p:cNvSpPr txBox="1"/>
          <p:nvPr/>
        </p:nvSpPr>
        <p:spPr>
          <a:xfrm>
            <a:off x="1517902" y="945700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932" name="TextBox 64"/>
          <p:cNvSpPr txBox="1"/>
          <p:nvPr/>
        </p:nvSpPr>
        <p:spPr>
          <a:xfrm>
            <a:off x="2600094" y="945700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Asset allocation analysis</a:t>
            </a:r>
          </a:p>
        </p:txBody>
      </p:sp>
      <p:sp>
        <p:nvSpPr>
          <p:cNvPr id="2933" name="TextBox 65"/>
          <p:cNvSpPr txBox="1"/>
          <p:nvPr/>
        </p:nvSpPr>
        <p:spPr>
          <a:xfrm>
            <a:off x="9093250" y="945700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934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35" name="Picture 67" descr="Picture 6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936" name="TextBox 68"/>
          <p:cNvSpPr txBox="1"/>
          <p:nvPr/>
        </p:nvSpPr>
        <p:spPr>
          <a:xfrm>
            <a:off x="18832982" y="9457004"/>
            <a:ext cx="230465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2937" name="Connector 69"/>
          <p:cNvSpPr/>
          <p:nvPr/>
        </p:nvSpPr>
        <p:spPr>
          <a:xfrm>
            <a:off x="1371600" y="99106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38" name="TextBox 70"/>
          <p:cNvSpPr txBox="1"/>
          <p:nvPr/>
        </p:nvSpPr>
        <p:spPr>
          <a:xfrm>
            <a:off x="1517902" y="999861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939" name="TextBox 71"/>
          <p:cNvSpPr txBox="1"/>
          <p:nvPr/>
        </p:nvSpPr>
        <p:spPr>
          <a:xfrm>
            <a:off x="2600094" y="999861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risk exposure</a:t>
            </a:r>
          </a:p>
        </p:txBody>
      </p:sp>
      <p:sp>
        <p:nvSpPr>
          <p:cNvPr id="2940" name="TextBox 72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941" name="Picture 73" descr="Picture 7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42" name="Picture 74" descr="Picture 7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943" name="Connector 75"/>
          <p:cNvSpPr/>
          <p:nvPr/>
        </p:nvSpPr>
        <p:spPr>
          <a:xfrm>
            <a:off x="1371600" y="1045229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44" name="TextBox 76"/>
          <p:cNvSpPr txBox="1"/>
          <p:nvPr/>
        </p:nvSpPr>
        <p:spPr>
          <a:xfrm>
            <a:off x="1517902" y="1054021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945" name="TextBox 77"/>
          <p:cNvSpPr txBox="1"/>
          <p:nvPr/>
        </p:nvSpPr>
        <p:spPr>
          <a:xfrm>
            <a:off x="2600094" y="1054021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performance attribution</a:t>
            </a:r>
          </a:p>
        </p:txBody>
      </p:sp>
      <p:sp>
        <p:nvSpPr>
          <p:cNvPr id="2946" name="TextBox 78"/>
          <p:cNvSpPr txBox="1"/>
          <p:nvPr/>
        </p:nvSpPr>
        <p:spPr>
          <a:xfrm>
            <a:off x="9093250" y="105402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947" name="Picture 79" descr="Picture 7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48" name="Picture 80" descr="Picture 8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949" name="TextBox 81"/>
          <p:cNvSpPr txBox="1"/>
          <p:nvPr/>
        </p:nvSpPr>
        <p:spPr>
          <a:xfrm>
            <a:off x="18832982" y="10540217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2950" name="Connector 82"/>
          <p:cNvSpPr/>
          <p:nvPr/>
        </p:nvSpPr>
        <p:spPr>
          <a:xfrm>
            <a:off x="1371600" y="1099390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51" name="TextBox 83"/>
          <p:cNvSpPr txBox="1"/>
          <p:nvPr/>
        </p:nvSpPr>
        <p:spPr>
          <a:xfrm>
            <a:off x="1517902" y="1108182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952" name="TextBox 84"/>
          <p:cNvSpPr txBox="1"/>
          <p:nvPr/>
        </p:nvSpPr>
        <p:spPr>
          <a:xfrm>
            <a:off x="2600094" y="1108182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Investment recommendations / insights</a:t>
            </a:r>
          </a:p>
        </p:txBody>
      </p:sp>
      <p:sp>
        <p:nvSpPr>
          <p:cNvPr id="2953" name="TextBox 85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954" name="Picture 86" descr="Picture 8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55" name="Picture 87" descr="Picture 8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956" name="Connector 88"/>
          <p:cNvSpPr/>
          <p:nvPr/>
        </p:nvSpPr>
        <p:spPr>
          <a:xfrm>
            <a:off x="1371600" y="1153550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57" name="TextBox 89"/>
          <p:cNvSpPr txBox="1"/>
          <p:nvPr/>
        </p:nvSpPr>
        <p:spPr>
          <a:xfrm>
            <a:off x="1517902" y="1162343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958" name="TextBox 90"/>
          <p:cNvSpPr txBox="1"/>
          <p:nvPr/>
        </p:nvSpPr>
        <p:spPr>
          <a:xfrm>
            <a:off x="2600094" y="1162343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rebalance suggestion</a:t>
            </a:r>
          </a:p>
        </p:txBody>
      </p:sp>
      <p:sp>
        <p:nvSpPr>
          <p:cNvPr id="2959" name="TextBox 91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2960" name="Picture 92" descr="Picture 9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61" name="Picture 93" descr="Picture 9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962" name="Connector 94"/>
          <p:cNvSpPr/>
          <p:nvPr/>
        </p:nvSpPr>
        <p:spPr>
          <a:xfrm>
            <a:off x="1371600" y="1207711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63" name="TextBox 95"/>
          <p:cNvSpPr txBox="1"/>
          <p:nvPr/>
        </p:nvSpPr>
        <p:spPr>
          <a:xfrm>
            <a:off x="1517902" y="1216503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964" name="TextBox 96"/>
          <p:cNvSpPr txBox="1"/>
          <p:nvPr/>
        </p:nvSpPr>
        <p:spPr>
          <a:xfrm>
            <a:off x="2600094" y="1216503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Risk preference settings</a:t>
            </a:r>
          </a:p>
        </p:txBody>
      </p:sp>
      <p:sp>
        <p:nvSpPr>
          <p:cNvPr id="2965" name="TextBox 97"/>
          <p:cNvSpPr txBox="1"/>
          <p:nvPr/>
        </p:nvSpPr>
        <p:spPr>
          <a:xfrm>
            <a:off x="9093250" y="1216503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2966" name="Picture 98" descr="Picture 9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67" name="Picture 99" descr="Picture 9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968" name="Connector 100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2971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039 / 111</a:t>
            </a:r>
          </a:p>
        </p:txBody>
      </p:sp>
      <p:sp>
        <p:nvSpPr>
          <p:cNvPr id="2972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MARKET  ·  CAPABILITY ASSESSMENT</a:t>
            </a:r>
          </a:p>
        </p:txBody>
      </p:sp>
      <p:sp>
        <p:nvSpPr>
          <p:cNvPr id="2973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Portfolio Insights &amp; Intelligence</a:t>
            </a:r>
          </a:p>
        </p:txBody>
      </p:sp>
      <p:sp>
        <p:nvSpPr>
          <p:cNvPr id="2974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2975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2976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2977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2978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2979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2980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2981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2982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83" name="TextBox 14"/>
          <p:cNvSpPr txBox="1"/>
          <p:nvPr/>
        </p:nvSpPr>
        <p:spPr>
          <a:xfrm>
            <a:off x="1517902" y="57150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984" name="TextBox 15"/>
          <p:cNvSpPr txBox="1"/>
          <p:nvPr/>
        </p:nvSpPr>
        <p:spPr>
          <a:xfrm>
            <a:off x="2600094" y="57150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Asset allocation analysis</a:t>
            </a:r>
          </a:p>
        </p:txBody>
      </p:sp>
      <p:sp>
        <p:nvSpPr>
          <p:cNvPr id="2985" name="TextBox 16"/>
          <p:cNvSpPr txBox="1"/>
          <p:nvPr/>
        </p:nvSpPr>
        <p:spPr>
          <a:xfrm>
            <a:off x="9093250" y="57149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986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515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87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515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988" name="Connector 19"/>
          <p:cNvSpPr/>
          <p:nvPr/>
        </p:nvSpPr>
        <p:spPr>
          <a:xfrm>
            <a:off x="1371600" y="621792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89" name="TextBox 20"/>
          <p:cNvSpPr txBox="1"/>
          <p:nvPr/>
        </p:nvSpPr>
        <p:spPr>
          <a:xfrm>
            <a:off x="1517902" y="635507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990" name="TextBox 21"/>
          <p:cNvSpPr txBox="1"/>
          <p:nvPr/>
        </p:nvSpPr>
        <p:spPr>
          <a:xfrm>
            <a:off x="2600094" y="635507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Top gainers / losers analysis</a:t>
            </a:r>
          </a:p>
        </p:txBody>
      </p:sp>
      <p:sp>
        <p:nvSpPr>
          <p:cNvPr id="2991" name="TextBox 22"/>
          <p:cNvSpPr txBox="1"/>
          <p:nvPr/>
        </p:nvSpPr>
        <p:spPr>
          <a:xfrm>
            <a:off x="9093250" y="635507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992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39165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93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39165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994" name="TextBox 25"/>
          <p:cNvSpPr txBox="1"/>
          <p:nvPr/>
        </p:nvSpPr>
        <p:spPr>
          <a:xfrm>
            <a:off x="18832982" y="635507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2995" name="Connector 26"/>
          <p:cNvSpPr/>
          <p:nvPr/>
        </p:nvSpPr>
        <p:spPr>
          <a:xfrm>
            <a:off x="1371600" y="68580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96" name="TextBox 27"/>
          <p:cNvSpPr txBox="1"/>
          <p:nvPr/>
        </p:nvSpPr>
        <p:spPr>
          <a:xfrm>
            <a:off x="1517902" y="69951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997" name="TextBox 28"/>
          <p:cNvSpPr txBox="1"/>
          <p:nvPr/>
        </p:nvSpPr>
        <p:spPr>
          <a:xfrm>
            <a:off x="2600094" y="69951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Unrealized gain analysis</a:t>
            </a:r>
          </a:p>
        </p:txBody>
      </p:sp>
      <p:sp>
        <p:nvSpPr>
          <p:cNvPr id="2998" name="TextBox 29"/>
          <p:cNvSpPr txBox="1"/>
          <p:nvPr/>
        </p:nvSpPr>
        <p:spPr>
          <a:xfrm>
            <a:off x="9093250" y="69951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2999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0317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00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0317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001" name="Connector 32"/>
          <p:cNvSpPr/>
          <p:nvPr/>
        </p:nvSpPr>
        <p:spPr>
          <a:xfrm>
            <a:off x="1371600" y="74980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02" name="TextBox 33"/>
          <p:cNvSpPr txBox="1"/>
          <p:nvPr/>
        </p:nvSpPr>
        <p:spPr>
          <a:xfrm>
            <a:off x="1517902" y="76352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003" name="TextBox 34"/>
          <p:cNvSpPr txBox="1"/>
          <p:nvPr/>
        </p:nvSpPr>
        <p:spPr>
          <a:xfrm>
            <a:off x="2600094" y="76352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 analytics</a:t>
            </a:r>
          </a:p>
        </p:txBody>
      </p:sp>
      <p:sp>
        <p:nvSpPr>
          <p:cNvPr id="3004" name="TextBox 35"/>
          <p:cNvSpPr txBox="1"/>
          <p:nvPr/>
        </p:nvSpPr>
        <p:spPr>
          <a:xfrm>
            <a:off x="9093250" y="7635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005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67181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06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67181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007" name="Connector 38"/>
          <p:cNvSpPr/>
          <p:nvPr/>
        </p:nvSpPr>
        <p:spPr>
          <a:xfrm>
            <a:off x="1371600" y="81381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08" name="TextBox 39"/>
          <p:cNvSpPr txBox="1"/>
          <p:nvPr/>
        </p:nvSpPr>
        <p:spPr>
          <a:xfrm>
            <a:off x="1517902" y="827531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009" name="TextBox 40"/>
          <p:cNvSpPr txBox="1"/>
          <p:nvPr/>
        </p:nvSpPr>
        <p:spPr>
          <a:xfrm>
            <a:off x="2600094" y="827531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Sector exposure analysis</a:t>
            </a:r>
          </a:p>
        </p:txBody>
      </p:sp>
      <p:sp>
        <p:nvSpPr>
          <p:cNvPr id="3010" name="TextBox 41"/>
          <p:cNvSpPr txBox="1"/>
          <p:nvPr/>
        </p:nvSpPr>
        <p:spPr>
          <a:xfrm>
            <a:off x="9093250" y="827531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011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31189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12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31189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013" name="TextBox 44"/>
          <p:cNvSpPr txBox="1"/>
          <p:nvPr/>
        </p:nvSpPr>
        <p:spPr>
          <a:xfrm>
            <a:off x="18832982" y="8275318"/>
            <a:ext cx="230465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3014" name="Connector 45"/>
          <p:cNvSpPr/>
          <p:nvPr/>
        </p:nvSpPr>
        <p:spPr>
          <a:xfrm>
            <a:off x="1371600" y="8778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15" name="TextBox 46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016" name="TextBox 47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Holding period analysis</a:t>
            </a:r>
          </a:p>
        </p:txBody>
      </p:sp>
      <p:sp>
        <p:nvSpPr>
          <p:cNvPr id="3017" name="TextBox 48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018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19" name="Picture 50" descr="Picture 5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020" name="TextBox 51"/>
          <p:cNvSpPr txBox="1"/>
          <p:nvPr/>
        </p:nvSpPr>
        <p:spPr>
          <a:xfrm>
            <a:off x="18832982" y="8915400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3021" name="Connector 52"/>
          <p:cNvSpPr/>
          <p:nvPr/>
        </p:nvSpPr>
        <p:spPr>
          <a:xfrm>
            <a:off x="1371600" y="94183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22" name="TextBox 53"/>
          <p:cNvSpPr txBox="1"/>
          <p:nvPr/>
        </p:nvSpPr>
        <p:spPr>
          <a:xfrm>
            <a:off x="1517902" y="955548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023" name="TextBox 54"/>
          <p:cNvSpPr txBox="1"/>
          <p:nvPr/>
        </p:nvSpPr>
        <p:spPr>
          <a:xfrm>
            <a:off x="2600094" y="955548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trend analysis</a:t>
            </a:r>
          </a:p>
        </p:txBody>
      </p:sp>
      <p:sp>
        <p:nvSpPr>
          <p:cNvPr id="3024" name="TextBox 55"/>
          <p:cNvSpPr txBox="1"/>
          <p:nvPr/>
        </p:nvSpPr>
        <p:spPr>
          <a:xfrm>
            <a:off x="9093250" y="955548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025" name="Picture 56" descr="Picture 5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59205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26" name="Picture 57" descr="Picture 5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59205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027" name="Connector 58"/>
          <p:cNvSpPr/>
          <p:nvPr/>
        </p:nvSpPr>
        <p:spPr>
          <a:xfrm>
            <a:off x="1371600" y="100584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28" name="TextBox 59"/>
          <p:cNvSpPr txBox="1"/>
          <p:nvPr/>
        </p:nvSpPr>
        <p:spPr>
          <a:xfrm>
            <a:off x="1517902" y="101955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029" name="TextBox 60"/>
          <p:cNvSpPr txBox="1"/>
          <p:nvPr/>
        </p:nvSpPr>
        <p:spPr>
          <a:xfrm>
            <a:off x="2600094" y="101955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change insights</a:t>
            </a:r>
          </a:p>
        </p:txBody>
      </p:sp>
      <p:sp>
        <p:nvSpPr>
          <p:cNvPr id="3030" name="TextBox 61"/>
          <p:cNvSpPr txBox="1"/>
          <p:nvPr/>
        </p:nvSpPr>
        <p:spPr>
          <a:xfrm>
            <a:off x="9093250" y="101955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031" name="Picture 62" descr="Picture 6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2321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32" name="Picture 63" descr="Picture 6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2321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033" name="TextBox 64"/>
          <p:cNvSpPr txBox="1"/>
          <p:nvPr/>
        </p:nvSpPr>
        <p:spPr>
          <a:xfrm>
            <a:off x="18832982" y="101955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3034" name="Connector 65"/>
          <p:cNvSpPr/>
          <p:nvPr/>
        </p:nvSpPr>
        <p:spPr>
          <a:xfrm>
            <a:off x="1371600" y="106984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35" name="TextBox 66"/>
          <p:cNvSpPr txBox="1"/>
          <p:nvPr/>
        </p:nvSpPr>
        <p:spPr>
          <a:xfrm>
            <a:off x="1517902" y="108356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3036" name="TextBox 67"/>
          <p:cNvSpPr txBox="1"/>
          <p:nvPr/>
        </p:nvSpPr>
        <p:spPr>
          <a:xfrm>
            <a:off x="2600094" y="108356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Investment insights summary</a:t>
            </a:r>
          </a:p>
        </p:txBody>
      </p:sp>
      <p:sp>
        <p:nvSpPr>
          <p:cNvPr id="3037" name="TextBox 68"/>
          <p:cNvSpPr txBox="1"/>
          <p:nvPr/>
        </p:nvSpPr>
        <p:spPr>
          <a:xfrm>
            <a:off x="9093250" y="108356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038" name="Picture 69" descr="Picture 6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87221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39" name="Picture 70" descr="Picture 7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87221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040" name="TextBox 71"/>
          <p:cNvSpPr txBox="1"/>
          <p:nvPr/>
        </p:nvSpPr>
        <p:spPr>
          <a:xfrm>
            <a:off x="18832982" y="10835640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3041" name="Connector 72"/>
          <p:cNvSpPr/>
          <p:nvPr/>
        </p:nvSpPr>
        <p:spPr>
          <a:xfrm>
            <a:off x="1371600" y="113385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42" name="TextBox 73"/>
          <p:cNvSpPr txBox="1"/>
          <p:nvPr/>
        </p:nvSpPr>
        <p:spPr>
          <a:xfrm>
            <a:off x="1517902" y="1147571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3043" name="TextBox 74"/>
          <p:cNvSpPr txBox="1"/>
          <p:nvPr/>
        </p:nvSpPr>
        <p:spPr>
          <a:xfrm>
            <a:off x="2600094" y="1147571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Insight-driven alerts</a:t>
            </a:r>
          </a:p>
        </p:txBody>
      </p:sp>
      <p:sp>
        <p:nvSpPr>
          <p:cNvPr id="3044" name="TextBox 75"/>
          <p:cNvSpPr txBox="1"/>
          <p:nvPr/>
        </p:nvSpPr>
        <p:spPr>
          <a:xfrm>
            <a:off x="9093250" y="1147571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3045" name="Picture 76" descr="Picture 7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51229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46" name="Picture 77" descr="Picture 7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51229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047" name="Connector 78"/>
          <p:cNvSpPr/>
          <p:nvPr/>
        </p:nvSpPr>
        <p:spPr>
          <a:xfrm>
            <a:off x="1371600" y="11978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48" name="TextBox 79"/>
          <p:cNvSpPr txBox="1"/>
          <p:nvPr/>
        </p:nvSpPr>
        <p:spPr>
          <a:xfrm>
            <a:off x="1517902" y="121158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3049" name="TextBox 80"/>
          <p:cNvSpPr txBox="1"/>
          <p:nvPr/>
        </p:nvSpPr>
        <p:spPr>
          <a:xfrm>
            <a:off x="2600094" y="121158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Insight preferences</a:t>
            </a:r>
          </a:p>
        </p:txBody>
      </p:sp>
      <p:sp>
        <p:nvSpPr>
          <p:cNvPr id="3050" name="TextBox 81"/>
          <p:cNvSpPr txBox="1"/>
          <p:nvPr/>
        </p:nvSpPr>
        <p:spPr>
          <a:xfrm>
            <a:off x="9093250" y="121157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3051" name="Picture 82" descr="Picture 8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1523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52" name="Picture 83" descr="Picture 8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1523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053" name="Connector 84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5" name="TextBox 3"/>
          <p:cNvSpPr txBox="1"/>
          <p:nvPr/>
        </p:nvSpPr>
        <p:spPr>
          <a:xfrm>
            <a:off x="18900646" y="1097280"/>
            <a:ext cx="4114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300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APRIL 2026</a:t>
            </a:r>
          </a:p>
        </p:txBody>
      </p:sp>
      <p:sp>
        <p:nvSpPr>
          <p:cNvPr id="3056" name="Rectangle 4"/>
          <p:cNvSpPr/>
          <p:nvPr/>
        </p:nvSpPr>
        <p:spPr>
          <a:xfrm>
            <a:off x="1371600" y="4114799"/>
            <a:ext cx="1371600" cy="36579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3057" name="TextBox 5"/>
          <p:cNvSpPr txBox="1"/>
          <p:nvPr/>
        </p:nvSpPr>
        <p:spPr>
          <a:xfrm>
            <a:off x="1371600" y="4389120"/>
            <a:ext cx="20116800" cy="1719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Mutual </a:t>
            </a:r>
            <a:r>
              <a:rPr>
                <a:solidFill>
                  <a:srgbClr val="0333E8"/>
                </a:solidFill>
              </a:rPr>
              <a:t>Fund</a:t>
            </a:r>
          </a:p>
        </p:txBody>
      </p:sp>
      <p:sp>
        <p:nvSpPr>
          <p:cNvPr id="3058" name="TextBox 6"/>
          <p:cNvSpPr txBox="1"/>
          <p:nvPr/>
        </p:nvSpPr>
        <p:spPr>
          <a:xfrm>
            <a:off x="1371600" y="7863840"/>
            <a:ext cx="20116800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Open-ended investment funds and managed portfolios</a:t>
            </a:r>
          </a:p>
        </p:txBody>
      </p:sp>
      <p:sp>
        <p:nvSpPr>
          <p:cNvPr id="3059" name="TextBox 7"/>
          <p:cNvSpPr txBox="1"/>
          <p:nvPr/>
        </p:nvSpPr>
        <p:spPr>
          <a:xfrm>
            <a:off x="1371600" y="9143999"/>
            <a:ext cx="20116800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 LIVE STATUS  ·  JIRA COVERAGE</a:t>
            </a:r>
          </a:p>
        </p:txBody>
      </p:sp>
      <p:sp>
        <p:nvSpPr>
          <p:cNvPr id="3060" name="TextBox 8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040 / 111</a:t>
            </a:r>
          </a:p>
        </p:txBody>
      </p:sp>
      <p:pic>
        <p:nvPicPr>
          <p:cNvPr id="306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2200" cy="8220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3064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041 / 111</a:t>
            </a:r>
          </a:p>
        </p:txBody>
      </p:sp>
      <p:sp>
        <p:nvSpPr>
          <p:cNvPr id="3065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SECTION SUMMARY</a:t>
            </a:r>
          </a:p>
        </p:txBody>
      </p:sp>
      <p:sp>
        <p:nvSpPr>
          <p:cNvPr id="3066" name="TextBox 4"/>
          <p:cNvSpPr txBox="1"/>
          <p:nvPr/>
        </p:nvSpPr>
        <p:spPr>
          <a:xfrm>
            <a:off x="1371600" y="2834638"/>
            <a:ext cx="20116800" cy="769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4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161 capabilities assessed. 114 already live.</a:t>
            </a:r>
          </a:p>
        </p:txBody>
      </p:sp>
      <p:sp>
        <p:nvSpPr>
          <p:cNvPr id="3067" name="TextBox 5"/>
          <p:cNvSpPr txBox="1"/>
          <p:nvPr/>
        </p:nvSpPr>
        <p:spPr>
          <a:xfrm>
            <a:off x="1371600" y="5760720"/>
            <a:ext cx="6400800" cy="3200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8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161</a:t>
            </a:r>
          </a:p>
        </p:txBody>
      </p:sp>
      <p:sp>
        <p:nvSpPr>
          <p:cNvPr id="3068" name="TextBox 6"/>
          <p:cNvSpPr txBox="1"/>
          <p:nvPr/>
        </p:nvSpPr>
        <p:spPr>
          <a:xfrm>
            <a:off x="1371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TOTAL CAPABILITIES</a:t>
            </a:r>
          </a:p>
        </p:txBody>
      </p:sp>
      <p:sp>
        <p:nvSpPr>
          <p:cNvPr id="3069" name="Rectangle 7"/>
          <p:cNvSpPr/>
          <p:nvPr/>
        </p:nvSpPr>
        <p:spPr>
          <a:xfrm>
            <a:off x="1371600" y="9098280"/>
            <a:ext cx="1371600" cy="36578"/>
          </a:xfrm>
          <a:prstGeom prst="rect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3070" name="TextBox 8"/>
          <p:cNvSpPr txBox="1"/>
          <p:nvPr/>
        </p:nvSpPr>
        <p:spPr>
          <a:xfrm>
            <a:off x="8229600" y="5760720"/>
            <a:ext cx="6400800" cy="3200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8000">
                <a:solidFill>
                  <a:srgbClr val="059669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114</a:t>
            </a:r>
          </a:p>
        </p:txBody>
      </p:sp>
      <p:sp>
        <p:nvSpPr>
          <p:cNvPr id="3071" name="TextBox 9"/>
          <p:cNvSpPr txBox="1"/>
          <p:nvPr/>
        </p:nvSpPr>
        <p:spPr>
          <a:xfrm>
            <a:off x="8229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LIVE ON APP   (71% OF 161)</a:t>
            </a:r>
          </a:p>
        </p:txBody>
      </p:sp>
      <p:sp>
        <p:nvSpPr>
          <p:cNvPr id="3072" name="Rectangle 10"/>
          <p:cNvSpPr/>
          <p:nvPr/>
        </p:nvSpPr>
        <p:spPr>
          <a:xfrm>
            <a:off x="8229600" y="9098280"/>
            <a:ext cx="1371600" cy="36578"/>
          </a:xfrm>
          <a:prstGeom prst="rect">
            <a:avLst/>
          </a:prstGeom>
          <a:solidFill>
            <a:srgbClr val="05966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3073" name="TextBox 11"/>
          <p:cNvSpPr txBox="1"/>
          <p:nvPr/>
        </p:nvSpPr>
        <p:spPr>
          <a:xfrm>
            <a:off x="15087600" y="5760720"/>
            <a:ext cx="6400800" cy="3200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8000">
                <a:solidFill>
                  <a:srgbClr val="0333E8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3074" name="TextBox 12"/>
          <p:cNvSpPr txBox="1"/>
          <p:nvPr/>
        </p:nvSpPr>
        <p:spPr>
          <a:xfrm>
            <a:off x="15087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TRACKED IN JIRA   (9% OF 161)</a:t>
            </a:r>
          </a:p>
        </p:txBody>
      </p:sp>
      <p:sp>
        <p:nvSpPr>
          <p:cNvPr id="3075" name="Rectangle 13"/>
          <p:cNvSpPr/>
          <p:nvPr/>
        </p:nvSpPr>
        <p:spPr>
          <a:xfrm>
            <a:off x="15087600" y="9098280"/>
            <a:ext cx="1371600" cy="36578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3076" name="Connector 14"/>
          <p:cNvSpPr/>
          <p:nvPr/>
        </p:nvSpPr>
        <p:spPr>
          <a:xfrm>
            <a:off x="1371600" y="10789918"/>
            <a:ext cx="21643849" cy="2"/>
          </a:xfrm>
          <a:prstGeom prst="line">
            <a:avLst/>
          </a:prstGeom>
          <a:ln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77" name="TextBox 15"/>
          <p:cNvSpPr txBox="1"/>
          <p:nvPr/>
        </p:nvSpPr>
        <p:spPr>
          <a:xfrm>
            <a:off x="1371600" y="11109959"/>
            <a:ext cx="1828800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TWO HEADLINES</a:t>
            </a:r>
          </a:p>
        </p:txBody>
      </p:sp>
      <p:sp>
        <p:nvSpPr>
          <p:cNvPr id="3078" name="TextBox 16"/>
          <p:cNvSpPr txBox="1"/>
          <p:nvPr/>
        </p:nvSpPr>
        <p:spPr>
          <a:xfrm>
            <a:off x="1371600" y="11612880"/>
            <a:ext cx="10058400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71% live on app — the highest rate across all products.</a:t>
            </a:r>
          </a:p>
        </p:txBody>
      </p:sp>
      <p:sp>
        <p:nvSpPr>
          <p:cNvPr id="3079" name="TextBox 17"/>
          <p:cNvSpPr txBox="1"/>
          <p:nvPr/>
        </p:nvSpPr>
        <p:spPr>
          <a:xfrm>
            <a:off x="11978640" y="11612880"/>
            <a:ext cx="10058402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9% Jira coverage keeps the remaining gaps under-tracked.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858554" y="-118831"/>
            <a:ext cx="8882655" cy="14425960"/>
          </a:xfrm>
          <a:prstGeom prst="rect">
            <a:avLst/>
          </a:prstGeom>
          <a:ln w="12700">
            <a:miter lim="400000"/>
          </a:ln>
        </p:spPr>
      </p:pic>
      <p:sp>
        <p:nvSpPr>
          <p:cNvPr id="3082" name="Rectangle 6"/>
          <p:cNvSpPr/>
          <p:nvPr/>
        </p:nvSpPr>
        <p:spPr>
          <a:xfrm>
            <a:off x="117674" y="14407852"/>
            <a:ext cx="4450085" cy="50800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3085" name="Rectangle 7"/>
          <p:cNvGrpSpPr/>
          <p:nvPr/>
        </p:nvGrpSpPr>
        <p:grpSpPr>
          <a:xfrm>
            <a:off x="117674" y="14475113"/>
            <a:ext cx="6478783" cy="440743"/>
            <a:chOff x="0" y="0"/>
            <a:chExt cx="6478782" cy="440741"/>
          </a:xfrm>
        </p:grpSpPr>
        <p:sp>
          <p:nvSpPr>
            <p:cNvPr id="3083" name="Rectangle"/>
            <p:cNvSpPr/>
            <p:nvPr/>
          </p:nvSpPr>
          <p:spPr>
            <a:xfrm>
              <a:off x="-1" y="-1"/>
              <a:ext cx="6478783" cy="4407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084" name="* Last numbers for International, ROBO are at Q3, Q4 2025"/>
            <p:cNvSpPr txBox="1"/>
            <p:nvPr/>
          </p:nvSpPr>
          <p:spPr>
            <a:xfrm>
              <a:off x="45720" y="53823"/>
              <a:ext cx="6387340" cy="3330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i="1" sz="180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* Last numbers for International, ROBO are at Q3, Q4 2025</a:t>
              </a:r>
            </a:p>
          </p:txBody>
        </p:sp>
      </p:grpSp>
      <p:pic>
        <p:nvPicPr>
          <p:cNvPr id="3086" name="Frame 1.png" descr="Frame 1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144"/>
          <a:stretch>
            <a:fillRect/>
          </a:stretch>
        </p:blipFill>
        <p:spPr>
          <a:xfrm>
            <a:off x="25426263" y="2703744"/>
            <a:ext cx="9069094" cy="878069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87" name="Picture 548" descr="Picture 54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3088" name="TextBox 549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042 / 111</a:t>
            </a:r>
          </a:p>
        </p:txBody>
      </p:sp>
      <p:sp>
        <p:nvSpPr>
          <p:cNvPr id="3089" name="TextBox 550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</a:t>
            </a:r>
          </a:p>
        </p:txBody>
      </p:sp>
      <p:sp>
        <p:nvSpPr>
          <p:cNvPr id="3090" name="TextBox 551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Sitemap</a:t>
            </a:r>
          </a:p>
        </p:txBody>
      </p:sp>
      <p:sp>
        <p:nvSpPr>
          <p:cNvPr id="3091" name="Connector 552"/>
          <p:cNvSpPr/>
          <p:nvPr/>
        </p:nvSpPr>
        <p:spPr>
          <a:xfrm flipV="1">
            <a:off x="2926079" y="8415911"/>
            <a:ext cx="227235" cy="8801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92" name="Connector 553"/>
          <p:cNvSpPr/>
          <p:nvPr/>
        </p:nvSpPr>
        <p:spPr>
          <a:xfrm flipV="1">
            <a:off x="3153312" y="8275718"/>
            <a:ext cx="213438" cy="14019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93" name="Connector 554"/>
          <p:cNvSpPr/>
          <p:nvPr/>
        </p:nvSpPr>
        <p:spPr>
          <a:xfrm flipV="1">
            <a:off x="3366749" y="8092739"/>
            <a:ext cx="202643" cy="182982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94" name="Connector 555"/>
          <p:cNvSpPr/>
          <p:nvPr/>
        </p:nvSpPr>
        <p:spPr>
          <a:xfrm flipV="1">
            <a:off x="3569391" y="7876368"/>
            <a:ext cx="194845" cy="216372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95" name="Connector 556"/>
          <p:cNvSpPr/>
          <p:nvPr/>
        </p:nvSpPr>
        <p:spPr>
          <a:xfrm flipV="1">
            <a:off x="3764234" y="7636006"/>
            <a:ext cx="190047" cy="24036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96" name="Connector 557"/>
          <p:cNvSpPr/>
          <p:nvPr/>
        </p:nvSpPr>
        <p:spPr>
          <a:xfrm flipV="1">
            <a:off x="3954279" y="7381047"/>
            <a:ext cx="188247" cy="25496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97" name="Connector 558"/>
          <p:cNvSpPr/>
          <p:nvPr/>
        </p:nvSpPr>
        <p:spPr>
          <a:xfrm flipV="1">
            <a:off x="4142525" y="7120891"/>
            <a:ext cx="189447" cy="260157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98" name="Connector 559"/>
          <p:cNvSpPr/>
          <p:nvPr/>
        </p:nvSpPr>
        <p:spPr>
          <a:xfrm flipV="1">
            <a:off x="4331968" y="6864933"/>
            <a:ext cx="193645" cy="255959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99" name="Connector 560"/>
          <p:cNvSpPr/>
          <p:nvPr/>
        </p:nvSpPr>
        <p:spPr>
          <a:xfrm flipV="1">
            <a:off x="4525612" y="6622567"/>
            <a:ext cx="200843" cy="24236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00" name="Connector 561"/>
          <p:cNvSpPr/>
          <p:nvPr/>
        </p:nvSpPr>
        <p:spPr>
          <a:xfrm flipV="1">
            <a:off x="4726454" y="6403200"/>
            <a:ext cx="211041" cy="21937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01" name="Connector 562"/>
          <p:cNvSpPr/>
          <p:nvPr/>
        </p:nvSpPr>
        <p:spPr>
          <a:xfrm flipV="1">
            <a:off x="4937492" y="6216220"/>
            <a:ext cx="224237" cy="18698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02" name="Connector 563"/>
          <p:cNvSpPr/>
          <p:nvPr/>
        </p:nvSpPr>
        <p:spPr>
          <a:xfrm flipV="1">
            <a:off x="5161727" y="6071029"/>
            <a:ext cx="240431" cy="145193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03" name="Connector 564"/>
          <p:cNvSpPr/>
          <p:nvPr/>
        </p:nvSpPr>
        <p:spPr>
          <a:xfrm flipV="1">
            <a:off x="5402157" y="5977023"/>
            <a:ext cx="259626" cy="94008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04" name="Connector 565"/>
          <p:cNvSpPr/>
          <p:nvPr/>
        </p:nvSpPr>
        <p:spPr>
          <a:xfrm flipV="1">
            <a:off x="5661781" y="5943598"/>
            <a:ext cx="281820" cy="3342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05" name="Connector 566"/>
          <p:cNvSpPr/>
          <p:nvPr/>
        </p:nvSpPr>
        <p:spPr>
          <a:xfrm>
            <a:off x="5943600" y="5943600"/>
            <a:ext cx="12344401" cy="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06" name="Connector 567"/>
          <p:cNvSpPr/>
          <p:nvPr/>
        </p:nvSpPr>
        <p:spPr>
          <a:xfrm>
            <a:off x="2926078" y="8503918"/>
            <a:ext cx="227235" cy="86676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07" name="Connector 568"/>
          <p:cNvSpPr/>
          <p:nvPr/>
        </p:nvSpPr>
        <p:spPr>
          <a:xfrm>
            <a:off x="3153311" y="8590594"/>
            <a:ext cx="213440" cy="136462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08" name="Connector 569"/>
          <p:cNvSpPr/>
          <p:nvPr/>
        </p:nvSpPr>
        <p:spPr>
          <a:xfrm>
            <a:off x="3366751" y="8727054"/>
            <a:ext cx="202643" cy="17725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09" name="Connector 570"/>
          <p:cNvSpPr/>
          <p:nvPr/>
        </p:nvSpPr>
        <p:spPr>
          <a:xfrm>
            <a:off x="3569391" y="8904302"/>
            <a:ext cx="194845" cy="20904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10" name="Connector 571"/>
          <p:cNvSpPr/>
          <p:nvPr/>
        </p:nvSpPr>
        <p:spPr>
          <a:xfrm>
            <a:off x="3764234" y="9113342"/>
            <a:ext cx="190047" cy="23183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11" name="Connector 572"/>
          <p:cNvSpPr/>
          <p:nvPr/>
        </p:nvSpPr>
        <p:spPr>
          <a:xfrm>
            <a:off x="3954279" y="9345172"/>
            <a:ext cx="188247" cy="24563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12" name="Connector 573"/>
          <p:cNvSpPr/>
          <p:nvPr/>
        </p:nvSpPr>
        <p:spPr>
          <a:xfrm>
            <a:off x="4142525" y="9590802"/>
            <a:ext cx="189447" cy="250429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13" name="Connector 574"/>
          <p:cNvSpPr/>
          <p:nvPr/>
        </p:nvSpPr>
        <p:spPr>
          <a:xfrm>
            <a:off x="4331970" y="9841230"/>
            <a:ext cx="193645" cy="24623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14" name="Connector 575"/>
          <p:cNvSpPr/>
          <p:nvPr/>
        </p:nvSpPr>
        <p:spPr>
          <a:xfrm>
            <a:off x="4525612" y="10087457"/>
            <a:ext cx="200843" cy="23303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15" name="Connector 576"/>
          <p:cNvSpPr/>
          <p:nvPr/>
        </p:nvSpPr>
        <p:spPr>
          <a:xfrm>
            <a:off x="4726454" y="10320490"/>
            <a:ext cx="211041" cy="21084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16" name="Connector 577"/>
          <p:cNvSpPr/>
          <p:nvPr/>
        </p:nvSpPr>
        <p:spPr>
          <a:xfrm>
            <a:off x="4937492" y="10531326"/>
            <a:ext cx="224237" cy="17965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17" name="Connector 578"/>
          <p:cNvSpPr/>
          <p:nvPr/>
        </p:nvSpPr>
        <p:spPr>
          <a:xfrm>
            <a:off x="5161727" y="10710975"/>
            <a:ext cx="240431" cy="13946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18" name="Connector 579"/>
          <p:cNvSpPr/>
          <p:nvPr/>
        </p:nvSpPr>
        <p:spPr>
          <a:xfrm>
            <a:off x="5402155" y="10850435"/>
            <a:ext cx="259626" cy="90276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19" name="Connector 580"/>
          <p:cNvSpPr/>
          <p:nvPr/>
        </p:nvSpPr>
        <p:spPr>
          <a:xfrm>
            <a:off x="5661781" y="10940708"/>
            <a:ext cx="281820" cy="3209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20" name="Connector 581"/>
          <p:cNvSpPr/>
          <p:nvPr/>
        </p:nvSpPr>
        <p:spPr>
          <a:xfrm>
            <a:off x="5943600" y="10972800"/>
            <a:ext cx="12344401" cy="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21" name="Oval 582"/>
          <p:cNvSpPr/>
          <p:nvPr/>
        </p:nvSpPr>
        <p:spPr>
          <a:xfrm>
            <a:off x="2148838" y="7726680"/>
            <a:ext cx="1554484" cy="1554483"/>
          </a:xfrm>
          <a:prstGeom prst="ellipse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3122" name="Oval 583"/>
          <p:cNvSpPr/>
          <p:nvPr/>
        </p:nvSpPr>
        <p:spPr>
          <a:xfrm>
            <a:off x="2286000" y="7863840"/>
            <a:ext cx="1280162" cy="1280163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3123" name="TextBox 584"/>
          <p:cNvSpPr txBox="1"/>
          <p:nvPr/>
        </p:nvSpPr>
        <p:spPr>
          <a:xfrm>
            <a:off x="640079" y="9281159"/>
            <a:ext cx="4572003" cy="248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HOME</a:t>
            </a:r>
          </a:p>
        </p:txBody>
      </p:sp>
      <p:sp>
        <p:nvSpPr>
          <p:cNvPr id="3124" name="TextBox 585"/>
          <p:cNvSpPr txBox="1"/>
          <p:nvPr/>
        </p:nvSpPr>
        <p:spPr>
          <a:xfrm>
            <a:off x="640079" y="9646918"/>
            <a:ext cx="4572003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ROOT  ·  INTERCHANGE</a:t>
            </a:r>
          </a:p>
        </p:txBody>
      </p:sp>
      <p:sp>
        <p:nvSpPr>
          <p:cNvPr id="3125" name="Oval 586"/>
          <p:cNvSpPr/>
          <p:nvPr/>
        </p:nvSpPr>
        <p:spPr>
          <a:xfrm>
            <a:off x="5646420" y="5646420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3126" name="TextBox 587"/>
          <p:cNvSpPr txBox="1"/>
          <p:nvPr/>
        </p:nvSpPr>
        <p:spPr>
          <a:xfrm>
            <a:off x="36576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127" name="TextBox 588"/>
          <p:cNvSpPr txBox="1"/>
          <p:nvPr/>
        </p:nvSpPr>
        <p:spPr>
          <a:xfrm>
            <a:off x="3657600" y="521207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Fund Market</a:t>
            </a:r>
          </a:p>
        </p:txBody>
      </p:sp>
      <p:sp>
        <p:nvSpPr>
          <p:cNvPr id="3128" name="Oval 589"/>
          <p:cNvSpPr/>
          <p:nvPr/>
        </p:nvSpPr>
        <p:spPr>
          <a:xfrm>
            <a:off x="9761218" y="5646420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3129" name="TextBox 590"/>
          <p:cNvSpPr txBox="1"/>
          <p:nvPr/>
        </p:nvSpPr>
        <p:spPr>
          <a:xfrm>
            <a:off x="77724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130" name="TextBox 591"/>
          <p:cNvSpPr txBox="1"/>
          <p:nvPr/>
        </p:nvSpPr>
        <p:spPr>
          <a:xfrm>
            <a:off x="7772400" y="521207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Fund Category</a:t>
            </a:r>
          </a:p>
        </p:txBody>
      </p:sp>
      <p:sp>
        <p:nvSpPr>
          <p:cNvPr id="3131" name="Oval 592"/>
          <p:cNvSpPr/>
          <p:nvPr/>
        </p:nvSpPr>
        <p:spPr>
          <a:xfrm>
            <a:off x="13876019" y="5646420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3132" name="TextBox 593"/>
          <p:cNvSpPr txBox="1"/>
          <p:nvPr/>
        </p:nvSpPr>
        <p:spPr>
          <a:xfrm>
            <a:off x="118872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3133" name="TextBox 594"/>
          <p:cNvSpPr txBox="1"/>
          <p:nvPr/>
        </p:nvSpPr>
        <p:spPr>
          <a:xfrm>
            <a:off x="11887200" y="521207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Fund Details</a:t>
            </a:r>
          </a:p>
        </p:txBody>
      </p:sp>
      <p:sp>
        <p:nvSpPr>
          <p:cNvPr id="3134" name="Oval 595"/>
          <p:cNvSpPr/>
          <p:nvPr/>
        </p:nvSpPr>
        <p:spPr>
          <a:xfrm>
            <a:off x="17990819" y="5646420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3135" name="TextBox 596"/>
          <p:cNvSpPr txBox="1"/>
          <p:nvPr/>
        </p:nvSpPr>
        <p:spPr>
          <a:xfrm>
            <a:off x="160020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3136" name="TextBox 597"/>
          <p:cNvSpPr txBox="1"/>
          <p:nvPr/>
        </p:nvSpPr>
        <p:spPr>
          <a:xfrm>
            <a:off x="16002000" y="521207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Trade</a:t>
            </a:r>
          </a:p>
        </p:txBody>
      </p:sp>
      <p:sp>
        <p:nvSpPr>
          <p:cNvPr id="3137" name="Oval 598"/>
          <p:cNvSpPr/>
          <p:nvPr/>
        </p:nvSpPr>
        <p:spPr>
          <a:xfrm>
            <a:off x="5646420" y="10675618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3138" name="TextBox 599"/>
          <p:cNvSpPr txBox="1"/>
          <p:nvPr/>
        </p:nvSpPr>
        <p:spPr>
          <a:xfrm>
            <a:off x="3657600" y="11475718"/>
            <a:ext cx="4572000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139" name="TextBox 600"/>
          <p:cNvSpPr txBox="1"/>
          <p:nvPr/>
        </p:nvSpPr>
        <p:spPr>
          <a:xfrm>
            <a:off x="3657600" y="1179575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Portfolios</a:t>
            </a:r>
          </a:p>
        </p:txBody>
      </p:sp>
      <p:sp>
        <p:nvSpPr>
          <p:cNvPr id="3140" name="Oval 601"/>
          <p:cNvSpPr/>
          <p:nvPr/>
        </p:nvSpPr>
        <p:spPr>
          <a:xfrm>
            <a:off x="11818618" y="10675618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3141" name="TextBox 602"/>
          <p:cNvSpPr txBox="1"/>
          <p:nvPr/>
        </p:nvSpPr>
        <p:spPr>
          <a:xfrm>
            <a:off x="9829800" y="11475718"/>
            <a:ext cx="4572000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142" name="TextBox 603"/>
          <p:cNvSpPr txBox="1"/>
          <p:nvPr/>
        </p:nvSpPr>
        <p:spPr>
          <a:xfrm>
            <a:off x="9829800" y="1179575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Fund Portfolios</a:t>
            </a:r>
          </a:p>
        </p:txBody>
      </p:sp>
      <p:sp>
        <p:nvSpPr>
          <p:cNvPr id="3143" name="Oval 604"/>
          <p:cNvSpPr/>
          <p:nvPr/>
        </p:nvSpPr>
        <p:spPr>
          <a:xfrm>
            <a:off x="17990819" y="10675618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3144" name="TextBox 605"/>
          <p:cNvSpPr txBox="1"/>
          <p:nvPr/>
        </p:nvSpPr>
        <p:spPr>
          <a:xfrm>
            <a:off x="16002000" y="11475718"/>
            <a:ext cx="4572000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3145" name="TextBox 606"/>
          <p:cNvSpPr txBox="1"/>
          <p:nvPr/>
        </p:nvSpPr>
        <p:spPr>
          <a:xfrm>
            <a:off x="16002000" y="1179575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View / Trade</a:t>
            </a:r>
          </a:p>
        </p:txBody>
      </p:sp>
      <p:sp>
        <p:nvSpPr>
          <p:cNvPr id="3146" name="Rounded Rectangle 607"/>
          <p:cNvSpPr/>
          <p:nvPr/>
        </p:nvSpPr>
        <p:spPr>
          <a:xfrm>
            <a:off x="19659600" y="4389120"/>
            <a:ext cx="3474721" cy="146304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3147" name="Connector 608"/>
          <p:cNvSpPr/>
          <p:nvPr/>
        </p:nvSpPr>
        <p:spPr>
          <a:xfrm>
            <a:off x="19933919" y="4800600"/>
            <a:ext cx="640082" cy="0"/>
          </a:xfrm>
          <a:prstGeom prst="line">
            <a:avLst/>
          </a:prstGeom>
          <a:ln w="889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48" name="TextBox 609"/>
          <p:cNvSpPr txBox="1"/>
          <p:nvPr/>
        </p:nvSpPr>
        <p:spPr>
          <a:xfrm>
            <a:off x="20756880" y="4663440"/>
            <a:ext cx="274320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PRIMARY LINE</a:t>
            </a:r>
          </a:p>
        </p:txBody>
      </p:sp>
      <p:sp>
        <p:nvSpPr>
          <p:cNvPr id="3149" name="Connector 610"/>
          <p:cNvSpPr/>
          <p:nvPr/>
        </p:nvSpPr>
        <p:spPr>
          <a:xfrm>
            <a:off x="19933919" y="5486400"/>
            <a:ext cx="640082" cy="0"/>
          </a:xfrm>
          <a:prstGeom prst="line">
            <a:avLst/>
          </a:prstGeom>
          <a:ln w="889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50" name="TextBox 611"/>
          <p:cNvSpPr txBox="1"/>
          <p:nvPr/>
        </p:nvSpPr>
        <p:spPr>
          <a:xfrm>
            <a:off x="20756880" y="5349240"/>
            <a:ext cx="274320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PORTFOLIO 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3153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043 / 111</a:t>
            </a:r>
          </a:p>
        </p:txBody>
      </p:sp>
      <p:sp>
        <p:nvSpPr>
          <p:cNvPr id="3154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3155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Portfolio Valuation &amp; Performance</a:t>
            </a:r>
          </a:p>
        </p:txBody>
      </p:sp>
      <p:sp>
        <p:nvSpPr>
          <p:cNvPr id="3156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3157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3158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3159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3160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3161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3162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3163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164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65" name="TextBox 14"/>
          <p:cNvSpPr txBox="1"/>
          <p:nvPr/>
        </p:nvSpPr>
        <p:spPr>
          <a:xfrm>
            <a:off x="1517902" y="566576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166" name="TextBox 15"/>
          <p:cNvSpPr txBox="1"/>
          <p:nvPr/>
        </p:nvSpPr>
        <p:spPr>
          <a:xfrm>
            <a:off x="2600094" y="566576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portfolio value</a:t>
            </a:r>
          </a:p>
        </p:txBody>
      </p:sp>
      <p:sp>
        <p:nvSpPr>
          <p:cNvPr id="3167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168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69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170" name="Connector 19"/>
          <p:cNvSpPr/>
          <p:nvPr/>
        </p:nvSpPr>
        <p:spPr>
          <a:xfrm>
            <a:off x="1371600" y="611944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71" name="TextBox 20"/>
          <p:cNvSpPr txBox="1"/>
          <p:nvPr/>
        </p:nvSpPr>
        <p:spPr>
          <a:xfrm>
            <a:off x="1517902" y="620736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172" name="TextBox 21"/>
          <p:cNvSpPr txBox="1"/>
          <p:nvPr/>
        </p:nvSpPr>
        <p:spPr>
          <a:xfrm>
            <a:off x="2600094" y="620736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value</a:t>
            </a:r>
          </a:p>
        </p:txBody>
      </p:sp>
      <p:sp>
        <p:nvSpPr>
          <p:cNvPr id="3173" name="TextBox 22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174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75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176" name="TextBox 25"/>
          <p:cNvSpPr txBox="1"/>
          <p:nvPr/>
        </p:nvSpPr>
        <p:spPr>
          <a:xfrm>
            <a:off x="14504212" y="620736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Asset allocation breakdown</a:t>
            </a:r>
          </a:p>
        </p:txBody>
      </p:sp>
      <p:sp>
        <p:nvSpPr>
          <p:cNvPr id="3177" name="Connector 26"/>
          <p:cNvSpPr/>
          <p:nvPr/>
        </p:nvSpPr>
        <p:spPr>
          <a:xfrm>
            <a:off x="1371600" y="66610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78" name="TextBox 27"/>
          <p:cNvSpPr txBox="1"/>
          <p:nvPr/>
        </p:nvSpPr>
        <p:spPr>
          <a:xfrm>
            <a:off x="1517902" y="674897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179" name="TextBox 28"/>
          <p:cNvSpPr txBox="1"/>
          <p:nvPr/>
        </p:nvSpPr>
        <p:spPr>
          <a:xfrm>
            <a:off x="2600094" y="674897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 / loss value</a:t>
            </a:r>
          </a:p>
        </p:txBody>
      </p:sp>
      <p:sp>
        <p:nvSpPr>
          <p:cNvPr id="3180" name="TextBox 29"/>
          <p:cNvSpPr txBox="1"/>
          <p:nvPr/>
        </p:nvSpPr>
        <p:spPr>
          <a:xfrm>
            <a:off x="9093250" y="674897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181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82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183" name="Connector 32"/>
          <p:cNvSpPr/>
          <p:nvPr/>
        </p:nvSpPr>
        <p:spPr>
          <a:xfrm>
            <a:off x="1371600" y="720265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84" name="TextBox 33"/>
          <p:cNvSpPr txBox="1"/>
          <p:nvPr/>
        </p:nvSpPr>
        <p:spPr>
          <a:xfrm>
            <a:off x="1517902" y="729058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185" name="TextBox 34"/>
          <p:cNvSpPr txBox="1"/>
          <p:nvPr/>
        </p:nvSpPr>
        <p:spPr>
          <a:xfrm>
            <a:off x="2600094" y="729058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 / loss %</a:t>
            </a:r>
          </a:p>
        </p:txBody>
      </p:sp>
      <p:sp>
        <p:nvSpPr>
          <p:cNvPr id="3186" name="TextBox 35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187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88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189" name="Connector 38"/>
          <p:cNvSpPr/>
          <p:nvPr/>
        </p:nvSpPr>
        <p:spPr>
          <a:xfrm>
            <a:off x="1371600" y="774426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90" name="TextBox 39"/>
          <p:cNvSpPr txBox="1"/>
          <p:nvPr/>
        </p:nvSpPr>
        <p:spPr>
          <a:xfrm>
            <a:off x="1517902" y="783218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191" name="TextBox 40"/>
          <p:cNvSpPr txBox="1"/>
          <p:nvPr/>
        </p:nvSpPr>
        <p:spPr>
          <a:xfrm>
            <a:off x="2600094" y="783218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gain / loss (overall)</a:t>
            </a:r>
          </a:p>
        </p:txBody>
      </p:sp>
      <p:sp>
        <p:nvSpPr>
          <p:cNvPr id="3192" name="TextBox 41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193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94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195" name="TextBox 44"/>
          <p:cNvSpPr txBox="1"/>
          <p:nvPr/>
        </p:nvSpPr>
        <p:spPr>
          <a:xfrm>
            <a:off x="14504212" y="7832187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Performance attribution insight</a:t>
            </a:r>
          </a:p>
        </p:txBody>
      </p:sp>
      <p:sp>
        <p:nvSpPr>
          <p:cNvPr id="3196" name="Connector 45"/>
          <p:cNvSpPr/>
          <p:nvPr/>
        </p:nvSpPr>
        <p:spPr>
          <a:xfrm>
            <a:off x="1371600" y="828587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97" name="TextBox 46"/>
          <p:cNvSpPr txBox="1"/>
          <p:nvPr/>
        </p:nvSpPr>
        <p:spPr>
          <a:xfrm>
            <a:off x="1517902" y="837379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198" name="TextBox 47"/>
          <p:cNvSpPr txBox="1"/>
          <p:nvPr/>
        </p:nvSpPr>
        <p:spPr>
          <a:xfrm>
            <a:off x="2600094" y="837379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cash</a:t>
            </a:r>
          </a:p>
        </p:txBody>
      </p:sp>
      <p:sp>
        <p:nvSpPr>
          <p:cNvPr id="3199" name="TextBox 48"/>
          <p:cNvSpPr txBox="1"/>
          <p:nvPr/>
        </p:nvSpPr>
        <p:spPr>
          <a:xfrm>
            <a:off x="9093250" y="837379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200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01" name="Picture 50" descr="Picture 5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202" name="Connector 51"/>
          <p:cNvSpPr/>
          <p:nvPr/>
        </p:nvSpPr>
        <p:spPr>
          <a:xfrm>
            <a:off x="1371600" y="882747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03" name="TextBox 52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204" name="TextBox 53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Buying power</a:t>
            </a:r>
          </a:p>
        </p:txBody>
      </p:sp>
      <p:sp>
        <p:nvSpPr>
          <p:cNvPr id="3205" name="TextBox 54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206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07" name="Picture 56" descr="Picture 5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208" name="Connector 57"/>
          <p:cNvSpPr/>
          <p:nvPr/>
        </p:nvSpPr>
        <p:spPr>
          <a:xfrm>
            <a:off x="1371600" y="93690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09" name="TextBox 58"/>
          <p:cNvSpPr txBox="1"/>
          <p:nvPr/>
        </p:nvSpPr>
        <p:spPr>
          <a:xfrm>
            <a:off x="1517902" y="945700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210" name="TextBox 59"/>
          <p:cNvSpPr txBox="1"/>
          <p:nvPr/>
        </p:nvSpPr>
        <p:spPr>
          <a:xfrm>
            <a:off x="2600094" y="945700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cost</a:t>
            </a:r>
          </a:p>
        </p:txBody>
      </p:sp>
      <p:sp>
        <p:nvSpPr>
          <p:cNvPr id="3211" name="TextBox 60"/>
          <p:cNvSpPr txBox="1"/>
          <p:nvPr/>
        </p:nvSpPr>
        <p:spPr>
          <a:xfrm>
            <a:off x="9093250" y="945700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212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13" name="Picture 62" descr="Picture 6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214" name="TextBox 63"/>
          <p:cNvSpPr txBox="1"/>
          <p:nvPr/>
        </p:nvSpPr>
        <p:spPr>
          <a:xfrm>
            <a:off x="14504212" y="9457004"/>
            <a:ext cx="403616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Cost analysis insights</a:t>
            </a:r>
          </a:p>
        </p:txBody>
      </p:sp>
      <p:sp>
        <p:nvSpPr>
          <p:cNvPr id="3215" name="Connector 64"/>
          <p:cNvSpPr/>
          <p:nvPr/>
        </p:nvSpPr>
        <p:spPr>
          <a:xfrm>
            <a:off x="1371600" y="99106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16" name="TextBox 65"/>
          <p:cNvSpPr txBox="1"/>
          <p:nvPr/>
        </p:nvSpPr>
        <p:spPr>
          <a:xfrm>
            <a:off x="1517902" y="999861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217" name="TextBox 66"/>
          <p:cNvSpPr txBox="1"/>
          <p:nvPr/>
        </p:nvSpPr>
        <p:spPr>
          <a:xfrm>
            <a:off x="2600094" y="999861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Cost value Gain/loss after sell</a:t>
            </a:r>
          </a:p>
        </p:txBody>
      </p:sp>
      <p:sp>
        <p:nvSpPr>
          <p:cNvPr id="3218" name="TextBox 67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3219" name="TextBox 68"/>
          <p:cNvSpPr txBox="1"/>
          <p:nvPr/>
        </p:nvSpPr>
        <p:spPr>
          <a:xfrm>
            <a:off x="10894893" y="9998612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3220" name="TextBox 69"/>
          <p:cNvSpPr txBox="1"/>
          <p:nvPr/>
        </p:nvSpPr>
        <p:spPr>
          <a:xfrm>
            <a:off x="12626399" y="9998612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3221" name="Connector 70"/>
          <p:cNvSpPr/>
          <p:nvPr/>
        </p:nvSpPr>
        <p:spPr>
          <a:xfrm>
            <a:off x="1371600" y="1045229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22" name="TextBox 71"/>
          <p:cNvSpPr txBox="1"/>
          <p:nvPr/>
        </p:nvSpPr>
        <p:spPr>
          <a:xfrm>
            <a:off x="1517902" y="1054021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3223" name="TextBox 72"/>
          <p:cNvSpPr txBox="1"/>
          <p:nvPr/>
        </p:nvSpPr>
        <p:spPr>
          <a:xfrm>
            <a:off x="2600094" y="1054021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</a:t>
            </a:r>
          </a:p>
        </p:txBody>
      </p:sp>
      <p:sp>
        <p:nvSpPr>
          <p:cNvPr id="3224" name="TextBox 73"/>
          <p:cNvSpPr txBox="1"/>
          <p:nvPr/>
        </p:nvSpPr>
        <p:spPr>
          <a:xfrm>
            <a:off x="9093250" y="105402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225" name="Picture 74" descr="Picture 7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26" name="Picture 75" descr="Picture 7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227" name="Connector 76"/>
          <p:cNvSpPr/>
          <p:nvPr/>
        </p:nvSpPr>
        <p:spPr>
          <a:xfrm>
            <a:off x="1371600" y="1099390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28" name="TextBox 77"/>
          <p:cNvSpPr txBox="1"/>
          <p:nvPr/>
        </p:nvSpPr>
        <p:spPr>
          <a:xfrm>
            <a:off x="1517902" y="1108182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3229" name="TextBox 78"/>
          <p:cNvSpPr txBox="1"/>
          <p:nvPr/>
        </p:nvSpPr>
        <p:spPr>
          <a:xfrm>
            <a:off x="2600094" y="1108182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performance chart</a:t>
            </a:r>
          </a:p>
        </p:txBody>
      </p:sp>
      <p:sp>
        <p:nvSpPr>
          <p:cNvPr id="3230" name="TextBox 79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231" name="Picture 80" descr="Picture 8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32" name="Picture 81" descr="Picture 8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233" name="TextBox 82"/>
          <p:cNvSpPr txBox="1"/>
          <p:nvPr/>
        </p:nvSpPr>
        <p:spPr>
          <a:xfrm>
            <a:off x="14504212" y="11081824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Basic chart</a:t>
            </a:r>
          </a:p>
        </p:txBody>
      </p:sp>
      <p:sp>
        <p:nvSpPr>
          <p:cNvPr id="3234" name="Connector 83"/>
          <p:cNvSpPr/>
          <p:nvPr/>
        </p:nvSpPr>
        <p:spPr>
          <a:xfrm>
            <a:off x="1371600" y="1153550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35" name="TextBox 84"/>
          <p:cNvSpPr txBox="1"/>
          <p:nvPr/>
        </p:nvSpPr>
        <p:spPr>
          <a:xfrm>
            <a:off x="1517902" y="1162343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3236" name="TextBox 85"/>
          <p:cNvSpPr txBox="1"/>
          <p:nvPr/>
        </p:nvSpPr>
        <p:spPr>
          <a:xfrm>
            <a:off x="2600094" y="1162343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Performance period selector (1W / 1M / 2M / 3M)</a:t>
            </a:r>
          </a:p>
        </p:txBody>
      </p:sp>
      <p:sp>
        <p:nvSpPr>
          <p:cNvPr id="3237" name="TextBox 86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3238" name="Picture 87" descr="Picture 8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39" name="Picture 88" descr="Picture 8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240" name="TextBox 89"/>
          <p:cNvSpPr txBox="1"/>
          <p:nvPr/>
        </p:nvSpPr>
        <p:spPr>
          <a:xfrm>
            <a:off x="14504212" y="11623430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history</a:t>
            </a:r>
          </a:p>
        </p:txBody>
      </p:sp>
      <p:sp>
        <p:nvSpPr>
          <p:cNvPr id="3241" name="Connector 90"/>
          <p:cNvSpPr/>
          <p:nvPr/>
        </p:nvSpPr>
        <p:spPr>
          <a:xfrm>
            <a:off x="1371600" y="1207711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42" name="TextBox 91"/>
          <p:cNvSpPr txBox="1"/>
          <p:nvPr/>
        </p:nvSpPr>
        <p:spPr>
          <a:xfrm>
            <a:off x="1517902" y="1216503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3243" name="TextBox 92"/>
          <p:cNvSpPr txBox="1"/>
          <p:nvPr/>
        </p:nvSpPr>
        <p:spPr>
          <a:xfrm>
            <a:off x="2600094" y="1216503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Change performance period</a:t>
            </a:r>
          </a:p>
        </p:txBody>
      </p:sp>
      <p:sp>
        <p:nvSpPr>
          <p:cNvPr id="3244" name="TextBox 93"/>
          <p:cNvSpPr txBox="1"/>
          <p:nvPr/>
        </p:nvSpPr>
        <p:spPr>
          <a:xfrm>
            <a:off x="9093250" y="1216503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3245" name="Picture 94" descr="Picture 9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46" name="Picture 95" descr="Picture 9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247" name="Connector 96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3250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044 / 111</a:t>
            </a:r>
          </a:p>
        </p:txBody>
      </p:sp>
      <p:sp>
        <p:nvSpPr>
          <p:cNvPr id="3251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3252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Holdings Management</a:t>
            </a:r>
          </a:p>
        </p:txBody>
      </p:sp>
      <p:sp>
        <p:nvSpPr>
          <p:cNvPr id="3253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3254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3255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3256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3257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3258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3259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3260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261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62" name="TextBox 14"/>
          <p:cNvSpPr txBox="1"/>
          <p:nvPr/>
        </p:nvSpPr>
        <p:spPr>
          <a:xfrm>
            <a:off x="1517902" y="564642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263" name="TextBox 15"/>
          <p:cNvSpPr txBox="1"/>
          <p:nvPr/>
        </p:nvSpPr>
        <p:spPr>
          <a:xfrm>
            <a:off x="2600094" y="564642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Holdings list view</a:t>
            </a:r>
          </a:p>
        </p:txBody>
      </p:sp>
      <p:sp>
        <p:nvSpPr>
          <p:cNvPr id="3264" name="TextBox 16"/>
          <p:cNvSpPr txBox="1"/>
          <p:nvPr/>
        </p:nvSpPr>
        <p:spPr>
          <a:xfrm>
            <a:off x="9093250" y="564642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265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8299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66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8299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267" name="Connector 19"/>
          <p:cNvSpPr/>
          <p:nvPr/>
        </p:nvSpPr>
        <p:spPr>
          <a:xfrm>
            <a:off x="1371600" y="60807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68" name="TextBox 20"/>
          <p:cNvSpPr txBox="1"/>
          <p:nvPr/>
        </p:nvSpPr>
        <p:spPr>
          <a:xfrm>
            <a:off x="1517902" y="61493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269" name="TextBox 21"/>
          <p:cNvSpPr txBox="1"/>
          <p:nvPr/>
        </p:nvSpPr>
        <p:spPr>
          <a:xfrm>
            <a:off x="2600094" y="61493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type/name</a:t>
            </a:r>
          </a:p>
        </p:txBody>
      </p:sp>
      <p:sp>
        <p:nvSpPr>
          <p:cNvPr id="3270" name="TextBox 22"/>
          <p:cNvSpPr txBox="1"/>
          <p:nvPr/>
        </p:nvSpPr>
        <p:spPr>
          <a:xfrm>
            <a:off x="9093250" y="61493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271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18591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72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18591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273" name="Connector 25"/>
          <p:cNvSpPr/>
          <p:nvPr/>
        </p:nvSpPr>
        <p:spPr>
          <a:xfrm>
            <a:off x="1371600" y="65836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74" name="TextBox 26"/>
          <p:cNvSpPr txBox="1"/>
          <p:nvPr/>
        </p:nvSpPr>
        <p:spPr>
          <a:xfrm>
            <a:off x="1517902" y="6652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275" name="TextBox 27"/>
          <p:cNvSpPr txBox="1"/>
          <p:nvPr/>
        </p:nvSpPr>
        <p:spPr>
          <a:xfrm>
            <a:off x="2600094" y="6652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value per fund</a:t>
            </a:r>
          </a:p>
        </p:txBody>
      </p:sp>
      <p:sp>
        <p:nvSpPr>
          <p:cNvPr id="3276" name="TextBox 28"/>
          <p:cNvSpPr txBox="1"/>
          <p:nvPr/>
        </p:nvSpPr>
        <p:spPr>
          <a:xfrm>
            <a:off x="9093250" y="6652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277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6888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78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6888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279" name="Connector 31"/>
          <p:cNvSpPr/>
          <p:nvPr/>
        </p:nvSpPr>
        <p:spPr>
          <a:xfrm>
            <a:off x="1371600" y="70866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80" name="TextBox 32"/>
          <p:cNvSpPr txBox="1"/>
          <p:nvPr/>
        </p:nvSpPr>
        <p:spPr>
          <a:xfrm>
            <a:off x="1517902" y="715518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281" name="TextBox 33"/>
          <p:cNvSpPr txBox="1"/>
          <p:nvPr/>
        </p:nvSpPr>
        <p:spPr>
          <a:xfrm>
            <a:off x="2600094" y="715518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Quantity held</a:t>
            </a:r>
          </a:p>
        </p:txBody>
      </p:sp>
      <p:sp>
        <p:nvSpPr>
          <p:cNvPr id="3282" name="TextBox 34"/>
          <p:cNvSpPr txBox="1"/>
          <p:nvPr/>
        </p:nvSpPr>
        <p:spPr>
          <a:xfrm>
            <a:off x="9093250" y="715518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283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9175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84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9175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285" name="TextBox 37"/>
          <p:cNvSpPr txBox="1"/>
          <p:nvPr/>
        </p:nvSpPr>
        <p:spPr>
          <a:xfrm>
            <a:off x="14504212" y="7155180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Lot-level position breakdown</a:t>
            </a:r>
          </a:p>
        </p:txBody>
      </p:sp>
      <p:sp>
        <p:nvSpPr>
          <p:cNvPr id="3286" name="Connector 38"/>
          <p:cNvSpPr/>
          <p:nvPr/>
        </p:nvSpPr>
        <p:spPr>
          <a:xfrm>
            <a:off x="1371600" y="75895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87" name="TextBox 39"/>
          <p:cNvSpPr txBox="1"/>
          <p:nvPr/>
        </p:nvSpPr>
        <p:spPr>
          <a:xfrm>
            <a:off x="1517902" y="76581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288" name="TextBox 40"/>
          <p:cNvSpPr txBox="1"/>
          <p:nvPr/>
        </p:nvSpPr>
        <p:spPr>
          <a:xfrm>
            <a:off x="2600094" y="76581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Average cost</a:t>
            </a:r>
          </a:p>
        </p:txBody>
      </p:sp>
      <p:sp>
        <p:nvSpPr>
          <p:cNvPr id="3289" name="TextBox 41"/>
          <p:cNvSpPr txBox="1"/>
          <p:nvPr/>
        </p:nvSpPr>
        <p:spPr>
          <a:xfrm>
            <a:off x="9093250" y="76580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290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6946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91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6946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292" name="Connector 44"/>
          <p:cNvSpPr/>
          <p:nvPr/>
        </p:nvSpPr>
        <p:spPr>
          <a:xfrm>
            <a:off x="1371600" y="8092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93" name="TextBox 45"/>
          <p:cNvSpPr txBox="1"/>
          <p:nvPr/>
        </p:nvSpPr>
        <p:spPr>
          <a:xfrm>
            <a:off x="1517902" y="816101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294" name="TextBox 46"/>
          <p:cNvSpPr txBox="1"/>
          <p:nvPr/>
        </p:nvSpPr>
        <p:spPr>
          <a:xfrm>
            <a:off x="2600094" y="816101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Last price</a:t>
            </a:r>
          </a:p>
        </p:txBody>
      </p:sp>
      <p:sp>
        <p:nvSpPr>
          <p:cNvPr id="3295" name="TextBox 47"/>
          <p:cNvSpPr txBox="1"/>
          <p:nvPr/>
        </p:nvSpPr>
        <p:spPr>
          <a:xfrm>
            <a:off x="9093250" y="816101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296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19759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97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19759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298" name="Connector 50"/>
          <p:cNvSpPr/>
          <p:nvPr/>
        </p:nvSpPr>
        <p:spPr>
          <a:xfrm>
            <a:off x="1371600" y="85953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99" name="TextBox 51"/>
          <p:cNvSpPr txBox="1"/>
          <p:nvPr/>
        </p:nvSpPr>
        <p:spPr>
          <a:xfrm>
            <a:off x="1517902" y="86639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300" name="TextBox 52"/>
          <p:cNvSpPr txBox="1"/>
          <p:nvPr/>
        </p:nvSpPr>
        <p:spPr>
          <a:xfrm>
            <a:off x="2600094" y="86639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Position gain / loss</a:t>
            </a:r>
          </a:p>
        </p:txBody>
      </p:sp>
      <p:sp>
        <p:nvSpPr>
          <p:cNvPr id="3301" name="TextBox 53"/>
          <p:cNvSpPr txBox="1"/>
          <p:nvPr/>
        </p:nvSpPr>
        <p:spPr>
          <a:xfrm>
            <a:off x="9093250" y="86639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302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70051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03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70051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304" name="Connector 56"/>
          <p:cNvSpPr/>
          <p:nvPr/>
        </p:nvSpPr>
        <p:spPr>
          <a:xfrm>
            <a:off x="1371600" y="90982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05" name="TextBox 57"/>
          <p:cNvSpPr txBox="1"/>
          <p:nvPr/>
        </p:nvSpPr>
        <p:spPr>
          <a:xfrm>
            <a:off x="1517902" y="9166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306" name="TextBox 58"/>
          <p:cNvSpPr txBox="1"/>
          <p:nvPr/>
        </p:nvSpPr>
        <p:spPr>
          <a:xfrm>
            <a:off x="2600094" y="9166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Position gain / loss %</a:t>
            </a:r>
          </a:p>
        </p:txBody>
      </p:sp>
      <p:sp>
        <p:nvSpPr>
          <p:cNvPr id="3307" name="TextBox 59"/>
          <p:cNvSpPr txBox="1"/>
          <p:nvPr/>
        </p:nvSpPr>
        <p:spPr>
          <a:xfrm>
            <a:off x="9093250" y="9166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308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09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310" name="Connector 62"/>
          <p:cNvSpPr/>
          <p:nvPr/>
        </p:nvSpPr>
        <p:spPr>
          <a:xfrm>
            <a:off x="1371600" y="96012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11" name="TextBox 63"/>
          <p:cNvSpPr txBox="1"/>
          <p:nvPr/>
        </p:nvSpPr>
        <p:spPr>
          <a:xfrm>
            <a:off x="1517902" y="966978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312" name="TextBox 64"/>
          <p:cNvSpPr txBox="1"/>
          <p:nvPr/>
        </p:nvSpPr>
        <p:spPr>
          <a:xfrm>
            <a:off x="2600094" y="966978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 indicator</a:t>
            </a:r>
          </a:p>
        </p:txBody>
      </p:sp>
      <p:sp>
        <p:nvSpPr>
          <p:cNvPr id="3313" name="TextBox 65"/>
          <p:cNvSpPr txBox="1"/>
          <p:nvPr/>
        </p:nvSpPr>
        <p:spPr>
          <a:xfrm>
            <a:off x="9093250" y="966978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314" name="Picture 66" descr="Picture 6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70635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15" name="Picture 67" descr="Picture 6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70635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316" name="TextBox 68"/>
          <p:cNvSpPr txBox="1"/>
          <p:nvPr/>
        </p:nvSpPr>
        <p:spPr>
          <a:xfrm>
            <a:off x="14504212" y="9669780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Rights lifecycle tracking</a:t>
            </a:r>
          </a:p>
        </p:txBody>
      </p:sp>
      <p:sp>
        <p:nvSpPr>
          <p:cNvPr id="3317" name="Connector 69"/>
          <p:cNvSpPr/>
          <p:nvPr/>
        </p:nvSpPr>
        <p:spPr>
          <a:xfrm>
            <a:off x="1371600" y="101041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18" name="TextBox 70"/>
          <p:cNvSpPr txBox="1"/>
          <p:nvPr/>
        </p:nvSpPr>
        <p:spPr>
          <a:xfrm>
            <a:off x="1517902" y="101727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3319" name="TextBox 71"/>
          <p:cNvSpPr txBox="1"/>
          <p:nvPr/>
        </p:nvSpPr>
        <p:spPr>
          <a:xfrm>
            <a:off x="2600094" y="101727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Dividend</a:t>
            </a:r>
          </a:p>
        </p:txBody>
      </p:sp>
      <p:sp>
        <p:nvSpPr>
          <p:cNvPr id="3320" name="TextBox 72"/>
          <p:cNvSpPr txBox="1"/>
          <p:nvPr/>
        </p:nvSpPr>
        <p:spPr>
          <a:xfrm>
            <a:off x="9093250" y="101726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321" name="Picture 73" descr="Picture 7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2092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22" name="Picture 74" descr="Picture 7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2092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323" name="Connector 75"/>
          <p:cNvSpPr/>
          <p:nvPr/>
        </p:nvSpPr>
        <p:spPr>
          <a:xfrm>
            <a:off x="1371600" y="10607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24" name="TextBox 76"/>
          <p:cNvSpPr txBox="1"/>
          <p:nvPr/>
        </p:nvSpPr>
        <p:spPr>
          <a:xfrm>
            <a:off x="1517902" y="1067561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3325" name="TextBox 77"/>
          <p:cNvSpPr txBox="1"/>
          <p:nvPr/>
        </p:nvSpPr>
        <p:spPr>
          <a:xfrm>
            <a:off x="2600094" y="1067561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 (Subscribe) from position</a:t>
            </a:r>
          </a:p>
        </p:txBody>
      </p:sp>
      <p:sp>
        <p:nvSpPr>
          <p:cNvPr id="3326" name="TextBox 78"/>
          <p:cNvSpPr txBox="1"/>
          <p:nvPr/>
        </p:nvSpPr>
        <p:spPr>
          <a:xfrm>
            <a:off x="9093250" y="1067561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3327" name="Picture 79" descr="Picture 7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71219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28" name="Picture 80" descr="Picture 8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71219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329" name="Connector 81"/>
          <p:cNvSpPr/>
          <p:nvPr/>
        </p:nvSpPr>
        <p:spPr>
          <a:xfrm>
            <a:off x="1371600" y="111099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30" name="TextBox 82"/>
          <p:cNvSpPr txBox="1"/>
          <p:nvPr/>
        </p:nvSpPr>
        <p:spPr>
          <a:xfrm>
            <a:off x="1517902" y="111785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3331" name="TextBox 83"/>
          <p:cNvSpPr txBox="1"/>
          <p:nvPr/>
        </p:nvSpPr>
        <p:spPr>
          <a:xfrm>
            <a:off x="2600094" y="111785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Sell (Redeem) from position</a:t>
            </a:r>
          </a:p>
        </p:txBody>
      </p:sp>
      <p:sp>
        <p:nvSpPr>
          <p:cNvPr id="3332" name="TextBox 84"/>
          <p:cNvSpPr txBox="1"/>
          <p:nvPr/>
        </p:nvSpPr>
        <p:spPr>
          <a:xfrm>
            <a:off x="9093250" y="111785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3333" name="Picture 85" descr="Picture 8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21511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34" name="Picture 86" descr="Picture 8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21511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335" name="Connector 87"/>
          <p:cNvSpPr/>
          <p:nvPr/>
        </p:nvSpPr>
        <p:spPr>
          <a:xfrm>
            <a:off x="1371600" y="116128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36" name="TextBox 88"/>
          <p:cNvSpPr txBox="1"/>
          <p:nvPr/>
        </p:nvSpPr>
        <p:spPr>
          <a:xfrm>
            <a:off x="1517902" y="11681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3337" name="TextBox 89"/>
          <p:cNvSpPr txBox="1"/>
          <p:nvPr/>
        </p:nvSpPr>
        <p:spPr>
          <a:xfrm>
            <a:off x="2600094" y="11681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Reinvest dividends</a:t>
            </a:r>
          </a:p>
        </p:txBody>
      </p:sp>
      <p:sp>
        <p:nvSpPr>
          <p:cNvPr id="3338" name="TextBox 90"/>
          <p:cNvSpPr txBox="1"/>
          <p:nvPr/>
        </p:nvSpPr>
        <p:spPr>
          <a:xfrm>
            <a:off x="9093250" y="11681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3339" name="Picture 91" descr="Picture 9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7180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40" name="Picture 92" descr="Picture 9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7180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341" name="Connector 93"/>
          <p:cNvSpPr/>
          <p:nvPr/>
        </p:nvSpPr>
        <p:spPr>
          <a:xfrm>
            <a:off x="1371600" y="121158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42" name="TextBox 94"/>
          <p:cNvSpPr txBox="1"/>
          <p:nvPr/>
        </p:nvSpPr>
        <p:spPr>
          <a:xfrm>
            <a:off x="1517902" y="1218438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3343" name="TextBox 95"/>
          <p:cNvSpPr txBox="1"/>
          <p:nvPr/>
        </p:nvSpPr>
        <p:spPr>
          <a:xfrm>
            <a:off x="2600094" y="1218438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Navigate to position details</a:t>
            </a:r>
          </a:p>
        </p:txBody>
      </p:sp>
      <p:sp>
        <p:nvSpPr>
          <p:cNvPr id="3344" name="TextBox 96"/>
          <p:cNvSpPr txBox="1"/>
          <p:nvPr/>
        </p:nvSpPr>
        <p:spPr>
          <a:xfrm>
            <a:off x="9093250" y="1218438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3345" name="Picture 97" descr="Picture 9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2095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46" name="Picture 98" descr="Picture 9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2095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347" name="Connector 99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3350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045 / 111</a:t>
            </a:r>
          </a:p>
        </p:txBody>
      </p:sp>
      <p:sp>
        <p:nvSpPr>
          <p:cNvPr id="3351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3352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Holding Details</a:t>
            </a:r>
          </a:p>
        </p:txBody>
      </p:sp>
      <p:sp>
        <p:nvSpPr>
          <p:cNvPr id="3353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3354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3355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3356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3357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3358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3359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3360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361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62" name="TextBox 14"/>
          <p:cNvSpPr txBox="1"/>
          <p:nvPr/>
        </p:nvSpPr>
        <p:spPr>
          <a:xfrm>
            <a:off x="1517902" y="5737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363" name="TextBox 15"/>
          <p:cNvSpPr txBox="1"/>
          <p:nvPr/>
        </p:nvSpPr>
        <p:spPr>
          <a:xfrm>
            <a:off x="2600094" y="5737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value</a:t>
            </a:r>
          </a:p>
        </p:txBody>
      </p:sp>
      <p:sp>
        <p:nvSpPr>
          <p:cNvPr id="3364" name="TextBox 16"/>
          <p:cNvSpPr txBox="1"/>
          <p:nvPr/>
        </p:nvSpPr>
        <p:spPr>
          <a:xfrm>
            <a:off x="9093250" y="5737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365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66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367" name="Connector 19"/>
          <p:cNvSpPr/>
          <p:nvPr/>
        </p:nvSpPr>
        <p:spPr>
          <a:xfrm>
            <a:off x="1371600" y="6263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68" name="TextBox 20"/>
          <p:cNvSpPr txBox="1"/>
          <p:nvPr/>
        </p:nvSpPr>
        <p:spPr>
          <a:xfrm>
            <a:off x="1517902" y="6423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369" name="TextBox 21"/>
          <p:cNvSpPr txBox="1"/>
          <p:nvPr/>
        </p:nvSpPr>
        <p:spPr>
          <a:xfrm>
            <a:off x="2600094" y="6423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quantity</a:t>
            </a:r>
          </a:p>
        </p:txBody>
      </p:sp>
      <p:sp>
        <p:nvSpPr>
          <p:cNvPr id="3370" name="TextBox 22"/>
          <p:cNvSpPr txBox="1"/>
          <p:nvPr/>
        </p:nvSpPr>
        <p:spPr>
          <a:xfrm>
            <a:off x="9093250" y="6423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371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72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373" name="TextBox 25"/>
          <p:cNvSpPr txBox="1"/>
          <p:nvPr/>
        </p:nvSpPr>
        <p:spPr>
          <a:xfrm>
            <a:off x="14504212" y="64236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Lot-level quantity breakdown</a:t>
            </a:r>
          </a:p>
        </p:txBody>
      </p:sp>
      <p:sp>
        <p:nvSpPr>
          <p:cNvPr id="3374" name="Connector 26"/>
          <p:cNvSpPr/>
          <p:nvPr/>
        </p:nvSpPr>
        <p:spPr>
          <a:xfrm>
            <a:off x="1371600" y="6949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75" name="TextBox 27"/>
          <p:cNvSpPr txBox="1"/>
          <p:nvPr/>
        </p:nvSpPr>
        <p:spPr>
          <a:xfrm>
            <a:off x="1517902" y="7109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376" name="TextBox 28"/>
          <p:cNvSpPr txBox="1"/>
          <p:nvPr/>
        </p:nvSpPr>
        <p:spPr>
          <a:xfrm>
            <a:off x="2600094" y="7109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Average cost</a:t>
            </a:r>
          </a:p>
        </p:txBody>
      </p:sp>
      <p:sp>
        <p:nvSpPr>
          <p:cNvPr id="3377" name="TextBox 29"/>
          <p:cNvSpPr txBox="1"/>
          <p:nvPr/>
        </p:nvSpPr>
        <p:spPr>
          <a:xfrm>
            <a:off x="9093250" y="7109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378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79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380" name="Connector 32"/>
          <p:cNvSpPr/>
          <p:nvPr/>
        </p:nvSpPr>
        <p:spPr>
          <a:xfrm>
            <a:off x="1371600" y="763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81" name="TextBox 33"/>
          <p:cNvSpPr txBox="1"/>
          <p:nvPr/>
        </p:nvSpPr>
        <p:spPr>
          <a:xfrm>
            <a:off x="1517902" y="7795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382" name="TextBox 34"/>
          <p:cNvSpPr txBox="1"/>
          <p:nvPr/>
        </p:nvSpPr>
        <p:spPr>
          <a:xfrm>
            <a:off x="2600094" y="7795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cost</a:t>
            </a:r>
          </a:p>
        </p:txBody>
      </p:sp>
      <p:sp>
        <p:nvSpPr>
          <p:cNvPr id="3383" name="TextBox 35"/>
          <p:cNvSpPr txBox="1"/>
          <p:nvPr/>
        </p:nvSpPr>
        <p:spPr>
          <a:xfrm>
            <a:off x="9093250" y="7795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384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85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386" name="TextBox 38"/>
          <p:cNvSpPr txBox="1"/>
          <p:nvPr/>
        </p:nvSpPr>
        <p:spPr>
          <a:xfrm>
            <a:off x="14504212" y="77952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Cost history tracking</a:t>
            </a:r>
          </a:p>
        </p:txBody>
      </p:sp>
      <p:sp>
        <p:nvSpPr>
          <p:cNvPr id="3387" name="Connector 39"/>
          <p:cNvSpPr/>
          <p:nvPr/>
        </p:nvSpPr>
        <p:spPr>
          <a:xfrm>
            <a:off x="1371600" y="8321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88" name="TextBox 40"/>
          <p:cNvSpPr txBox="1"/>
          <p:nvPr/>
        </p:nvSpPr>
        <p:spPr>
          <a:xfrm>
            <a:off x="1517902" y="84810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389" name="TextBox 41"/>
          <p:cNvSpPr txBox="1"/>
          <p:nvPr/>
        </p:nvSpPr>
        <p:spPr>
          <a:xfrm>
            <a:off x="2600094" y="84810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Last price</a:t>
            </a:r>
          </a:p>
        </p:txBody>
      </p:sp>
      <p:sp>
        <p:nvSpPr>
          <p:cNvPr id="3390" name="TextBox 42"/>
          <p:cNvSpPr txBox="1"/>
          <p:nvPr/>
        </p:nvSpPr>
        <p:spPr>
          <a:xfrm>
            <a:off x="9093250" y="84810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391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92" name="Picture 44" descr="Picture 4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393" name="Connector 45"/>
          <p:cNvSpPr/>
          <p:nvPr/>
        </p:nvSpPr>
        <p:spPr>
          <a:xfrm>
            <a:off x="1371600" y="90068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94" name="TextBox 46"/>
          <p:cNvSpPr txBox="1"/>
          <p:nvPr/>
        </p:nvSpPr>
        <p:spPr>
          <a:xfrm>
            <a:off x="1517902" y="9166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395" name="TextBox 47"/>
          <p:cNvSpPr txBox="1"/>
          <p:nvPr/>
        </p:nvSpPr>
        <p:spPr>
          <a:xfrm>
            <a:off x="2600094" y="9166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Gain / loss value</a:t>
            </a:r>
          </a:p>
        </p:txBody>
      </p:sp>
      <p:sp>
        <p:nvSpPr>
          <p:cNvPr id="3396" name="TextBox 48"/>
          <p:cNvSpPr txBox="1"/>
          <p:nvPr/>
        </p:nvSpPr>
        <p:spPr>
          <a:xfrm>
            <a:off x="9093250" y="9166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397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98" name="Picture 50" descr="Picture 5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399" name="Connector 51"/>
          <p:cNvSpPr/>
          <p:nvPr/>
        </p:nvSpPr>
        <p:spPr>
          <a:xfrm>
            <a:off x="1371600" y="9692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00" name="TextBox 52"/>
          <p:cNvSpPr txBox="1"/>
          <p:nvPr/>
        </p:nvSpPr>
        <p:spPr>
          <a:xfrm>
            <a:off x="1517902" y="9852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401" name="TextBox 53"/>
          <p:cNvSpPr txBox="1"/>
          <p:nvPr/>
        </p:nvSpPr>
        <p:spPr>
          <a:xfrm>
            <a:off x="2600094" y="9852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Gain / loss percentage</a:t>
            </a:r>
          </a:p>
        </p:txBody>
      </p:sp>
      <p:sp>
        <p:nvSpPr>
          <p:cNvPr id="3402" name="TextBox 54"/>
          <p:cNvSpPr txBox="1"/>
          <p:nvPr/>
        </p:nvSpPr>
        <p:spPr>
          <a:xfrm>
            <a:off x="9093250" y="9852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403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8892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404" name="Picture 56" descr="Picture 5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8892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405" name="Connector 57"/>
          <p:cNvSpPr/>
          <p:nvPr/>
        </p:nvSpPr>
        <p:spPr>
          <a:xfrm>
            <a:off x="1371600" y="10378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06" name="TextBox 58"/>
          <p:cNvSpPr txBox="1"/>
          <p:nvPr/>
        </p:nvSpPr>
        <p:spPr>
          <a:xfrm>
            <a:off x="1517902" y="10538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407" name="TextBox 59"/>
          <p:cNvSpPr txBox="1"/>
          <p:nvPr/>
        </p:nvSpPr>
        <p:spPr>
          <a:xfrm>
            <a:off x="2600094" y="10538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Buy/Sell</a:t>
            </a:r>
          </a:p>
        </p:txBody>
      </p:sp>
      <p:sp>
        <p:nvSpPr>
          <p:cNvPr id="3408" name="TextBox 60"/>
          <p:cNvSpPr txBox="1"/>
          <p:nvPr/>
        </p:nvSpPr>
        <p:spPr>
          <a:xfrm>
            <a:off x="9093250" y="10538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3409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50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410" name="Picture 62" descr="Picture 6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50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411" name="Connector 63"/>
          <p:cNvSpPr/>
          <p:nvPr/>
        </p:nvSpPr>
        <p:spPr>
          <a:xfrm>
            <a:off x="1371600" y="11064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3414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046 / 111</a:t>
            </a:r>
          </a:p>
        </p:txBody>
      </p:sp>
      <p:sp>
        <p:nvSpPr>
          <p:cNvPr id="3415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3416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Cash &amp; Liquidity Management</a:t>
            </a:r>
          </a:p>
        </p:txBody>
      </p:sp>
      <p:sp>
        <p:nvSpPr>
          <p:cNvPr id="3417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3418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3419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3420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3421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3422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3423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3424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425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26" name="TextBox 14"/>
          <p:cNvSpPr txBox="1"/>
          <p:nvPr/>
        </p:nvSpPr>
        <p:spPr>
          <a:xfrm>
            <a:off x="1517902" y="5737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427" name="TextBox 15"/>
          <p:cNvSpPr txBox="1"/>
          <p:nvPr/>
        </p:nvSpPr>
        <p:spPr>
          <a:xfrm>
            <a:off x="2600094" y="5737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cash</a:t>
            </a:r>
          </a:p>
        </p:txBody>
      </p:sp>
      <p:sp>
        <p:nvSpPr>
          <p:cNvPr id="3428" name="TextBox 16"/>
          <p:cNvSpPr txBox="1"/>
          <p:nvPr/>
        </p:nvSpPr>
        <p:spPr>
          <a:xfrm>
            <a:off x="9093250" y="5737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429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430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431" name="Connector 19"/>
          <p:cNvSpPr/>
          <p:nvPr/>
        </p:nvSpPr>
        <p:spPr>
          <a:xfrm>
            <a:off x="1371600" y="6263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32" name="TextBox 20"/>
          <p:cNvSpPr txBox="1"/>
          <p:nvPr/>
        </p:nvSpPr>
        <p:spPr>
          <a:xfrm>
            <a:off x="1517902" y="6423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433" name="TextBox 21"/>
          <p:cNvSpPr txBox="1"/>
          <p:nvPr/>
        </p:nvSpPr>
        <p:spPr>
          <a:xfrm>
            <a:off x="2600094" y="6423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Available cash for withdraw</a:t>
            </a:r>
          </a:p>
        </p:txBody>
      </p:sp>
      <p:sp>
        <p:nvSpPr>
          <p:cNvPr id="3434" name="TextBox 22"/>
          <p:cNvSpPr txBox="1"/>
          <p:nvPr/>
        </p:nvSpPr>
        <p:spPr>
          <a:xfrm>
            <a:off x="9093250" y="6423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435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436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437" name="TextBox 25"/>
          <p:cNvSpPr txBox="1"/>
          <p:nvPr/>
        </p:nvSpPr>
        <p:spPr>
          <a:xfrm>
            <a:off x="14504212" y="64236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Withdrawal eligibility rules visibility</a:t>
            </a:r>
          </a:p>
        </p:txBody>
      </p:sp>
      <p:sp>
        <p:nvSpPr>
          <p:cNvPr id="3438" name="Connector 26"/>
          <p:cNvSpPr/>
          <p:nvPr/>
        </p:nvSpPr>
        <p:spPr>
          <a:xfrm>
            <a:off x="1371600" y="6949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39" name="TextBox 27"/>
          <p:cNvSpPr txBox="1"/>
          <p:nvPr/>
        </p:nvSpPr>
        <p:spPr>
          <a:xfrm>
            <a:off x="1517902" y="7109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440" name="TextBox 28"/>
          <p:cNvSpPr txBox="1"/>
          <p:nvPr/>
        </p:nvSpPr>
        <p:spPr>
          <a:xfrm>
            <a:off x="2600094" y="7109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Buying power</a:t>
            </a:r>
          </a:p>
        </p:txBody>
      </p:sp>
      <p:sp>
        <p:nvSpPr>
          <p:cNvPr id="3441" name="TextBox 29"/>
          <p:cNvSpPr txBox="1"/>
          <p:nvPr/>
        </p:nvSpPr>
        <p:spPr>
          <a:xfrm>
            <a:off x="9093250" y="7109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442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443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444" name="Connector 32"/>
          <p:cNvSpPr/>
          <p:nvPr/>
        </p:nvSpPr>
        <p:spPr>
          <a:xfrm>
            <a:off x="1371600" y="763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45" name="TextBox 33"/>
          <p:cNvSpPr txBox="1"/>
          <p:nvPr/>
        </p:nvSpPr>
        <p:spPr>
          <a:xfrm>
            <a:off x="1517902" y="7795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446" name="TextBox 34"/>
          <p:cNvSpPr txBox="1"/>
          <p:nvPr/>
        </p:nvSpPr>
        <p:spPr>
          <a:xfrm>
            <a:off x="2600094" y="7795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under processing</a:t>
            </a:r>
          </a:p>
        </p:txBody>
      </p:sp>
      <p:sp>
        <p:nvSpPr>
          <p:cNvPr id="3447" name="TextBox 35"/>
          <p:cNvSpPr txBox="1"/>
          <p:nvPr/>
        </p:nvSpPr>
        <p:spPr>
          <a:xfrm>
            <a:off x="9093250" y="7795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448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449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450" name="TextBox 38"/>
          <p:cNvSpPr txBox="1"/>
          <p:nvPr/>
        </p:nvSpPr>
        <p:spPr>
          <a:xfrm>
            <a:off x="14504212" y="77952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Processing status tracking</a:t>
            </a:r>
          </a:p>
        </p:txBody>
      </p:sp>
      <p:sp>
        <p:nvSpPr>
          <p:cNvPr id="3451" name="Connector 39"/>
          <p:cNvSpPr/>
          <p:nvPr/>
        </p:nvSpPr>
        <p:spPr>
          <a:xfrm>
            <a:off x="1371600" y="8321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52" name="TextBox 40"/>
          <p:cNvSpPr txBox="1"/>
          <p:nvPr/>
        </p:nvSpPr>
        <p:spPr>
          <a:xfrm>
            <a:off x="1517902" y="84810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453" name="TextBox 41"/>
          <p:cNvSpPr txBox="1"/>
          <p:nvPr/>
        </p:nvSpPr>
        <p:spPr>
          <a:xfrm>
            <a:off x="2600094" y="84810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breakdown details</a:t>
            </a:r>
          </a:p>
        </p:txBody>
      </p:sp>
      <p:sp>
        <p:nvSpPr>
          <p:cNvPr id="3454" name="TextBox 42"/>
          <p:cNvSpPr txBox="1"/>
          <p:nvPr/>
        </p:nvSpPr>
        <p:spPr>
          <a:xfrm>
            <a:off x="9093250" y="84810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455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456" name="Picture 44" descr="Picture 4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457" name="Connector 45"/>
          <p:cNvSpPr/>
          <p:nvPr/>
        </p:nvSpPr>
        <p:spPr>
          <a:xfrm>
            <a:off x="1371600" y="90068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58" name="TextBox 46"/>
          <p:cNvSpPr txBox="1"/>
          <p:nvPr/>
        </p:nvSpPr>
        <p:spPr>
          <a:xfrm>
            <a:off x="1517902" y="9166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459" name="TextBox 47"/>
          <p:cNvSpPr txBox="1"/>
          <p:nvPr/>
        </p:nvSpPr>
        <p:spPr>
          <a:xfrm>
            <a:off x="2600094" y="9166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Liquidity visibility</a:t>
            </a:r>
          </a:p>
        </p:txBody>
      </p:sp>
      <p:sp>
        <p:nvSpPr>
          <p:cNvPr id="3460" name="TextBox 48"/>
          <p:cNvSpPr txBox="1"/>
          <p:nvPr/>
        </p:nvSpPr>
        <p:spPr>
          <a:xfrm>
            <a:off x="9093250" y="9166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461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462" name="Picture 50" descr="Picture 5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463" name="Connector 51"/>
          <p:cNvSpPr/>
          <p:nvPr/>
        </p:nvSpPr>
        <p:spPr>
          <a:xfrm>
            <a:off x="1371600" y="9692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64" name="TextBox 52"/>
          <p:cNvSpPr txBox="1"/>
          <p:nvPr/>
        </p:nvSpPr>
        <p:spPr>
          <a:xfrm>
            <a:off x="1517902" y="9852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465" name="TextBox 53"/>
          <p:cNvSpPr txBox="1"/>
          <p:nvPr/>
        </p:nvSpPr>
        <p:spPr>
          <a:xfrm>
            <a:off x="2600094" y="9852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cash navigation</a:t>
            </a:r>
          </a:p>
        </p:txBody>
      </p:sp>
      <p:sp>
        <p:nvSpPr>
          <p:cNvPr id="3466" name="TextBox 54"/>
          <p:cNvSpPr txBox="1"/>
          <p:nvPr/>
        </p:nvSpPr>
        <p:spPr>
          <a:xfrm>
            <a:off x="9093250" y="9852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3467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8892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468" name="Picture 56" descr="Picture 5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8892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469" name="Connector 57"/>
          <p:cNvSpPr/>
          <p:nvPr/>
        </p:nvSpPr>
        <p:spPr>
          <a:xfrm>
            <a:off x="1371600" y="10378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3472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047 / 111</a:t>
            </a:r>
          </a:p>
        </p:txBody>
      </p:sp>
      <p:sp>
        <p:nvSpPr>
          <p:cNvPr id="3473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3474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Orders &amp; Execution Management</a:t>
            </a:r>
          </a:p>
        </p:txBody>
      </p:sp>
      <p:sp>
        <p:nvSpPr>
          <p:cNvPr id="3475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3476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3477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3478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3479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3480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3481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3482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483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84" name="TextBox 14"/>
          <p:cNvSpPr txBox="1"/>
          <p:nvPr/>
        </p:nvSpPr>
        <p:spPr>
          <a:xfrm>
            <a:off x="1517902" y="5737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485" name="TextBox 15"/>
          <p:cNvSpPr txBox="1"/>
          <p:nvPr/>
        </p:nvSpPr>
        <p:spPr>
          <a:xfrm>
            <a:off x="2600094" y="5737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Orders list view</a:t>
            </a:r>
          </a:p>
        </p:txBody>
      </p:sp>
      <p:sp>
        <p:nvSpPr>
          <p:cNvPr id="3486" name="TextBox 16"/>
          <p:cNvSpPr txBox="1"/>
          <p:nvPr/>
        </p:nvSpPr>
        <p:spPr>
          <a:xfrm>
            <a:off x="9093250" y="5737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487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488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489" name="Connector 19"/>
          <p:cNvSpPr/>
          <p:nvPr/>
        </p:nvSpPr>
        <p:spPr>
          <a:xfrm>
            <a:off x="1371600" y="6263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90" name="TextBox 20"/>
          <p:cNvSpPr txBox="1"/>
          <p:nvPr/>
        </p:nvSpPr>
        <p:spPr>
          <a:xfrm>
            <a:off x="1517902" y="6423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491" name="TextBox 21"/>
          <p:cNvSpPr txBox="1"/>
          <p:nvPr/>
        </p:nvSpPr>
        <p:spPr>
          <a:xfrm>
            <a:off x="2600094" y="6423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status visibility</a:t>
            </a:r>
          </a:p>
        </p:txBody>
      </p:sp>
      <p:sp>
        <p:nvSpPr>
          <p:cNvPr id="3492" name="TextBox 22"/>
          <p:cNvSpPr txBox="1"/>
          <p:nvPr/>
        </p:nvSpPr>
        <p:spPr>
          <a:xfrm>
            <a:off x="9093250" y="6423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493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494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495" name="Connector 25"/>
          <p:cNvSpPr/>
          <p:nvPr/>
        </p:nvSpPr>
        <p:spPr>
          <a:xfrm>
            <a:off x="1371600" y="6949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96" name="TextBox 26"/>
          <p:cNvSpPr txBox="1"/>
          <p:nvPr/>
        </p:nvSpPr>
        <p:spPr>
          <a:xfrm>
            <a:off x="1517902" y="7109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497" name="TextBox 27"/>
          <p:cNvSpPr txBox="1"/>
          <p:nvPr/>
        </p:nvSpPr>
        <p:spPr>
          <a:xfrm>
            <a:off x="2600094" y="7109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details view</a:t>
            </a:r>
          </a:p>
        </p:txBody>
      </p:sp>
      <p:sp>
        <p:nvSpPr>
          <p:cNvPr id="3498" name="TextBox 28"/>
          <p:cNvSpPr txBox="1"/>
          <p:nvPr/>
        </p:nvSpPr>
        <p:spPr>
          <a:xfrm>
            <a:off x="9093250" y="7109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499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500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501" name="Connector 31"/>
          <p:cNvSpPr/>
          <p:nvPr/>
        </p:nvSpPr>
        <p:spPr>
          <a:xfrm>
            <a:off x="1371600" y="763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02" name="TextBox 32"/>
          <p:cNvSpPr txBox="1"/>
          <p:nvPr/>
        </p:nvSpPr>
        <p:spPr>
          <a:xfrm>
            <a:off x="1517902" y="7795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503" name="TextBox 33"/>
          <p:cNvSpPr txBox="1"/>
          <p:nvPr/>
        </p:nvSpPr>
        <p:spPr>
          <a:xfrm>
            <a:off x="2600094" y="7795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Transaction history</a:t>
            </a:r>
          </a:p>
        </p:txBody>
      </p:sp>
      <p:sp>
        <p:nvSpPr>
          <p:cNvPr id="3504" name="TextBox 34"/>
          <p:cNvSpPr txBox="1"/>
          <p:nvPr/>
        </p:nvSpPr>
        <p:spPr>
          <a:xfrm>
            <a:off x="9093250" y="7795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505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506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507" name="Connector 37"/>
          <p:cNvSpPr/>
          <p:nvPr/>
        </p:nvSpPr>
        <p:spPr>
          <a:xfrm>
            <a:off x="1371600" y="8321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08" name="TextBox 38"/>
          <p:cNvSpPr txBox="1"/>
          <p:nvPr/>
        </p:nvSpPr>
        <p:spPr>
          <a:xfrm>
            <a:off x="1517902" y="84810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509" name="TextBox 39"/>
          <p:cNvSpPr txBox="1"/>
          <p:nvPr/>
        </p:nvSpPr>
        <p:spPr>
          <a:xfrm>
            <a:off x="2600094" y="84810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Execution price/amount visibility</a:t>
            </a:r>
          </a:p>
        </p:txBody>
      </p:sp>
      <p:sp>
        <p:nvSpPr>
          <p:cNvPr id="3510" name="TextBox 40"/>
          <p:cNvSpPr txBox="1"/>
          <p:nvPr/>
        </p:nvSpPr>
        <p:spPr>
          <a:xfrm>
            <a:off x="9093250" y="84810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511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512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513" name="Connector 43"/>
          <p:cNvSpPr/>
          <p:nvPr/>
        </p:nvSpPr>
        <p:spPr>
          <a:xfrm>
            <a:off x="1371600" y="90068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14" name="TextBox 44"/>
          <p:cNvSpPr txBox="1"/>
          <p:nvPr/>
        </p:nvSpPr>
        <p:spPr>
          <a:xfrm>
            <a:off x="1517902" y="9166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515" name="TextBox 45"/>
          <p:cNvSpPr txBox="1"/>
          <p:nvPr/>
        </p:nvSpPr>
        <p:spPr>
          <a:xfrm>
            <a:off x="2600094" y="9166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Place order</a:t>
            </a:r>
          </a:p>
        </p:txBody>
      </p:sp>
      <p:sp>
        <p:nvSpPr>
          <p:cNvPr id="3516" name="TextBox 46"/>
          <p:cNvSpPr txBox="1"/>
          <p:nvPr/>
        </p:nvSpPr>
        <p:spPr>
          <a:xfrm>
            <a:off x="9093250" y="9166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3517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518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519" name="Connector 49"/>
          <p:cNvSpPr/>
          <p:nvPr/>
        </p:nvSpPr>
        <p:spPr>
          <a:xfrm>
            <a:off x="1371600" y="9692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20" name="TextBox 50"/>
          <p:cNvSpPr txBox="1"/>
          <p:nvPr/>
        </p:nvSpPr>
        <p:spPr>
          <a:xfrm>
            <a:off x="1517902" y="9852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521" name="TextBox 51"/>
          <p:cNvSpPr txBox="1"/>
          <p:nvPr/>
        </p:nvSpPr>
        <p:spPr>
          <a:xfrm>
            <a:off x="2600094" y="9852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Cancel order</a:t>
            </a:r>
          </a:p>
        </p:txBody>
      </p:sp>
      <p:sp>
        <p:nvSpPr>
          <p:cNvPr id="3522" name="TextBox 52"/>
          <p:cNvSpPr txBox="1"/>
          <p:nvPr/>
        </p:nvSpPr>
        <p:spPr>
          <a:xfrm>
            <a:off x="9093250" y="9852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3523" name="Picture 53" descr="Picture 5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8892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524" name="Picture 54" descr="Picture 5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8892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525" name="Connector 55"/>
          <p:cNvSpPr/>
          <p:nvPr/>
        </p:nvSpPr>
        <p:spPr>
          <a:xfrm>
            <a:off x="1371600" y="10378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26" name="TextBox 56"/>
          <p:cNvSpPr txBox="1"/>
          <p:nvPr/>
        </p:nvSpPr>
        <p:spPr>
          <a:xfrm>
            <a:off x="1517902" y="10538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527" name="TextBox 57"/>
          <p:cNvSpPr txBox="1"/>
          <p:nvPr/>
        </p:nvSpPr>
        <p:spPr>
          <a:xfrm>
            <a:off x="2600094" y="10538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Customize order view (card/table)</a:t>
            </a:r>
          </a:p>
        </p:txBody>
      </p:sp>
      <p:sp>
        <p:nvSpPr>
          <p:cNvPr id="3528" name="TextBox 58"/>
          <p:cNvSpPr txBox="1"/>
          <p:nvPr/>
        </p:nvSpPr>
        <p:spPr>
          <a:xfrm>
            <a:off x="9093250" y="10538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3529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50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530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50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531" name="Connector 61"/>
          <p:cNvSpPr/>
          <p:nvPr/>
        </p:nvSpPr>
        <p:spPr>
          <a:xfrm>
            <a:off x="1371600" y="11064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32" name="TextBox 62"/>
          <p:cNvSpPr txBox="1"/>
          <p:nvPr/>
        </p:nvSpPr>
        <p:spPr>
          <a:xfrm>
            <a:off x="1517902" y="11224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533" name="TextBox 63"/>
          <p:cNvSpPr txBox="1"/>
          <p:nvPr/>
        </p:nvSpPr>
        <p:spPr>
          <a:xfrm>
            <a:off x="2600094" y="11224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filtering</a:t>
            </a:r>
          </a:p>
        </p:txBody>
      </p:sp>
      <p:sp>
        <p:nvSpPr>
          <p:cNvPr id="3534" name="TextBox 64"/>
          <p:cNvSpPr txBox="1"/>
          <p:nvPr/>
        </p:nvSpPr>
        <p:spPr>
          <a:xfrm>
            <a:off x="9093250" y="11224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3535" name="Picture 65" descr="Picture 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2608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536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2608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537" name="Connector 67"/>
          <p:cNvSpPr/>
          <p:nvPr/>
        </p:nvSpPr>
        <p:spPr>
          <a:xfrm>
            <a:off x="1371600" y="11750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3540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048 / 111</a:t>
            </a:r>
          </a:p>
        </p:txBody>
      </p:sp>
      <p:sp>
        <p:nvSpPr>
          <p:cNvPr id="3541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3542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Transfer &amp; Funding</a:t>
            </a:r>
          </a:p>
        </p:txBody>
      </p:sp>
      <p:sp>
        <p:nvSpPr>
          <p:cNvPr id="3543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3544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3545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3546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3547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3548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3549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3550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551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52" name="TextBox 14"/>
          <p:cNvSpPr txBox="1"/>
          <p:nvPr/>
        </p:nvSpPr>
        <p:spPr>
          <a:xfrm>
            <a:off x="1517902" y="5737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553" name="TextBox 15"/>
          <p:cNvSpPr txBox="1"/>
          <p:nvPr/>
        </p:nvSpPr>
        <p:spPr>
          <a:xfrm>
            <a:off x="2600094" y="5737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transfer options visibility</a:t>
            </a:r>
          </a:p>
        </p:txBody>
      </p:sp>
      <p:sp>
        <p:nvSpPr>
          <p:cNvPr id="3554" name="TextBox 16"/>
          <p:cNvSpPr txBox="1"/>
          <p:nvPr/>
        </p:nvSpPr>
        <p:spPr>
          <a:xfrm>
            <a:off x="9093250" y="5737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555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556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557" name="Connector 19"/>
          <p:cNvSpPr/>
          <p:nvPr/>
        </p:nvSpPr>
        <p:spPr>
          <a:xfrm>
            <a:off x="1371600" y="6263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58" name="TextBox 20"/>
          <p:cNvSpPr txBox="1"/>
          <p:nvPr/>
        </p:nvSpPr>
        <p:spPr>
          <a:xfrm>
            <a:off x="1517902" y="6423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559" name="TextBox 21"/>
          <p:cNvSpPr txBox="1"/>
          <p:nvPr/>
        </p:nvSpPr>
        <p:spPr>
          <a:xfrm>
            <a:off x="2600094" y="6423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status visibility</a:t>
            </a:r>
          </a:p>
        </p:txBody>
      </p:sp>
      <p:sp>
        <p:nvSpPr>
          <p:cNvPr id="3560" name="TextBox 22"/>
          <p:cNvSpPr txBox="1"/>
          <p:nvPr/>
        </p:nvSpPr>
        <p:spPr>
          <a:xfrm>
            <a:off x="9093250" y="6423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561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562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563" name="Connector 25"/>
          <p:cNvSpPr/>
          <p:nvPr/>
        </p:nvSpPr>
        <p:spPr>
          <a:xfrm>
            <a:off x="1371600" y="6949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64" name="TextBox 26"/>
          <p:cNvSpPr txBox="1"/>
          <p:nvPr/>
        </p:nvSpPr>
        <p:spPr>
          <a:xfrm>
            <a:off x="1517902" y="7109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565" name="TextBox 27"/>
          <p:cNvSpPr txBox="1"/>
          <p:nvPr/>
        </p:nvSpPr>
        <p:spPr>
          <a:xfrm>
            <a:off x="2600094" y="7109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history</a:t>
            </a:r>
          </a:p>
        </p:txBody>
      </p:sp>
      <p:sp>
        <p:nvSpPr>
          <p:cNvPr id="3566" name="TextBox 28"/>
          <p:cNvSpPr txBox="1"/>
          <p:nvPr/>
        </p:nvSpPr>
        <p:spPr>
          <a:xfrm>
            <a:off x="9093250" y="7109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567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568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569" name="Connector 31"/>
          <p:cNvSpPr/>
          <p:nvPr/>
        </p:nvSpPr>
        <p:spPr>
          <a:xfrm>
            <a:off x="1371600" y="763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70" name="TextBox 32"/>
          <p:cNvSpPr txBox="1"/>
          <p:nvPr/>
        </p:nvSpPr>
        <p:spPr>
          <a:xfrm>
            <a:off x="1517902" y="7795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571" name="TextBox 33"/>
          <p:cNvSpPr txBox="1"/>
          <p:nvPr/>
        </p:nvSpPr>
        <p:spPr>
          <a:xfrm>
            <a:off x="2600094" y="7795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source visibility</a:t>
            </a:r>
          </a:p>
        </p:txBody>
      </p:sp>
      <p:sp>
        <p:nvSpPr>
          <p:cNvPr id="3572" name="TextBox 34"/>
          <p:cNvSpPr txBox="1"/>
          <p:nvPr/>
        </p:nvSpPr>
        <p:spPr>
          <a:xfrm>
            <a:off x="9093250" y="7795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573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574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575" name="Connector 37"/>
          <p:cNvSpPr/>
          <p:nvPr/>
        </p:nvSpPr>
        <p:spPr>
          <a:xfrm>
            <a:off x="1371600" y="8321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76" name="TextBox 38"/>
          <p:cNvSpPr txBox="1"/>
          <p:nvPr/>
        </p:nvSpPr>
        <p:spPr>
          <a:xfrm>
            <a:off x="1517902" y="84810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577" name="TextBox 39"/>
          <p:cNvSpPr txBox="1"/>
          <p:nvPr/>
        </p:nvSpPr>
        <p:spPr>
          <a:xfrm>
            <a:off x="2600094" y="84810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eligibility visibility</a:t>
            </a:r>
          </a:p>
        </p:txBody>
      </p:sp>
      <p:sp>
        <p:nvSpPr>
          <p:cNvPr id="3578" name="TextBox 40"/>
          <p:cNvSpPr txBox="1"/>
          <p:nvPr/>
        </p:nvSpPr>
        <p:spPr>
          <a:xfrm>
            <a:off x="9093250" y="84810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579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580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581" name="Connector 43"/>
          <p:cNvSpPr/>
          <p:nvPr/>
        </p:nvSpPr>
        <p:spPr>
          <a:xfrm>
            <a:off x="1371600" y="90068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82" name="TextBox 44"/>
          <p:cNvSpPr txBox="1"/>
          <p:nvPr/>
        </p:nvSpPr>
        <p:spPr>
          <a:xfrm>
            <a:off x="1517902" y="9166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583" name="TextBox 45"/>
          <p:cNvSpPr txBox="1"/>
          <p:nvPr/>
        </p:nvSpPr>
        <p:spPr>
          <a:xfrm>
            <a:off x="2600094" y="9166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Deposit cash (cash in)</a:t>
            </a:r>
          </a:p>
        </p:txBody>
      </p:sp>
      <p:sp>
        <p:nvSpPr>
          <p:cNvPr id="3584" name="TextBox 46"/>
          <p:cNvSpPr txBox="1"/>
          <p:nvPr/>
        </p:nvSpPr>
        <p:spPr>
          <a:xfrm>
            <a:off x="9093250" y="9166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3585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586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587" name="Connector 49"/>
          <p:cNvSpPr/>
          <p:nvPr/>
        </p:nvSpPr>
        <p:spPr>
          <a:xfrm>
            <a:off x="1371600" y="9692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88" name="TextBox 50"/>
          <p:cNvSpPr txBox="1"/>
          <p:nvPr/>
        </p:nvSpPr>
        <p:spPr>
          <a:xfrm>
            <a:off x="1517902" y="9852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589" name="TextBox 51"/>
          <p:cNvSpPr txBox="1"/>
          <p:nvPr/>
        </p:nvSpPr>
        <p:spPr>
          <a:xfrm>
            <a:off x="2600094" y="9852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Withdraw (cash out)</a:t>
            </a:r>
          </a:p>
        </p:txBody>
      </p:sp>
      <p:sp>
        <p:nvSpPr>
          <p:cNvPr id="3590" name="TextBox 52"/>
          <p:cNvSpPr txBox="1"/>
          <p:nvPr/>
        </p:nvSpPr>
        <p:spPr>
          <a:xfrm>
            <a:off x="9093250" y="9852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3591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8892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592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8892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593" name="Connector 55"/>
          <p:cNvSpPr/>
          <p:nvPr/>
        </p:nvSpPr>
        <p:spPr>
          <a:xfrm>
            <a:off x="1371600" y="10378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3596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049 / 111</a:t>
            </a:r>
          </a:p>
        </p:txBody>
      </p:sp>
      <p:sp>
        <p:nvSpPr>
          <p:cNvPr id="3597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3598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Reporting &amp; Statements</a:t>
            </a:r>
          </a:p>
        </p:txBody>
      </p:sp>
      <p:sp>
        <p:nvSpPr>
          <p:cNvPr id="3599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3600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3601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3602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3603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3604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3605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3606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607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08" name="TextBox 14"/>
          <p:cNvSpPr txBox="1"/>
          <p:nvPr/>
        </p:nvSpPr>
        <p:spPr>
          <a:xfrm>
            <a:off x="1517902" y="5737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609" name="TextBox 15"/>
          <p:cNvSpPr txBox="1"/>
          <p:nvPr/>
        </p:nvSpPr>
        <p:spPr>
          <a:xfrm>
            <a:off x="2600094" y="5737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overall report</a:t>
            </a:r>
          </a:p>
        </p:txBody>
      </p:sp>
      <p:sp>
        <p:nvSpPr>
          <p:cNvPr id="3610" name="TextBox 16"/>
          <p:cNvSpPr txBox="1"/>
          <p:nvPr/>
        </p:nvSpPr>
        <p:spPr>
          <a:xfrm>
            <a:off x="9093250" y="5737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611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612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613" name="Connector 19"/>
          <p:cNvSpPr/>
          <p:nvPr/>
        </p:nvSpPr>
        <p:spPr>
          <a:xfrm>
            <a:off x="1371600" y="6263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14" name="TextBox 20"/>
          <p:cNvSpPr txBox="1"/>
          <p:nvPr/>
        </p:nvSpPr>
        <p:spPr>
          <a:xfrm>
            <a:off x="1517902" y="6423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615" name="TextBox 21"/>
          <p:cNvSpPr txBox="1"/>
          <p:nvPr/>
        </p:nvSpPr>
        <p:spPr>
          <a:xfrm>
            <a:off x="2600094" y="6423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Profit / loss report</a:t>
            </a:r>
          </a:p>
        </p:txBody>
      </p:sp>
      <p:sp>
        <p:nvSpPr>
          <p:cNvPr id="3616" name="TextBox 22"/>
          <p:cNvSpPr txBox="1"/>
          <p:nvPr/>
        </p:nvSpPr>
        <p:spPr>
          <a:xfrm>
            <a:off x="9093250" y="6423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617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618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619" name="Connector 25"/>
          <p:cNvSpPr/>
          <p:nvPr/>
        </p:nvSpPr>
        <p:spPr>
          <a:xfrm>
            <a:off x="1371600" y="6949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20" name="TextBox 26"/>
          <p:cNvSpPr txBox="1"/>
          <p:nvPr/>
        </p:nvSpPr>
        <p:spPr>
          <a:xfrm>
            <a:off x="1517902" y="7109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621" name="TextBox 27"/>
          <p:cNvSpPr txBox="1"/>
          <p:nvPr/>
        </p:nvSpPr>
        <p:spPr>
          <a:xfrm>
            <a:off x="2600094" y="7109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Account statement</a:t>
            </a:r>
          </a:p>
        </p:txBody>
      </p:sp>
      <p:sp>
        <p:nvSpPr>
          <p:cNvPr id="3622" name="TextBox 28"/>
          <p:cNvSpPr txBox="1"/>
          <p:nvPr/>
        </p:nvSpPr>
        <p:spPr>
          <a:xfrm>
            <a:off x="9093250" y="7109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623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624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625" name="Connector 31"/>
          <p:cNvSpPr/>
          <p:nvPr/>
        </p:nvSpPr>
        <p:spPr>
          <a:xfrm>
            <a:off x="1371600" y="763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26" name="TextBox 32"/>
          <p:cNvSpPr txBox="1"/>
          <p:nvPr/>
        </p:nvSpPr>
        <p:spPr>
          <a:xfrm>
            <a:off x="1517902" y="7795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627" name="TextBox 33"/>
          <p:cNvSpPr txBox="1"/>
          <p:nvPr/>
        </p:nvSpPr>
        <p:spPr>
          <a:xfrm>
            <a:off x="2600094" y="7795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Orders report (All Time)</a:t>
            </a:r>
          </a:p>
        </p:txBody>
      </p:sp>
      <p:sp>
        <p:nvSpPr>
          <p:cNvPr id="3628" name="TextBox 34"/>
          <p:cNvSpPr txBox="1"/>
          <p:nvPr/>
        </p:nvSpPr>
        <p:spPr>
          <a:xfrm>
            <a:off x="9093250" y="7795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629" name="Picture 35" descr="Picture 3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630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631" name="Connector 37"/>
          <p:cNvSpPr/>
          <p:nvPr/>
        </p:nvSpPr>
        <p:spPr>
          <a:xfrm>
            <a:off x="1371600" y="8321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32" name="TextBox 38"/>
          <p:cNvSpPr txBox="1"/>
          <p:nvPr/>
        </p:nvSpPr>
        <p:spPr>
          <a:xfrm>
            <a:off x="1517902" y="84810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633" name="TextBox 39"/>
          <p:cNvSpPr txBox="1"/>
          <p:nvPr/>
        </p:nvSpPr>
        <p:spPr>
          <a:xfrm>
            <a:off x="2600094" y="84810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 list Report (1 year)</a:t>
            </a:r>
          </a:p>
        </p:txBody>
      </p:sp>
      <p:sp>
        <p:nvSpPr>
          <p:cNvPr id="3634" name="TextBox 40"/>
          <p:cNvSpPr txBox="1"/>
          <p:nvPr/>
        </p:nvSpPr>
        <p:spPr>
          <a:xfrm>
            <a:off x="9093250" y="84810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635" name="Picture 41" descr="Picture 4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636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637" name="TextBox 43"/>
          <p:cNvSpPr txBox="1"/>
          <p:nvPr/>
        </p:nvSpPr>
        <p:spPr>
          <a:xfrm>
            <a:off x="14504212" y="84810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 year only limited time</a:t>
            </a:r>
          </a:p>
        </p:txBody>
      </p:sp>
      <p:sp>
        <p:nvSpPr>
          <p:cNvPr id="3638" name="Connector 44"/>
          <p:cNvSpPr/>
          <p:nvPr/>
        </p:nvSpPr>
        <p:spPr>
          <a:xfrm>
            <a:off x="1371600" y="90068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39" name="TextBox 45"/>
          <p:cNvSpPr txBox="1"/>
          <p:nvPr/>
        </p:nvSpPr>
        <p:spPr>
          <a:xfrm>
            <a:off x="1517902" y="9166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640" name="TextBox 46"/>
          <p:cNvSpPr txBox="1"/>
          <p:nvPr/>
        </p:nvSpPr>
        <p:spPr>
          <a:xfrm>
            <a:off x="2600094" y="9166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Transaction report</a:t>
            </a:r>
          </a:p>
        </p:txBody>
      </p:sp>
      <p:sp>
        <p:nvSpPr>
          <p:cNvPr id="3641" name="TextBox 47"/>
          <p:cNvSpPr txBox="1"/>
          <p:nvPr/>
        </p:nvSpPr>
        <p:spPr>
          <a:xfrm>
            <a:off x="9093250" y="9166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642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643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644" name="Connector 50"/>
          <p:cNvSpPr/>
          <p:nvPr/>
        </p:nvSpPr>
        <p:spPr>
          <a:xfrm>
            <a:off x="1371600" y="9692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45" name="TextBox 51"/>
          <p:cNvSpPr txBox="1"/>
          <p:nvPr/>
        </p:nvSpPr>
        <p:spPr>
          <a:xfrm>
            <a:off x="1517902" y="9852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646" name="TextBox 52"/>
          <p:cNvSpPr txBox="1"/>
          <p:nvPr/>
        </p:nvSpPr>
        <p:spPr>
          <a:xfrm>
            <a:off x="2600094" y="9852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Generate portfolio report</a:t>
            </a:r>
          </a:p>
        </p:txBody>
      </p:sp>
      <p:sp>
        <p:nvSpPr>
          <p:cNvPr id="3647" name="TextBox 53"/>
          <p:cNvSpPr txBox="1"/>
          <p:nvPr/>
        </p:nvSpPr>
        <p:spPr>
          <a:xfrm>
            <a:off x="9093250" y="9852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3648" name="Picture 54" descr="Picture 5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8892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649" name="Picture 55" descr="Picture 5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8892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650" name="Connector 56"/>
          <p:cNvSpPr/>
          <p:nvPr/>
        </p:nvSpPr>
        <p:spPr>
          <a:xfrm>
            <a:off x="1371600" y="10378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51" name="TextBox 57"/>
          <p:cNvSpPr txBox="1"/>
          <p:nvPr/>
        </p:nvSpPr>
        <p:spPr>
          <a:xfrm>
            <a:off x="1517902" y="10538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652" name="TextBox 58"/>
          <p:cNvSpPr txBox="1"/>
          <p:nvPr/>
        </p:nvSpPr>
        <p:spPr>
          <a:xfrm>
            <a:off x="2600094" y="10538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Export report (PDF/Excel)</a:t>
            </a:r>
          </a:p>
        </p:txBody>
      </p:sp>
      <p:sp>
        <p:nvSpPr>
          <p:cNvPr id="3653" name="TextBox 59"/>
          <p:cNvSpPr txBox="1"/>
          <p:nvPr/>
        </p:nvSpPr>
        <p:spPr>
          <a:xfrm>
            <a:off x="9093250" y="10538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3654" name="Picture 60" descr="Picture 6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5750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655" name="Picture 61" descr="Picture 6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5750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656" name="Connector 62"/>
          <p:cNvSpPr/>
          <p:nvPr/>
        </p:nvSpPr>
        <p:spPr>
          <a:xfrm>
            <a:off x="1371600" y="11064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57" name="TextBox 63"/>
          <p:cNvSpPr txBox="1"/>
          <p:nvPr/>
        </p:nvSpPr>
        <p:spPr>
          <a:xfrm>
            <a:off x="1517902" y="11224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658" name="TextBox 64"/>
          <p:cNvSpPr txBox="1"/>
          <p:nvPr/>
        </p:nvSpPr>
        <p:spPr>
          <a:xfrm>
            <a:off x="2600094" y="11224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Report period selection</a:t>
            </a:r>
          </a:p>
        </p:txBody>
      </p:sp>
      <p:sp>
        <p:nvSpPr>
          <p:cNvPr id="3659" name="TextBox 65"/>
          <p:cNvSpPr txBox="1"/>
          <p:nvPr/>
        </p:nvSpPr>
        <p:spPr>
          <a:xfrm>
            <a:off x="9093250" y="11224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3660" name="Picture 66" descr="Picture 6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2608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661" name="Picture 67" descr="Picture 6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2608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662" name="TextBox 68"/>
          <p:cNvSpPr txBox="1"/>
          <p:nvPr/>
        </p:nvSpPr>
        <p:spPr>
          <a:xfrm>
            <a:off x="14504212" y="112242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Flexible custom period selection</a:t>
            </a:r>
          </a:p>
        </p:txBody>
      </p:sp>
      <p:sp>
        <p:nvSpPr>
          <p:cNvPr id="3663" name="Connector 69"/>
          <p:cNvSpPr/>
          <p:nvPr/>
        </p:nvSpPr>
        <p:spPr>
          <a:xfrm>
            <a:off x="1371600" y="11750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3666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050 / 111</a:t>
            </a:r>
          </a:p>
        </p:txBody>
      </p:sp>
      <p:sp>
        <p:nvSpPr>
          <p:cNvPr id="3667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3668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Market Intelligence &amp; Context</a:t>
            </a:r>
          </a:p>
        </p:txBody>
      </p:sp>
      <p:sp>
        <p:nvSpPr>
          <p:cNvPr id="3669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3670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3671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3672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3673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3674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3675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3676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677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78" name="TextBox 14"/>
          <p:cNvSpPr txBox="1"/>
          <p:nvPr/>
        </p:nvSpPr>
        <p:spPr>
          <a:xfrm>
            <a:off x="1517902" y="5614415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679" name="TextBox 15"/>
          <p:cNvSpPr txBox="1"/>
          <p:nvPr/>
        </p:nvSpPr>
        <p:spPr>
          <a:xfrm>
            <a:off x="2600094" y="5614415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list view</a:t>
            </a:r>
          </a:p>
        </p:txBody>
      </p:sp>
      <p:sp>
        <p:nvSpPr>
          <p:cNvPr id="3680" name="TextBox 16"/>
          <p:cNvSpPr txBox="1"/>
          <p:nvPr/>
        </p:nvSpPr>
        <p:spPr>
          <a:xfrm>
            <a:off x="9093250" y="5614415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681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099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682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099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683" name="Connector 19"/>
          <p:cNvSpPr/>
          <p:nvPr/>
        </p:nvSpPr>
        <p:spPr>
          <a:xfrm>
            <a:off x="1371600" y="60167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84" name="TextBox 20"/>
          <p:cNvSpPr txBox="1"/>
          <p:nvPr/>
        </p:nvSpPr>
        <p:spPr>
          <a:xfrm>
            <a:off x="1517902" y="605332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685" name="TextBox 21"/>
          <p:cNvSpPr txBox="1"/>
          <p:nvPr/>
        </p:nvSpPr>
        <p:spPr>
          <a:xfrm>
            <a:off x="2600094" y="6053328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Name</a:t>
            </a:r>
          </a:p>
        </p:txBody>
      </p:sp>
      <p:sp>
        <p:nvSpPr>
          <p:cNvPr id="3686" name="TextBox 22"/>
          <p:cNvSpPr txBox="1"/>
          <p:nvPr/>
        </p:nvSpPr>
        <p:spPr>
          <a:xfrm>
            <a:off x="9093250" y="605332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687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8990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688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8990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689" name="Connector 25"/>
          <p:cNvSpPr/>
          <p:nvPr/>
        </p:nvSpPr>
        <p:spPr>
          <a:xfrm>
            <a:off x="1371600" y="6455664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90" name="TextBox 26"/>
          <p:cNvSpPr txBox="1"/>
          <p:nvPr/>
        </p:nvSpPr>
        <p:spPr>
          <a:xfrm>
            <a:off x="1517902" y="64922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691" name="TextBox 27"/>
          <p:cNvSpPr txBox="1"/>
          <p:nvPr/>
        </p:nvSpPr>
        <p:spPr>
          <a:xfrm>
            <a:off x="2600094" y="64922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type (Growth/Dividend/Smart/Saving/Endowment)</a:t>
            </a:r>
          </a:p>
        </p:txBody>
      </p:sp>
      <p:sp>
        <p:nvSpPr>
          <p:cNvPr id="3692" name="TextBox 28"/>
          <p:cNvSpPr txBox="1"/>
          <p:nvPr/>
        </p:nvSpPr>
        <p:spPr>
          <a:xfrm>
            <a:off x="9093250" y="6492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693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52881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694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52881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695" name="Connector 31"/>
          <p:cNvSpPr/>
          <p:nvPr/>
        </p:nvSpPr>
        <p:spPr>
          <a:xfrm>
            <a:off x="1371600" y="689457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96" name="TextBox 32"/>
          <p:cNvSpPr txBox="1"/>
          <p:nvPr/>
        </p:nvSpPr>
        <p:spPr>
          <a:xfrm>
            <a:off x="1517902" y="693115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697" name="TextBox 33"/>
          <p:cNvSpPr txBox="1"/>
          <p:nvPr/>
        </p:nvSpPr>
        <p:spPr>
          <a:xfrm>
            <a:off x="2600094" y="693115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Assets (Equity/Multi-assets/Money Market/Sukuk)</a:t>
            </a:r>
          </a:p>
        </p:txBody>
      </p:sp>
      <p:sp>
        <p:nvSpPr>
          <p:cNvPr id="3698" name="TextBox 34"/>
          <p:cNvSpPr txBox="1"/>
          <p:nvPr/>
        </p:nvSpPr>
        <p:spPr>
          <a:xfrm>
            <a:off x="9093250" y="69311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699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96772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700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96772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701" name="Connector 37"/>
          <p:cNvSpPr/>
          <p:nvPr/>
        </p:nvSpPr>
        <p:spPr>
          <a:xfrm>
            <a:off x="1371600" y="73334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02" name="TextBox 38"/>
          <p:cNvSpPr txBox="1"/>
          <p:nvPr/>
        </p:nvSpPr>
        <p:spPr>
          <a:xfrm>
            <a:off x="1517902" y="737006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703" name="TextBox 39"/>
          <p:cNvSpPr txBox="1"/>
          <p:nvPr/>
        </p:nvSpPr>
        <p:spPr>
          <a:xfrm>
            <a:off x="2600094" y="737006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Risk (High/Medium/Low)</a:t>
            </a:r>
          </a:p>
        </p:txBody>
      </p:sp>
      <p:sp>
        <p:nvSpPr>
          <p:cNvPr id="3704" name="TextBox 40"/>
          <p:cNvSpPr txBox="1"/>
          <p:nvPr/>
        </p:nvSpPr>
        <p:spPr>
          <a:xfrm>
            <a:off x="9093250" y="737006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705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40664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706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40664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707" name="Connector 43"/>
          <p:cNvSpPr/>
          <p:nvPr/>
        </p:nvSpPr>
        <p:spPr>
          <a:xfrm>
            <a:off x="1371600" y="77724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08" name="TextBox 44"/>
          <p:cNvSpPr txBox="1"/>
          <p:nvPr/>
        </p:nvSpPr>
        <p:spPr>
          <a:xfrm>
            <a:off x="1517902" y="780897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709" name="TextBox 45"/>
          <p:cNvSpPr txBox="1"/>
          <p:nvPr/>
        </p:nvSpPr>
        <p:spPr>
          <a:xfrm>
            <a:off x="2600094" y="780897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last unit Price</a:t>
            </a:r>
          </a:p>
        </p:txBody>
      </p:sp>
      <p:sp>
        <p:nvSpPr>
          <p:cNvPr id="3710" name="TextBox 46"/>
          <p:cNvSpPr txBox="1"/>
          <p:nvPr/>
        </p:nvSpPr>
        <p:spPr>
          <a:xfrm>
            <a:off x="9093250" y="78089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711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4555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712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45552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713" name="Connector 49"/>
          <p:cNvSpPr/>
          <p:nvPr/>
        </p:nvSpPr>
        <p:spPr>
          <a:xfrm>
            <a:off x="1371600" y="821131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14" name="TextBox 50"/>
          <p:cNvSpPr txBox="1"/>
          <p:nvPr/>
        </p:nvSpPr>
        <p:spPr>
          <a:xfrm>
            <a:off x="1517902" y="824788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715" name="TextBox 51"/>
          <p:cNvSpPr txBox="1"/>
          <p:nvPr/>
        </p:nvSpPr>
        <p:spPr>
          <a:xfrm>
            <a:off x="2600094" y="8247888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YTD %</a:t>
            </a:r>
          </a:p>
        </p:txBody>
      </p:sp>
      <p:sp>
        <p:nvSpPr>
          <p:cNvPr id="3716" name="TextBox 52"/>
          <p:cNvSpPr txBox="1"/>
          <p:nvPr/>
        </p:nvSpPr>
        <p:spPr>
          <a:xfrm>
            <a:off x="9093250" y="824788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717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28446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718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28446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719" name="Connector 55"/>
          <p:cNvSpPr/>
          <p:nvPr/>
        </p:nvSpPr>
        <p:spPr>
          <a:xfrm>
            <a:off x="1371600" y="865022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20" name="TextBox 56"/>
          <p:cNvSpPr txBox="1"/>
          <p:nvPr/>
        </p:nvSpPr>
        <p:spPr>
          <a:xfrm>
            <a:off x="1517902" y="86868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721" name="TextBox 57"/>
          <p:cNvSpPr txBox="1"/>
          <p:nvPr/>
        </p:nvSpPr>
        <p:spPr>
          <a:xfrm>
            <a:off x="2600094" y="86868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Change since inception</a:t>
            </a:r>
          </a:p>
        </p:txBody>
      </p:sp>
      <p:sp>
        <p:nvSpPr>
          <p:cNvPr id="3722" name="TextBox 58"/>
          <p:cNvSpPr txBox="1"/>
          <p:nvPr/>
        </p:nvSpPr>
        <p:spPr>
          <a:xfrm>
            <a:off x="9093250" y="86867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723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7233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724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7233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725" name="Connector 61"/>
          <p:cNvSpPr/>
          <p:nvPr/>
        </p:nvSpPr>
        <p:spPr>
          <a:xfrm>
            <a:off x="1371600" y="908913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26" name="TextBox 62"/>
          <p:cNvSpPr txBox="1"/>
          <p:nvPr/>
        </p:nvSpPr>
        <p:spPr>
          <a:xfrm>
            <a:off x="1517902" y="912571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727" name="TextBox 63"/>
          <p:cNvSpPr txBox="1"/>
          <p:nvPr/>
        </p:nvSpPr>
        <p:spPr>
          <a:xfrm>
            <a:off x="2600094" y="912571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Inception Date</a:t>
            </a:r>
          </a:p>
        </p:txBody>
      </p:sp>
      <p:sp>
        <p:nvSpPr>
          <p:cNvPr id="3728" name="TextBox 64"/>
          <p:cNvSpPr txBox="1"/>
          <p:nvPr/>
        </p:nvSpPr>
        <p:spPr>
          <a:xfrm>
            <a:off x="9093250" y="912571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729" name="Picture 65" descr="Picture 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16228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730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16228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731" name="Connector 67"/>
          <p:cNvSpPr/>
          <p:nvPr/>
        </p:nvSpPr>
        <p:spPr>
          <a:xfrm>
            <a:off x="1371600" y="9528047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32" name="TextBox 68"/>
          <p:cNvSpPr txBox="1"/>
          <p:nvPr/>
        </p:nvSpPr>
        <p:spPr>
          <a:xfrm>
            <a:off x="1517902" y="956462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3733" name="TextBox 69"/>
          <p:cNvSpPr txBox="1"/>
          <p:nvPr/>
        </p:nvSpPr>
        <p:spPr>
          <a:xfrm>
            <a:off x="2600094" y="956462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Min.Subscription</a:t>
            </a:r>
          </a:p>
        </p:txBody>
      </p:sp>
      <p:sp>
        <p:nvSpPr>
          <p:cNvPr id="3734" name="TextBox 70"/>
          <p:cNvSpPr txBox="1"/>
          <p:nvPr/>
        </p:nvSpPr>
        <p:spPr>
          <a:xfrm>
            <a:off x="9093250" y="956462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735" name="Picture 71" descr="Picture 7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60120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736" name="Picture 72" descr="Picture 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60120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737" name="Connector 73"/>
          <p:cNvSpPr/>
          <p:nvPr/>
        </p:nvSpPr>
        <p:spPr>
          <a:xfrm>
            <a:off x="1371600" y="99669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38" name="TextBox 74"/>
          <p:cNvSpPr txBox="1"/>
          <p:nvPr/>
        </p:nvSpPr>
        <p:spPr>
          <a:xfrm>
            <a:off x="1517902" y="10003535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3739" name="TextBox 75"/>
          <p:cNvSpPr txBox="1"/>
          <p:nvPr/>
        </p:nvSpPr>
        <p:spPr>
          <a:xfrm>
            <a:off x="2600094" y="10003535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 yield %</a:t>
            </a:r>
          </a:p>
        </p:txBody>
      </p:sp>
      <p:sp>
        <p:nvSpPr>
          <p:cNvPr id="3740" name="TextBox 76"/>
          <p:cNvSpPr txBox="1"/>
          <p:nvPr/>
        </p:nvSpPr>
        <p:spPr>
          <a:xfrm>
            <a:off x="9093250" y="10003535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741" name="Picture 77" descr="Picture 7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4011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742" name="Picture 78" descr="Picture 7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4011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743" name="Connector 79"/>
          <p:cNvSpPr/>
          <p:nvPr/>
        </p:nvSpPr>
        <p:spPr>
          <a:xfrm>
            <a:off x="1371600" y="1040587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44" name="TextBox 80"/>
          <p:cNvSpPr txBox="1"/>
          <p:nvPr/>
        </p:nvSpPr>
        <p:spPr>
          <a:xfrm>
            <a:off x="1517902" y="1044244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3745" name="TextBox 81"/>
          <p:cNvSpPr txBox="1"/>
          <p:nvPr/>
        </p:nvSpPr>
        <p:spPr>
          <a:xfrm>
            <a:off x="2600094" y="1044244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 frequency</a:t>
            </a:r>
          </a:p>
        </p:txBody>
      </p:sp>
      <p:sp>
        <p:nvSpPr>
          <p:cNvPr id="3746" name="TextBox 82"/>
          <p:cNvSpPr txBox="1"/>
          <p:nvPr/>
        </p:nvSpPr>
        <p:spPr>
          <a:xfrm>
            <a:off x="9093250" y="1044244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747" name="Picture 83" descr="Picture 8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47902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748" name="Picture 84" descr="Picture 8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47902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749" name="Connector 85"/>
          <p:cNvSpPr/>
          <p:nvPr/>
        </p:nvSpPr>
        <p:spPr>
          <a:xfrm>
            <a:off x="1371600" y="108447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50" name="TextBox 86"/>
          <p:cNvSpPr txBox="1"/>
          <p:nvPr/>
        </p:nvSpPr>
        <p:spPr>
          <a:xfrm>
            <a:off x="1517902" y="108813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3751" name="TextBox 87"/>
          <p:cNvSpPr txBox="1"/>
          <p:nvPr/>
        </p:nvSpPr>
        <p:spPr>
          <a:xfrm>
            <a:off x="2600094" y="108813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Annualized %</a:t>
            </a:r>
          </a:p>
        </p:txBody>
      </p:sp>
      <p:sp>
        <p:nvSpPr>
          <p:cNvPr id="3752" name="TextBox 88"/>
          <p:cNvSpPr txBox="1"/>
          <p:nvPr/>
        </p:nvSpPr>
        <p:spPr>
          <a:xfrm>
            <a:off x="9093250" y="108813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753" name="Picture 89" descr="Picture 8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9179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754" name="Picture 90" descr="Picture 9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9179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755" name="Connector 91"/>
          <p:cNvSpPr/>
          <p:nvPr/>
        </p:nvSpPr>
        <p:spPr>
          <a:xfrm>
            <a:off x="1371600" y="11283694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56" name="TextBox 92"/>
          <p:cNvSpPr txBox="1"/>
          <p:nvPr/>
        </p:nvSpPr>
        <p:spPr>
          <a:xfrm>
            <a:off x="1517902" y="1132027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3757" name="TextBox 93"/>
          <p:cNvSpPr txBox="1"/>
          <p:nvPr/>
        </p:nvSpPr>
        <p:spPr>
          <a:xfrm>
            <a:off x="2600094" y="1132027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Recommender</a:t>
            </a:r>
          </a:p>
        </p:txBody>
      </p:sp>
      <p:sp>
        <p:nvSpPr>
          <p:cNvPr id="3758" name="TextBox 94"/>
          <p:cNvSpPr txBox="1"/>
          <p:nvPr/>
        </p:nvSpPr>
        <p:spPr>
          <a:xfrm>
            <a:off x="9093250" y="1132027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759" name="Picture 95" descr="Picture 9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35684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760" name="Picture 96" descr="Picture 9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356847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761" name="TextBox 97"/>
          <p:cNvSpPr txBox="1"/>
          <p:nvPr/>
        </p:nvSpPr>
        <p:spPr>
          <a:xfrm>
            <a:off x="18832982" y="11320271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ARCD-72386</a:t>
            </a:r>
          </a:p>
        </p:txBody>
      </p:sp>
      <p:sp>
        <p:nvSpPr>
          <p:cNvPr id="3762" name="Connector 98"/>
          <p:cNvSpPr/>
          <p:nvPr/>
        </p:nvSpPr>
        <p:spPr>
          <a:xfrm>
            <a:off x="1371600" y="1172260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63" name="TextBox 99"/>
          <p:cNvSpPr txBox="1"/>
          <p:nvPr/>
        </p:nvSpPr>
        <p:spPr>
          <a:xfrm>
            <a:off x="1517902" y="1175918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3764" name="TextBox 100"/>
          <p:cNvSpPr txBox="1"/>
          <p:nvPr/>
        </p:nvSpPr>
        <p:spPr>
          <a:xfrm>
            <a:off x="2600094" y="1175918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comparison</a:t>
            </a:r>
          </a:p>
        </p:txBody>
      </p:sp>
      <p:sp>
        <p:nvSpPr>
          <p:cNvPr id="3765" name="TextBox 101"/>
          <p:cNvSpPr txBox="1"/>
          <p:nvPr/>
        </p:nvSpPr>
        <p:spPr>
          <a:xfrm>
            <a:off x="9093250" y="1175918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766" name="Picture 102" descr="Picture 10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79575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767" name="Picture 103" descr="Picture 10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795759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768" name="Connector 104"/>
          <p:cNvSpPr/>
          <p:nvPr/>
        </p:nvSpPr>
        <p:spPr>
          <a:xfrm>
            <a:off x="1371600" y="121615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69" name="TextBox 105"/>
          <p:cNvSpPr txBox="1"/>
          <p:nvPr/>
        </p:nvSpPr>
        <p:spPr>
          <a:xfrm>
            <a:off x="1517902" y="1219809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3770" name="TextBox 106"/>
          <p:cNvSpPr txBox="1"/>
          <p:nvPr/>
        </p:nvSpPr>
        <p:spPr>
          <a:xfrm>
            <a:off x="2600094" y="1219809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display preferences</a:t>
            </a:r>
          </a:p>
        </p:txBody>
      </p:sp>
      <p:sp>
        <p:nvSpPr>
          <p:cNvPr id="3771" name="TextBox 107"/>
          <p:cNvSpPr txBox="1"/>
          <p:nvPr/>
        </p:nvSpPr>
        <p:spPr>
          <a:xfrm>
            <a:off x="9093250" y="1219809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3772" name="Picture 108" descr="Picture 10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3467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773" name="Picture 109" descr="Picture 10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3467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774" name="Connector 110"/>
          <p:cNvSpPr/>
          <p:nvPr/>
        </p:nvSpPr>
        <p:spPr>
          <a:xfrm>
            <a:off x="1371600" y="1260043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75" name="TextBox 111"/>
          <p:cNvSpPr txBox="1"/>
          <p:nvPr/>
        </p:nvSpPr>
        <p:spPr>
          <a:xfrm>
            <a:off x="1517902" y="12637006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3776" name="TextBox 112"/>
          <p:cNvSpPr txBox="1"/>
          <p:nvPr/>
        </p:nvSpPr>
        <p:spPr>
          <a:xfrm>
            <a:off x="2600094" y="12637006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Fliter (Growth/Dividend/Smart/Saving/Endowment)</a:t>
            </a:r>
          </a:p>
        </p:txBody>
      </p:sp>
      <p:sp>
        <p:nvSpPr>
          <p:cNvPr id="3777" name="TextBox 113"/>
          <p:cNvSpPr txBox="1"/>
          <p:nvPr/>
        </p:nvSpPr>
        <p:spPr>
          <a:xfrm>
            <a:off x="9093250" y="1263700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3778" name="Picture 114" descr="Picture 11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67358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779" name="Picture 115" descr="Picture 1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67358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780" name="Connector 116"/>
          <p:cNvSpPr/>
          <p:nvPr/>
        </p:nvSpPr>
        <p:spPr>
          <a:xfrm>
            <a:off x="1371600" y="1303934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81" name="TextBox 117"/>
          <p:cNvSpPr txBox="1"/>
          <p:nvPr/>
        </p:nvSpPr>
        <p:spPr>
          <a:xfrm>
            <a:off x="1517902" y="13075919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3782" name="TextBox 118"/>
          <p:cNvSpPr txBox="1"/>
          <p:nvPr/>
        </p:nvSpPr>
        <p:spPr>
          <a:xfrm>
            <a:off x="2600094" y="13075919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sort by (Performance/Price/Risk)</a:t>
            </a:r>
          </a:p>
        </p:txBody>
      </p:sp>
      <p:sp>
        <p:nvSpPr>
          <p:cNvPr id="3783" name="TextBox 119"/>
          <p:cNvSpPr txBox="1"/>
          <p:nvPr/>
        </p:nvSpPr>
        <p:spPr>
          <a:xfrm>
            <a:off x="9093250" y="1307591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3784" name="Picture 120" descr="Picture 12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311249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785" name="Picture 121" descr="Picture 12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311249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786" name="Connector 122"/>
          <p:cNvSpPr/>
          <p:nvPr/>
        </p:nvSpPr>
        <p:spPr>
          <a:xfrm>
            <a:off x="1371600" y="1347825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3789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051 / 111</a:t>
            </a:r>
          </a:p>
        </p:txBody>
      </p:sp>
      <p:sp>
        <p:nvSpPr>
          <p:cNvPr id="3790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3791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Fund Details</a:t>
            </a:r>
          </a:p>
        </p:txBody>
      </p:sp>
      <p:sp>
        <p:nvSpPr>
          <p:cNvPr id="3792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3793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3794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3795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3796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3797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3798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3799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800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01" name="TextBox 14"/>
          <p:cNvSpPr txBox="1"/>
          <p:nvPr/>
        </p:nvSpPr>
        <p:spPr>
          <a:xfrm>
            <a:off x="1517902" y="5614415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802" name="TextBox 15"/>
          <p:cNvSpPr txBox="1"/>
          <p:nvPr/>
        </p:nvSpPr>
        <p:spPr>
          <a:xfrm>
            <a:off x="2600094" y="5614415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name</a:t>
            </a:r>
          </a:p>
        </p:txBody>
      </p:sp>
      <p:sp>
        <p:nvSpPr>
          <p:cNvPr id="3803" name="TextBox 16"/>
          <p:cNvSpPr txBox="1"/>
          <p:nvPr/>
        </p:nvSpPr>
        <p:spPr>
          <a:xfrm>
            <a:off x="9093250" y="5614415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04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099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805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099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806" name="Connector 19"/>
          <p:cNvSpPr/>
          <p:nvPr/>
        </p:nvSpPr>
        <p:spPr>
          <a:xfrm>
            <a:off x="1371600" y="60167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07" name="TextBox 20"/>
          <p:cNvSpPr txBox="1"/>
          <p:nvPr/>
        </p:nvSpPr>
        <p:spPr>
          <a:xfrm>
            <a:off x="1517902" y="605332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808" name="TextBox 21"/>
          <p:cNvSpPr txBox="1"/>
          <p:nvPr/>
        </p:nvSpPr>
        <p:spPr>
          <a:xfrm>
            <a:off x="2600094" y="6053328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type</a:t>
            </a:r>
          </a:p>
        </p:txBody>
      </p:sp>
      <p:sp>
        <p:nvSpPr>
          <p:cNvPr id="3809" name="TextBox 22"/>
          <p:cNvSpPr txBox="1"/>
          <p:nvPr/>
        </p:nvSpPr>
        <p:spPr>
          <a:xfrm>
            <a:off x="9093250" y="605332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10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8990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811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8990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812" name="Connector 25"/>
          <p:cNvSpPr/>
          <p:nvPr/>
        </p:nvSpPr>
        <p:spPr>
          <a:xfrm>
            <a:off x="1371600" y="6455664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13" name="TextBox 26"/>
          <p:cNvSpPr txBox="1"/>
          <p:nvPr/>
        </p:nvSpPr>
        <p:spPr>
          <a:xfrm>
            <a:off x="1517902" y="64922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814" name="TextBox 27"/>
          <p:cNvSpPr txBox="1"/>
          <p:nvPr/>
        </p:nvSpPr>
        <p:spPr>
          <a:xfrm>
            <a:off x="2600094" y="64922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Assets type</a:t>
            </a:r>
          </a:p>
        </p:txBody>
      </p:sp>
      <p:sp>
        <p:nvSpPr>
          <p:cNvPr id="3815" name="TextBox 28"/>
          <p:cNvSpPr txBox="1"/>
          <p:nvPr/>
        </p:nvSpPr>
        <p:spPr>
          <a:xfrm>
            <a:off x="9093250" y="6492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16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52881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817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52881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818" name="Connector 31"/>
          <p:cNvSpPr/>
          <p:nvPr/>
        </p:nvSpPr>
        <p:spPr>
          <a:xfrm>
            <a:off x="1371600" y="689457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19" name="TextBox 32"/>
          <p:cNvSpPr txBox="1"/>
          <p:nvPr/>
        </p:nvSpPr>
        <p:spPr>
          <a:xfrm>
            <a:off x="1517902" y="693115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820" name="TextBox 33"/>
          <p:cNvSpPr txBox="1"/>
          <p:nvPr/>
        </p:nvSpPr>
        <p:spPr>
          <a:xfrm>
            <a:off x="2600094" y="693115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chart (1W / 1M / 3M / 6M / 1Y / 5Y)</a:t>
            </a:r>
          </a:p>
        </p:txBody>
      </p:sp>
      <p:sp>
        <p:nvSpPr>
          <p:cNvPr id="3821" name="TextBox 34"/>
          <p:cNvSpPr txBox="1"/>
          <p:nvPr/>
        </p:nvSpPr>
        <p:spPr>
          <a:xfrm>
            <a:off x="9093250" y="69311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22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96772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823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96772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824" name="Connector 37"/>
          <p:cNvSpPr/>
          <p:nvPr/>
        </p:nvSpPr>
        <p:spPr>
          <a:xfrm>
            <a:off x="1371600" y="73334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25" name="TextBox 38"/>
          <p:cNvSpPr txBox="1"/>
          <p:nvPr/>
        </p:nvSpPr>
        <p:spPr>
          <a:xfrm>
            <a:off x="1517902" y="737006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826" name="TextBox 39"/>
          <p:cNvSpPr txBox="1"/>
          <p:nvPr/>
        </p:nvSpPr>
        <p:spPr>
          <a:xfrm>
            <a:off x="2600094" y="737006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holding</a:t>
            </a:r>
          </a:p>
        </p:txBody>
      </p:sp>
      <p:sp>
        <p:nvSpPr>
          <p:cNvPr id="3827" name="TextBox 40"/>
          <p:cNvSpPr txBox="1"/>
          <p:nvPr/>
        </p:nvSpPr>
        <p:spPr>
          <a:xfrm>
            <a:off x="9093250" y="737006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28" name="Picture 41" descr="Picture 4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740664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829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740664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830" name="Connector 43"/>
          <p:cNvSpPr/>
          <p:nvPr/>
        </p:nvSpPr>
        <p:spPr>
          <a:xfrm>
            <a:off x="1371600" y="77724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1" name="TextBox 44"/>
          <p:cNvSpPr txBox="1"/>
          <p:nvPr/>
        </p:nvSpPr>
        <p:spPr>
          <a:xfrm>
            <a:off x="1517902" y="780897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832" name="TextBox 45"/>
          <p:cNvSpPr txBox="1"/>
          <p:nvPr/>
        </p:nvSpPr>
        <p:spPr>
          <a:xfrm>
            <a:off x="2600094" y="780897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Subscription Fees</a:t>
            </a:r>
          </a:p>
        </p:txBody>
      </p:sp>
      <p:sp>
        <p:nvSpPr>
          <p:cNvPr id="3833" name="TextBox 46"/>
          <p:cNvSpPr txBox="1"/>
          <p:nvPr/>
        </p:nvSpPr>
        <p:spPr>
          <a:xfrm>
            <a:off x="9093250" y="78089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34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4555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835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45552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836" name="Connector 49"/>
          <p:cNvSpPr/>
          <p:nvPr/>
        </p:nvSpPr>
        <p:spPr>
          <a:xfrm>
            <a:off x="1371600" y="821131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7" name="TextBox 50"/>
          <p:cNvSpPr txBox="1"/>
          <p:nvPr/>
        </p:nvSpPr>
        <p:spPr>
          <a:xfrm>
            <a:off x="1517902" y="824788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838" name="TextBox 51"/>
          <p:cNvSpPr txBox="1"/>
          <p:nvPr/>
        </p:nvSpPr>
        <p:spPr>
          <a:xfrm>
            <a:off x="2600094" y="8247888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Inception price</a:t>
            </a:r>
          </a:p>
        </p:txBody>
      </p:sp>
      <p:sp>
        <p:nvSpPr>
          <p:cNvPr id="3839" name="TextBox 52"/>
          <p:cNvSpPr txBox="1"/>
          <p:nvPr/>
        </p:nvSpPr>
        <p:spPr>
          <a:xfrm>
            <a:off x="9093250" y="824788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40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28446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841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28446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842" name="Connector 55"/>
          <p:cNvSpPr/>
          <p:nvPr/>
        </p:nvSpPr>
        <p:spPr>
          <a:xfrm>
            <a:off x="1371600" y="865022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43" name="TextBox 56"/>
          <p:cNvSpPr txBox="1"/>
          <p:nvPr/>
        </p:nvSpPr>
        <p:spPr>
          <a:xfrm>
            <a:off x="1517902" y="86868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844" name="TextBox 57"/>
          <p:cNvSpPr txBox="1"/>
          <p:nvPr/>
        </p:nvSpPr>
        <p:spPr>
          <a:xfrm>
            <a:off x="2600094" y="86868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Inception date</a:t>
            </a:r>
          </a:p>
        </p:txBody>
      </p:sp>
      <p:sp>
        <p:nvSpPr>
          <p:cNvPr id="3845" name="TextBox 58"/>
          <p:cNvSpPr txBox="1"/>
          <p:nvPr/>
        </p:nvSpPr>
        <p:spPr>
          <a:xfrm>
            <a:off x="9093250" y="86867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46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7233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847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7233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848" name="Connector 61"/>
          <p:cNvSpPr/>
          <p:nvPr/>
        </p:nvSpPr>
        <p:spPr>
          <a:xfrm>
            <a:off x="1371600" y="908913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49" name="TextBox 62"/>
          <p:cNvSpPr txBox="1"/>
          <p:nvPr/>
        </p:nvSpPr>
        <p:spPr>
          <a:xfrm>
            <a:off x="1517902" y="912571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850" name="TextBox 63"/>
          <p:cNvSpPr txBox="1"/>
          <p:nvPr/>
        </p:nvSpPr>
        <p:spPr>
          <a:xfrm>
            <a:off x="2600094" y="912571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Change since inception</a:t>
            </a:r>
          </a:p>
        </p:txBody>
      </p:sp>
      <p:sp>
        <p:nvSpPr>
          <p:cNvPr id="3851" name="TextBox 64"/>
          <p:cNvSpPr txBox="1"/>
          <p:nvPr/>
        </p:nvSpPr>
        <p:spPr>
          <a:xfrm>
            <a:off x="9093250" y="912571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52" name="Picture 65" descr="Picture 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16228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853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16228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854" name="Connector 67"/>
          <p:cNvSpPr/>
          <p:nvPr/>
        </p:nvSpPr>
        <p:spPr>
          <a:xfrm>
            <a:off x="1371600" y="9528047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5" name="TextBox 68"/>
          <p:cNvSpPr txBox="1"/>
          <p:nvPr/>
        </p:nvSpPr>
        <p:spPr>
          <a:xfrm>
            <a:off x="1517902" y="956462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3856" name="TextBox 69"/>
          <p:cNvSpPr txBox="1"/>
          <p:nvPr/>
        </p:nvSpPr>
        <p:spPr>
          <a:xfrm>
            <a:off x="2600094" y="956462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Minimum additional subscription fee</a:t>
            </a:r>
          </a:p>
        </p:txBody>
      </p:sp>
      <p:sp>
        <p:nvSpPr>
          <p:cNvPr id="3857" name="TextBox 70"/>
          <p:cNvSpPr txBox="1"/>
          <p:nvPr/>
        </p:nvSpPr>
        <p:spPr>
          <a:xfrm>
            <a:off x="9093250" y="956462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58" name="Picture 71" descr="Picture 7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60120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859" name="Picture 72" descr="Picture 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60120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860" name="Connector 73"/>
          <p:cNvSpPr/>
          <p:nvPr/>
        </p:nvSpPr>
        <p:spPr>
          <a:xfrm>
            <a:off x="1371600" y="99669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1" name="TextBox 74"/>
          <p:cNvSpPr txBox="1"/>
          <p:nvPr/>
        </p:nvSpPr>
        <p:spPr>
          <a:xfrm>
            <a:off x="1517902" y="10003535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3862" name="TextBox 75"/>
          <p:cNvSpPr txBox="1"/>
          <p:nvPr/>
        </p:nvSpPr>
        <p:spPr>
          <a:xfrm>
            <a:off x="2600094" y="10003535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Minimum redemption</a:t>
            </a:r>
          </a:p>
        </p:txBody>
      </p:sp>
      <p:sp>
        <p:nvSpPr>
          <p:cNvPr id="3863" name="TextBox 76"/>
          <p:cNvSpPr txBox="1"/>
          <p:nvPr/>
        </p:nvSpPr>
        <p:spPr>
          <a:xfrm>
            <a:off x="9093250" y="10003535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64" name="Picture 77" descr="Picture 7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4011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865" name="Picture 78" descr="Picture 7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4011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866" name="Connector 79"/>
          <p:cNvSpPr/>
          <p:nvPr/>
        </p:nvSpPr>
        <p:spPr>
          <a:xfrm>
            <a:off x="1371600" y="1040587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7" name="TextBox 80"/>
          <p:cNvSpPr txBox="1"/>
          <p:nvPr/>
        </p:nvSpPr>
        <p:spPr>
          <a:xfrm>
            <a:off x="1517902" y="1044244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3868" name="TextBox 81"/>
          <p:cNvSpPr txBox="1"/>
          <p:nvPr/>
        </p:nvSpPr>
        <p:spPr>
          <a:xfrm>
            <a:off x="2600094" y="1044244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Divided YTD</a:t>
            </a:r>
          </a:p>
        </p:txBody>
      </p:sp>
      <p:sp>
        <p:nvSpPr>
          <p:cNvPr id="3869" name="TextBox 82"/>
          <p:cNvSpPr txBox="1"/>
          <p:nvPr/>
        </p:nvSpPr>
        <p:spPr>
          <a:xfrm>
            <a:off x="9093250" y="1044244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70" name="Picture 83" descr="Picture 8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47902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871" name="Picture 84" descr="Picture 8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47902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872" name="Connector 85"/>
          <p:cNvSpPr/>
          <p:nvPr/>
        </p:nvSpPr>
        <p:spPr>
          <a:xfrm>
            <a:off x="1371600" y="108447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73" name="TextBox 86"/>
          <p:cNvSpPr txBox="1"/>
          <p:nvPr/>
        </p:nvSpPr>
        <p:spPr>
          <a:xfrm>
            <a:off x="1517902" y="108813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3874" name="TextBox 87"/>
          <p:cNvSpPr txBox="1"/>
          <p:nvPr/>
        </p:nvSpPr>
        <p:spPr>
          <a:xfrm>
            <a:off x="2600094" y="108813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Divided Yield</a:t>
            </a:r>
          </a:p>
        </p:txBody>
      </p:sp>
      <p:sp>
        <p:nvSpPr>
          <p:cNvPr id="3875" name="TextBox 88"/>
          <p:cNvSpPr txBox="1"/>
          <p:nvPr/>
        </p:nvSpPr>
        <p:spPr>
          <a:xfrm>
            <a:off x="9093250" y="108813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76" name="Picture 89" descr="Picture 8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9179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877" name="Picture 90" descr="Picture 9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9179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878" name="Connector 91"/>
          <p:cNvSpPr/>
          <p:nvPr/>
        </p:nvSpPr>
        <p:spPr>
          <a:xfrm>
            <a:off x="1371600" y="11283694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79" name="TextBox 92"/>
          <p:cNvSpPr txBox="1"/>
          <p:nvPr/>
        </p:nvSpPr>
        <p:spPr>
          <a:xfrm>
            <a:off x="1517902" y="1132027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3880" name="TextBox 93"/>
          <p:cNvSpPr txBox="1"/>
          <p:nvPr/>
        </p:nvSpPr>
        <p:spPr>
          <a:xfrm>
            <a:off x="2600094" y="1132027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Frequency</a:t>
            </a:r>
          </a:p>
        </p:txBody>
      </p:sp>
      <p:sp>
        <p:nvSpPr>
          <p:cNvPr id="3881" name="TextBox 94"/>
          <p:cNvSpPr txBox="1"/>
          <p:nvPr/>
        </p:nvSpPr>
        <p:spPr>
          <a:xfrm>
            <a:off x="9093250" y="1132027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82" name="Picture 95" descr="Picture 9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35684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883" name="Picture 96" descr="Picture 9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356847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884" name="Connector 97"/>
          <p:cNvSpPr/>
          <p:nvPr/>
        </p:nvSpPr>
        <p:spPr>
          <a:xfrm>
            <a:off x="1371600" y="1172260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85" name="TextBox 98"/>
          <p:cNvSpPr txBox="1"/>
          <p:nvPr/>
        </p:nvSpPr>
        <p:spPr>
          <a:xfrm>
            <a:off x="1517902" y="1175918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3886" name="TextBox 99"/>
          <p:cNvSpPr txBox="1"/>
          <p:nvPr/>
        </p:nvSpPr>
        <p:spPr>
          <a:xfrm>
            <a:off x="2600094" y="1175918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currency</a:t>
            </a:r>
          </a:p>
        </p:txBody>
      </p:sp>
      <p:sp>
        <p:nvSpPr>
          <p:cNvPr id="3887" name="TextBox 100"/>
          <p:cNvSpPr txBox="1"/>
          <p:nvPr/>
        </p:nvSpPr>
        <p:spPr>
          <a:xfrm>
            <a:off x="9093250" y="1175918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88" name="Picture 101" descr="Picture 10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79575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889" name="Picture 102" descr="Picture 10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795759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890" name="Connector 103"/>
          <p:cNvSpPr/>
          <p:nvPr/>
        </p:nvSpPr>
        <p:spPr>
          <a:xfrm>
            <a:off x="1371600" y="121615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91" name="TextBox 104"/>
          <p:cNvSpPr txBox="1"/>
          <p:nvPr/>
        </p:nvSpPr>
        <p:spPr>
          <a:xfrm>
            <a:off x="1517902" y="1219809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3892" name="TextBox 105"/>
          <p:cNvSpPr txBox="1"/>
          <p:nvPr/>
        </p:nvSpPr>
        <p:spPr>
          <a:xfrm>
            <a:off x="2600094" y="1219809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Redemption fees</a:t>
            </a:r>
          </a:p>
        </p:txBody>
      </p:sp>
      <p:sp>
        <p:nvSpPr>
          <p:cNvPr id="3893" name="TextBox 106"/>
          <p:cNvSpPr txBox="1"/>
          <p:nvPr/>
        </p:nvSpPr>
        <p:spPr>
          <a:xfrm>
            <a:off x="9093250" y="1219809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894" name="Picture 107" descr="Picture 10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3467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895" name="Picture 108" descr="Picture 10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3467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896" name="Connector 109"/>
          <p:cNvSpPr/>
          <p:nvPr/>
        </p:nvSpPr>
        <p:spPr>
          <a:xfrm>
            <a:off x="1371600" y="1260043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97" name="TextBox 110"/>
          <p:cNvSpPr txBox="1"/>
          <p:nvPr/>
        </p:nvSpPr>
        <p:spPr>
          <a:xfrm>
            <a:off x="1517902" y="12637006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3898" name="TextBox 111"/>
          <p:cNvSpPr txBox="1"/>
          <p:nvPr/>
        </p:nvSpPr>
        <p:spPr>
          <a:xfrm>
            <a:off x="2600094" y="12637006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Minimum subscription fees</a:t>
            </a:r>
          </a:p>
        </p:txBody>
      </p:sp>
      <p:sp>
        <p:nvSpPr>
          <p:cNvPr id="3899" name="TextBox 112"/>
          <p:cNvSpPr txBox="1"/>
          <p:nvPr/>
        </p:nvSpPr>
        <p:spPr>
          <a:xfrm>
            <a:off x="9093250" y="1263700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900" name="Picture 113" descr="Picture 11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67358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901" name="Picture 114" descr="Picture 11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67358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902" name="Connector 115"/>
          <p:cNvSpPr/>
          <p:nvPr/>
        </p:nvSpPr>
        <p:spPr>
          <a:xfrm>
            <a:off x="1371600" y="1303934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3905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052 / 111</a:t>
            </a:r>
          </a:p>
        </p:txBody>
      </p:sp>
      <p:sp>
        <p:nvSpPr>
          <p:cNvPr id="3906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3907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Portfolio analytics &amp; health</a:t>
            </a:r>
          </a:p>
        </p:txBody>
      </p:sp>
      <p:sp>
        <p:nvSpPr>
          <p:cNvPr id="3908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3909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3910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3911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3912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3913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3914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3915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3916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17" name="TextBox 14"/>
          <p:cNvSpPr txBox="1"/>
          <p:nvPr/>
        </p:nvSpPr>
        <p:spPr>
          <a:xfrm>
            <a:off x="1517902" y="566576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918" name="TextBox 15"/>
          <p:cNvSpPr txBox="1"/>
          <p:nvPr/>
        </p:nvSpPr>
        <p:spPr>
          <a:xfrm>
            <a:off x="2600094" y="566576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health score</a:t>
            </a:r>
          </a:p>
        </p:txBody>
      </p:sp>
      <p:sp>
        <p:nvSpPr>
          <p:cNvPr id="3919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920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921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922" name="TextBox 19"/>
          <p:cNvSpPr txBox="1"/>
          <p:nvPr/>
        </p:nvSpPr>
        <p:spPr>
          <a:xfrm>
            <a:off x="18832982" y="5665763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3923" name="Connector 20"/>
          <p:cNvSpPr/>
          <p:nvPr/>
        </p:nvSpPr>
        <p:spPr>
          <a:xfrm>
            <a:off x="1371600" y="611944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24" name="TextBox 21"/>
          <p:cNvSpPr txBox="1"/>
          <p:nvPr/>
        </p:nvSpPr>
        <p:spPr>
          <a:xfrm>
            <a:off x="1517902" y="620736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925" name="TextBox 22"/>
          <p:cNvSpPr txBox="1"/>
          <p:nvPr/>
        </p:nvSpPr>
        <p:spPr>
          <a:xfrm>
            <a:off x="2600094" y="620736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Risk concentration analysis</a:t>
            </a:r>
          </a:p>
        </p:txBody>
      </p:sp>
      <p:sp>
        <p:nvSpPr>
          <p:cNvPr id="3926" name="TextBox 23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927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928" name="Picture 25" descr="Picture 2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929" name="TextBox 26"/>
          <p:cNvSpPr txBox="1"/>
          <p:nvPr/>
        </p:nvSpPr>
        <p:spPr>
          <a:xfrm>
            <a:off x="18832982" y="620736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3930" name="Connector 27"/>
          <p:cNvSpPr/>
          <p:nvPr/>
        </p:nvSpPr>
        <p:spPr>
          <a:xfrm>
            <a:off x="1371600" y="66610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31" name="TextBox 28"/>
          <p:cNvSpPr txBox="1"/>
          <p:nvPr/>
        </p:nvSpPr>
        <p:spPr>
          <a:xfrm>
            <a:off x="1517902" y="674897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932" name="TextBox 29"/>
          <p:cNvSpPr txBox="1"/>
          <p:nvPr/>
        </p:nvSpPr>
        <p:spPr>
          <a:xfrm>
            <a:off x="2600094" y="674897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Diversification score</a:t>
            </a:r>
          </a:p>
        </p:txBody>
      </p:sp>
      <p:sp>
        <p:nvSpPr>
          <p:cNvPr id="3933" name="TextBox 30"/>
          <p:cNvSpPr txBox="1"/>
          <p:nvPr/>
        </p:nvSpPr>
        <p:spPr>
          <a:xfrm>
            <a:off x="9093250" y="674897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934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935" name="Picture 32" descr="Picture 3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936" name="TextBox 33"/>
          <p:cNvSpPr txBox="1"/>
          <p:nvPr/>
        </p:nvSpPr>
        <p:spPr>
          <a:xfrm>
            <a:off x="18832982" y="6748974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3937" name="Connector 34"/>
          <p:cNvSpPr/>
          <p:nvPr/>
        </p:nvSpPr>
        <p:spPr>
          <a:xfrm>
            <a:off x="1371600" y="720265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38" name="TextBox 35"/>
          <p:cNvSpPr txBox="1"/>
          <p:nvPr/>
        </p:nvSpPr>
        <p:spPr>
          <a:xfrm>
            <a:off x="1517902" y="729058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939" name="TextBox 36"/>
          <p:cNvSpPr txBox="1"/>
          <p:nvPr/>
        </p:nvSpPr>
        <p:spPr>
          <a:xfrm>
            <a:off x="2600094" y="729058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Performance vs benchmark</a:t>
            </a:r>
          </a:p>
        </p:txBody>
      </p:sp>
      <p:sp>
        <p:nvSpPr>
          <p:cNvPr id="3940" name="TextBox 37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941" name="Picture 38" descr="Picture 3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942" name="Picture 39" descr="Picture 3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943" name="TextBox 40"/>
          <p:cNvSpPr txBox="1"/>
          <p:nvPr/>
        </p:nvSpPr>
        <p:spPr>
          <a:xfrm>
            <a:off x="18832982" y="7290581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3944" name="Connector 41"/>
          <p:cNvSpPr/>
          <p:nvPr/>
        </p:nvSpPr>
        <p:spPr>
          <a:xfrm>
            <a:off x="1371600" y="774426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45" name="TextBox 42"/>
          <p:cNvSpPr txBox="1"/>
          <p:nvPr/>
        </p:nvSpPr>
        <p:spPr>
          <a:xfrm>
            <a:off x="1517902" y="783218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946" name="TextBox 43"/>
          <p:cNvSpPr txBox="1"/>
          <p:nvPr/>
        </p:nvSpPr>
        <p:spPr>
          <a:xfrm>
            <a:off x="2600094" y="783218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volatility analysis</a:t>
            </a:r>
          </a:p>
        </p:txBody>
      </p:sp>
      <p:sp>
        <p:nvSpPr>
          <p:cNvPr id="3947" name="TextBox 44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948" name="Picture 45" descr="Picture 4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949" name="Picture 46" descr="Picture 4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950" name="TextBox 47"/>
          <p:cNvSpPr txBox="1"/>
          <p:nvPr/>
        </p:nvSpPr>
        <p:spPr>
          <a:xfrm>
            <a:off x="18832982" y="7832187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3951" name="Connector 48"/>
          <p:cNvSpPr/>
          <p:nvPr/>
        </p:nvSpPr>
        <p:spPr>
          <a:xfrm>
            <a:off x="1371600" y="828587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52" name="TextBox 49"/>
          <p:cNvSpPr txBox="1"/>
          <p:nvPr/>
        </p:nvSpPr>
        <p:spPr>
          <a:xfrm>
            <a:off x="1517902" y="837379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953" name="TextBox 50"/>
          <p:cNvSpPr txBox="1"/>
          <p:nvPr/>
        </p:nvSpPr>
        <p:spPr>
          <a:xfrm>
            <a:off x="2600094" y="837379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diagnostics summary</a:t>
            </a:r>
          </a:p>
        </p:txBody>
      </p:sp>
      <p:sp>
        <p:nvSpPr>
          <p:cNvPr id="3954" name="TextBox 51"/>
          <p:cNvSpPr txBox="1"/>
          <p:nvPr/>
        </p:nvSpPr>
        <p:spPr>
          <a:xfrm>
            <a:off x="9093250" y="837379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955" name="Picture 52" descr="Picture 5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956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957" name="TextBox 54"/>
          <p:cNvSpPr txBox="1"/>
          <p:nvPr/>
        </p:nvSpPr>
        <p:spPr>
          <a:xfrm>
            <a:off x="18832982" y="8373791"/>
            <a:ext cx="230465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3958" name="Connector 55"/>
          <p:cNvSpPr/>
          <p:nvPr/>
        </p:nvSpPr>
        <p:spPr>
          <a:xfrm>
            <a:off x="1371600" y="882747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59" name="TextBox 56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960" name="TextBox 57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Peer portfolio comparison</a:t>
            </a:r>
          </a:p>
        </p:txBody>
      </p:sp>
      <p:sp>
        <p:nvSpPr>
          <p:cNvPr id="3961" name="TextBox 58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962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963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964" name="TextBox 61"/>
          <p:cNvSpPr txBox="1"/>
          <p:nvPr/>
        </p:nvSpPr>
        <p:spPr>
          <a:xfrm>
            <a:off x="18832982" y="8915400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3965" name="Connector 62"/>
          <p:cNvSpPr/>
          <p:nvPr/>
        </p:nvSpPr>
        <p:spPr>
          <a:xfrm>
            <a:off x="1371600" y="93690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66" name="TextBox 63"/>
          <p:cNvSpPr txBox="1"/>
          <p:nvPr/>
        </p:nvSpPr>
        <p:spPr>
          <a:xfrm>
            <a:off x="1517902" y="945700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967" name="TextBox 64"/>
          <p:cNvSpPr txBox="1"/>
          <p:nvPr/>
        </p:nvSpPr>
        <p:spPr>
          <a:xfrm>
            <a:off x="2600094" y="945700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Asset allocation analysis</a:t>
            </a:r>
          </a:p>
        </p:txBody>
      </p:sp>
      <p:sp>
        <p:nvSpPr>
          <p:cNvPr id="3968" name="TextBox 65"/>
          <p:cNvSpPr txBox="1"/>
          <p:nvPr/>
        </p:nvSpPr>
        <p:spPr>
          <a:xfrm>
            <a:off x="9093250" y="945700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969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970" name="Picture 67" descr="Picture 6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971" name="TextBox 68"/>
          <p:cNvSpPr txBox="1"/>
          <p:nvPr/>
        </p:nvSpPr>
        <p:spPr>
          <a:xfrm>
            <a:off x="18832982" y="9457004"/>
            <a:ext cx="230465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3972" name="Connector 69"/>
          <p:cNvSpPr/>
          <p:nvPr/>
        </p:nvSpPr>
        <p:spPr>
          <a:xfrm>
            <a:off x="1371600" y="99106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73" name="TextBox 70"/>
          <p:cNvSpPr txBox="1"/>
          <p:nvPr/>
        </p:nvSpPr>
        <p:spPr>
          <a:xfrm>
            <a:off x="1517902" y="999861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974" name="TextBox 71"/>
          <p:cNvSpPr txBox="1"/>
          <p:nvPr/>
        </p:nvSpPr>
        <p:spPr>
          <a:xfrm>
            <a:off x="2600094" y="999861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risk exposure</a:t>
            </a:r>
          </a:p>
        </p:txBody>
      </p:sp>
      <p:sp>
        <p:nvSpPr>
          <p:cNvPr id="3975" name="TextBox 72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976" name="Picture 73" descr="Picture 7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977" name="Picture 74" descr="Picture 7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978" name="Connector 75"/>
          <p:cNvSpPr/>
          <p:nvPr/>
        </p:nvSpPr>
        <p:spPr>
          <a:xfrm>
            <a:off x="1371600" y="1045229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79" name="TextBox 76"/>
          <p:cNvSpPr txBox="1"/>
          <p:nvPr/>
        </p:nvSpPr>
        <p:spPr>
          <a:xfrm>
            <a:off x="1517902" y="1054021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3980" name="TextBox 77"/>
          <p:cNvSpPr txBox="1"/>
          <p:nvPr/>
        </p:nvSpPr>
        <p:spPr>
          <a:xfrm>
            <a:off x="2600094" y="1054021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performance attribution</a:t>
            </a:r>
          </a:p>
        </p:txBody>
      </p:sp>
      <p:sp>
        <p:nvSpPr>
          <p:cNvPr id="3981" name="TextBox 78"/>
          <p:cNvSpPr txBox="1"/>
          <p:nvPr/>
        </p:nvSpPr>
        <p:spPr>
          <a:xfrm>
            <a:off x="9093250" y="105402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982" name="Picture 79" descr="Picture 7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983" name="Picture 80" descr="Picture 8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984" name="TextBox 81"/>
          <p:cNvSpPr txBox="1"/>
          <p:nvPr/>
        </p:nvSpPr>
        <p:spPr>
          <a:xfrm>
            <a:off x="18832982" y="10540217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3985" name="Connector 82"/>
          <p:cNvSpPr/>
          <p:nvPr/>
        </p:nvSpPr>
        <p:spPr>
          <a:xfrm>
            <a:off x="1371600" y="1099390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86" name="TextBox 83"/>
          <p:cNvSpPr txBox="1"/>
          <p:nvPr/>
        </p:nvSpPr>
        <p:spPr>
          <a:xfrm>
            <a:off x="1517902" y="1108182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3987" name="TextBox 84"/>
          <p:cNvSpPr txBox="1"/>
          <p:nvPr/>
        </p:nvSpPr>
        <p:spPr>
          <a:xfrm>
            <a:off x="2600094" y="1108182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Investment recommendations / insights</a:t>
            </a:r>
          </a:p>
        </p:txBody>
      </p:sp>
      <p:sp>
        <p:nvSpPr>
          <p:cNvPr id="3988" name="TextBox 85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3989" name="Picture 86" descr="Picture 8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990" name="Picture 87" descr="Picture 8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991" name="Connector 88"/>
          <p:cNvSpPr/>
          <p:nvPr/>
        </p:nvSpPr>
        <p:spPr>
          <a:xfrm>
            <a:off x="1371600" y="1153550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2" name="TextBox 89"/>
          <p:cNvSpPr txBox="1"/>
          <p:nvPr/>
        </p:nvSpPr>
        <p:spPr>
          <a:xfrm>
            <a:off x="1517902" y="1162343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3993" name="TextBox 90"/>
          <p:cNvSpPr txBox="1"/>
          <p:nvPr/>
        </p:nvSpPr>
        <p:spPr>
          <a:xfrm>
            <a:off x="2600094" y="1162343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rebalance suggestion</a:t>
            </a:r>
          </a:p>
        </p:txBody>
      </p:sp>
      <p:sp>
        <p:nvSpPr>
          <p:cNvPr id="3994" name="TextBox 91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3995" name="Picture 92" descr="Picture 9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996" name="Picture 93" descr="Picture 9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997" name="Connector 94"/>
          <p:cNvSpPr/>
          <p:nvPr/>
        </p:nvSpPr>
        <p:spPr>
          <a:xfrm>
            <a:off x="1371600" y="1207711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8" name="TextBox 95"/>
          <p:cNvSpPr txBox="1"/>
          <p:nvPr/>
        </p:nvSpPr>
        <p:spPr>
          <a:xfrm>
            <a:off x="1517902" y="1216503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3999" name="TextBox 96"/>
          <p:cNvSpPr txBox="1"/>
          <p:nvPr/>
        </p:nvSpPr>
        <p:spPr>
          <a:xfrm>
            <a:off x="2600094" y="1216503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Risk preference settings</a:t>
            </a:r>
          </a:p>
        </p:txBody>
      </p:sp>
      <p:sp>
        <p:nvSpPr>
          <p:cNvPr id="4000" name="TextBox 97"/>
          <p:cNvSpPr txBox="1"/>
          <p:nvPr/>
        </p:nvSpPr>
        <p:spPr>
          <a:xfrm>
            <a:off x="9093250" y="1216503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4001" name="Picture 98" descr="Picture 9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02" name="Picture 99" descr="Picture 9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003" name="Connector 100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4006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053 / 111</a:t>
            </a:r>
          </a:p>
        </p:txBody>
      </p:sp>
      <p:sp>
        <p:nvSpPr>
          <p:cNvPr id="4007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4008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Portfolio Insights &amp; Intelligence</a:t>
            </a:r>
          </a:p>
        </p:txBody>
      </p:sp>
      <p:sp>
        <p:nvSpPr>
          <p:cNvPr id="4009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4010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4011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4012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4013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4014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4015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4016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4017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18" name="TextBox 14"/>
          <p:cNvSpPr txBox="1"/>
          <p:nvPr/>
        </p:nvSpPr>
        <p:spPr>
          <a:xfrm>
            <a:off x="1517902" y="57150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019" name="TextBox 15"/>
          <p:cNvSpPr txBox="1"/>
          <p:nvPr/>
        </p:nvSpPr>
        <p:spPr>
          <a:xfrm>
            <a:off x="2600094" y="57150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Asset allocation analysis</a:t>
            </a:r>
          </a:p>
        </p:txBody>
      </p:sp>
      <p:sp>
        <p:nvSpPr>
          <p:cNvPr id="4020" name="TextBox 16"/>
          <p:cNvSpPr txBox="1"/>
          <p:nvPr/>
        </p:nvSpPr>
        <p:spPr>
          <a:xfrm>
            <a:off x="9093250" y="57149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021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515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22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515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023" name="Connector 19"/>
          <p:cNvSpPr/>
          <p:nvPr/>
        </p:nvSpPr>
        <p:spPr>
          <a:xfrm>
            <a:off x="1371600" y="621792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24" name="TextBox 20"/>
          <p:cNvSpPr txBox="1"/>
          <p:nvPr/>
        </p:nvSpPr>
        <p:spPr>
          <a:xfrm>
            <a:off x="1517902" y="635507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025" name="TextBox 21"/>
          <p:cNvSpPr txBox="1"/>
          <p:nvPr/>
        </p:nvSpPr>
        <p:spPr>
          <a:xfrm>
            <a:off x="2600094" y="635507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Top gainers / losers analysis</a:t>
            </a:r>
          </a:p>
        </p:txBody>
      </p:sp>
      <p:sp>
        <p:nvSpPr>
          <p:cNvPr id="4026" name="TextBox 22"/>
          <p:cNvSpPr txBox="1"/>
          <p:nvPr/>
        </p:nvSpPr>
        <p:spPr>
          <a:xfrm>
            <a:off x="9093250" y="635507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027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39165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28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39165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029" name="TextBox 25"/>
          <p:cNvSpPr txBox="1"/>
          <p:nvPr/>
        </p:nvSpPr>
        <p:spPr>
          <a:xfrm>
            <a:off x="18832982" y="635507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4030" name="Connector 26"/>
          <p:cNvSpPr/>
          <p:nvPr/>
        </p:nvSpPr>
        <p:spPr>
          <a:xfrm>
            <a:off x="1371600" y="68580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31" name="TextBox 27"/>
          <p:cNvSpPr txBox="1"/>
          <p:nvPr/>
        </p:nvSpPr>
        <p:spPr>
          <a:xfrm>
            <a:off x="1517902" y="69951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032" name="TextBox 28"/>
          <p:cNvSpPr txBox="1"/>
          <p:nvPr/>
        </p:nvSpPr>
        <p:spPr>
          <a:xfrm>
            <a:off x="2600094" y="69951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Unrealized gain analysis</a:t>
            </a:r>
          </a:p>
        </p:txBody>
      </p:sp>
      <p:sp>
        <p:nvSpPr>
          <p:cNvPr id="4033" name="TextBox 29"/>
          <p:cNvSpPr txBox="1"/>
          <p:nvPr/>
        </p:nvSpPr>
        <p:spPr>
          <a:xfrm>
            <a:off x="9093250" y="69951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034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0317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35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0317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036" name="Connector 32"/>
          <p:cNvSpPr/>
          <p:nvPr/>
        </p:nvSpPr>
        <p:spPr>
          <a:xfrm>
            <a:off x="1371600" y="74980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37" name="TextBox 33"/>
          <p:cNvSpPr txBox="1"/>
          <p:nvPr/>
        </p:nvSpPr>
        <p:spPr>
          <a:xfrm>
            <a:off x="1517902" y="76352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038" name="TextBox 34"/>
          <p:cNvSpPr txBox="1"/>
          <p:nvPr/>
        </p:nvSpPr>
        <p:spPr>
          <a:xfrm>
            <a:off x="2600094" y="76352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 analytics</a:t>
            </a:r>
          </a:p>
        </p:txBody>
      </p:sp>
      <p:sp>
        <p:nvSpPr>
          <p:cNvPr id="4039" name="TextBox 35"/>
          <p:cNvSpPr txBox="1"/>
          <p:nvPr/>
        </p:nvSpPr>
        <p:spPr>
          <a:xfrm>
            <a:off x="9093250" y="7635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040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67181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41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67181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042" name="Connector 38"/>
          <p:cNvSpPr/>
          <p:nvPr/>
        </p:nvSpPr>
        <p:spPr>
          <a:xfrm>
            <a:off x="1371600" y="81381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43" name="TextBox 39"/>
          <p:cNvSpPr txBox="1"/>
          <p:nvPr/>
        </p:nvSpPr>
        <p:spPr>
          <a:xfrm>
            <a:off x="1517902" y="827531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044" name="TextBox 40"/>
          <p:cNvSpPr txBox="1"/>
          <p:nvPr/>
        </p:nvSpPr>
        <p:spPr>
          <a:xfrm>
            <a:off x="2600094" y="827531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Sector exposure analysis</a:t>
            </a:r>
          </a:p>
        </p:txBody>
      </p:sp>
      <p:sp>
        <p:nvSpPr>
          <p:cNvPr id="4045" name="TextBox 41"/>
          <p:cNvSpPr txBox="1"/>
          <p:nvPr/>
        </p:nvSpPr>
        <p:spPr>
          <a:xfrm>
            <a:off x="9093250" y="827531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046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31189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47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31189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048" name="TextBox 44"/>
          <p:cNvSpPr txBox="1"/>
          <p:nvPr/>
        </p:nvSpPr>
        <p:spPr>
          <a:xfrm>
            <a:off x="18832982" y="8275318"/>
            <a:ext cx="230465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4049" name="Connector 45"/>
          <p:cNvSpPr/>
          <p:nvPr/>
        </p:nvSpPr>
        <p:spPr>
          <a:xfrm>
            <a:off x="1371600" y="8778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50" name="TextBox 46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051" name="TextBox 47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Holding period analysis</a:t>
            </a:r>
          </a:p>
        </p:txBody>
      </p:sp>
      <p:sp>
        <p:nvSpPr>
          <p:cNvPr id="4052" name="TextBox 48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053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54" name="Picture 50" descr="Picture 5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055" name="TextBox 51"/>
          <p:cNvSpPr txBox="1"/>
          <p:nvPr/>
        </p:nvSpPr>
        <p:spPr>
          <a:xfrm>
            <a:off x="18832982" y="8915400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4056" name="Connector 52"/>
          <p:cNvSpPr/>
          <p:nvPr/>
        </p:nvSpPr>
        <p:spPr>
          <a:xfrm>
            <a:off x="1371600" y="94183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57" name="TextBox 53"/>
          <p:cNvSpPr txBox="1"/>
          <p:nvPr/>
        </p:nvSpPr>
        <p:spPr>
          <a:xfrm>
            <a:off x="1517902" y="955548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058" name="TextBox 54"/>
          <p:cNvSpPr txBox="1"/>
          <p:nvPr/>
        </p:nvSpPr>
        <p:spPr>
          <a:xfrm>
            <a:off x="2600094" y="955548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trend analysis</a:t>
            </a:r>
          </a:p>
        </p:txBody>
      </p:sp>
      <p:sp>
        <p:nvSpPr>
          <p:cNvPr id="4059" name="TextBox 55"/>
          <p:cNvSpPr txBox="1"/>
          <p:nvPr/>
        </p:nvSpPr>
        <p:spPr>
          <a:xfrm>
            <a:off x="9093250" y="955548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060" name="Picture 56" descr="Picture 5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59205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61" name="Picture 57" descr="Picture 5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59205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062" name="Connector 58"/>
          <p:cNvSpPr/>
          <p:nvPr/>
        </p:nvSpPr>
        <p:spPr>
          <a:xfrm>
            <a:off x="1371600" y="100584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63" name="TextBox 59"/>
          <p:cNvSpPr txBox="1"/>
          <p:nvPr/>
        </p:nvSpPr>
        <p:spPr>
          <a:xfrm>
            <a:off x="1517902" y="101955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4064" name="TextBox 60"/>
          <p:cNvSpPr txBox="1"/>
          <p:nvPr/>
        </p:nvSpPr>
        <p:spPr>
          <a:xfrm>
            <a:off x="2600094" y="101955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change insights</a:t>
            </a:r>
          </a:p>
        </p:txBody>
      </p:sp>
      <p:sp>
        <p:nvSpPr>
          <p:cNvPr id="4065" name="TextBox 61"/>
          <p:cNvSpPr txBox="1"/>
          <p:nvPr/>
        </p:nvSpPr>
        <p:spPr>
          <a:xfrm>
            <a:off x="9093250" y="101955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066" name="Picture 62" descr="Picture 6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2321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67" name="Picture 63" descr="Picture 6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2321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068" name="TextBox 64"/>
          <p:cNvSpPr txBox="1"/>
          <p:nvPr/>
        </p:nvSpPr>
        <p:spPr>
          <a:xfrm>
            <a:off x="18832982" y="101955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4069" name="Connector 65"/>
          <p:cNvSpPr/>
          <p:nvPr/>
        </p:nvSpPr>
        <p:spPr>
          <a:xfrm>
            <a:off x="1371600" y="106984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70" name="TextBox 66"/>
          <p:cNvSpPr txBox="1"/>
          <p:nvPr/>
        </p:nvSpPr>
        <p:spPr>
          <a:xfrm>
            <a:off x="1517902" y="108356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071" name="TextBox 67"/>
          <p:cNvSpPr txBox="1"/>
          <p:nvPr/>
        </p:nvSpPr>
        <p:spPr>
          <a:xfrm>
            <a:off x="2600094" y="108356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Investment insights summary</a:t>
            </a:r>
          </a:p>
        </p:txBody>
      </p:sp>
      <p:sp>
        <p:nvSpPr>
          <p:cNvPr id="4072" name="TextBox 68"/>
          <p:cNvSpPr txBox="1"/>
          <p:nvPr/>
        </p:nvSpPr>
        <p:spPr>
          <a:xfrm>
            <a:off x="9093250" y="108356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073" name="Picture 69" descr="Picture 6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87221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74" name="Picture 70" descr="Picture 7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87221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075" name="TextBox 71"/>
          <p:cNvSpPr txBox="1"/>
          <p:nvPr/>
        </p:nvSpPr>
        <p:spPr>
          <a:xfrm>
            <a:off x="18832982" y="10835640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4076" name="Connector 72"/>
          <p:cNvSpPr/>
          <p:nvPr/>
        </p:nvSpPr>
        <p:spPr>
          <a:xfrm>
            <a:off x="1371600" y="113385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77" name="TextBox 73"/>
          <p:cNvSpPr txBox="1"/>
          <p:nvPr/>
        </p:nvSpPr>
        <p:spPr>
          <a:xfrm>
            <a:off x="1517902" y="1147571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4078" name="TextBox 74"/>
          <p:cNvSpPr txBox="1"/>
          <p:nvPr/>
        </p:nvSpPr>
        <p:spPr>
          <a:xfrm>
            <a:off x="2600094" y="1147571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Insight-driven alerts</a:t>
            </a:r>
          </a:p>
        </p:txBody>
      </p:sp>
      <p:sp>
        <p:nvSpPr>
          <p:cNvPr id="4079" name="TextBox 75"/>
          <p:cNvSpPr txBox="1"/>
          <p:nvPr/>
        </p:nvSpPr>
        <p:spPr>
          <a:xfrm>
            <a:off x="9093250" y="1147571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080" name="Picture 76" descr="Picture 7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51229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81" name="Picture 77" descr="Picture 7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51229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082" name="Connector 78"/>
          <p:cNvSpPr/>
          <p:nvPr/>
        </p:nvSpPr>
        <p:spPr>
          <a:xfrm>
            <a:off x="1371600" y="11978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83" name="TextBox 79"/>
          <p:cNvSpPr txBox="1"/>
          <p:nvPr/>
        </p:nvSpPr>
        <p:spPr>
          <a:xfrm>
            <a:off x="1517902" y="121158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4084" name="TextBox 80"/>
          <p:cNvSpPr txBox="1"/>
          <p:nvPr/>
        </p:nvSpPr>
        <p:spPr>
          <a:xfrm>
            <a:off x="2600094" y="121158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Insight preferences</a:t>
            </a:r>
          </a:p>
        </p:txBody>
      </p:sp>
      <p:sp>
        <p:nvSpPr>
          <p:cNvPr id="4085" name="TextBox 81"/>
          <p:cNvSpPr txBox="1"/>
          <p:nvPr/>
        </p:nvSpPr>
        <p:spPr>
          <a:xfrm>
            <a:off x="9093250" y="121157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4086" name="Picture 82" descr="Picture 8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1523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087" name="Picture 83" descr="Picture 8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1523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088" name="Connector 84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4091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054 / 111</a:t>
            </a:r>
          </a:p>
        </p:txBody>
      </p:sp>
      <p:sp>
        <p:nvSpPr>
          <p:cNvPr id="4092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4093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Portfolio Identity &amp; Structure</a:t>
            </a:r>
          </a:p>
        </p:txBody>
      </p:sp>
      <p:sp>
        <p:nvSpPr>
          <p:cNvPr id="4094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4095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4096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4097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4098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4099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4100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4101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4102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03" name="TextBox 14"/>
          <p:cNvSpPr txBox="1"/>
          <p:nvPr/>
        </p:nvSpPr>
        <p:spPr>
          <a:xfrm>
            <a:off x="1517902" y="566576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104" name="TextBox 15"/>
          <p:cNvSpPr txBox="1"/>
          <p:nvPr/>
        </p:nvSpPr>
        <p:spPr>
          <a:xfrm>
            <a:off x="2600094" y="566576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name display</a:t>
            </a:r>
          </a:p>
        </p:txBody>
      </p:sp>
      <p:sp>
        <p:nvSpPr>
          <p:cNvPr id="4105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106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07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108" name="Connector 19"/>
          <p:cNvSpPr/>
          <p:nvPr/>
        </p:nvSpPr>
        <p:spPr>
          <a:xfrm>
            <a:off x="1371600" y="611944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09" name="TextBox 20"/>
          <p:cNvSpPr txBox="1"/>
          <p:nvPr/>
        </p:nvSpPr>
        <p:spPr>
          <a:xfrm>
            <a:off x="1517902" y="620736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110" name="TextBox 21"/>
          <p:cNvSpPr txBox="1"/>
          <p:nvPr/>
        </p:nvSpPr>
        <p:spPr>
          <a:xfrm>
            <a:off x="2600094" y="620736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identity visibility (Mutual Fund Portfolio)</a:t>
            </a:r>
          </a:p>
        </p:txBody>
      </p:sp>
      <p:sp>
        <p:nvSpPr>
          <p:cNvPr id="4111" name="TextBox 22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112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13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114" name="Connector 25"/>
          <p:cNvSpPr/>
          <p:nvPr/>
        </p:nvSpPr>
        <p:spPr>
          <a:xfrm>
            <a:off x="1371600" y="66610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15" name="TextBox 26"/>
          <p:cNvSpPr txBox="1"/>
          <p:nvPr/>
        </p:nvSpPr>
        <p:spPr>
          <a:xfrm>
            <a:off x="1517902" y="674897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116" name="TextBox 27"/>
          <p:cNvSpPr txBox="1"/>
          <p:nvPr/>
        </p:nvSpPr>
        <p:spPr>
          <a:xfrm>
            <a:off x="2600094" y="674897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balance visibility</a:t>
            </a:r>
          </a:p>
        </p:txBody>
      </p:sp>
      <p:sp>
        <p:nvSpPr>
          <p:cNvPr id="4117" name="TextBox 28"/>
          <p:cNvSpPr txBox="1"/>
          <p:nvPr/>
        </p:nvSpPr>
        <p:spPr>
          <a:xfrm>
            <a:off x="9093250" y="674897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118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19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120" name="Connector 31"/>
          <p:cNvSpPr/>
          <p:nvPr/>
        </p:nvSpPr>
        <p:spPr>
          <a:xfrm>
            <a:off x="1371600" y="720265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21" name="TextBox 32"/>
          <p:cNvSpPr txBox="1"/>
          <p:nvPr/>
        </p:nvSpPr>
        <p:spPr>
          <a:xfrm>
            <a:off x="1517902" y="729058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122" name="TextBox 33"/>
          <p:cNvSpPr txBox="1"/>
          <p:nvPr/>
        </p:nvSpPr>
        <p:spPr>
          <a:xfrm>
            <a:off x="2600094" y="729058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Rename portfolio</a:t>
            </a:r>
          </a:p>
        </p:txBody>
      </p:sp>
      <p:sp>
        <p:nvSpPr>
          <p:cNvPr id="4123" name="TextBox 34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124" name="Picture 35" descr="Picture 3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25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126" name="Connector 37"/>
          <p:cNvSpPr/>
          <p:nvPr/>
        </p:nvSpPr>
        <p:spPr>
          <a:xfrm>
            <a:off x="1371600" y="774426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27" name="TextBox 38"/>
          <p:cNvSpPr txBox="1"/>
          <p:nvPr/>
        </p:nvSpPr>
        <p:spPr>
          <a:xfrm>
            <a:off x="1517902" y="783218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128" name="TextBox 39"/>
          <p:cNvSpPr txBox="1"/>
          <p:nvPr/>
        </p:nvSpPr>
        <p:spPr>
          <a:xfrm>
            <a:off x="2600094" y="783218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Create portfolio instant (5 min)</a:t>
            </a:r>
          </a:p>
        </p:txBody>
      </p:sp>
      <p:sp>
        <p:nvSpPr>
          <p:cNvPr id="4129" name="TextBox 40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130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31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132" name="Connector 43"/>
          <p:cNvSpPr/>
          <p:nvPr/>
        </p:nvSpPr>
        <p:spPr>
          <a:xfrm>
            <a:off x="1371600" y="828587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33" name="TextBox 44"/>
          <p:cNvSpPr txBox="1"/>
          <p:nvPr/>
        </p:nvSpPr>
        <p:spPr>
          <a:xfrm>
            <a:off x="1517902" y="837379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134" name="TextBox 45"/>
          <p:cNvSpPr txBox="1"/>
          <p:nvPr/>
        </p:nvSpPr>
        <p:spPr>
          <a:xfrm>
            <a:off x="2600094" y="837379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Multiple portfolios</a:t>
            </a:r>
          </a:p>
        </p:txBody>
      </p:sp>
      <p:sp>
        <p:nvSpPr>
          <p:cNvPr id="4135" name="TextBox 46"/>
          <p:cNvSpPr txBox="1"/>
          <p:nvPr/>
        </p:nvSpPr>
        <p:spPr>
          <a:xfrm>
            <a:off x="9093250" y="837379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136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37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138" name="Connector 49"/>
          <p:cNvSpPr/>
          <p:nvPr/>
        </p:nvSpPr>
        <p:spPr>
          <a:xfrm>
            <a:off x="1371600" y="882747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39" name="TextBox 50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4140" name="TextBox 51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Trade on the portfolio</a:t>
            </a:r>
          </a:p>
        </p:txBody>
      </p:sp>
      <p:sp>
        <p:nvSpPr>
          <p:cNvPr id="4141" name="TextBox 52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142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43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144" name="Connector 55"/>
          <p:cNvSpPr/>
          <p:nvPr/>
        </p:nvSpPr>
        <p:spPr>
          <a:xfrm>
            <a:off x="1371600" y="93690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45" name="TextBox 56"/>
          <p:cNvSpPr txBox="1"/>
          <p:nvPr/>
        </p:nvSpPr>
        <p:spPr>
          <a:xfrm>
            <a:off x="1517902" y="945700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146" name="TextBox 57"/>
          <p:cNvSpPr txBox="1"/>
          <p:nvPr/>
        </p:nvSpPr>
        <p:spPr>
          <a:xfrm>
            <a:off x="2600094" y="945700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transfer/withdraw</a:t>
            </a:r>
          </a:p>
        </p:txBody>
      </p:sp>
      <p:sp>
        <p:nvSpPr>
          <p:cNvPr id="4147" name="TextBox 58"/>
          <p:cNvSpPr txBox="1"/>
          <p:nvPr/>
        </p:nvSpPr>
        <p:spPr>
          <a:xfrm>
            <a:off x="9093250" y="945700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148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49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150" name="Connector 61"/>
          <p:cNvSpPr/>
          <p:nvPr/>
        </p:nvSpPr>
        <p:spPr>
          <a:xfrm>
            <a:off x="1371600" y="99106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51" name="TextBox 62"/>
          <p:cNvSpPr txBox="1"/>
          <p:nvPr/>
        </p:nvSpPr>
        <p:spPr>
          <a:xfrm>
            <a:off x="1517902" y="999861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4152" name="TextBox 63"/>
          <p:cNvSpPr txBox="1"/>
          <p:nvPr/>
        </p:nvSpPr>
        <p:spPr>
          <a:xfrm>
            <a:off x="2600094" y="999861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Copy portfolio number</a:t>
            </a:r>
          </a:p>
        </p:txBody>
      </p:sp>
      <p:sp>
        <p:nvSpPr>
          <p:cNvPr id="4153" name="TextBox 64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154" name="Picture 65" descr="Picture 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55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156" name="Connector 67"/>
          <p:cNvSpPr/>
          <p:nvPr/>
        </p:nvSpPr>
        <p:spPr>
          <a:xfrm>
            <a:off x="1371600" y="1045229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57" name="TextBox 68"/>
          <p:cNvSpPr txBox="1"/>
          <p:nvPr/>
        </p:nvSpPr>
        <p:spPr>
          <a:xfrm>
            <a:off x="1517902" y="1054021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158" name="TextBox 69"/>
          <p:cNvSpPr txBox="1"/>
          <p:nvPr/>
        </p:nvSpPr>
        <p:spPr>
          <a:xfrm>
            <a:off x="2600094" y="1054021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Preferred portfolio</a:t>
            </a:r>
          </a:p>
        </p:txBody>
      </p:sp>
      <p:sp>
        <p:nvSpPr>
          <p:cNvPr id="4159" name="TextBox 70"/>
          <p:cNvSpPr txBox="1"/>
          <p:nvPr/>
        </p:nvSpPr>
        <p:spPr>
          <a:xfrm>
            <a:off x="9093250" y="105402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160" name="Picture 71" descr="Picture 7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61" name="Picture 72" descr="Picture 7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162" name="Connector 73"/>
          <p:cNvSpPr/>
          <p:nvPr/>
        </p:nvSpPr>
        <p:spPr>
          <a:xfrm>
            <a:off x="1371600" y="1099390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63" name="TextBox 74"/>
          <p:cNvSpPr txBox="1"/>
          <p:nvPr/>
        </p:nvSpPr>
        <p:spPr>
          <a:xfrm>
            <a:off x="1517902" y="1108182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4164" name="TextBox 75"/>
          <p:cNvSpPr txBox="1"/>
          <p:nvPr/>
        </p:nvSpPr>
        <p:spPr>
          <a:xfrm>
            <a:off x="2600094" y="1108182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Delete portfolio</a:t>
            </a:r>
          </a:p>
        </p:txBody>
      </p:sp>
      <p:sp>
        <p:nvSpPr>
          <p:cNvPr id="4165" name="TextBox 76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166" name="Picture 77" descr="Picture 7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67" name="Picture 78" descr="Picture 7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168" name="Connector 79"/>
          <p:cNvSpPr/>
          <p:nvPr/>
        </p:nvSpPr>
        <p:spPr>
          <a:xfrm>
            <a:off x="1371600" y="1153550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69" name="TextBox 80"/>
          <p:cNvSpPr txBox="1"/>
          <p:nvPr/>
        </p:nvSpPr>
        <p:spPr>
          <a:xfrm>
            <a:off x="1517902" y="1162343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4170" name="TextBox 81"/>
          <p:cNvSpPr txBox="1"/>
          <p:nvPr/>
        </p:nvSpPr>
        <p:spPr>
          <a:xfrm>
            <a:off x="2600094" y="1162343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visibility settings</a:t>
            </a:r>
          </a:p>
        </p:txBody>
      </p:sp>
      <p:sp>
        <p:nvSpPr>
          <p:cNvPr id="4171" name="TextBox 82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172" name="Picture 83" descr="Picture 8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73" name="Picture 84" descr="Picture 8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174" name="TextBox 85"/>
          <p:cNvSpPr txBox="1"/>
          <p:nvPr/>
        </p:nvSpPr>
        <p:spPr>
          <a:xfrm>
            <a:off x="14504212" y="11623430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customization</a:t>
            </a:r>
          </a:p>
        </p:txBody>
      </p:sp>
      <p:sp>
        <p:nvSpPr>
          <p:cNvPr id="4175" name="Connector 86"/>
          <p:cNvSpPr/>
          <p:nvPr/>
        </p:nvSpPr>
        <p:spPr>
          <a:xfrm>
            <a:off x="1371600" y="1207711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76" name="TextBox 87"/>
          <p:cNvSpPr txBox="1"/>
          <p:nvPr/>
        </p:nvSpPr>
        <p:spPr>
          <a:xfrm>
            <a:off x="1517902" y="1216503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4177" name="TextBox 88"/>
          <p:cNvSpPr txBox="1"/>
          <p:nvPr/>
        </p:nvSpPr>
        <p:spPr>
          <a:xfrm>
            <a:off x="2600094" y="1216503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metadata view</a:t>
            </a:r>
          </a:p>
        </p:txBody>
      </p:sp>
      <p:sp>
        <p:nvSpPr>
          <p:cNvPr id="4178" name="TextBox 89"/>
          <p:cNvSpPr txBox="1"/>
          <p:nvPr/>
        </p:nvSpPr>
        <p:spPr>
          <a:xfrm>
            <a:off x="9093250" y="1216503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179" name="Picture 90" descr="Picture 9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180" name="Picture 91" descr="Picture 9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181" name="TextBox 92"/>
          <p:cNvSpPr txBox="1"/>
          <p:nvPr/>
        </p:nvSpPr>
        <p:spPr>
          <a:xfrm>
            <a:off x="14504212" y="12165034"/>
            <a:ext cx="4036163" cy="380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Full portfolio profile (strategy / goal / risk profile / creation date)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4184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055 / 111</a:t>
            </a:r>
          </a:p>
        </p:txBody>
      </p:sp>
      <p:sp>
        <p:nvSpPr>
          <p:cNvPr id="4185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4186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Cash in to Mutual Fund portfolio</a:t>
            </a:r>
          </a:p>
        </p:txBody>
      </p:sp>
      <p:sp>
        <p:nvSpPr>
          <p:cNvPr id="4187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4188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4189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4190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4191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4192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4193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4194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4195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96" name="TextBox 14"/>
          <p:cNvSpPr txBox="1"/>
          <p:nvPr/>
        </p:nvSpPr>
        <p:spPr>
          <a:xfrm>
            <a:off x="1517902" y="566576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197" name="TextBox 15"/>
          <p:cNvSpPr txBox="1"/>
          <p:nvPr/>
        </p:nvSpPr>
        <p:spPr>
          <a:xfrm>
            <a:off x="2600094" y="566576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Linked account (if ARB)</a:t>
            </a:r>
          </a:p>
        </p:txBody>
      </p:sp>
      <p:sp>
        <p:nvSpPr>
          <p:cNvPr id="4198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199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200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201" name="Connector 19"/>
          <p:cNvSpPr/>
          <p:nvPr/>
        </p:nvSpPr>
        <p:spPr>
          <a:xfrm>
            <a:off x="1371600" y="611944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02" name="TextBox 20"/>
          <p:cNvSpPr txBox="1"/>
          <p:nvPr/>
        </p:nvSpPr>
        <p:spPr>
          <a:xfrm>
            <a:off x="1517902" y="620736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203" name="TextBox 21"/>
          <p:cNvSpPr txBox="1"/>
          <p:nvPr/>
        </p:nvSpPr>
        <p:spPr>
          <a:xfrm>
            <a:off x="2600094" y="620736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ARB account</a:t>
            </a:r>
          </a:p>
        </p:txBody>
      </p:sp>
      <p:sp>
        <p:nvSpPr>
          <p:cNvPr id="4204" name="TextBox 22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205" name="Picture 23" descr="Picture 2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206" name="Picture 24" descr="Picture 2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207" name="Connector 25"/>
          <p:cNvSpPr/>
          <p:nvPr/>
        </p:nvSpPr>
        <p:spPr>
          <a:xfrm>
            <a:off x="1371600" y="66610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08" name="TextBox 26"/>
          <p:cNvSpPr txBox="1"/>
          <p:nvPr/>
        </p:nvSpPr>
        <p:spPr>
          <a:xfrm>
            <a:off x="1517902" y="674897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209" name="TextBox 27"/>
          <p:cNvSpPr txBox="1"/>
          <p:nvPr/>
        </p:nvSpPr>
        <p:spPr>
          <a:xfrm>
            <a:off x="2600094" y="674897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banks</a:t>
            </a:r>
          </a:p>
        </p:txBody>
      </p:sp>
      <p:sp>
        <p:nvSpPr>
          <p:cNvPr id="4210" name="TextBox 28"/>
          <p:cNvSpPr txBox="1"/>
          <p:nvPr/>
        </p:nvSpPr>
        <p:spPr>
          <a:xfrm>
            <a:off x="9093250" y="674897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211" name="Picture 29" descr="Picture 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212" name="Picture 30" descr="Picture 3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213" name="Connector 31"/>
          <p:cNvSpPr/>
          <p:nvPr/>
        </p:nvSpPr>
        <p:spPr>
          <a:xfrm>
            <a:off x="1371600" y="720265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14" name="TextBox 32"/>
          <p:cNvSpPr txBox="1"/>
          <p:nvPr/>
        </p:nvSpPr>
        <p:spPr>
          <a:xfrm>
            <a:off x="1517902" y="729058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215" name="TextBox 33"/>
          <p:cNvSpPr txBox="1"/>
          <p:nvPr/>
        </p:nvSpPr>
        <p:spPr>
          <a:xfrm>
            <a:off x="2600094" y="729058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Apply pay</a:t>
            </a:r>
          </a:p>
        </p:txBody>
      </p:sp>
      <p:sp>
        <p:nvSpPr>
          <p:cNvPr id="4216" name="TextBox 34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217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218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219" name="Connector 37"/>
          <p:cNvSpPr/>
          <p:nvPr/>
        </p:nvSpPr>
        <p:spPr>
          <a:xfrm>
            <a:off x="1371600" y="774426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20" name="TextBox 38"/>
          <p:cNvSpPr txBox="1"/>
          <p:nvPr/>
        </p:nvSpPr>
        <p:spPr>
          <a:xfrm>
            <a:off x="1517902" y="783218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221" name="TextBox 39"/>
          <p:cNvSpPr txBox="1"/>
          <p:nvPr/>
        </p:nvSpPr>
        <p:spPr>
          <a:xfrm>
            <a:off x="2600094" y="783218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Debit/Credit cards</a:t>
            </a:r>
          </a:p>
        </p:txBody>
      </p:sp>
      <p:sp>
        <p:nvSpPr>
          <p:cNvPr id="4222" name="TextBox 40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223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224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225" name="Connector 43"/>
          <p:cNvSpPr/>
          <p:nvPr/>
        </p:nvSpPr>
        <p:spPr>
          <a:xfrm>
            <a:off x="1371600" y="828587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26" name="TextBox 44"/>
          <p:cNvSpPr txBox="1"/>
          <p:nvPr/>
        </p:nvSpPr>
        <p:spPr>
          <a:xfrm>
            <a:off x="1517902" y="837379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227" name="TextBox 45"/>
          <p:cNvSpPr txBox="1"/>
          <p:nvPr/>
        </p:nvSpPr>
        <p:spPr>
          <a:xfrm>
            <a:off x="2600094" y="837379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Mokafaa</a:t>
            </a:r>
          </a:p>
        </p:txBody>
      </p:sp>
      <p:sp>
        <p:nvSpPr>
          <p:cNvPr id="4228" name="TextBox 46"/>
          <p:cNvSpPr txBox="1"/>
          <p:nvPr/>
        </p:nvSpPr>
        <p:spPr>
          <a:xfrm>
            <a:off x="9093250" y="837379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229" name="Picture 47" descr="Picture 4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230" name="Picture 48" descr="Picture 4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231" name="Connector 49"/>
          <p:cNvSpPr/>
          <p:nvPr/>
        </p:nvSpPr>
        <p:spPr>
          <a:xfrm>
            <a:off x="1371600" y="882747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32" name="TextBox 50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4233" name="TextBox 51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ARC Account (UCM)</a:t>
            </a:r>
          </a:p>
        </p:txBody>
      </p:sp>
      <p:sp>
        <p:nvSpPr>
          <p:cNvPr id="4234" name="TextBox 52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235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236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237" name="Connector 55"/>
          <p:cNvSpPr/>
          <p:nvPr/>
        </p:nvSpPr>
        <p:spPr>
          <a:xfrm>
            <a:off x="1371600" y="93690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38" name="TextBox 56"/>
          <p:cNvSpPr txBox="1"/>
          <p:nvPr/>
        </p:nvSpPr>
        <p:spPr>
          <a:xfrm>
            <a:off x="1517902" y="945700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239" name="TextBox 57"/>
          <p:cNvSpPr txBox="1"/>
          <p:nvPr/>
        </p:nvSpPr>
        <p:spPr>
          <a:xfrm>
            <a:off x="2600094" y="945700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portfolio</a:t>
            </a:r>
          </a:p>
        </p:txBody>
      </p:sp>
      <p:sp>
        <p:nvSpPr>
          <p:cNvPr id="4240" name="TextBox 58"/>
          <p:cNvSpPr txBox="1"/>
          <p:nvPr/>
        </p:nvSpPr>
        <p:spPr>
          <a:xfrm>
            <a:off x="9093250" y="945700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241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242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243" name="Connector 61"/>
          <p:cNvSpPr/>
          <p:nvPr/>
        </p:nvSpPr>
        <p:spPr>
          <a:xfrm>
            <a:off x="1371600" y="99106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44" name="TextBox 62"/>
          <p:cNvSpPr txBox="1"/>
          <p:nvPr/>
        </p:nvSpPr>
        <p:spPr>
          <a:xfrm>
            <a:off x="1517902" y="999861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4245" name="TextBox 63"/>
          <p:cNvSpPr txBox="1"/>
          <p:nvPr/>
        </p:nvSpPr>
        <p:spPr>
          <a:xfrm>
            <a:off x="2600094" y="999861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Fund portfolio</a:t>
            </a:r>
          </a:p>
        </p:txBody>
      </p:sp>
      <p:sp>
        <p:nvSpPr>
          <p:cNvPr id="4246" name="TextBox 64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247" name="Picture 65" descr="Picture 6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248" name="Picture 66" descr="Picture 6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249" name="Connector 67"/>
          <p:cNvSpPr/>
          <p:nvPr/>
        </p:nvSpPr>
        <p:spPr>
          <a:xfrm>
            <a:off x="1371600" y="1045229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50" name="TextBox 68"/>
          <p:cNvSpPr txBox="1"/>
          <p:nvPr/>
        </p:nvSpPr>
        <p:spPr>
          <a:xfrm>
            <a:off x="1517902" y="1054021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251" name="TextBox 69"/>
          <p:cNvSpPr txBox="1"/>
          <p:nvPr/>
        </p:nvSpPr>
        <p:spPr>
          <a:xfrm>
            <a:off x="2600094" y="1054021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US portfolio</a:t>
            </a:r>
          </a:p>
        </p:txBody>
      </p:sp>
      <p:sp>
        <p:nvSpPr>
          <p:cNvPr id="4252" name="TextBox 70"/>
          <p:cNvSpPr txBox="1"/>
          <p:nvPr/>
        </p:nvSpPr>
        <p:spPr>
          <a:xfrm>
            <a:off x="9093250" y="105402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253" name="Picture 71" descr="Picture 7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254" name="Picture 72" descr="Picture 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255" name="Connector 73"/>
          <p:cNvSpPr/>
          <p:nvPr/>
        </p:nvSpPr>
        <p:spPr>
          <a:xfrm>
            <a:off x="1371600" y="1099390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56" name="TextBox 74"/>
          <p:cNvSpPr txBox="1"/>
          <p:nvPr/>
        </p:nvSpPr>
        <p:spPr>
          <a:xfrm>
            <a:off x="1517902" y="1108182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4257" name="TextBox 75"/>
          <p:cNvSpPr txBox="1"/>
          <p:nvPr/>
        </p:nvSpPr>
        <p:spPr>
          <a:xfrm>
            <a:off x="2600094" y="1108182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international portfolio</a:t>
            </a:r>
          </a:p>
        </p:txBody>
      </p:sp>
      <p:sp>
        <p:nvSpPr>
          <p:cNvPr id="4258" name="TextBox 76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259" name="Picture 77" descr="Picture 7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260" name="Picture 78" descr="Picture 7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261" name="Connector 79"/>
          <p:cNvSpPr/>
          <p:nvPr/>
        </p:nvSpPr>
        <p:spPr>
          <a:xfrm>
            <a:off x="1371600" y="1153550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62" name="TextBox 80"/>
          <p:cNvSpPr txBox="1"/>
          <p:nvPr/>
        </p:nvSpPr>
        <p:spPr>
          <a:xfrm>
            <a:off x="1517902" y="1162343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4263" name="TextBox 81"/>
          <p:cNvSpPr txBox="1"/>
          <p:nvPr/>
        </p:nvSpPr>
        <p:spPr>
          <a:xfrm>
            <a:off x="2600094" y="1162343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Crowd fund portfolio</a:t>
            </a:r>
          </a:p>
        </p:txBody>
      </p:sp>
      <p:sp>
        <p:nvSpPr>
          <p:cNvPr id="4264" name="TextBox 82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265" name="Picture 83" descr="Picture 8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266" name="Picture 84" descr="Picture 8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267" name="Connector 85"/>
          <p:cNvSpPr/>
          <p:nvPr/>
        </p:nvSpPr>
        <p:spPr>
          <a:xfrm>
            <a:off x="1371600" y="1207711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68" name="TextBox 86"/>
          <p:cNvSpPr txBox="1"/>
          <p:nvPr/>
        </p:nvSpPr>
        <p:spPr>
          <a:xfrm>
            <a:off x="1517902" y="1216503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4269" name="TextBox 87"/>
          <p:cNvSpPr txBox="1"/>
          <p:nvPr/>
        </p:nvSpPr>
        <p:spPr>
          <a:xfrm>
            <a:off x="2600094" y="1216503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Robo portfolio</a:t>
            </a:r>
          </a:p>
        </p:txBody>
      </p:sp>
      <p:sp>
        <p:nvSpPr>
          <p:cNvPr id="4270" name="TextBox 88"/>
          <p:cNvSpPr txBox="1"/>
          <p:nvPr/>
        </p:nvSpPr>
        <p:spPr>
          <a:xfrm>
            <a:off x="9093250" y="1216503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271" name="Picture 89" descr="Picture 8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272" name="Picture 90" descr="Picture 9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4275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056 / 111</a:t>
            </a:r>
          </a:p>
        </p:txBody>
      </p:sp>
      <p:sp>
        <p:nvSpPr>
          <p:cNvPr id="4276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MUTUAL FUND  ·  CAPABILITY ASSESSMENT</a:t>
            </a:r>
          </a:p>
        </p:txBody>
      </p:sp>
      <p:sp>
        <p:nvSpPr>
          <p:cNvPr id="4277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Cash out to Mutual fund portfolio</a:t>
            </a:r>
          </a:p>
        </p:txBody>
      </p:sp>
      <p:sp>
        <p:nvSpPr>
          <p:cNvPr id="4278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4279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4280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4281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4282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4283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4284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4285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4286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87" name="TextBox 14"/>
          <p:cNvSpPr txBox="1"/>
          <p:nvPr/>
        </p:nvSpPr>
        <p:spPr>
          <a:xfrm>
            <a:off x="1517902" y="566576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288" name="TextBox 15"/>
          <p:cNvSpPr txBox="1"/>
          <p:nvPr/>
        </p:nvSpPr>
        <p:spPr>
          <a:xfrm>
            <a:off x="2600094" y="566576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Linked account (if ARB)</a:t>
            </a:r>
          </a:p>
        </p:txBody>
      </p:sp>
      <p:sp>
        <p:nvSpPr>
          <p:cNvPr id="4289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290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291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292" name="Connector 19"/>
          <p:cNvSpPr/>
          <p:nvPr/>
        </p:nvSpPr>
        <p:spPr>
          <a:xfrm>
            <a:off x="1371600" y="611944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93" name="TextBox 20"/>
          <p:cNvSpPr txBox="1"/>
          <p:nvPr/>
        </p:nvSpPr>
        <p:spPr>
          <a:xfrm>
            <a:off x="1517902" y="620736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294" name="TextBox 21"/>
          <p:cNvSpPr txBox="1"/>
          <p:nvPr/>
        </p:nvSpPr>
        <p:spPr>
          <a:xfrm>
            <a:off x="2600094" y="620736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ARB account</a:t>
            </a:r>
          </a:p>
        </p:txBody>
      </p:sp>
      <p:sp>
        <p:nvSpPr>
          <p:cNvPr id="4295" name="TextBox 22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296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297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298" name="Connector 25"/>
          <p:cNvSpPr/>
          <p:nvPr/>
        </p:nvSpPr>
        <p:spPr>
          <a:xfrm>
            <a:off x="1371600" y="66610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99" name="TextBox 26"/>
          <p:cNvSpPr txBox="1"/>
          <p:nvPr/>
        </p:nvSpPr>
        <p:spPr>
          <a:xfrm>
            <a:off x="1517902" y="674897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300" name="TextBox 27"/>
          <p:cNvSpPr txBox="1"/>
          <p:nvPr/>
        </p:nvSpPr>
        <p:spPr>
          <a:xfrm>
            <a:off x="2600094" y="674897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banks</a:t>
            </a:r>
          </a:p>
        </p:txBody>
      </p:sp>
      <p:sp>
        <p:nvSpPr>
          <p:cNvPr id="4301" name="TextBox 28"/>
          <p:cNvSpPr txBox="1"/>
          <p:nvPr/>
        </p:nvSpPr>
        <p:spPr>
          <a:xfrm>
            <a:off x="9093250" y="674897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302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303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304" name="Connector 31"/>
          <p:cNvSpPr/>
          <p:nvPr/>
        </p:nvSpPr>
        <p:spPr>
          <a:xfrm>
            <a:off x="1371600" y="720265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05" name="TextBox 32"/>
          <p:cNvSpPr txBox="1"/>
          <p:nvPr/>
        </p:nvSpPr>
        <p:spPr>
          <a:xfrm>
            <a:off x="1517902" y="729058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306" name="TextBox 33"/>
          <p:cNvSpPr txBox="1"/>
          <p:nvPr/>
        </p:nvSpPr>
        <p:spPr>
          <a:xfrm>
            <a:off x="2600094" y="729058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Apply pay</a:t>
            </a:r>
          </a:p>
        </p:txBody>
      </p:sp>
      <p:sp>
        <p:nvSpPr>
          <p:cNvPr id="4307" name="TextBox 34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4308" name="TextBox 35"/>
          <p:cNvSpPr txBox="1"/>
          <p:nvPr/>
        </p:nvSpPr>
        <p:spPr>
          <a:xfrm>
            <a:off x="10894893" y="7290581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4309" name="TextBox 36"/>
          <p:cNvSpPr txBox="1"/>
          <p:nvPr/>
        </p:nvSpPr>
        <p:spPr>
          <a:xfrm>
            <a:off x="12626399" y="7290581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4310" name="Connector 37"/>
          <p:cNvSpPr/>
          <p:nvPr/>
        </p:nvSpPr>
        <p:spPr>
          <a:xfrm>
            <a:off x="1371600" y="774426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11" name="TextBox 38"/>
          <p:cNvSpPr txBox="1"/>
          <p:nvPr/>
        </p:nvSpPr>
        <p:spPr>
          <a:xfrm>
            <a:off x="1517902" y="783218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312" name="TextBox 39"/>
          <p:cNvSpPr txBox="1"/>
          <p:nvPr/>
        </p:nvSpPr>
        <p:spPr>
          <a:xfrm>
            <a:off x="2600094" y="783218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Debit/Credit cards</a:t>
            </a:r>
          </a:p>
        </p:txBody>
      </p:sp>
      <p:sp>
        <p:nvSpPr>
          <p:cNvPr id="4313" name="TextBox 40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4314" name="TextBox 41"/>
          <p:cNvSpPr txBox="1"/>
          <p:nvPr/>
        </p:nvSpPr>
        <p:spPr>
          <a:xfrm>
            <a:off x="10894893" y="7832187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4315" name="TextBox 42"/>
          <p:cNvSpPr txBox="1"/>
          <p:nvPr/>
        </p:nvSpPr>
        <p:spPr>
          <a:xfrm>
            <a:off x="12626399" y="7832187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4316" name="Connector 43"/>
          <p:cNvSpPr/>
          <p:nvPr/>
        </p:nvSpPr>
        <p:spPr>
          <a:xfrm>
            <a:off x="1371600" y="828587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17" name="TextBox 44"/>
          <p:cNvSpPr txBox="1"/>
          <p:nvPr/>
        </p:nvSpPr>
        <p:spPr>
          <a:xfrm>
            <a:off x="1517902" y="837379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318" name="TextBox 45"/>
          <p:cNvSpPr txBox="1"/>
          <p:nvPr/>
        </p:nvSpPr>
        <p:spPr>
          <a:xfrm>
            <a:off x="2600094" y="837379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Mokafaa</a:t>
            </a:r>
          </a:p>
        </p:txBody>
      </p:sp>
      <p:sp>
        <p:nvSpPr>
          <p:cNvPr id="4319" name="TextBox 46"/>
          <p:cNvSpPr txBox="1"/>
          <p:nvPr/>
        </p:nvSpPr>
        <p:spPr>
          <a:xfrm>
            <a:off x="9093250" y="837379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4320" name="TextBox 47"/>
          <p:cNvSpPr txBox="1"/>
          <p:nvPr/>
        </p:nvSpPr>
        <p:spPr>
          <a:xfrm>
            <a:off x="10894893" y="8373791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4321" name="TextBox 48"/>
          <p:cNvSpPr txBox="1"/>
          <p:nvPr/>
        </p:nvSpPr>
        <p:spPr>
          <a:xfrm>
            <a:off x="12626399" y="8373791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4322" name="Connector 49"/>
          <p:cNvSpPr/>
          <p:nvPr/>
        </p:nvSpPr>
        <p:spPr>
          <a:xfrm>
            <a:off x="1371600" y="882747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23" name="TextBox 50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4324" name="TextBox 51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ARC Account (UCM)</a:t>
            </a:r>
          </a:p>
        </p:txBody>
      </p:sp>
      <p:sp>
        <p:nvSpPr>
          <p:cNvPr id="4325" name="TextBox 52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326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327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328" name="Connector 55"/>
          <p:cNvSpPr/>
          <p:nvPr/>
        </p:nvSpPr>
        <p:spPr>
          <a:xfrm>
            <a:off x="1371600" y="93690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29" name="TextBox 56"/>
          <p:cNvSpPr txBox="1"/>
          <p:nvPr/>
        </p:nvSpPr>
        <p:spPr>
          <a:xfrm>
            <a:off x="1517902" y="945700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330" name="TextBox 57"/>
          <p:cNvSpPr txBox="1"/>
          <p:nvPr/>
        </p:nvSpPr>
        <p:spPr>
          <a:xfrm>
            <a:off x="2600094" y="945700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portfolio</a:t>
            </a:r>
          </a:p>
        </p:txBody>
      </p:sp>
      <p:sp>
        <p:nvSpPr>
          <p:cNvPr id="4331" name="TextBox 58"/>
          <p:cNvSpPr txBox="1"/>
          <p:nvPr/>
        </p:nvSpPr>
        <p:spPr>
          <a:xfrm>
            <a:off x="9093250" y="945700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332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333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334" name="Connector 61"/>
          <p:cNvSpPr/>
          <p:nvPr/>
        </p:nvSpPr>
        <p:spPr>
          <a:xfrm>
            <a:off x="1371600" y="99106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35" name="TextBox 62"/>
          <p:cNvSpPr txBox="1"/>
          <p:nvPr/>
        </p:nvSpPr>
        <p:spPr>
          <a:xfrm>
            <a:off x="1517902" y="999861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4336" name="TextBox 63"/>
          <p:cNvSpPr txBox="1"/>
          <p:nvPr/>
        </p:nvSpPr>
        <p:spPr>
          <a:xfrm>
            <a:off x="2600094" y="999861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Fund portfolio</a:t>
            </a:r>
          </a:p>
        </p:txBody>
      </p:sp>
      <p:sp>
        <p:nvSpPr>
          <p:cNvPr id="4337" name="TextBox 64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338" name="Picture 65" descr="Picture 6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339" name="Picture 66" descr="Picture 6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340" name="Connector 67"/>
          <p:cNvSpPr/>
          <p:nvPr/>
        </p:nvSpPr>
        <p:spPr>
          <a:xfrm>
            <a:off x="1371600" y="1045229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41" name="TextBox 68"/>
          <p:cNvSpPr txBox="1"/>
          <p:nvPr/>
        </p:nvSpPr>
        <p:spPr>
          <a:xfrm>
            <a:off x="1517902" y="1054021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342" name="TextBox 69"/>
          <p:cNvSpPr txBox="1"/>
          <p:nvPr/>
        </p:nvSpPr>
        <p:spPr>
          <a:xfrm>
            <a:off x="2600094" y="1054021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US portfolio</a:t>
            </a:r>
          </a:p>
        </p:txBody>
      </p:sp>
      <p:sp>
        <p:nvSpPr>
          <p:cNvPr id="4343" name="TextBox 70"/>
          <p:cNvSpPr txBox="1"/>
          <p:nvPr/>
        </p:nvSpPr>
        <p:spPr>
          <a:xfrm>
            <a:off x="9093250" y="105402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344" name="Picture 71" descr="Picture 7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345" name="Picture 72" descr="Picture 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346" name="Connector 73"/>
          <p:cNvSpPr/>
          <p:nvPr/>
        </p:nvSpPr>
        <p:spPr>
          <a:xfrm>
            <a:off x="1371600" y="1099390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47" name="TextBox 74"/>
          <p:cNvSpPr txBox="1"/>
          <p:nvPr/>
        </p:nvSpPr>
        <p:spPr>
          <a:xfrm>
            <a:off x="1517902" y="1108182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4348" name="TextBox 75"/>
          <p:cNvSpPr txBox="1"/>
          <p:nvPr/>
        </p:nvSpPr>
        <p:spPr>
          <a:xfrm>
            <a:off x="2600094" y="1108182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international portfolio</a:t>
            </a:r>
          </a:p>
        </p:txBody>
      </p:sp>
      <p:sp>
        <p:nvSpPr>
          <p:cNvPr id="4349" name="TextBox 76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350" name="Picture 77" descr="Picture 7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351" name="Picture 78" descr="Picture 7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352" name="Connector 79"/>
          <p:cNvSpPr/>
          <p:nvPr/>
        </p:nvSpPr>
        <p:spPr>
          <a:xfrm>
            <a:off x="1371600" y="1153550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53" name="TextBox 80"/>
          <p:cNvSpPr txBox="1"/>
          <p:nvPr/>
        </p:nvSpPr>
        <p:spPr>
          <a:xfrm>
            <a:off x="1517902" y="1162343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4354" name="TextBox 81"/>
          <p:cNvSpPr txBox="1"/>
          <p:nvPr/>
        </p:nvSpPr>
        <p:spPr>
          <a:xfrm>
            <a:off x="2600094" y="1162343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Crowd fund portfolio</a:t>
            </a:r>
          </a:p>
        </p:txBody>
      </p:sp>
      <p:sp>
        <p:nvSpPr>
          <p:cNvPr id="4355" name="TextBox 82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356" name="Picture 83" descr="Picture 8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357" name="Picture 84" descr="Picture 8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358" name="Connector 85"/>
          <p:cNvSpPr/>
          <p:nvPr/>
        </p:nvSpPr>
        <p:spPr>
          <a:xfrm>
            <a:off x="1371600" y="1207711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59" name="TextBox 86"/>
          <p:cNvSpPr txBox="1"/>
          <p:nvPr/>
        </p:nvSpPr>
        <p:spPr>
          <a:xfrm>
            <a:off x="1517902" y="1216503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4360" name="TextBox 87"/>
          <p:cNvSpPr txBox="1"/>
          <p:nvPr/>
        </p:nvSpPr>
        <p:spPr>
          <a:xfrm>
            <a:off x="2600094" y="1216503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Robo portfolio</a:t>
            </a:r>
          </a:p>
        </p:txBody>
      </p:sp>
      <p:sp>
        <p:nvSpPr>
          <p:cNvPr id="4361" name="TextBox 88"/>
          <p:cNvSpPr txBox="1"/>
          <p:nvPr/>
        </p:nvSpPr>
        <p:spPr>
          <a:xfrm>
            <a:off x="9093250" y="1216503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362" name="Picture 89" descr="Picture 8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363" name="Picture 90" descr="Picture 9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364" name="Connector 91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6" name="TextBox 3"/>
          <p:cNvSpPr txBox="1"/>
          <p:nvPr/>
        </p:nvSpPr>
        <p:spPr>
          <a:xfrm>
            <a:off x="18900646" y="1097280"/>
            <a:ext cx="4114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300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APRIL 2026</a:t>
            </a:r>
          </a:p>
        </p:txBody>
      </p:sp>
      <p:sp>
        <p:nvSpPr>
          <p:cNvPr id="4367" name="Rectangle 4"/>
          <p:cNvSpPr/>
          <p:nvPr/>
        </p:nvSpPr>
        <p:spPr>
          <a:xfrm>
            <a:off x="1371600" y="4114799"/>
            <a:ext cx="1371600" cy="36579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4368" name="TextBox 5"/>
          <p:cNvSpPr txBox="1"/>
          <p:nvPr/>
        </p:nvSpPr>
        <p:spPr>
          <a:xfrm>
            <a:off x="1371600" y="4389120"/>
            <a:ext cx="20116800" cy="1719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US </a:t>
            </a:r>
            <a:r>
              <a:rPr>
                <a:solidFill>
                  <a:srgbClr val="0333E8"/>
                </a:solidFill>
              </a:rPr>
              <a:t>Market</a:t>
            </a:r>
          </a:p>
        </p:txBody>
      </p:sp>
      <p:sp>
        <p:nvSpPr>
          <p:cNvPr id="4369" name="TextBox 6"/>
          <p:cNvSpPr txBox="1"/>
          <p:nvPr/>
        </p:nvSpPr>
        <p:spPr>
          <a:xfrm>
            <a:off x="1371600" y="7863840"/>
            <a:ext cx="20116800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International equities trading on US exchanges</a:t>
            </a:r>
          </a:p>
        </p:txBody>
      </p:sp>
      <p:sp>
        <p:nvSpPr>
          <p:cNvPr id="4370" name="TextBox 7"/>
          <p:cNvSpPr txBox="1"/>
          <p:nvPr/>
        </p:nvSpPr>
        <p:spPr>
          <a:xfrm>
            <a:off x="1371600" y="9143999"/>
            <a:ext cx="20116800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 LIVE STATUS  ·  JIRA COVERAGE</a:t>
            </a:r>
          </a:p>
        </p:txBody>
      </p:sp>
      <p:sp>
        <p:nvSpPr>
          <p:cNvPr id="4371" name="TextBox 8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057 / 111</a:t>
            </a:r>
          </a:p>
        </p:txBody>
      </p:sp>
      <p:pic>
        <p:nvPicPr>
          <p:cNvPr id="437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2200" cy="8220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4375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058 / 111</a:t>
            </a:r>
          </a:p>
        </p:txBody>
      </p:sp>
      <p:sp>
        <p:nvSpPr>
          <p:cNvPr id="4376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SECTION SUMMARY</a:t>
            </a:r>
          </a:p>
        </p:txBody>
      </p:sp>
      <p:sp>
        <p:nvSpPr>
          <p:cNvPr id="4377" name="TextBox 4"/>
          <p:cNvSpPr txBox="1"/>
          <p:nvPr/>
        </p:nvSpPr>
        <p:spPr>
          <a:xfrm>
            <a:off x="1371600" y="2834638"/>
            <a:ext cx="20116800" cy="769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4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241 capabilities assessed. 149 already live.</a:t>
            </a:r>
          </a:p>
        </p:txBody>
      </p:sp>
      <p:sp>
        <p:nvSpPr>
          <p:cNvPr id="4378" name="TextBox 5"/>
          <p:cNvSpPr txBox="1"/>
          <p:nvPr/>
        </p:nvSpPr>
        <p:spPr>
          <a:xfrm>
            <a:off x="1371600" y="5760720"/>
            <a:ext cx="6400800" cy="3200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8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241</a:t>
            </a:r>
          </a:p>
        </p:txBody>
      </p:sp>
      <p:sp>
        <p:nvSpPr>
          <p:cNvPr id="4379" name="TextBox 6"/>
          <p:cNvSpPr txBox="1"/>
          <p:nvPr/>
        </p:nvSpPr>
        <p:spPr>
          <a:xfrm>
            <a:off x="1371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TOTAL CAPABILITIES</a:t>
            </a:r>
          </a:p>
        </p:txBody>
      </p:sp>
      <p:sp>
        <p:nvSpPr>
          <p:cNvPr id="4380" name="Rectangle 7"/>
          <p:cNvSpPr/>
          <p:nvPr/>
        </p:nvSpPr>
        <p:spPr>
          <a:xfrm>
            <a:off x="1371600" y="9098280"/>
            <a:ext cx="1371600" cy="36578"/>
          </a:xfrm>
          <a:prstGeom prst="rect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4381" name="TextBox 8"/>
          <p:cNvSpPr txBox="1"/>
          <p:nvPr/>
        </p:nvSpPr>
        <p:spPr>
          <a:xfrm>
            <a:off x="8229600" y="5760720"/>
            <a:ext cx="6400800" cy="3200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8000">
                <a:solidFill>
                  <a:srgbClr val="059669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149</a:t>
            </a:r>
          </a:p>
        </p:txBody>
      </p:sp>
      <p:sp>
        <p:nvSpPr>
          <p:cNvPr id="4382" name="TextBox 9"/>
          <p:cNvSpPr txBox="1"/>
          <p:nvPr/>
        </p:nvSpPr>
        <p:spPr>
          <a:xfrm>
            <a:off x="8229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LIVE ON APP   (61% OF 241)</a:t>
            </a:r>
          </a:p>
        </p:txBody>
      </p:sp>
      <p:sp>
        <p:nvSpPr>
          <p:cNvPr id="4383" name="Rectangle 10"/>
          <p:cNvSpPr/>
          <p:nvPr/>
        </p:nvSpPr>
        <p:spPr>
          <a:xfrm>
            <a:off x="8229600" y="9098280"/>
            <a:ext cx="1371600" cy="36578"/>
          </a:xfrm>
          <a:prstGeom prst="rect">
            <a:avLst/>
          </a:prstGeom>
          <a:solidFill>
            <a:srgbClr val="05966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4384" name="TextBox 11"/>
          <p:cNvSpPr txBox="1"/>
          <p:nvPr/>
        </p:nvSpPr>
        <p:spPr>
          <a:xfrm>
            <a:off x="15087600" y="5760720"/>
            <a:ext cx="6400800" cy="3200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8000">
                <a:solidFill>
                  <a:srgbClr val="0333E8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28</a:t>
            </a:r>
          </a:p>
        </p:txBody>
      </p:sp>
      <p:sp>
        <p:nvSpPr>
          <p:cNvPr id="4385" name="TextBox 12"/>
          <p:cNvSpPr txBox="1"/>
          <p:nvPr/>
        </p:nvSpPr>
        <p:spPr>
          <a:xfrm>
            <a:off x="15087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TRACKED IN JIRA   (11% OF 241)</a:t>
            </a:r>
          </a:p>
        </p:txBody>
      </p:sp>
      <p:sp>
        <p:nvSpPr>
          <p:cNvPr id="4386" name="Rectangle 13"/>
          <p:cNvSpPr/>
          <p:nvPr/>
        </p:nvSpPr>
        <p:spPr>
          <a:xfrm>
            <a:off x="15087600" y="9098280"/>
            <a:ext cx="1371600" cy="36578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4387" name="Connector 14"/>
          <p:cNvSpPr/>
          <p:nvPr/>
        </p:nvSpPr>
        <p:spPr>
          <a:xfrm>
            <a:off x="1371600" y="10789918"/>
            <a:ext cx="21643849" cy="2"/>
          </a:xfrm>
          <a:prstGeom prst="line">
            <a:avLst/>
          </a:prstGeom>
          <a:ln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88" name="TextBox 15"/>
          <p:cNvSpPr txBox="1"/>
          <p:nvPr/>
        </p:nvSpPr>
        <p:spPr>
          <a:xfrm>
            <a:off x="1371600" y="11109959"/>
            <a:ext cx="1828800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TWO HEADLINES</a:t>
            </a:r>
          </a:p>
        </p:txBody>
      </p:sp>
      <p:sp>
        <p:nvSpPr>
          <p:cNvPr id="4389" name="TextBox 16"/>
          <p:cNvSpPr txBox="1"/>
          <p:nvPr/>
        </p:nvSpPr>
        <p:spPr>
          <a:xfrm>
            <a:off x="1371600" y="11612880"/>
            <a:ext cx="10058400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96 gaps still block full US app parity.</a:t>
            </a:r>
          </a:p>
        </p:txBody>
      </p:sp>
      <p:sp>
        <p:nvSpPr>
          <p:cNvPr id="4390" name="TextBox 17"/>
          <p:cNvSpPr txBox="1"/>
          <p:nvPr/>
        </p:nvSpPr>
        <p:spPr>
          <a:xfrm>
            <a:off x="11978640" y="11612880"/>
            <a:ext cx="10058402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13% Jira coverage — strongest discipline of the retail products.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2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858554" y="-118831"/>
            <a:ext cx="8882655" cy="14425960"/>
          </a:xfrm>
          <a:prstGeom prst="rect">
            <a:avLst/>
          </a:prstGeom>
          <a:ln w="12700">
            <a:miter lim="400000"/>
          </a:ln>
        </p:spPr>
      </p:pic>
      <p:sp>
        <p:nvSpPr>
          <p:cNvPr id="4393" name="Rectangle 6"/>
          <p:cNvSpPr/>
          <p:nvPr/>
        </p:nvSpPr>
        <p:spPr>
          <a:xfrm>
            <a:off x="117674" y="14407852"/>
            <a:ext cx="4450085" cy="50800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4396" name="Rectangle 7"/>
          <p:cNvGrpSpPr/>
          <p:nvPr/>
        </p:nvGrpSpPr>
        <p:grpSpPr>
          <a:xfrm>
            <a:off x="117674" y="14475113"/>
            <a:ext cx="6478783" cy="440743"/>
            <a:chOff x="0" y="0"/>
            <a:chExt cx="6478782" cy="440741"/>
          </a:xfrm>
        </p:grpSpPr>
        <p:sp>
          <p:nvSpPr>
            <p:cNvPr id="4394" name="Rectangle"/>
            <p:cNvSpPr/>
            <p:nvPr/>
          </p:nvSpPr>
          <p:spPr>
            <a:xfrm>
              <a:off x="-1" y="-1"/>
              <a:ext cx="6478783" cy="4407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395" name="* Last numbers for International, ROBO are at Q3, Q4 2025"/>
            <p:cNvSpPr txBox="1"/>
            <p:nvPr/>
          </p:nvSpPr>
          <p:spPr>
            <a:xfrm>
              <a:off x="45720" y="53823"/>
              <a:ext cx="6387340" cy="3330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i="1" sz="180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* Last numbers for International, ROBO are at Q3, Q4 2025</a:t>
              </a:r>
            </a:p>
          </p:txBody>
        </p:sp>
      </p:grpSp>
      <p:pic>
        <p:nvPicPr>
          <p:cNvPr id="4397" name="Frame 1.png" descr="Frame 1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144"/>
          <a:stretch>
            <a:fillRect/>
          </a:stretch>
        </p:blipFill>
        <p:spPr>
          <a:xfrm>
            <a:off x="25426263" y="2703744"/>
            <a:ext cx="9069094" cy="8780690"/>
          </a:xfrm>
          <a:prstGeom prst="rect">
            <a:avLst/>
          </a:prstGeom>
          <a:ln w="12700">
            <a:miter lim="400000"/>
          </a:ln>
        </p:spPr>
      </p:pic>
      <p:pic>
        <p:nvPicPr>
          <p:cNvPr id="4398" name="Picture 715" descr="Picture 71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4399" name="TextBox 716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059 / 111</a:t>
            </a:r>
          </a:p>
        </p:txBody>
      </p:sp>
      <p:sp>
        <p:nvSpPr>
          <p:cNvPr id="4400" name="TextBox 717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</a:t>
            </a:r>
          </a:p>
        </p:txBody>
      </p:sp>
      <p:sp>
        <p:nvSpPr>
          <p:cNvPr id="4401" name="TextBox 718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Sitemap</a:t>
            </a:r>
          </a:p>
        </p:txBody>
      </p:sp>
      <p:sp>
        <p:nvSpPr>
          <p:cNvPr id="4402" name="Connector 719"/>
          <p:cNvSpPr/>
          <p:nvPr/>
        </p:nvSpPr>
        <p:spPr>
          <a:xfrm flipV="1">
            <a:off x="2926079" y="8415911"/>
            <a:ext cx="227235" cy="8801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03" name="Connector 720"/>
          <p:cNvSpPr/>
          <p:nvPr/>
        </p:nvSpPr>
        <p:spPr>
          <a:xfrm flipV="1">
            <a:off x="3153312" y="8275718"/>
            <a:ext cx="213438" cy="14019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04" name="Connector 721"/>
          <p:cNvSpPr/>
          <p:nvPr/>
        </p:nvSpPr>
        <p:spPr>
          <a:xfrm flipV="1">
            <a:off x="3366749" y="8092739"/>
            <a:ext cx="202643" cy="182982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05" name="Connector 722"/>
          <p:cNvSpPr/>
          <p:nvPr/>
        </p:nvSpPr>
        <p:spPr>
          <a:xfrm flipV="1">
            <a:off x="3569391" y="7876368"/>
            <a:ext cx="194845" cy="216372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06" name="Connector 723"/>
          <p:cNvSpPr/>
          <p:nvPr/>
        </p:nvSpPr>
        <p:spPr>
          <a:xfrm flipV="1">
            <a:off x="3764234" y="7636006"/>
            <a:ext cx="190047" cy="24036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07" name="Connector 724"/>
          <p:cNvSpPr/>
          <p:nvPr/>
        </p:nvSpPr>
        <p:spPr>
          <a:xfrm flipV="1">
            <a:off x="3954279" y="7381047"/>
            <a:ext cx="188247" cy="25496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08" name="Connector 725"/>
          <p:cNvSpPr/>
          <p:nvPr/>
        </p:nvSpPr>
        <p:spPr>
          <a:xfrm flipV="1">
            <a:off x="4142525" y="7120891"/>
            <a:ext cx="189447" cy="260157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09" name="Connector 726"/>
          <p:cNvSpPr/>
          <p:nvPr/>
        </p:nvSpPr>
        <p:spPr>
          <a:xfrm flipV="1">
            <a:off x="4331968" y="6864933"/>
            <a:ext cx="193645" cy="255959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10" name="Connector 727"/>
          <p:cNvSpPr/>
          <p:nvPr/>
        </p:nvSpPr>
        <p:spPr>
          <a:xfrm flipV="1">
            <a:off x="4525612" y="6622567"/>
            <a:ext cx="200843" cy="24236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11" name="Connector 728"/>
          <p:cNvSpPr/>
          <p:nvPr/>
        </p:nvSpPr>
        <p:spPr>
          <a:xfrm flipV="1">
            <a:off x="4726454" y="6403200"/>
            <a:ext cx="211041" cy="21937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12" name="Connector 729"/>
          <p:cNvSpPr/>
          <p:nvPr/>
        </p:nvSpPr>
        <p:spPr>
          <a:xfrm flipV="1">
            <a:off x="4937492" y="6216220"/>
            <a:ext cx="224237" cy="18698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13" name="Connector 730"/>
          <p:cNvSpPr/>
          <p:nvPr/>
        </p:nvSpPr>
        <p:spPr>
          <a:xfrm flipV="1">
            <a:off x="5161727" y="6071029"/>
            <a:ext cx="240431" cy="145193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14" name="Connector 731"/>
          <p:cNvSpPr/>
          <p:nvPr/>
        </p:nvSpPr>
        <p:spPr>
          <a:xfrm flipV="1">
            <a:off x="5402157" y="5977023"/>
            <a:ext cx="259626" cy="94008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15" name="Connector 732"/>
          <p:cNvSpPr/>
          <p:nvPr/>
        </p:nvSpPr>
        <p:spPr>
          <a:xfrm flipV="1">
            <a:off x="5661781" y="5943598"/>
            <a:ext cx="281820" cy="3342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16" name="Connector 733"/>
          <p:cNvSpPr/>
          <p:nvPr/>
        </p:nvSpPr>
        <p:spPr>
          <a:xfrm>
            <a:off x="5943600" y="5943600"/>
            <a:ext cx="12344401" cy="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17" name="Connector 734"/>
          <p:cNvSpPr/>
          <p:nvPr/>
        </p:nvSpPr>
        <p:spPr>
          <a:xfrm>
            <a:off x="2926078" y="8503918"/>
            <a:ext cx="227235" cy="86676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18" name="Connector 735"/>
          <p:cNvSpPr/>
          <p:nvPr/>
        </p:nvSpPr>
        <p:spPr>
          <a:xfrm>
            <a:off x="3153311" y="8590594"/>
            <a:ext cx="213440" cy="136462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19" name="Connector 736"/>
          <p:cNvSpPr/>
          <p:nvPr/>
        </p:nvSpPr>
        <p:spPr>
          <a:xfrm>
            <a:off x="3366751" y="8727054"/>
            <a:ext cx="202643" cy="17725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20" name="Connector 737"/>
          <p:cNvSpPr/>
          <p:nvPr/>
        </p:nvSpPr>
        <p:spPr>
          <a:xfrm>
            <a:off x="3569391" y="8904302"/>
            <a:ext cx="194845" cy="20904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21" name="Connector 738"/>
          <p:cNvSpPr/>
          <p:nvPr/>
        </p:nvSpPr>
        <p:spPr>
          <a:xfrm>
            <a:off x="3764234" y="9113342"/>
            <a:ext cx="190047" cy="23183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22" name="Connector 739"/>
          <p:cNvSpPr/>
          <p:nvPr/>
        </p:nvSpPr>
        <p:spPr>
          <a:xfrm>
            <a:off x="3954279" y="9345172"/>
            <a:ext cx="188247" cy="24563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23" name="Connector 740"/>
          <p:cNvSpPr/>
          <p:nvPr/>
        </p:nvSpPr>
        <p:spPr>
          <a:xfrm>
            <a:off x="4142525" y="9590802"/>
            <a:ext cx="189447" cy="250429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24" name="Connector 741"/>
          <p:cNvSpPr/>
          <p:nvPr/>
        </p:nvSpPr>
        <p:spPr>
          <a:xfrm>
            <a:off x="4331970" y="9841230"/>
            <a:ext cx="193645" cy="24623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25" name="Connector 742"/>
          <p:cNvSpPr/>
          <p:nvPr/>
        </p:nvSpPr>
        <p:spPr>
          <a:xfrm>
            <a:off x="4525612" y="10087457"/>
            <a:ext cx="200843" cy="23303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26" name="Connector 743"/>
          <p:cNvSpPr/>
          <p:nvPr/>
        </p:nvSpPr>
        <p:spPr>
          <a:xfrm>
            <a:off x="4726454" y="10320490"/>
            <a:ext cx="211041" cy="21084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27" name="Connector 744"/>
          <p:cNvSpPr/>
          <p:nvPr/>
        </p:nvSpPr>
        <p:spPr>
          <a:xfrm>
            <a:off x="4937492" y="10531326"/>
            <a:ext cx="224237" cy="17965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28" name="Connector 745"/>
          <p:cNvSpPr/>
          <p:nvPr/>
        </p:nvSpPr>
        <p:spPr>
          <a:xfrm>
            <a:off x="5161727" y="10710975"/>
            <a:ext cx="240431" cy="13946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29" name="Connector 746"/>
          <p:cNvSpPr/>
          <p:nvPr/>
        </p:nvSpPr>
        <p:spPr>
          <a:xfrm>
            <a:off x="5402155" y="10850435"/>
            <a:ext cx="259626" cy="90276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30" name="Connector 747"/>
          <p:cNvSpPr/>
          <p:nvPr/>
        </p:nvSpPr>
        <p:spPr>
          <a:xfrm>
            <a:off x="5661781" y="10940708"/>
            <a:ext cx="281820" cy="3209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31" name="Connector 748"/>
          <p:cNvSpPr/>
          <p:nvPr/>
        </p:nvSpPr>
        <p:spPr>
          <a:xfrm>
            <a:off x="5943600" y="10972800"/>
            <a:ext cx="12344401" cy="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32" name="Oval 749"/>
          <p:cNvSpPr/>
          <p:nvPr/>
        </p:nvSpPr>
        <p:spPr>
          <a:xfrm>
            <a:off x="2148838" y="7726680"/>
            <a:ext cx="1554484" cy="1554483"/>
          </a:xfrm>
          <a:prstGeom prst="ellipse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4433" name="Oval 750"/>
          <p:cNvSpPr/>
          <p:nvPr/>
        </p:nvSpPr>
        <p:spPr>
          <a:xfrm>
            <a:off x="2286000" y="7863840"/>
            <a:ext cx="1280162" cy="1280163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4434" name="TextBox 751"/>
          <p:cNvSpPr txBox="1"/>
          <p:nvPr/>
        </p:nvSpPr>
        <p:spPr>
          <a:xfrm>
            <a:off x="640079" y="9281159"/>
            <a:ext cx="4572003" cy="248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HOME</a:t>
            </a:r>
          </a:p>
        </p:txBody>
      </p:sp>
      <p:sp>
        <p:nvSpPr>
          <p:cNvPr id="4435" name="TextBox 752"/>
          <p:cNvSpPr txBox="1"/>
          <p:nvPr/>
        </p:nvSpPr>
        <p:spPr>
          <a:xfrm>
            <a:off x="640079" y="9646918"/>
            <a:ext cx="4572003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ROOT  ·  INTERCHANGE</a:t>
            </a:r>
          </a:p>
        </p:txBody>
      </p:sp>
      <p:sp>
        <p:nvSpPr>
          <p:cNvPr id="4436" name="Oval 753"/>
          <p:cNvSpPr/>
          <p:nvPr/>
        </p:nvSpPr>
        <p:spPr>
          <a:xfrm>
            <a:off x="5646420" y="5646420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4437" name="TextBox 754"/>
          <p:cNvSpPr txBox="1"/>
          <p:nvPr/>
        </p:nvSpPr>
        <p:spPr>
          <a:xfrm>
            <a:off x="36576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4438" name="TextBox 755"/>
          <p:cNvSpPr txBox="1"/>
          <p:nvPr/>
        </p:nvSpPr>
        <p:spPr>
          <a:xfrm>
            <a:off x="3657600" y="521207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US Market</a:t>
            </a:r>
          </a:p>
        </p:txBody>
      </p:sp>
      <p:sp>
        <p:nvSpPr>
          <p:cNvPr id="4439" name="Oval 756"/>
          <p:cNvSpPr/>
          <p:nvPr/>
        </p:nvSpPr>
        <p:spPr>
          <a:xfrm>
            <a:off x="9761218" y="5646420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4440" name="TextBox 757"/>
          <p:cNvSpPr txBox="1"/>
          <p:nvPr/>
        </p:nvSpPr>
        <p:spPr>
          <a:xfrm>
            <a:off x="77724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441" name="TextBox 758"/>
          <p:cNvSpPr txBox="1"/>
          <p:nvPr/>
        </p:nvSpPr>
        <p:spPr>
          <a:xfrm>
            <a:off x="7772400" y="521207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Index / Stock</a:t>
            </a:r>
          </a:p>
        </p:txBody>
      </p:sp>
      <p:sp>
        <p:nvSpPr>
          <p:cNvPr id="4442" name="Oval 759"/>
          <p:cNvSpPr/>
          <p:nvPr/>
        </p:nvSpPr>
        <p:spPr>
          <a:xfrm>
            <a:off x="13876019" y="5646420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4443" name="TextBox 760"/>
          <p:cNvSpPr txBox="1"/>
          <p:nvPr/>
        </p:nvSpPr>
        <p:spPr>
          <a:xfrm>
            <a:off x="118872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444" name="TextBox 761"/>
          <p:cNvSpPr txBox="1"/>
          <p:nvPr/>
        </p:nvSpPr>
        <p:spPr>
          <a:xfrm>
            <a:off x="11887200" y="521207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Stock Details</a:t>
            </a:r>
          </a:p>
        </p:txBody>
      </p:sp>
      <p:sp>
        <p:nvSpPr>
          <p:cNvPr id="4445" name="Oval 762"/>
          <p:cNvSpPr/>
          <p:nvPr/>
        </p:nvSpPr>
        <p:spPr>
          <a:xfrm>
            <a:off x="17990819" y="5646420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4446" name="TextBox 763"/>
          <p:cNvSpPr txBox="1"/>
          <p:nvPr/>
        </p:nvSpPr>
        <p:spPr>
          <a:xfrm>
            <a:off x="160020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4447" name="TextBox 764"/>
          <p:cNvSpPr txBox="1"/>
          <p:nvPr/>
        </p:nvSpPr>
        <p:spPr>
          <a:xfrm>
            <a:off x="16002000" y="521207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Trade</a:t>
            </a:r>
          </a:p>
        </p:txBody>
      </p:sp>
      <p:sp>
        <p:nvSpPr>
          <p:cNvPr id="4448" name="Oval 765"/>
          <p:cNvSpPr/>
          <p:nvPr/>
        </p:nvSpPr>
        <p:spPr>
          <a:xfrm>
            <a:off x="5646420" y="10675618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4449" name="TextBox 766"/>
          <p:cNvSpPr txBox="1"/>
          <p:nvPr/>
        </p:nvSpPr>
        <p:spPr>
          <a:xfrm>
            <a:off x="3657600" y="11475718"/>
            <a:ext cx="4572000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4450" name="TextBox 767"/>
          <p:cNvSpPr txBox="1"/>
          <p:nvPr/>
        </p:nvSpPr>
        <p:spPr>
          <a:xfrm>
            <a:off x="3657600" y="1179575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Portfolios</a:t>
            </a:r>
          </a:p>
        </p:txBody>
      </p:sp>
      <p:sp>
        <p:nvSpPr>
          <p:cNvPr id="4451" name="Oval 768"/>
          <p:cNvSpPr/>
          <p:nvPr/>
        </p:nvSpPr>
        <p:spPr>
          <a:xfrm>
            <a:off x="11818618" y="10675618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4452" name="TextBox 769"/>
          <p:cNvSpPr txBox="1"/>
          <p:nvPr/>
        </p:nvSpPr>
        <p:spPr>
          <a:xfrm>
            <a:off x="9829800" y="11475718"/>
            <a:ext cx="4572000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453" name="TextBox 770"/>
          <p:cNvSpPr txBox="1"/>
          <p:nvPr/>
        </p:nvSpPr>
        <p:spPr>
          <a:xfrm>
            <a:off x="9829800" y="1179575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US Portfolios</a:t>
            </a:r>
          </a:p>
        </p:txBody>
      </p:sp>
      <p:sp>
        <p:nvSpPr>
          <p:cNvPr id="4454" name="Oval 771"/>
          <p:cNvSpPr/>
          <p:nvPr/>
        </p:nvSpPr>
        <p:spPr>
          <a:xfrm>
            <a:off x="17990819" y="10675618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4455" name="TextBox 772"/>
          <p:cNvSpPr txBox="1"/>
          <p:nvPr/>
        </p:nvSpPr>
        <p:spPr>
          <a:xfrm>
            <a:off x="16002000" y="11475718"/>
            <a:ext cx="4572000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456" name="TextBox 773"/>
          <p:cNvSpPr txBox="1"/>
          <p:nvPr/>
        </p:nvSpPr>
        <p:spPr>
          <a:xfrm>
            <a:off x="16002000" y="1179575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View / Trade</a:t>
            </a:r>
          </a:p>
        </p:txBody>
      </p:sp>
      <p:sp>
        <p:nvSpPr>
          <p:cNvPr id="4457" name="Rounded Rectangle 774"/>
          <p:cNvSpPr/>
          <p:nvPr/>
        </p:nvSpPr>
        <p:spPr>
          <a:xfrm>
            <a:off x="19659600" y="4389120"/>
            <a:ext cx="3474721" cy="146304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4458" name="Connector 775"/>
          <p:cNvSpPr/>
          <p:nvPr/>
        </p:nvSpPr>
        <p:spPr>
          <a:xfrm>
            <a:off x="19933919" y="4800600"/>
            <a:ext cx="640082" cy="0"/>
          </a:xfrm>
          <a:prstGeom prst="line">
            <a:avLst/>
          </a:prstGeom>
          <a:ln w="889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59" name="TextBox 776"/>
          <p:cNvSpPr txBox="1"/>
          <p:nvPr/>
        </p:nvSpPr>
        <p:spPr>
          <a:xfrm>
            <a:off x="20756880" y="4663440"/>
            <a:ext cx="274320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PRIMARY LINE</a:t>
            </a:r>
          </a:p>
        </p:txBody>
      </p:sp>
      <p:sp>
        <p:nvSpPr>
          <p:cNvPr id="4460" name="Connector 777"/>
          <p:cNvSpPr/>
          <p:nvPr/>
        </p:nvSpPr>
        <p:spPr>
          <a:xfrm>
            <a:off x="19933919" y="5486400"/>
            <a:ext cx="640082" cy="0"/>
          </a:xfrm>
          <a:prstGeom prst="line">
            <a:avLst/>
          </a:prstGeom>
          <a:ln w="889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61" name="TextBox 778"/>
          <p:cNvSpPr txBox="1"/>
          <p:nvPr/>
        </p:nvSpPr>
        <p:spPr>
          <a:xfrm>
            <a:off x="20756880" y="5349240"/>
            <a:ext cx="274320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PORTFOLIO 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4464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060 / 111</a:t>
            </a:r>
          </a:p>
        </p:txBody>
      </p:sp>
      <p:sp>
        <p:nvSpPr>
          <p:cNvPr id="4465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4466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Portfolio Identity &amp; Structure</a:t>
            </a:r>
          </a:p>
        </p:txBody>
      </p:sp>
      <p:sp>
        <p:nvSpPr>
          <p:cNvPr id="4467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4468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4469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4470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4471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4472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4473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4474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4475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76" name="TextBox 14"/>
          <p:cNvSpPr txBox="1"/>
          <p:nvPr/>
        </p:nvSpPr>
        <p:spPr>
          <a:xfrm>
            <a:off x="1517902" y="566576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477" name="TextBox 15"/>
          <p:cNvSpPr txBox="1"/>
          <p:nvPr/>
        </p:nvSpPr>
        <p:spPr>
          <a:xfrm>
            <a:off x="2600094" y="566576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name display</a:t>
            </a:r>
          </a:p>
        </p:txBody>
      </p:sp>
      <p:sp>
        <p:nvSpPr>
          <p:cNvPr id="4478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479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480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481" name="Connector 19"/>
          <p:cNvSpPr/>
          <p:nvPr/>
        </p:nvSpPr>
        <p:spPr>
          <a:xfrm>
            <a:off x="1371600" y="611944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82" name="TextBox 20"/>
          <p:cNvSpPr txBox="1"/>
          <p:nvPr/>
        </p:nvSpPr>
        <p:spPr>
          <a:xfrm>
            <a:off x="1517902" y="620736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483" name="TextBox 21"/>
          <p:cNvSpPr txBox="1"/>
          <p:nvPr/>
        </p:nvSpPr>
        <p:spPr>
          <a:xfrm>
            <a:off x="2600094" y="620736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identity visibility (US Portfolio)</a:t>
            </a:r>
          </a:p>
        </p:txBody>
      </p:sp>
      <p:sp>
        <p:nvSpPr>
          <p:cNvPr id="4484" name="TextBox 22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485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486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487" name="Connector 25"/>
          <p:cNvSpPr/>
          <p:nvPr/>
        </p:nvSpPr>
        <p:spPr>
          <a:xfrm>
            <a:off x="1371600" y="66610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88" name="TextBox 26"/>
          <p:cNvSpPr txBox="1"/>
          <p:nvPr/>
        </p:nvSpPr>
        <p:spPr>
          <a:xfrm>
            <a:off x="1517902" y="674897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489" name="TextBox 27"/>
          <p:cNvSpPr txBox="1"/>
          <p:nvPr/>
        </p:nvSpPr>
        <p:spPr>
          <a:xfrm>
            <a:off x="2600094" y="674897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total value</a:t>
            </a:r>
          </a:p>
        </p:txBody>
      </p:sp>
      <p:sp>
        <p:nvSpPr>
          <p:cNvPr id="4490" name="TextBox 28"/>
          <p:cNvSpPr txBox="1"/>
          <p:nvPr/>
        </p:nvSpPr>
        <p:spPr>
          <a:xfrm>
            <a:off x="9093250" y="674897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491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492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493" name="Connector 31"/>
          <p:cNvSpPr/>
          <p:nvPr/>
        </p:nvSpPr>
        <p:spPr>
          <a:xfrm>
            <a:off x="1371600" y="720265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94" name="TextBox 32"/>
          <p:cNvSpPr txBox="1"/>
          <p:nvPr/>
        </p:nvSpPr>
        <p:spPr>
          <a:xfrm>
            <a:off x="1517902" y="729058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495" name="TextBox 33"/>
          <p:cNvSpPr txBox="1"/>
          <p:nvPr/>
        </p:nvSpPr>
        <p:spPr>
          <a:xfrm>
            <a:off x="2600094" y="729058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currency</a:t>
            </a:r>
          </a:p>
        </p:txBody>
      </p:sp>
      <p:sp>
        <p:nvSpPr>
          <p:cNvPr id="4496" name="TextBox 34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497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498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499" name="Connector 37"/>
          <p:cNvSpPr/>
          <p:nvPr/>
        </p:nvSpPr>
        <p:spPr>
          <a:xfrm>
            <a:off x="1371600" y="774426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00" name="TextBox 38"/>
          <p:cNvSpPr txBox="1"/>
          <p:nvPr/>
        </p:nvSpPr>
        <p:spPr>
          <a:xfrm>
            <a:off x="1517902" y="783218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501" name="TextBox 39"/>
          <p:cNvSpPr txBox="1"/>
          <p:nvPr/>
        </p:nvSpPr>
        <p:spPr>
          <a:xfrm>
            <a:off x="2600094" y="783218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 display</a:t>
            </a:r>
          </a:p>
        </p:txBody>
      </p:sp>
      <p:sp>
        <p:nvSpPr>
          <p:cNvPr id="4502" name="TextBox 40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503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04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505" name="Connector 43"/>
          <p:cNvSpPr/>
          <p:nvPr/>
        </p:nvSpPr>
        <p:spPr>
          <a:xfrm>
            <a:off x="1371600" y="828587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06" name="TextBox 44"/>
          <p:cNvSpPr txBox="1"/>
          <p:nvPr/>
        </p:nvSpPr>
        <p:spPr>
          <a:xfrm>
            <a:off x="1517902" y="837379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507" name="TextBox 45"/>
          <p:cNvSpPr txBox="1"/>
          <p:nvPr/>
        </p:nvSpPr>
        <p:spPr>
          <a:xfrm>
            <a:off x="2600094" y="837379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value summary</a:t>
            </a:r>
          </a:p>
        </p:txBody>
      </p:sp>
      <p:sp>
        <p:nvSpPr>
          <p:cNvPr id="4508" name="TextBox 46"/>
          <p:cNvSpPr txBox="1"/>
          <p:nvPr/>
        </p:nvSpPr>
        <p:spPr>
          <a:xfrm>
            <a:off x="9093250" y="837379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509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10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511" name="Connector 49"/>
          <p:cNvSpPr/>
          <p:nvPr/>
        </p:nvSpPr>
        <p:spPr>
          <a:xfrm>
            <a:off x="1371600" y="882747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12" name="TextBox 50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4513" name="TextBox 51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cash display</a:t>
            </a:r>
          </a:p>
        </p:txBody>
      </p:sp>
      <p:sp>
        <p:nvSpPr>
          <p:cNvPr id="4514" name="TextBox 52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515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16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517" name="Connector 55"/>
          <p:cNvSpPr/>
          <p:nvPr/>
        </p:nvSpPr>
        <p:spPr>
          <a:xfrm>
            <a:off x="1371600" y="93690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18" name="TextBox 56"/>
          <p:cNvSpPr txBox="1"/>
          <p:nvPr/>
        </p:nvSpPr>
        <p:spPr>
          <a:xfrm>
            <a:off x="1517902" y="945700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519" name="TextBox 57"/>
          <p:cNvSpPr txBox="1"/>
          <p:nvPr/>
        </p:nvSpPr>
        <p:spPr>
          <a:xfrm>
            <a:off x="2600094" y="945700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gain summary</a:t>
            </a:r>
          </a:p>
        </p:txBody>
      </p:sp>
      <p:sp>
        <p:nvSpPr>
          <p:cNvPr id="4520" name="TextBox 58"/>
          <p:cNvSpPr txBox="1"/>
          <p:nvPr/>
        </p:nvSpPr>
        <p:spPr>
          <a:xfrm>
            <a:off x="9093250" y="945700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521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22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523" name="Connector 61"/>
          <p:cNvSpPr/>
          <p:nvPr/>
        </p:nvSpPr>
        <p:spPr>
          <a:xfrm>
            <a:off x="1371600" y="99106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24" name="TextBox 62"/>
          <p:cNvSpPr txBox="1"/>
          <p:nvPr/>
        </p:nvSpPr>
        <p:spPr>
          <a:xfrm>
            <a:off x="1517902" y="999861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4525" name="TextBox 63"/>
          <p:cNvSpPr txBox="1"/>
          <p:nvPr/>
        </p:nvSpPr>
        <p:spPr>
          <a:xfrm>
            <a:off x="2600094" y="999861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Holdings tab</a:t>
            </a:r>
          </a:p>
        </p:txBody>
      </p:sp>
      <p:sp>
        <p:nvSpPr>
          <p:cNvPr id="4526" name="TextBox 64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4527" name="Picture 65" descr="Picture 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28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529" name="Connector 67"/>
          <p:cNvSpPr/>
          <p:nvPr/>
        </p:nvSpPr>
        <p:spPr>
          <a:xfrm>
            <a:off x="1371600" y="1045229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30" name="TextBox 68"/>
          <p:cNvSpPr txBox="1"/>
          <p:nvPr/>
        </p:nvSpPr>
        <p:spPr>
          <a:xfrm>
            <a:off x="1517902" y="1054021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531" name="TextBox 69"/>
          <p:cNvSpPr txBox="1"/>
          <p:nvPr/>
        </p:nvSpPr>
        <p:spPr>
          <a:xfrm>
            <a:off x="2600094" y="1054021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Orders tab</a:t>
            </a:r>
          </a:p>
        </p:txBody>
      </p:sp>
      <p:sp>
        <p:nvSpPr>
          <p:cNvPr id="4532" name="TextBox 70"/>
          <p:cNvSpPr txBox="1"/>
          <p:nvPr/>
        </p:nvSpPr>
        <p:spPr>
          <a:xfrm>
            <a:off x="9093250" y="105402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4533" name="Picture 71" descr="Picture 7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34" name="Picture 72" descr="Picture 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535" name="Connector 73"/>
          <p:cNvSpPr/>
          <p:nvPr/>
        </p:nvSpPr>
        <p:spPr>
          <a:xfrm>
            <a:off x="1371600" y="1099390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36" name="TextBox 74"/>
          <p:cNvSpPr txBox="1"/>
          <p:nvPr/>
        </p:nvSpPr>
        <p:spPr>
          <a:xfrm>
            <a:off x="1517902" y="1108182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4537" name="TextBox 75"/>
          <p:cNvSpPr txBox="1"/>
          <p:nvPr/>
        </p:nvSpPr>
        <p:spPr>
          <a:xfrm>
            <a:off x="2600094" y="1108182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Transactions tab</a:t>
            </a:r>
          </a:p>
        </p:txBody>
      </p:sp>
      <p:sp>
        <p:nvSpPr>
          <p:cNvPr id="4538" name="TextBox 76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4539" name="Picture 77" descr="Picture 7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40" name="Picture 78" descr="Picture 7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541" name="Connector 79"/>
          <p:cNvSpPr/>
          <p:nvPr/>
        </p:nvSpPr>
        <p:spPr>
          <a:xfrm>
            <a:off x="1371600" y="1153550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42" name="TextBox 80"/>
          <p:cNvSpPr txBox="1"/>
          <p:nvPr/>
        </p:nvSpPr>
        <p:spPr>
          <a:xfrm>
            <a:off x="1517902" y="1162343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4543" name="TextBox 81"/>
          <p:cNvSpPr txBox="1"/>
          <p:nvPr/>
        </p:nvSpPr>
        <p:spPr>
          <a:xfrm>
            <a:off x="2600094" y="1162343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More options</a:t>
            </a:r>
          </a:p>
        </p:txBody>
      </p:sp>
      <p:sp>
        <p:nvSpPr>
          <p:cNvPr id="4544" name="TextBox 82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4545" name="Picture 83" descr="Picture 8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46" name="Picture 84" descr="Picture 8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547" name="Connector 85"/>
          <p:cNvSpPr/>
          <p:nvPr/>
        </p:nvSpPr>
        <p:spPr>
          <a:xfrm>
            <a:off x="1371600" y="1207711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48" name="TextBox 86"/>
          <p:cNvSpPr txBox="1"/>
          <p:nvPr/>
        </p:nvSpPr>
        <p:spPr>
          <a:xfrm>
            <a:off x="1517902" y="1216503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4549" name="TextBox 87"/>
          <p:cNvSpPr txBox="1"/>
          <p:nvPr/>
        </p:nvSpPr>
        <p:spPr>
          <a:xfrm>
            <a:off x="2600094" y="1216503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visibility toggle</a:t>
            </a:r>
          </a:p>
        </p:txBody>
      </p:sp>
      <p:sp>
        <p:nvSpPr>
          <p:cNvPr id="4550" name="TextBox 88"/>
          <p:cNvSpPr txBox="1"/>
          <p:nvPr/>
        </p:nvSpPr>
        <p:spPr>
          <a:xfrm>
            <a:off x="9093250" y="1216503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4551" name="Picture 89" descr="Picture 8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52" name="Picture 90" descr="Picture 9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553" name="Connector 91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4556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061 / 111</a:t>
            </a:r>
          </a:p>
        </p:txBody>
      </p:sp>
      <p:sp>
        <p:nvSpPr>
          <p:cNvPr id="4557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4558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Portfolio Valuation &amp; Performance</a:t>
            </a:r>
          </a:p>
        </p:txBody>
      </p:sp>
      <p:sp>
        <p:nvSpPr>
          <p:cNvPr id="4559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4560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4561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4562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4563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4564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4565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4566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4567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68" name="TextBox 14"/>
          <p:cNvSpPr txBox="1"/>
          <p:nvPr/>
        </p:nvSpPr>
        <p:spPr>
          <a:xfrm>
            <a:off x="1517902" y="566576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569" name="TextBox 15"/>
          <p:cNvSpPr txBox="1"/>
          <p:nvPr/>
        </p:nvSpPr>
        <p:spPr>
          <a:xfrm>
            <a:off x="2600094" y="566576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portfolio value</a:t>
            </a:r>
          </a:p>
        </p:txBody>
      </p:sp>
      <p:sp>
        <p:nvSpPr>
          <p:cNvPr id="4570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571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72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573" name="Connector 19"/>
          <p:cNvSpPr/>
          <p:nvPr/>
        </p:nvSpPr>
        <p:spPr>
          <a:xfrm>
            <a:off x="1371600" y="611944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74" name="TextBox 20"/>
          <p:cNvSpPr txBox="1"/>
          <p:nvPr/>
        </p:nvSpPr>
        <p:spPr>
          <a:xfrm>
            <a:off x="1517902" y="620736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575" name="TextBox 21"/>
          <p:cNvSpPr txBox="1"/>
          <p:nvPr/>
        </p:nvSpPr>
        <p:spPr>
          <a:xfrm>
            <a:off x="2600094" y="620736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value</a:t>
            </a:r>
          </a:p>
        </p:txBody>
      </p:sp>
      <p:sp>
        <p:nvSpPr>
          <p:cNvPr id="4576" name="TextBox 22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577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78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579" name="TextBox 25"/>
          <p:cNvSpPr txBox="1"/>
          <p:nvPr/>
        </p:nvSpPr>
        <p:spPr>
          <a:xfrm>
            <a:off x="14504212" y="620736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Asset allocation breakdown</a:t>
            </a:r>
          </a:p>
        </p:txBody>
      </p:sp>
      <p:sp>
        <p:nvSpPr>
          <p:cNvPr id="4580" name="Connector 26"/>
          <p:cNvSpPr/>
          <p:nvPr/>
        </p:nvSpPr>
        <p:spPr>
          <a:xfrm>
            <a:off x="1371600" y="66610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81" name="TextBox 27"/>
          <p:cNvSpPr txBox="1"/>
          <p:nvPr/>
        </p:nvSpPr>
        <p:spPr>
          <a:xfrm>
            <a:off x="1517902" y="674897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582" name="TextBox 28"/>
          <p:cNvSpPr txBox="1"/>
          <p:nvPr/>
        </p:nvSpPr>
        <p:spPr>
          <a:xfrm>
            <a:off x="2600094" y="674897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 / loss value</a:t>
            </a:r>
          </a:p>
        </p:txBody>
      </p:sp>
      <p:sp>
        <p:nvSpPr>
          <p:cNvPr id="4583" name="TextBox 29"/>
          <p:cNvSpPr txBox="1"/>
          <p:nvPr/>
        </p:nvSpPr>
        <p:spPr>
          <a:xfrm>
            <a:off x="9093250" y="674897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584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85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586" name="Connector 32"/>
          <p:cNvSpPr/>
          <p:nvPr/>
        </p:nvSpPr>
        <p:spPr>
          <a:xfrm>
            <a:off x="1371600" y="720265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87" name="TextBox 33"/>
          <p:cNvSpPr txBox="1"/>
          <p:nvPr/>
        </p:nvSpPr>
        <p:spPr>
          <a:xfrm>
            <a:off x="1517902" y="729058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588" name="TextBox 34"/>
          <p:cNvSpPr txBox="1"/>
          <p:nvPr/>
        </p:nvSpPr>
        <p:spPr>
          <a:xfrm>
            <a:off x="2600094" y="729058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 / loss %</a:t>
            </a:r>
          </a:p>
        </p:txBody>
      </p:sp>
      <p:sp>
        <p:nvSpPr>
          <p:cNvPr id="4589" name="TextBox 35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590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91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592" name="Connector 38"/>
          <p:cNvSpPr/>
          <p:nvPr/>
        </p:nvSpPr>
        <p:spPr>
          <a:xfrm>
            <a:off x="1371600" y="771886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93" name="TextBox 39"/>
          <p:cNvSpPr txBox="1"/>
          <p:nvPr/>
        </p:nvSpPr>
        <p:spPr>
          <a:xfrm>
            <a:off x="1517902" y="783218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594" name="TextBox 40"/>
          <p:cNvSpPr txBox="1"/>
          <p:nvPr/>
        </p:nvSpPr>
        <p:spPr>
          <a:xfrm>
            <a:off x="2600094" y="783218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gain / loss (overall)</a:t>
            </a:r>
          </a:p>
        </p:txBody>
      </p:sp>
      <p:sp>
        <p:nvSpPr>
          <p:cNvPr id="4595" name="TextBox 41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596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597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598" name="TextBox 44"/>
          <p:cNvSpPr txBox="1"/>
          <p:nvPr/>
        </p:nvSpPr>
        <p:spPr>
          <a:xfrm>
            <a:off x="14504212" y="7832187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Performance attribution insight</a:t>
            </a:r>
          </a:p>
        </p:txBody>
      </p:sp>
      <p:sp>
        <p:nvSpPr>
          <p:cNvPr id="4599" name="Connector 45"/>
          <p:cNvSpPr/>
          <p:nvPr/>
        </p:nvSpPr>
        <p:spPr>
          <a:xfrm>
            <a:off x="1371600" y="828587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00" name="TextBox 46"/>
          <p:cNvSpPr txBox="1"/>
          <p:nvPr/>
        </p:nvSpPr>
        <p:spPr>
          <a:xfrm>
            <a:off x="1517902" y="837379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601" name="TextBox 47"/>
          <p:cNvSpPr txBox="1"/>
          <p:nvPr/>
        </p:nvSpPr>
        <p:spPr>
          <a:xfrm>
            <a:off x="2600094" y="837379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cash</a:t>
            </a:r>
          </a:p>
        </p:txBody>
      </p:sp>
      <p:sp>
        <p:nvSpPr>
          <p:cNvPr id="4602" name="TextBox 48"/>
          <p:cNvSpPr txBox="1"/>
          <p:nvPr/>
        </p:nvSpPr>
        <p:spPr>
          <a:xfrm>
            <a:off x="9093250" y="837379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603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04" name="Picture 50" descr="Picture 5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605" name="Connector 51"/>
          <p:cNvSpPr/>
          <p:nvPr/>
        </p:nvSpPr>
        <p:spPr>
          <a:xfrm>
            <a:off x="1371600" y="882747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06" name="TextBox 52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4607" name="TextBox 53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Buying power</a:t>
            </a:r>
          </a:p>
        </p:txBody>
      </p:sp>
      <p:sp>
        <p:nvSpPr>
          <p:cNvPr id="4608" name="TextBox 54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609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10" name="Picture 56" descr="Picture 5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611" name="Connector 57"/>
          <p:cNvSpPr/>
          <p:nvPr/>
        </p:nvSpPr>
        <p:spPr>
          <a:xfrm>
            <a:off x="1371600" y="93690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12" name="TextBox 58"/>
          <p:cNvSpPr txBox="1"/>
          <p:nvPr/>
        </p:nvSpPr>
        <p:spPr>
          <a:xfrm>
            <a:off x="1517902" y="945700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613" name="TextBox 59"/>
          <p:cNvSpPr txBox="1"/>
          <p:nvPr/>
        </p:nvSpPr>
        <p:spPr>
          <a:xfrm>
            <a:off x="2600094" y="945700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cost</a:t>
            </a:r>
          </a:p>
        </p:txBody>
      </p:sp>
      <p:sp>
        <p:nvSpPr>
          <p:cNvPr id="4614" name="TextBox 60"/>
          <p:cNvSpPr txBox="1"/>
          <p:nvPr/>
        </p:nvSpPr>
        <p:spPr>
          <a:xfrm>
            <a:off x="9093250" y="945700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615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16" name="Picture 62" descr="Picture 6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617" name="TextBox 63"/>
          <p:cNvSpPr txBox="1"/>
          <p:nvPr/>
        </p:nvSpPr>
        <p:spPr>
          <a:xfrm>
            <a:off x="14504212" y="9457004"/>
            <a:ext cx="403616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Cost analysis insights</a:t>
            </a:r>
          </a:p>
        </p:txBody>
      </p:sp>
      <p:sp>
        <p:nvSpPr>
          <p:cNvPr id="4618" name="Connector 64"/>
          <p:cNvSpPr/>
          <p:nvPr/>
        </p:nvSpPr>
        <p:spPr>
          <a:xfrm>
            <a:off x="1371600" y="99106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19" name="TextBox 65"/>
          <p:cNvSpPr txBox="1"/>
          <p:nvPr/>
        </p:nvSpPr>
        <p:spPr>
          <a:xfrm>
            <a:off x="1517902" y="999861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4620" name="TextBox 66"/>
          <p:cNvSpPr txBox="1"/>
          <p:nvPr/>
        </p:nvSpPr>
        <p:spPr>
          <a:xfrm>
            <a:off x="2600094" y="999861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Cost value Gain/loss after sell</a:t>
            </a:r>
          </a:p>
        </p:txBody>
      </p:sp>
      <p:sp>
        <p:nvSpPr>
          <p:cNvPr id="4621" name="TextBox 67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622" name="Picture 68" descr="Picture 6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23" name="Picture 69" descr="Picture 6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624" name="Connector 70"/>
          <p:cNvSpPr/>
          <p:nvPr/>
        </p:nvSpPr>
        <p:spPr>
          <a:xfrm>
            <a:off x="1371600" y="1045229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25" name="TextBox 71"/>
          <p:cNvSpPr txBox="1"/>
          <p:nvPr/>
        </p:nvSpPr>
        <p:spPr>
          <a:xfrm>
            <a:off x="1517902" y="1054021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626" name="TextBox 72"/>
          <p:cNvSpPr txBox="1"/>
          <p:nvPr/>
        </p:nvSpPr>
        <p:spPr>
          <a:xfrm>
            <a:off x="2600094" y="1054021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</a:t>
            </a:r>
          </a:p>
        </p:txBody>
      </p:sp>
      <p:sp>
        <p:nvSpPr>
          <p:cNvPr id="4627" name="TextBox 73"/>
          <p:cNvSpPr txBox="1"/>
          <p:nvPr/>
        </p:nvSpPr>
        <p:spPr>
          <a:xfrm>
            <a:off x="9093250" y="105402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628" name="Picture 74" descr="Picture 7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29" name="Picture 75" descr="Picture 7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630" name="Connector 76"/>
          <p:cNvSpPr/>
          <p:nvPr/>
        </p:nvSpPr>
        <p:spPr>
          <a:xfrm>
            <a:off x="1371600" y="1099390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31" name="TextBox 77"/>
          <p:cNvSpPr txBox="1"/>
          <p:nvPr/>
        </p:nvSpPr>
        <p:spPr>
          <a:xfrm>
            <a:off x="1517902" y="1108182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4632" name="TextBox 78"/>
          <p:cNvSpPr txBox="1"/>
          <p:nvPr/>
        </p:nvSpPr>
        <p:spPr>
          <a:xfrm>
            <a:off x="2600094" y="1108182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performance chart</a:t>
            </a:r>
          </a:p>
        </p:txBody>
      </p:sp>
      <p:sp>
        <p:nvSpPr>
          <p:cNvPr id="4633" name="TextBox 79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634" name="Picture 80" descr="Picture 8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35" name="Picture 81" descr="Picture 8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636" name="TextBox 82"/>
          <p:cNvSpPr txBox="1"/>
          <p:nvPr/>
        </p:nvSpPr>
        <p:spPr>
          <a:xfrm>
            <a:off x="14504212" y="11081824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performance chart</a:t>
            </a:r>
          </a:p>
        </p:txBody>
      </p:sp>
      <p:sp>
        <p:nvSpPr>
          <p:cNvPr id="4637" name="Connector 83"/>
          <p:cNvSpPr/>
          <p:nvPr/>
        </p:nvSpPr>
        <p:spPr>
          <a:xfrm>
            <a:off x="1371600" y="1153550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38" name="TextBox 84"/>
          <p:cNvSpPr txBox="1"/>
          <p:nvPr/>
        </p:nvSpPr>
        <p:spPr>
          <a:xfrm>
            <a:off x="1517902" y="1162343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4639" name="TextBox 85"/>
          <p:cNvSpPr txBox="1"/>
          <p:nvPr/>
        </p:nvSpPr>
        <p:spPr>
          <a:xfrm>
            <a:off x="2600094" y="1162343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Performance period selector (1W / 1M / 2M / 3M)</a:t>
            </a:r>
          </a:p>
        </p:txBody>
      </p:sp>
      <p:sp>
        <p:nvSpPr>
          <p:cNvPr id="4640" name="TextBox 86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4641" name="Picture 87" descr="Picture 8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42" name="Picture 88" descr="Picture 8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643" name="Connector 89"/>
          <p:cNvSpPr/>
          <p:nvPr/>
        </p:nvSpPr>
        <p:spPr>
          <a:xfrm>
            <a:off x="1371600" y="1207711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44" name="TextBox 90"/>
          <p:cNvSpPr txBox="1"/>
          <p:nvPr/>
        </p:nvSpPr>
        <p:spPr>
          <a:xfrm>
            <a:off x="1517902" y="1216503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4645" name="TextBox 91"/>
          <p:cNvSpPr txBox="1"/>
          <p:nvPr/>
        </p:nvSpPr>
        <p:spPr>
          <a:xfrm>
            <a:off x="2600094" y="1216503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Change performance period</a:t>
            </a:r>
          </a:p>
        </p:txBody>
      </p:sp>
      <p:sp>
        <p:nvSpPr>
          <p:cNvPr id="4646" name="TextBox 92"/>
          <p:cNvSpPr txBox="1"/>
          <p:nvPr/>
        </p:nvSpPr>
        <p:spPr>
          <a:xfrm>
            <a:off x="9093250" y="1216503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4647" name="Picture 93" descr="Picture 9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48" name="Picture 94" descr="Picture 9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649" name="Connector 95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4652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062 / 111</a:t>
            </a:r>
          </a:p>
        </p:txBody>
      </p:sp>
      <p:sp>
        <p:nvSpPr>
          <p:cNvPr id="4653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4654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Holdings Management</a:t>
            </a:r>
          </a:p>
        </p:txBody>
      </p:sp>
      <p:sp>
        <p:nvSpPr>
          <p:cNvPr id="4655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4656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4657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4658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4659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4660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4661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4662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4663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64" name="TextBox 14"/>
          <p:cNvSpPr txBox="1"/>
          <p:nvPr/>
        </p:nvSpPr>
        <p:spPr>
          <a:xfrm>
            <a:off x="1517902" y="566576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665" name="TextBox 15"/>
          <p:cNvSpPr txBox="1"/>
          <p:nvPr/>
        </p:nvSpPr>
        <p:spPr>
          <a:xfrm>
            <a:off x="2600094" y="566576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Holdings list view</a:t>
            </a:r>
          </a:p>
        </p:txBody>
      </p:sp>
      <p:sp>
        <p:nvSpPr>
          <p:cNvPr id="4666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667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68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669" name="Connector 19"/>
          <p:cNvSpPr/>
          <p:nvPr/>
        </p:nvSpPr>
        <p:spPr>
          <a:xfrm>
            <a:off x="1371600" y="611944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70" name="TextBox 20"/>
          <p:cNvSpPr txBox="1"/>
          <p:nvPr/>
        </p:nvSpPr>
        <p:spPr>
          <a:xfrm>
            <a:off x="1517902" y="620736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671" name="TextBox 21"/>
          <p:cNvSpPr txBox="1"/>
          <p:nvPr/>
        </p:nvSpPr>
        <p:spPr>
          <a:xfrm>
            <a:off x="2600094" y="620736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name &amp; symbol</a:t>
            </a:r>
          </a:p>
        </p:txBody>
      </p:sp>
      <p:sp>
        <p:nvSpPr>
          <p:cNvPr id="4672" name="TextBox 22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673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74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675" name="Connector 25"/>
          <p:cNvSpPr/>
          <p:nvPr/>
        </p:nvSpPr>
        <p:spPr>
          <a:xfrm>
            <a:off x="1371600" y="66610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76" name="TextBox 26"/>
          <p:cNvSpPr txBox="1"/>
          <p:nvPr/>
        </p:nvSpPr>
        <p:spPr>
          <a:xfrm>
            <a:off x="1517902" y="674897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677" name="TextBox 27"/>
          <p:cNvSpPr txBox="1"/>
          <p:nvPr/>
        </p:nvSpPr>
        <p:spPr>
          <a:xfrm>
            <a:off x="2600094" y="674897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Position market value</a:t>
            </a:r>
          </a:p>
        </p:txBody>
      </p:sp>
      <p:sp>
        <p:nvSpPr>
          <p:cNvPr id="4678" name="TextBox 28"/>
          <p:cNvSpPr txBox="1"/>
          <p:nvPr/>
        </p:nvSpPr>
        <p:spPr>
          <a:xfrm>
            <a:off x="9093250" y="674897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679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80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681" name="Connector 31"/>
          <p:cNvSpPr/>
          <p:nvPr/>
        </p:nvSpPr>
        <p:spPr>
          <a:xfrm>
            <a:off x="1371600" y="720265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82" name="TextBox 32"/>
          <p:cNvSpPr txBox="1"/>
          <p:nvPr/>
        </p:nvSpPr>
        <p:spPr>
          <a:xfrm>
            <a:off x="1517902" y="729058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683" name="TextBox 33"/>
          <p:cNvSpPr txBox="1"/>
          <p:nvPr/>
        </p:nvSpPr>
        <p:spPr>
          <a:xfrm>
            <a:off x="2600094" y="729058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Quantity held</a:t>
            </a:r>
          </a:p>
        </p:txBody>
      </p:sp>
      <p:sp>
        <p:nvSpPr>
          <p:cNvPr id="4684" name="TextBox 34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685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86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687" name="TextBox 37"/>
          <p:cNvSpPr txBox="1"/>
          <p:nvPr/>
        </p:nvSpPr>
        <p:spPr>
          <a:xfrm>
            <a:off x="14504212" y="7290581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Lot-level position breakdown</a:t>
            </a:r>
          </a:p>
        </p:txBody>
      </p:sp>
      <p:sp>
        <p:nvSpPr>
          <p:cNvPr id="4688" name="Connector 38"/>
          <p:cNvSpPr/>
          <p:nvPr/>
        </p:nvSpPr>
        <p:spPr>
          <a:xfrm>
            <a:off x="1371600" y="774426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89" name="TextBox 39"/>
          <p:cNvSpPr txBox="1"/>
          <p:nvPr/>
        </p:nvSpPr>
        <p:spPr>
          <a:xfrm>
            <a:off x="1517902" y="783218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690" name="TextBox 40"/>
          <p:cNvSpPr txBox="1"/>
          <p:nvPr/>
        </p:nvSpPr>
        <p:spPr>
          <a:xfrm>
            <a:off x="2600094" y="783218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Average cost</a:t>
            </a:r>
          </a:p>
        </p:txBody>
      </p:sp>
      <p:sp>
        <p:nvSpPr>
          <p:cNvPr id="4691" name="TextBox 41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692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93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694" name="Connector 44"/>
          <p:cNvSpPr/>
          <p:nvPr/>
        </p:nvSpPr>
        <p:spPr>
          <a:xfrm>
            <a:off x="1371600" y="828587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95" name="TextBox 45"/>
          <p:cNvSpPr txBox="1"/>
          <p:nvPr/>
        </p:nvSpPr>
        <p:spPr>
          <a:xfrm>
            <a:off x="1517902" y="837379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696" name="TextBox 46"/>
          <p:cNvSpPr txBox="1"/>
          <p:nvPr/>
        </p:nvSpPr>
        <p:spPr>
          <a:xfrm>
            <a:off x="2600094" y="837379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Last price</a:t>
            </a:r>
          </a:p>
        </p:txBody>
      </p:sp>
      <p:sp>
        <p:nvSpPr>
          <p:cNvPr id="4697" name="TextBox 47"/>
          <p:cNvSpPr txBox="1"/>
          <p:nvPr/>
        </p:nvSpPr>
        <p:spPr>
          <a:xfrm>
            <a:off x="9093250" y="837379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698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699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700" name="Connector 50"/>
          <p:cNvSpPr/>
          <p:nvPr/>
        </p:nvSpPr>
        <p:spPr>
          <a:xfrm>
            <a:off x="1371600" y="882747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01" name="TextBox 51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4702" name="TextBox 52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Position gain / loss</a:t>
            </a:r>
          </a:p>
        </p:txBody>
      </p:sp>
      <p:sp>
        <p:nvSpPr>
          <p:cNvPr id="4703" name="TextBox 53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704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5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706" name="Connector 56"/>
          <p:cNvSpPr/>
          <p:nvPr/>
        </p:nvSpPr>
        <p:spPr>
          <a:xfrm>
            <a:off x="1371600" y="93690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07" name="TextBox 57"/>
          <p:cNvSpPr txBox="1"/>
          <p:nvPr/>
        </p:nvSpPr>
        <p:spPr>
          <a:xfrm>
            <a:off x="1517902" y="945700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708" name="TextBox 58"/>
          <p:cNvSpPr txBox="1"/>
          <p:nvPr/>
        </p:nvSpPr>
        <p:spPr>
          <a:xfrm>
            <a:off x="2600094" y="945700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Position gain / loss %</a:t>
            </a:r>
          </a:p>
        </p:txBody>
      </p:sp>
      <p:sp>
        <p:nvSpPr>
          <p:cNvPr id="4709" name="TextBox 59"/>
          <p:cNvSpPr txBox="1"/>
          <p:nvPr/>
        </p:nvSpPr>
        <p:spPr>
          <a:xfrm>
            <a:off x="9093250" y="945700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710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1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712" name="Connector 62"/>
          <p:cNvSpPr/>
          <p:nvPr/>
        </p:nvSpPr>
        <p:spPr>
          <a:xfrm>
            <a:off x="1371600" y="99106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13" name="TextBox 63"/>
          <p:cNvSpPr txBox="1"/>
          <p:nvPr/>
        </p:nvSpPr>
        <p:spPr>
          <a:xfrm>
            <a:off x="1517902" y="999861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4714" name="TextBox 64"/>
          <p:cNvSpPr txBox="1"/>
          <p:nvPr/>
        </p:nvSpPr>
        <p:spPr>
          <a:xfrm>
            <a:off x="2600094" y="999861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Tradable rights position</a:t>
            </a:r>
          </a:p>
        </p:txBody>
      </p:sp>
      <p:sp>
        <p:nvSpPr>
          <p:cNvPr id="4715" name="TextBox 65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4716" name="TextBox 66"/>
          <p:cNvSpPr txBox="1"/>
          <p:nvPr/>
        </p:nvSpPr>
        <p:spPr>
          <a:xfrm>
            <a:off x="10894893" y="9998612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4717" name="TextBox 67"/>
          <p:cNvSpPr txBox="1"/>
          <p:nvPr/>
        </p:nvSpPr>
        <p:spPr>
          <a:xfrm>
            <a:off x="12626399" y="9998612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4718" name="Connector 68"/>
          <p:cNvSpPr/>
          <p:nvPr/>
        </p:nvSpPr>
        <p:spPr>
          <a:xfrm>
            <a:off x="1371600" y="1045229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19" name="TextBox 69"/>
          <p:cNvSpPr txBox="1"/>
          <p:nvPr/>
        </p:nvSpPr>
        <p:spPr>
          <a:xfrm>
            <a:off x="1517902" y="1054021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720" name="TextBox 70"/>
          <p:cNvSpPr txBox="1"/>
          <p:nvPr/>
        </p:nvSpPr>
        <p:spPr>
          <a:xfrm>
            <a:off x="2600094" y="1054021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Dividend</a:t>
            </a:r>
          </a:p>
        </p:txBody>
      </p:sp>
      <p:sp>
        <p:nvSpPr>
          <p:cNvPr id="4721" name="TextBox 71"/>
          <p:cNvSpPr txBox="1"/>
          <p:nvPr/>
        </p:nvSpPr>
        <p:spPr>
          <a:xfrm>
            <a:off x="9093250" y="105402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722" name="Picture 72" descr="Picture 7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3" name="Picture 73" descr="Picture 7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724" name="Connector 74"/>
          <p:cNvSpPr/>
          <p:nvPr/>
        </p:nvSpPr>
        <p:spPr>
          <a:xfrm>
            <a:off x="1371600" y="1099390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25" name="TextBox 75"/>
          <p:cNvSpPr txBox="1"/>
          <p:nvPr/>
        </p:nvSpPr>
        <p:spPr>
          <a:xfrm>
            <a:off x="1517902" y="1108182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4726" name="TextBox 76"/>
          <p:cNvSpPr txBox="1"/>
          <p:nvPr/>
        </p:nvSpPr>
        <p:spPr>
          <a:xfrm>
            <a:off x="2600094" y="1108182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 from position</a:t>
            </a:r>
          </a:p>
        </p:txBody>
      </p:sp>
      <p:sp>
        <p:nvSpPr>
          <p:cNvPr id="4727" name="TextBox 77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728" name="Picture 78" descr="Picture 7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9" name="Picture 79" descr="Picture 7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730" name="Connector 80"/>
          <p:cNvSpPr/>
          <p:nvPr/>
        </p:nvSpPr>
        <p:spPr>
          <a:xfrm>
            <a:off x="1371600" y="1153550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31" name="TextBox 81"/>
          <p:cNvSpPr txBox="1"/>
          <p:nvPr/>
        </p:nvSpPr>
        <p:spPr>
          <a:xfrm>
            <a:off x="1517902" y="1162343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4732" name="TextBox 82"/>
          <p:cNvSpPr txBox="1"/>
          <p:nvPr/>
        </p:nvSpPr>
        <p:spPr>
          <a:xfrm>
            <a:off x="2600094" y="1162343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Sell from position</a:t>
            </a:r>
          </a:p>
        </p:txBody>
      </p:sp>
      <p:sp>
        <p:nvSpPr>
          <p:cNvPr id="4733" name="TextBox 83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734" name="Picture 84" descr="Picture 8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35" name="Picture 85" descr="Picture 8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736" name="Connector 86"/>
          <p:cNvSpPr/>
          <p:nvPr/>
        </p:nvSpPr>
        <p:spPr>
          <a:xfrm>
            <a:off x="1371600" y="1207711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37" name="TextBox 87"/>
          <p:cNvSpPr txBox="1"/>
          <p:nvPr/>
        </p:nvSpPr>
        <p:spPr>
          <a:xfrm>
            <a:off x="1517902" y="1216503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4738" name="TextBox 88"/>
          <p:cNvSpPr txBox="1"/>
          <p:nvPr/>
        </p:nvSpPr>
        <p:spPr>
          <a:xfrm>
            <a:off x="2600094" y="1216503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Navigate to position details</a:t>
            </a:r>
          </a:p>
        </p:txBody>
      </p:sp>
      <p:sp>
        <p:nvSpPr>
          <p:cNvPr id="4739" name="TextBox 89"/>
          <p:cNvSpPr txBox="1"/>
          <p:nvPr/>
        </p:nvSpPr>
        <p:spPr>
          <a:xfrm>
            <a:off x="9093250" y="1216503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4740" name="Picture 90" descr="Picture 9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1" name="Picture 91" descr="Picture 9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742" name="Connector 92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4745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063 / 111</a:t>
            </a:r>
          </a:p>
        </p:txBody>
      </p:sp>
      <p:sp>
        <p:nvSpPr>
          <p:cNvPr id="4746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4747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Holding Details</a:t>
            </a:r>
          </a:p>
        </p:txBody>
      </p:sp>
      <p:sp>
        <p:nvSpPr>
          <p:cNvPr id="4748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4749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4750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4751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4752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4753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4754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4755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4756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57" name="TextBox 14"/>
          <p:cNvSpPr txBox="1"/>
          <p:nvPr/>
        </p:nvSpPr>
        <p:spPr>
          <a:xfrm>
            <a:off x="1517902" y="562965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758" name="TextBox 15"/>
          <p:cNvSpPr txBox="1"/>
          <p:nvPr/>
        </p:nvSpPr>
        <p:spPr>
          <a:xfrm>
            <a:off x="2600094" y="562965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value</a:t>
            </a:r>
          </a:p>
        </p:txBody>
      </p:sp>
      <p:sp>
        <p:nvSpPr>
          <p:cNvPr id="4759" name="TextBox 16"/>
          <p:cNvSpPr txBox="1"/>
          <p:nvPr/>
        </p:nvSpPr>
        <p:spPr>
          <a:xfrm>
            <a:off x="9093250" y="562965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760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6623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61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66232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762" name="Connector 19"/>
          <p:cNvSpPr/>
          <p:nvPr/>
        </p:nvSpPr>
        <p:spPr>
          <a:xfrm>
            <a:off x="1371600" y="604723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63" name="TextBox 20"/>
          <p:cNvSpPr txBox="1"/>
          <p:nvPr/>
        </p:nvSpPr>
        <p:spPr>
          <a:xfrm>
            <a:off x="1517902" y="609904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764" name="TextBox 21"/>
          <p:cNvSpPr txBox="1"/>
          <p:nvPr/>
        </p:nvSpPr>
        <p:spPr>
          <a:xfrm>
            <a:off x="2600094" y="609904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quantity</a:t>
            </a:r>
          </a:p>
        </p:txBody>
      </p:sp>
      <p:sp>
        <p:nvSpPr>
          <p:cNvPr id="4765" name="TextBox 22"/>
          <p:cNvSpPr txBox="1"/>
          <p:nvPr/>
        </p:nvSpPr>
        <p:spPr>
          <a:xfrm>
            <a:off x="9093250" y="609904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766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13562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67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13562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768" name="TextBox 25"/>
          <p:cNvSpPr txBox="1"/>
          <p:nvPr/>
        </p:nvSpPr>
        <p:spPr>
          <a:xfrm>
            <a:off x="14504212" y="6099047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Lot-level quantity breakdown</a:t>
            </a:r>
          </a:p>
        </p:txBody>
      </p:sp>
      <p:sp>
        <p:nvSpPr>
          <p:cNvPr id="4769" name="Connector 26"/>
          <p:cNvSpPr/>
          <p:nvPr/>
        </p:nvSpPr>
        <p:spPr>
          <a:xfrm>
            <a:off x="1371600" y="651662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70" name="TextBox 27"/>
          <p:cNvSpPr txBox="1"/>
          <p:nvPr/>
        </p:nvSpPr>
        <p:spPr>
          <a:xfrm>
            <a:off x="1517902" y="65684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771" name="TextBox 28"/>
          <p:cNvSpPr txBox="1"/>
          <p:nvPr/>
        </p:nvSpPr>
        <p:spPr>
          <a:xfrm>
            <a:off x="2600094" y="65684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Average cost</a:t>
            </a:r>
          </a:p>
        </p:txBody>
      </p:sp>
      <p:sp>
        <p:nvSpPr>
          <p:cNvPr id="4772" name="TextBox 29"/>
          <p:cNvSpPr txBox="1"/>
          <p:nvPr/>
        </p:nvSpPr>
        <p:spPr>
          <a:xfrm>
            <a:off x="9093250" y="65684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773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60501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74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60501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775" name="Connector 32"/>
          <p:cNvSpPr/>
          <p:nvPr/>
        </p:nvSpPr>
        <p:spPr>
          <a:xfrm>
            <a:off x="1371600" y="698601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76" name="TextBox 33"/>
          <p:cNvSpPr txBox="1"/>
          <p:nvPr/>
        </p:nvSpPr>
        <p:spPr>
          <a:xfrm>
            <a:off x="1517902" y="703783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777" name="TextBox 34"/>
          <p:cNvSpPr txBox="1"/>
          <p:nvPr/>
        </p:nvSpPr>
        <p:spPr>
          <a:xfrm>
            <a:off x="2600094" y="703783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cost value</a:t>
            </a:r>
          </a:p>
        </p:txBody>
      </p:sp>
      <p:sp>
        <p:nvSpPr>
          <p:cNvPr id="4778" name="TextBox 35"/>
          <p:cNvSpPr txBox="1"/>
          <p:nvPr/>
        </p:nvSpPr>
        <p:spPr>
          <a:xfrm>
            <a:off x="9093250" y="7037830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779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07440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80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07440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781" name="TextBox 38"/>
          <p:cNvSpPr txBox="1"/>
          <p:nvPr/>
        </p:nvSpPr>
        <p:spPr>
          <a:xfrm>
            <a:off x="14504212" y="7037830"/>
            <a:ext cx="403616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Cost history tracking</a:t>
            </a:r>
          </a:p>
        </p:txBody>
      </p:sp>
      <p:sp>
        <p:nvSpPr>
          <p:cNvPr id="4782" name="Connector 39"/>
          <p:cNvSpPr/>
          <p:nvPr/>
        </p:nvSpPr>
        <p:spPr>
          <a:xfrm>
            <a:off x="1371600" y="745540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83" name="TextBox 40"/>
          <p:cNvSpPr txBox="1"/>
          <p:nvPr/>
        </p:nvSpPr>
        <p:spPr>
          <a:xfrm>
            <a:off x="1517902" y="750722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784" name="TextBox 41"/>
          <p:cNvSpPr txBox="1"/>
          <p:nvPr/>
        </p:nvSpPr>
        <p:spPr>
          <a:xfrm>
            <a:off x="2600094" y="750722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Last traded price</a:t>
            </a:r>
          </a:p>
        </p:txBody>
      </p:sp>
      <p:sp>
        <p:nvSpPr>
          <p:cNvPr id="4785" name="TextBox 42"/>
          <p:cNvSpPr txBox="1"/>
          <p:nvPr/>
        </p:nvSpPr>
        <p:spPr>
          <a:xfrm>
            <a:off x="9093250" y="750722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786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54380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87" name="Picture 44" descr="Picture 4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54380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788" name="Connector 45"/>
          <p:cNvSpPr/>
          <p:nvPr/>
        </p:nvSpPr>
        <p:spPr>
          <a:xfrm>
            <a:off x="1371600" y="79248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89" name="TextBox 46"/>
          <p:cNvSpPr txBox="1"/>
          <p:nvPr/>
        </p:nvSpPr>
        <p:spPr>
          <a:xfrm>
            <a:off x="1517902" y="797661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790" name="TextBox 47"/>
          <p:cNvSpPr txBox="1"/>
          <p:nvPr/>
        </p:nvSpPr>
        <p:spPr>
          <a:xfrm>
            <a:off x="2600094" y="797661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Gain / loss value</a:t>
            </a:r>
          </a:p>
        </p:txBody>
      </p:sp>
      <p:sp>
        <p:nvSpPr>
          <p:cNvPr id="4791" name="TextBox 48"/>
          <p:cNvSpPr txBox="1"/>
          <p:nvPr/>
        </p:nvSpPr>
        <p:spPr>
          <a:xfrm>
            <a:off x="9093250" y="797661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792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01319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93" name="Picture 50" descr="Picture 5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013192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794" name="Connector 51"/>
          <p:cNvSpPr/>
          <p:nvPr/>
        </p:nvSpPr>
        <p:spPr>
          <a:xfrm>
            <a:off x="1371600" y="839419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95" name="TextBox 52"/>
          <p:cNvSpPr txBox="1"/>
          <p:nvPr/>
        </p:nvSpPr>
        <p:spPr>
          <a:xfrm>
            <a:off x="1517902" y="8446006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4796" name="TextBox 53"/>
          <p:cNvSpPr txBox="1"/>
          <p:nvPr/>
        </p:nvSpPr>
        <p:spPr>
          <a:xfrm>
            <a:off x="2600094" y="8446006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Gain / loss percentage</a:t>
            </a:r>
          </a:p>
        </p:txBody>
      </p:sp>
      <p:sp>
        <p:nvSpPr>
          <p:cNvPr id="4797" name="TextBox 54"/>
          <p:cNvSpPr txBox="1"/>
          <p:nvPr/>
        </p:nvSpPr>
        <p:spPr>
          <a:xfrm>
            <a:off x="9093250" y="844600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798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8258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99" name="Picture 56" descr="Picture 5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8258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800" name="Connector 57"/>
          <p:cNvSpPr/>
          <p:nvPr/>
        </p:nvSpPr>
        <p:spPr>
          <a:xfrm>
            <a:off x="1371600" y="88635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01" name="TextBox 58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802" name="TextBox 59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Cost value P/L</a:t>
            </a:r>
          </a:p>
        </p:txBody>
      </p:sp>
      <p:sp>
        <p:nvSpPr>
          <p:cNvPr id="4803" name="TextBox 60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804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05" name="Picture 62" descr="Picture 6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806" name="Connector 63"/>
          <p:cNvSpPr/>
          <p:nvPr/>
        </p:nvSpPr>
        <p:spPr>
          <a:xfrm>
            <a:off x="1371600" y="933297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07" name="TextBox 64"/>
          <p:cNvSpPr txBox="1"/>
          <p:nvPr/>
        </p:nvSpPr>
        <p:spPr>
          <a:xfrm>
            <a:off x="1517902" y="9384792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4808" name="TextBox 65"/>
          <p:cNvSpPr txBox="1"/>
          <p:nvPr/>
        </p:nvSpPr>
        <p:spPr>
          <a:xfrm>
            <a:off x="2600094" y="9384792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Avg price P/L</a:t>
            </a:r>
          </a:p>
        </p:txBody>
      </p:sp>
      <p:sp>
        <p:nvSpPr>
          <p:cNvPr id="4809" name="TextBox 66"/>
          <p:cNvSpPr txBox="1"/>
          <p:nvPr/>
        </p:nvSpPr>
        <p:spPr>
          <a:xfrm>
            <a:off x="9093250" y="938479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810" name="Picture 67" descr="Picture 6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2136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11" name="Picture 68" descr="Picture 6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2136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812" name="Connector 69"/>
          <p:cNvSpPr/>
          <p:nvPr/>
        </p:nvSpPr>
        <p:spPr>
          <a:xfrm>
            <a:off x="1371600" y="980236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13" name="TextBox 70"/>
          <p:cNvSpPr txBox="1"/>
          <p:nvPr/>
        </p:nvSpPr>
        <p:spPr>
          <a:xfrm>
            <a:off x="1517902" y="985418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814" name="TextBox 71"/>
          <p:cNvSpPr txBox="1"/>
          <p:nvPr/>
        </p:nvSpPr>
        <p:spPr>
          <a:xfrm>
            <a:off x="2600094" y="985418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Unrealized P/L (UPL)</a:t>
            </a:r>
          </a:p>
        </p:txBody>
      </p:sp>
      <p:sp>
        <p:nvSpPr>
          <p:cNvPr id="4815" name="TextBox 72"/>
          <p:cNvSpPr txBox="1"/>
          <p:nvPr/>
        </p:nvSpPr>
        <p:spPr>
          <a:xfrm>
            <a:off x="9093250" y="985418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816" name="Picture 73" descr="Picture 7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89075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17" name="Picture 74" descr="Picture 7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890759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818" name="Connector 75"/>
          <p:cNvSpPr/>
          <p:nvPr/>
        </p:nvSpPr>
        <p:spPr>
          <a:xfrm>
            <a:off x="1371600" y="102717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19" name="TextBox 76"/>
          <p:cNvSpPr txBox="1"/>
          <p:nvPr/>
        </p:nvSpPr>
        <p:spPr>
          <a:xfrm>
            <a:off x="1517902" y="1032357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4820" name="TextBox 77"/>
          <p:cNvSpPr txBox="1"/>
          <p:nvPr/>
        </p:nvSpPr>
        <p:spPr>
          <a:xfrm>
            <a:off x="2600094" y="1032357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Sell capital</a:t>
            </a:r>
          </a:p>
        </p:txBody>
      </p:sp>
      <p:sp>
        <p:nvSpPr>
          <p:cNvPr id="4821" name="TextBox 78"/>
          <p:cNvSpPr txBox="1"/>
          <p:nvPr/>
        </p:nvSpPr>
        <p:spPr>
          <a:xfrm>
            <a:off x="9093250" y="103235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822" name="Picture 79" descr="Picture 7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36015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23" name="Picture 80" descr="Picture 8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360152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824" name="Connector 81"/>
          <p:cNvSpPr/>
          <p:nvPr/>
        </p:nvSpPr>
        <p:spPr>
          <a:xfrm>
            <a:off x="1371600" y="107411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25" name="TextBox 82"/>
          <p:cNvSpPr txBox="1"/>
          <p:nvPr/>
        </p:nvSpPr>
        <p:spPr>
          <a:xfrm>
            <a:off x="1517902" y="1079296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4826" name="TextBox 83"/>
          <p:cNvSpPr txBox="1"/>
          <p:nvPr/>
        </p:nvSpPr>
        <p:spPr>
          <a:xfrm>
            <a:off x="2600094" y="1079296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Sell gain</a:t>
            </a:r>
          </a:p>
        </p:txBody>
      </p:sp>
      <p:sp>
        <p:nvSpPr>
          <p:cNvPr id="4827" name="TextBox 84"/>
          <p:cNvSpPr txBox="1"/>
          <p:nvPr/>
        </p:nvSpPr>
        <p:spPr>
          <a:xfrm>
            <a:off x="9093250" y="1079296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828" name="Picture 85" descr="Picture 8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82954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29" name="Picture 86" descr="Picture 8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829542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830" name="Connector 87"/>
          <p:cNvSpPr/>
          <p:nvPr/>
        </p:nvSpPr>
        <p:spPr>
          <a:xfrm>
            <a:off x="1371600" y="1121054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31" name="TextBox 88"/>
          <p:cNvSpPr txBox="1"/>
          <p:nvPr/>
        </p:nvSpPr>
        <p:spPr>
          <a:xfrm>
            <a:off x="1517902" y="112623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4832" name="TextBox 89"/>
          <p:cNvSpPr txBox="1"/>
          <p:nvPr/>
        </p:nvSpPr>
        <p:spPr>
          <a:xfrm>
            <a:off x="2600094" y="112623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Tradable rights position</a:t>
            </a:r>
          </a:p>
        </p:txBody>
      </p:sp>
      <p:sp>
        <p:nvSpPr>
          <p:cNvPr id="4833" name="TextBox 90"/>
          <p:cNvSpPr txBox="1"/>
          <p:nvPr/>
        </p:nvSpPr>
        <p:spPr>
          <a:xfrm>
            <a:off x="9093250" y="112623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834" name="Picture 91" descr="Picture 9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2989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35" name="Picture 92" descr="Picture 9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2989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836" name="Connector 93"/>
          <p:cNvSpPr/>
          <p:nvPr/>
        </p:nvSpPr>
        <p:spPr>
          <a:xfrm>
            <a:off x="1371600" y="1167993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37" name="TextBox 94"/>
          <p:cNvSpPr txBox="1"/>
          <p:nvPr/>
        </p:nvSpPr>
        <p:spPr>
          <a:xfrm>
            <a:off x="1517902" y="1173175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4838" name="TextBox 95"/>
          <p:cNvSpPr txBox="1"/>
          <p:nvPr/>
        </p:nvSpPr>
        <p:spPr>
          <a:xfrm>
            <a:off x="2600094" y="1173175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Buy/Sell</a:t>
            </a:r>
          </a:p>
        </p:txBody>
      </p:sp>
      <p:sp>
        <p:nvSpPr>
          <p:cNvPr id="4839" name="TextBox 96"/>
          <p:cNvSpPr txBox="1"/>
          <p:nvPr/>
        </p:nvSpPr>
        <p:spPr>
          <a:xfrm>
            <a:off x="9093250" y="117317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840" name="Picture 97" descr="Picture 9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76832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41" name="Picture 98" descr="Picture 9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76832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842" name="Connector 99"/>
          <p:cNvSpPr/>
          <p:nvPr/>
        </p:nvSpPr>
        <p:spPr>
          <a:xfrm>
            <a:off x="1371600" y="1214932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43" name="TextBox 100"/>
          <p:cNvSpPr txBox="1"/>
          <p:nvPr/>
        </p:nvSpPr>
        <p:spPr>
          <a:xfrm>
            <a:off x="1517902" y="12201142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4844" name="TextBox 101"/>
          <p:cNvSpPr txBox="1"/>
          <p:nvPr/>
        </p:nvSpPr>
        <p:spPr>
          <a:xfrm>
            <a:off x="2600094" y="12201142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Update average cost</a:t>
            </a:r>
          </a:p>
        </p:txBody>
      </p:sp>
      <p:sp>
        <p:nvSpPr>
          <p:cNvPr id="4845" name="TextBox 102"/>
          <p:cNvSpPr txBox="1"/>
          <p:nvPr/>
        </p:nvSpPr>
        <p:spPr>
          <a:xfrm>
            <a:off x="9093250" y="12201142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846" name="Picture 103" descr="Picture 10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223771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47" name="Picture 104" descr="Picture 10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23771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848" name="TextBox 105"/>
          <p:cNvSpPr txBox="1"/>
          <p:nvPr/>
        </p:nvSpPr>
        <p:spPr>
          <a:xfrm>
            <a:off x="18832982" y="12201142"/>
            <a:ext cx="230465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ARCD-2650</a:t>
            </a:r>
          </a:p>
        </p:txBody>
      </p:sp>
      <p:sp>
        <p:nvSpPr>
          <p:cNvPr id="4849" name="Connector 106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4852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064 / 111</a:t>
            </a:r>
          </a:p>
        </p:txBody>
      </p:sp>
      <p:sp>
        <p:nvSpPr>
          <p:cNvPr id="4853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4854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Cash &amp; Liquidity Management</a:t>
            </a:r>
          </a:p>
        </p:txBody>
      </p:sp>
      <p:sp>
        <p:nvSpPr>
          <p:cNvPr id="4855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4856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4857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4858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4859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4860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4861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4862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4863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64" name="TextBox 14"/>
          <p:cNvSpPr txBox="1"/>
          <p:nvPr/>
        </p:nvSpPr>
        <p:spPr>
          <a:xfrm>
            <a:off x="1517902" y="5737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865" name="TextBox 15"/>
          <p:cNvSpPr txBox="1"/>
          <p:nvPr/>
        </p:nvSpPr>
        <p:spPr>
          <a:xfrm>
            <a:off x="2600094" y="5737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cash</a:t>
            </a:r>
          </a:p>
        </p:txBody>
      </p:sp>
      <p:sp>
        <p:nvSpPr>
          <p:cNvPr id="4866" name="TextBox 16"/>
          <p:cNvSpPr txBox="1"/>
          <p:nvPr/>
        </p:nvSpPr>
        <p:spPr>
          <a:xfrm>
            <a:off x="9093250" y="5737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867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68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869" name="Connector 19"/>
          <p:cNvSpPr/>
          <p:nvPr/>
        </p:nvSpPr>
        <p:spPr>
          <a:xfrm>
            <a:off x="1371600" y="6263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70" name="TextBox 20"/>
          <p:cNvSpPr txBox="1"/>
          <p:nvPr/>
        </p:nvSpPr>
        <p:spPr>
          <a:xfrm>
            <a:off x="1517902" y="6423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871" name="TextBox 21"/>
          <p:cNvSpPr txBox="1"/>
          <p:nvPr/>
        </p:nvSpPr>
        <p:spPr>
          <a:xfrm>
            <a:off x="2600094" y="6423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Available cash for withdraw</a:t>
            </a:r>
          </a:p>
        </p:txBody>
      </p:sp>
      <p:sp>
        <p:nvSpPr>
          <p:cNvPr id="4872" name="TextBox 22"/>
          <p:cNvSpPr txBox="1"/>
          <p:nvPr/>
        </p:nvSpPr>
        <p:spPr>
          <a:xfrm>
            <a:off x="9093250" y="6423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873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74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875" name="TextBox 25"/>
          <p:cNvSpPr txBox="1"/>
          <p:nvPr/>
        </p:nvSpPr>
        <p:spPr>
          <a:xfrm>
            <a:off x="14504212" y="64236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Withdrawal eligibility rules visibility</a:t>
            </a:r>
          </a:p>
        </p:txBody>
      </p:sp>
      <p:sp>
        <p:nvSpPr>
          <p:cNvPr id="4876" name="Connector 26"/>
          <p:cNvSpPr/>
          <p:nvPr/>
        </p:nvSpPr>
        <p:spPr>
          <a:xfrm>
            <a:off x="1371600" y="6949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77" name="TextBox 27"/>
          <p:cNvSpPr txBox="1"/>
          <p:nvPr/>
        </p:nvSpPr>
        <p:spPr>
          <a:xfrm>
            <a:off x="1517902" y="7109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878" name="TextBox 28"/>
          <p:cNvSpPr txBox="1"/>
          <p:nvPr/>
        </p:nvSpPr>
        <p:spPr>
          <a:xfrm>
            <a:off x="2600094" y="7109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Buying power</a:t>
            </a:r>
          </a:p>
        </p:txBody>
      </p:sp>
      <p:sp>
        <p:nvSpPr>
          <p:cNvPr id="4879" name="TextBox 29"/>
          <p:cNvSpPr txBox="1"/>
          <p:nvPr/>
        </p:nvSpPr>
        <p:spPr>
          <a:xfrm>
            <a:off x="9093250" y="7109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880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81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882" name="Connector 32"/>
          <p:cNvSpPr/>
          <p:nvPr/>
        </p:nvSpPr>
        <p:spPr>
          <a:xfrm>
            <a:off x="1371600" y="763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83" name="TextBox 33"/>
          <p:cNvSpPr txBox="1"/>
          <p:nvPr/>
        </p:nvSpPr>
        <p:spPr>
          <a:xfrm>
            <a:off x="1517902" y="7795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884" name="TextBox 34"/>
          <p:cNvSpPr txBox="1"/>
          <p:nvPr/>
        </p:nvSpPr>
        <p:spPr>
          <a:xfrm>
            <a:off x="2600094" y="7795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under processing</a:t>
            </a:r>
          </a:p>
        </p:txBody>
      </p:sp>
      <p:sp>
        <p:nvSpPr>
          <p:cNvPr id="4885" name="TextBox 35"/>
          <p:cNvSpPr txBox="1"/>
          <p:nvPr/>
        </p:nvSpPr>
        <p:spPr>
          <a:xfrm>
            <a:off x="9093250" y="7795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886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87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888" name="TextBox 38"/>
          <p:cNvSpPr txBox="1"/>
          <p:nvPr/>
        </p:nvSpPr>
        <p:spPr>
          <a:xfrm>
            <a:off x="14504212" y="77952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Processing status tracking</a:t>
            </a:r>
          </a:p>
        </p:txBody>
      </p:sp>
      <p:sp>
        <p:nvSpPr>
          <p:cNvPr id="4889" name="Connector 39"/>
          <p:cNvSpPr/>
          <p:nvPr/>
        </p:nvSpPr>
        <p:spPr>
          <a:xfrm>
            <a:off x="1371600" y="8321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90" name="TextBox 40"/>
          <p:cNvSpPr txBox="1"/>
          <p:nvPr/>
        </p:nvSpPr>
        <p:spPr>
          <a:xfrm>
            <a:off x="1517902" y="84810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891" name="TextBox 41"/>
          <p:cNvSpPr txBox="1"/>
          <p:nvPr/>
        </p:nvSpPr>
        <p:spPr>
          <a:xfrm>
            <a:off x="2600094" y="84810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breakdown details</a:t>
            </a:r>
          </a:p>
        </p:txBody>
      </p:sp>
      <p:sp>
        <p:nvSpPr>
          <p:cNvPr id="4892" name="TextBox 42"/>
          <p:cNvSpPr txBox="1"/>
          <p:nvPr/>
        </p:nvSpPr>
        <p:spPr>
          <a:xfrm>
            <a:off x="9093250" y="84810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893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94" name="Picture 44" descr="Picture 4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895" name="Connector 45"/>
          <p:cNvSpPr/>
          <p:nvPr/>
        </p:nvSpPr>
        <p:spPr>
          <a:xfrm>
            <a:off x="1371600" y="90068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96" name="TextBox 46"/>
          <p:cNvSpPr txBox="1"/>
          <p:nvPr/>
        </p:nvSpPr>
        <p:spPr>
          <a:xfrm>
            <a:off x="1517902" y="9166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897" name="TextBox 47"/>
          <p:cNvSpPr txBox="1"/>
          <p:nvPr/>
        </p:nvSpPr>
        <p:spPr>
          <a:xfrm>
            <a:off x="2600094" y="9166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Liquidity visibility</a:t>
            </a:r>
          </a:p>
        </p:txBody>
      </p:sp>
      <p:sp>
        <p:nvSpPr>
          <p:cNvPr id="4898" name="TextBox 48"/>
          <p:cNvSpPr txBox="1"/>
          <p:nvPr/>
        </p:nvSpPr>
        <p:spPr>
          <a:xfrm>
            <a:off x="9093250" y="9166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899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00" name="Picture 50" descr="Picture 5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901" name="Connector 51"/>
          <p:cNvSpPr/>
          <p:nvPr/>
        </p:nvSpPr>
        <p:spPr>
          <a:xfrm>
            <a:off x="1371600" y="9692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02" name="TextBox 52"/>
          <p:cNvSpPr txBox="1"/>
          <p:nvPr/>
        </p:nvSpPr>
        <p:spPr>
          <a:xfrm>
            <a:off x="1517902" y="9852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4903" name="TextBox 53"/>
          <p:cNvSpPr txBox="1"/>
          <p:nvPr/>
        </p:nvSpPr>
        <p:spPr>
          <a:xfrm>
            <a:off x="2600094" y="9852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cash navigation</a:t>
            </a:r>
          </a:p>
        </p:txBody>
      </p:sp>
      <p:sp>
        <p:nvSpPr>
          <p:cNvPr id="4904" name="TextBox 54"/>
          <p:cNvSpPr txBox="1"/>
          <p:nvPr/>
        </p:nvSpPr>
        <p:spPr>
          <a:xfrm>
            <a:off x="9093250" y="9852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905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8892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06" name="Picture 56" descr="Picture 5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8892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907" name="Connector 57"/>
          <p:cNvSpPr/>
          <p:nvPr/>
        </p:nvSpPr>
        <p:spPr>
          <a:xfrm>
            <a:off x="1371600" y="10378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08" name="TextBox 58"/>
          <p:cNvSpPr txBox="1"/>
          <p:nvPr/>
        </p:nvSpPr>
        <p:spPr>
          <a:xfrm>
            <a:off x="1517902" y="10538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909" name="TextBox 59"/>
          <p:cNvSpPr txBox="1"/>
          <p:nvPr/>
        </p:nvSpPr>
        <p:spPr>
          <a:xfrm>
            <a:off x="2600094" y="10538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display preferences</a:t>
            </a:r>
          </a:p>
        </p:txBody>
      </p:sp>
      <p:sp>
        <p:nvSpPr>
          <p:cNvPr id="4910" name="TextBox 60"/>
          <p:cNvSpPr txBox="1"/>
          <p:nvPr/>
        </p:nvSpPr>
        <p:spPr>
          <a:xfrm>
            <a:off x="9093250" y="10538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911" name="Picture 61" descr="Picture 6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5750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12" name="Picture 62" descr="Picture 6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5750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913" name="TextBox 63"/>
          <p:cNvSpPr txBox="1"/>
          <p:nvPr/>
        </p:nvSpPr>
        <p:spPr>
          <a:xfrm>
            <a:off x="14504212" y="105384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customization</a:t>
            </a:r>
          </a:p>
        </p:txBody>
      </p:sp>
      <p:sp>
        <p:nvSpPr>
          <p:cNvPr id="4914" name="Connector 64"/>
          <p:cNvSpPr/>
          <p:nvPr/>
        </p:nvSpPr>
        <p:spPr>
          <a:xfrm>
            <a:off x="1371600" y="11064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4917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065 / 111</a:t>
            </a:r>
          </a:p>
        </p:txBody>
      </p:sp>
      <p:sp>
        <p:nvSpPr>
          <p:cNvPr id="4918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4919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Orders &amp; Execution Management</a:t>
            </a:r>
          </a:p>
        </p:txBody>
      </p:sp>
      <p:sp>
        <p:nvSpPr>
          <p:cNvPr id="4920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4921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4922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4923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4924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4925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4926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4927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4928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29" name="TextBox 14"/>
          <p:cNvSpPr txBox="1"/>
          <p:nvPr/>
        </p:nvSpPr>
        <p:spPr>
          <a:xfrm>
            <a:off x="1517902" y="566576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930" name="TextBox 15"/>
          <p:cNvSpPr txBox="1"/>
          <p:nvPr/>
        </p:nvSpPr>
        <p:spPr>
          <a:xfrm>
            <a:off x="2600094" y="566576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Orders list view</a:t>
            </a:r>
          </a:p>
        </p:txBody>
      </p:sp>
      <p:sp>
        <p:nvSpPr>
          <p:cNvPr id="4931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932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33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934" name="Connector 19"/>
          <p:cNvSpPr/>
          <p:nvPr/>
        </p:nvSpPr>
        <p:spPr>
          <a:xfrm>
            <a:off x="1371600" y="611944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35" name="TextBox 20"/>
          <p:cNvSpPr txBox="1"/>
          <p:nvPr/>
        </p:nvSpPr>
        <p:spPr>
          <a:xfrm>
            <a:off x="1517902" y="620736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936" name="TextBox 21"/>
          <p:cNvSpPr txBox="1"/>
          <p:nvPr/>
        </p:nvSpPr>
        <p:spPr>
          <a:xfrm>
            <a:off x="2600094" y="620736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status visibility</a:t>
            </a:r>
          </a:p>
        </p:txBody>
      </p:sp>
      <p:sp>
        <p:nvSpPr>
          <p:cNvPr id="4937" name="TextBox 22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938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39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940" name="Connector 25"/>
          <p:cNvSpPr/>
          <p:nvPr/>
        </p:nvSpPr>
        <p:spPr>
          <a:xfrm>
            <a:off x="1371600" y="66610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41" name="TextBox 26"/>
          <p:cNvSpPr txBox="1"/>
          <p:nvPr/>
        </p:nvSpPr>
        <p:spPr>
          <a:xfrm>
            <a:off x="1517902" y="674897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942" name="TextBox 27"/>
          <p:cNvSpPr txBox="1"/>
          <p:nvPr/>
        </p:nvSpPr>
        <p:spPr>
          <a:xfrm>
            <a:off x="2600094" y="674897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details view</a:t>
            </a:r>
          </a:p>
        </p:txBody>
      </p:sp>
      <p:sp>
        <p:nvSpPr>
          <p:cNvPr id="4943" name="TextBox 28"/>
          <p:cNvSpPr txBox="1"/>
          <p:nvPr/>
        </p:nvSpPr>
        <p:spPr>
          <a:xfrm>
            <a:off x="9093250" y="674897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944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45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946" name="Connector 31"/>
          <p:cNvSpPr/>
          <p:nvPr/>
        </p:nvSpPr>
        <p:spPr>
          <a:xfrm>
            <a:off x="1371600" y="720265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47" name="TextBox 32"/>
          <p:cNvSpPr txBox="1"/>
          <p:nvPr/>
        </p:nvSpPr>
        <p:spPr>
          <a:xfrm>
            <a:off x="1517902" y="729058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948" name="TextBox 33"/>
          <p:cNvSpPr txBox="1"/>
          <p:nvPr/>
        </p:nvSpPr>
        <p:spPr>
          <a:xfrm>
            <a:off x="2600094" y="729058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Transaction history</a:t>
            </a:r>
          </a:p>
        </p:txBody>
      </p:sp>
      <p:sp>
        <p:nvSpPr>
          <p:cNvPr id="4949" name="TextBox 34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950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51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952" name="TextBox 37"/>
          <p:cNvSpPr txBox="1"/>
          <p:nvPr/>
        </p:nvSpPr>
        <p:spPr>
          <a:xfrm>
            <a:off x="14504212" y="7290581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history</a:t>
            </a:r>
          </a:p>
        </p:txBody>
      </p:sp>
      <p:sp>
        <p:nvSpPr>
          <p:cNvPr id="4953" name="Connector 38"/>
          <p:cNvSpPr/>
          <p:nvPr/>
        </p:nvSpPr>
        <p:spPr>
          <a:xfrm>
            <a:off x="1371600" y="774426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54" name="TextBox 39"/>
          <p:cNvSpPr txBox="1"/>
          <p:nvPr/>
        </p:nvSpPr>
        <p:spPr>
          <a:xfrm>
            <a:off x="1517902" y="783218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4955" name="TextBox 40"/>
          <p:cNvSpPr txBox="1"/>
          <p:nvPr/>
        </p:nvSpPr>
        <p:spPr>
          <a:xfrm>
            <a:off x="2600094" y="783218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details view</a:t>
            </a:r>
          </a:p>
        </p:txBody>
      </p:sp>
      <p:sp>
        <p:nvSpPr>
          <p:cNvPr id="4956" name="TextBox 41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957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58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959" name="Connector 44"/>
          <p:cNvSpPr/>
          <p:nvPr/>
        </p:nvSpPr>
        <p:spPr>
          <a:xfrm>
            <a:off x="1371600" y="828587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60" name="TextBox 45"/>
          <p:cNvSpPr txBox="1"/>
          <p:nvPr/>
        </p:nvSpPr>
        <p:spPr>
          <a:xfrm>
            <a:off x="1517902" y="837379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4961" name="TextBox 46"/>
          <p:cNvSpPr txBox="1"/>
          <p:nvPr/>
        </p:nvSpPr>
        <p:spPr>
          <a:xfrm>
            <a:off x="2600094" y="837379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Execution price visibility</a:t>
            </a:r>
          </a:p>
        </p:txBody>
      </p:sp>
      <p:sp>
        <p:nvSpPr>
          <p:cNvPr id="4962" name="TextBox 47"/>
          <p:cNvSpPr txBox="1"/>
          <p:nvPr/>
        </p:nvSpPr>
        <p:spPr>
          <a:xfrm>
            <a:off x="9093250" y="837379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4963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64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965" name="Connector 50"/>
          <p:cNvSpPr/>
          <p:nvPr/>
        </p:nvSpPr>
        <p:spPr>
          <a:xfrm>
            <a:off x="1371600" y="882747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66" name="TextBox 51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4967" name="TextBox 52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validity visibility</a:t>
            </a:r>
          </a:p>
        </p:txBody>
      </p:sp>
      <p:sp>
        <p:nvSpPr>
          <p:cNvPr id="4968" name="TextBox 53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969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70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971" name="Connector 56"/>
          <p:cNvSpPr/>
          <p:nvPr/>
        </p:nvSpPr>
        <p:spPr>
          <a:xfrm>
            <a:off x="1371600" y="93690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72" name="TextBox 57"/>
          <p:cNvSpPr txBox="1"/>
          <p:nvPr/>
        </p:nvSpPr>
        <p:spPr>
          <a:xfrm>
            <a:off x="1517902" y="945700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973" name="TextBox 58"/>
          <p:cNvSpPr txBox="1"/>
          <p:nvPr/>
        </p:nvSpPr>
        <p:spPr>
          <a:xfrm>
            <a:off x="2600094" y="945700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Place/Cancel/Modify/Reorder order</a:t>
            </a:r>
          </a:p>
        </p:txBody>
      </p:sp>
      <p:sp>
        <p:nvSpPr>
          <p:cNvPr id="4974" name="TextBox 59"/>
          <p:cNvSpPr txBox="1"/>
          <p:nvPr/>
        </p:nvSpPr>
        <p:spPr>
          <a:xfrm>
            <a:off x="9093250" y="945700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975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76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977" name="Connector 62"/>
          <p:cNvSpPr/>
          <p:nvPr/>
        </p:nvSpPr>
        <p:spPr>
          <a:xfrm>
            <a:off x="1371600" y="99106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78" name="TextBox 63"/>
          <p:cNvSpPr txBox="1"/>
          <p:nvPr/>
        </p:nvSpPr>
        <p:spPr>
          <a:xfrm>
            <a:off x="1517902" y="999861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4979" name="TextBox 64"/>
          <p:cNvSpPr txBox="1"/>
          <p:nvPr/>
        </p:nvSpPr>
        <p:spPr>
          <a:xfrm>
            <a:off x="2600094" y="999861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Change to market price</a:t>
            </a:r>
          </a:p>
        </p:txBody>
      </p:sp>
      <p:sp>
        <p:nvSpPr>
          <p:cNvPr id="4980" name="TextBox 65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981" name="Picture 66" descr="Picture 6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82" name="Picture 67" descr="Picture 6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983" name="Connector 68"/>
          <p:cNvSpPr/>
          <p:nvPr/>
        </p:nvSpPr>
        <p:spPr>
          <a:xfrm>
            <a:off x="1371600" y="1045229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84" name="TextBox 69"/>
          <p:cNvSpPr txBox="1"/>
          <p:nvPr/>
        </p:nvSpPr>
        <p:spPr>
          <a:xfrm>
            <a:off x="1517902" y="1054021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985" name="TextBox 70"/>
          <p:cNvSpPr txBox="1"/>
          <p:nvPr/>
        </p:nvSpPr>
        <p:spPr>
          <a:xfrm>
            <a:off x="2600094" y="1054021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Advanced order types (stop loss / take profit / basket)</a:t>
            </a:r>
          </a:p>
        </p:txBody>
      </p:sp>
      <p:sp>
        <p:nvSpPr>
          <p:cNvPr id="4986" name="TextBox 71"/>
          <p:cNvSpPr txBox="1"/>
          <p:nvPr/>
        </p:nvSpPr>
        <p:spPr>
          <a:xfrm>
            <a:off x="9093250" y="105402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987" name="Picture 72" descr="Picture 7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88" name="Picture 73" descr="Picture 7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989" name="Connector 74"/>
          <p:cNvSpPr/>
          <p:nvPr/>
        </p:nvSpPr>
        <p:spPr>
          <a:xfrm>
            <a:off x="1371600" y="1099390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90" name="TextBox 75"/>
          <p:cNvSpPr txBox="1"/>
          <p:nvPr/>
        </p:nvSpPr>
        <p:spPr>
          <a:xfrm>
            <a:off x="1517902" y="1108182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4991" name="TextBox 76"/>
          <p:cNvSpPr txBox="1"/>
          <p:nvPr/>
        </p:nvSpPr>
        <p:spPr>
          <a:xfrm>
            <a:off x="2600094" y="11081824"/>
            <a:ext cx="6200549" cy="584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Advanced order types (Attached / Slicing / Chain / Bracket / Market on close / Trailing)</a:t>
            </a:r>
          </a:p>
        </p:txBody>
      </p:sp>
      <p:sp>
        <p:nvSpPr>
          <p:cNvPr id="4992" name="TextBox 77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4993" name="Picture 78" descr="Picture 7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94" name="Picture 79" descr="Picture 7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995" name="Connector 80"/>
          <p:cNvSpPr/>
          <p:nvPr/>
        </p:nvSpPr>
        <p:spPr>
          <a:xfrm>
            <a:off x="1371600" y="1172600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96" name="TextBox 81"/>
          <p:cNvSpPr txBox="1"/>
          <p:nvPr/>
        </p:nvSpPr>
        <p:spPr>
          <a:xfrm>
            <a:off x="1517902" y="1181393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4997" name="TextBox 82"/>
          <p:cNvSpPr txBox="1"/>
          <p:nvPr/>
        </p:nvSpPr>
        <p:spPr>
          <a:xfrm>
            <a:off x="2600094" y="1181393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Customize order view (card/table)</a:t>
            </a:r>
          </a:p>
        </p:txBody>
      </p:sp>
      <p:sp>
        <p:nvSpPr>
          <p:cNvPr id="4998" name="TextBox 83"/>
          <p:cNvSpPr txBox="1"/>
          <p:nvPr/>
        </p:nvSpPr>
        <p:spPr>
          <a:xfrm>
            <a:off x="9093250" y="118139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4999" name="Picture 84" descr="Picture 8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85050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00" name="Picture 85" descr="Picture 8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85050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001" name="Connector 86"/>
          <p:cNvSpPr/>
          <p:nvPr/>
        </p:nvSpPr>
        <p:spPr>
          <a:xfrm>
            <a:off x="1371600" y="1226761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02" name="TextBox 87"/>
          <p:cNvSpPr txBox="1"/>
          <p:nvPr/>
        </p:nvSpPr>
        <p:spPr>
          <a:xfrm>
            <a:off x="1517902" y="1235553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5003" name="TextBox 88"/>
          <p:cNvSpPr txBox="1"/>
          <p:nvPr/>
        </p:nvSpPr>
        <p:spPr>
          <a:xfrm>
            <a:off x="2600094" y="1235553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filtering</a:t>
            </a:r>
          </a:p>
        </p:txBody>
      </p:sp>
      <p:sp>
        <p:nvSpPr>
          <p:cNvPr id="5004" name="TextBox 89"/>
          <p:cNvSpPr txBox="1"/>
          <p:nvPr/>
        </p:nvSpPr>
        <p:spPr>
          <a:xfrm>
            <a:off x="9093250" y="1235553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5005" name="Picture 90" descr="Picture 9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39211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06" name="Picture 91" descr="Picture 9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39211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007" name="Connector 92"/>
          <p:cNvSpPr/>
          <p:nvPr/>
        </p:nvSpPr>
        <p:spPr>
          <a:xfrm>
            <a:off x="1371600" y="128092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5010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076 / 111</a:t>
            </a:r>
          </a:p>
        </p:txBody>
      </p:sp>
      <p:sp>
        <p:nvSpPr>
          <p:cNvPr id="5011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5012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Orders Type</a:t>
            </a:r>
          </a:p>
        </p:txBody>
      </p:sp>
      <p:sp>
        <p:nvSpPr>
          <p:cNvPr id="5013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5014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5015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5016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5017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5018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5019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5020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5021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22" name="TextBox 14"/>
          <p:cNvSpPr txBox="1"/>
          <p:nvPr/>
        </p:nvSpPr>
        <p:spPr>
          <a:xfrm>
            <a:off x="1517902" y="561498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023" name="TextBox 15"/>
          <p:cNvSpPr txBox="1"/>
          <p:nvPr/>
        </p:nvSpPr>
        <p:spPr>
          <a:xfrm>
            <a:off x="2600094" y="561498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</a:t>
            </a:r>
          </a:p>
        </p:txBody>
      </p:sp>
      <p:sp>
        <p:nvSpPr>
          <p:cNvPr id="5024" name="TextBox 16"/>
          <p:cNvSpPr txBox="1"/>
          <p:nvPr/>
        </p:nvSpPr>
        <p:spPr>
          <a:xfrm>
            <a:off x="9093250" y="56149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025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156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26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156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027" name="Connector 19"/>
          <p:cNvSpPr/>
          <p:nvPr/>
        </p:nvSpPr>
        <p:spPr>
          <a:xfrm>
            <a:off x="1371600" y="601789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28" name="TextBox 20"/>
          <p:cNvSpPr txBox="1"/>
          <p:nvPr/>
        </p:nvSpPr>
        <p:spPr>
          <a:xfrm>
            <a:off x="1517902" y="605504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029" name="TextBox 21"/>
          <p:cNvSpPr txBox="1"/>
          <p:nvPr/>
        </p:nvSpPr>
        <p:spPr>
          <a:xfrm>
            <a:off x="2600094" y="605504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Limit</a:t>
            </a:r>
          </a:p>
        </p:txBody>
      </p:sp>
      <p:sp>
        <p:nvSpPr>
          <p:cNvPr id="5030" name="TextBox 22"/>
          <p:cNvSpPr txBox="1"/>
          <p:nvPr/>
        </p:nvSpPr>
        <p:spPr>
          <a:xfrm>
            <a:off x="9093250" y="605504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031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9161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32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9161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033" name="Connector 25"/>
          <p:cNvSpPr/>
          <p:nvPr/>
        </p:nvSpPr>
        <p:spPr>
          <a:xfrm>
            <a:off x="1371600" y="645795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34" name="TextBox 26"/>
          <p:cNvSpPr txBox="1"/>
          <p:nvPr/>
        </p:nvSpPr>
        <p:spPr>
          <a:xfrm>
            <a:off x="1517902" y="649509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035" name="TextBox 27"/>
          <p:cNvSpPr txBox="1"/>
          <p:nvPr/>
        </p:nvSpPr>
        <p:spPr>
          <a:xfrm>
            <a:off x="2600094" y="649509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Conditional (per stock/ sector/ market) movement</a:t>
            </a:r>
          </a:p>
        </p:txBody>
      </p:sp>
      <p:sp>
        <p:nvSpPr>
          <p:cNvPr id="5036" name="TextBox 28"/>
          <p:cNvSpPr txBox="1"/>
          <p:nvPr/>
        </p:nvSpPr>
        <p:spPr>
          <a:xfrm>
            <a:off x="9093250" y="649509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037" name="Picture 29" descr="Picture 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653167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38" name="Picture 30" descr="Picture 3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653167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039" name="Connector 31"/>
          <p:cNvSpPr/>
          <p:nvPr/>
        </p:nvSpPr>
        <p:spPr>
          <a:xfrm>
            <a:off x="1371600" y="689800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40" name="TextBox 32"/>
          <p:cNvSpPr txBox="1"/>
          <p:nvPr/>
        </p:nvSpPr>
        <p:spPr>
          <a:xfrm>
            <a:off x="1517902" y="693515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041" name="TextBox 33"/>
          <p:cNvSpPr txBox="1"/>
          <p:nvPr/>
        </p:nvSpPr>
        <p:spPr>
          <a:xfrm>
            <a:off x="2600094" y="693515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Disclosed order (more than 50K stocks )</a:t>
            </a:r>
          </a:p>
        </p:txBody>
      </p:sp>
      <p:sp>
        <p:nvSpPr>
          <p:cNvPr id="5042" name="TextBox 34"/>
          <p:cNvSpPr txBox="1"/>
          <p:nvPr/>
        </p:nvSpPr>
        <p:spPr>
          <a:xfrm>
            <a:off x="9093250" y="693515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043" name="Picture 35" descr="Picture 3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697172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44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6971727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045" name="Connector 37"/>
          <p:cNvSpPr/>
          <p:nvPr/>
        </p:nvSpPr>
        <p:spPr>
          <a:xfrm>
            <a:off x="1371600" y="73380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46" name="TextBox 38"/>
          <p:cNvSpPr txBox="1"/>
          <p:nvPr/>
        </p:nvSpPr>
        <p:spPr>
          <a:xfrm>
            <a:off x="1517902" y="737520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047" name="TextBox 39"/>
          <p:cNvSpPr txBox="1"/>
          <p:nvPr/>
        </p:nvSpPr>
        <p:spPr>
          <a:xfrm>
            <a:off x="2600094" y="737520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Basket</a:t>
            </a:r>
          </a:p>
        </p:txBody>
      </p:sp>
      <p:sp>
        <p:nvSpPr>
          <p:cNvPr id="5048" name="TextBox 40"/>
          <p:cNvSpPr txBox="1"/>
          <p:nvPr/>
        </p:nvSpPr>
        <p:spPr>
          <a:xfrm>
            <a:off x="9093250" y="737520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049" name="Picture 41" descr="Picture 4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741178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50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741178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051" name="Connector 43"/>
          <p:cNvSpPr/>
          <p:nvPr/>
        </p:nvSpPr>
        <p:spPr>
          <a:xfrm>
            <a:off x="1371600" y="777811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52" name="TextBox 44"/>
          <p:cNvSpPr txBox="1"/>
          <p:nvPr/>
        </p:nvSpPr>
        <p:spPr>
          <a:xfrm>
            <a:off x="1517902" y="781526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5053" name="TextBox 45"/>
          <p:cNvSpPr txBox="1"/>
          <p:nvPr/>
        </p:nvSpPr>
        <p:spPr>
          <a:xfrm>
            <a:off x="2600094" y="781526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Take profit (sell)</a:t>
            </a:r>
          </a:p>
        </p:txBody>
      </p:sp>
      <p:sp>
        <p:nvSpPr>
          <p:cNvPr id="5054" name="TextBox 46"/>
          <p:cNvSpPr txBox="1"/>
          <p:nvPr/>
        </p:nvSpPr>
        <p:spPr>
          <a:xfrm>
            <a:off x="9093250" y="7815260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055" name="Picture 47" descr="Picture 4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785183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56" name="Picture 48" descr="Picture 4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7851837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057" name="Connector 49"/>
          <p:cNvSpPr/>
          <p:nvPr/>
        </p:nvSpPr>
        <p:spPr>
          <a:xfrm>
            <a:off x="1371600" y="821816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58" name="TextBox 50"/>
          <p:cNvSpPr txBox="1"/>
          <p:nvPr/>
        </p:nvSpPr>
        <p:spPr>
          <a:xfrm>
            <a:off x="1517902" y="825531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5059" name="TextBox 51"/>
          <p:cNvSpPr txBox="1"/>
          <p:nvPr/>
        </p:nvSpPr>
        <p:spPr>
          <a:xfrm>
            <a:off x="2600094" y="825531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Stop loss (sell)</a:t>
            </a:r>
          </a:p>
        </p:txBody>
      </p:sp>
      <p:sp>
        <p:nvSpPr>
          <p:cNvPr id="5060" name="TextBox 52"/>
          <p:cNvSpPr txBox="1"/>
          <p:nvPr/>
        </p:nvSpPr>
        <p:spPr>
          <a:xfrm>
            <a:off x="9093250" y="82553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061" name="Picture 53" descr="Picture 5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829189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62" name="Picture 54" descr="Picture 5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829189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063" name="Connector 55"/>
          <p:cNvSpPr/>
          <p:nvPr/>
        </p:nvSpPr>
        <p:spPr>
          <a:xfrm>
            <a:off x="1371600" y="8658225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64" name="TextBox 56"/>
          <p:cNvSpPr txBox="1"/>
          <p:nvPr/>
        </p:nvSpPr>
        <p:spPr>
          <a:xfrm>
            <a:off x="1517902" y="8695372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5065" name="TextBox 57"/>
          <p:cNvSpPr txBox="1"/>
          <p:nvPr/>
        </p:nvSpPr>
        <p:spPr>
          <a:xfrm>
            <a:off x="2600094" y="8695372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Attached order</a:t>
            </a:r>
          </a:p>
        </p:txBody>
      </p:sp>
      <p:sp>
        <p:nvSpPr>
          <p:cNvPr id="5066" name="TextBox 58"/>
          <p:cNvSpPr txBox="1"/>
          <p:nvPr/>
        </p:nvSpPr>
        <p:spPr>
          <a:xfrm>
            <a:off x="9093250" y="869537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067" name="Picture 59" descr="Picture 5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873194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68" name="Picture 60" descr="Picture 6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873194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069" name="Connector 61"/>
          <p:cNvSpPr/>
          <p:nvPr/>
        </p:nvSpPr>
        <p:spPr>
          <a:xfrm>
            <a:off x="1371600" y="90982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70" name="TextBox 62"/>
          <p:cNvSpPr txBox="1"/>
          <p:nvPr/>
        </p:nvSpPr>
        <p:spPr>
          <a:xfrm>
            <a:off x="1517902" y="913542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5071" name="TextBox 63"/>
          <p:cNvSpPr txBox="1"/>
          <p:nvPr/>
        </p:nvSpPr>
        <p:spPr>
          <a:xfrm>
            <a:off x="2600094" y="913542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Slicing order</a:t>
            </a:r>
          </a:p>
        </p:txBody>
      </p:sp>
      <p:sp>
        <p:nvSpPr>
          <p:cNvPr id="5072" name="TextBox 64"/>
          <p:cNvSpPr txBox="1"/>
          <p:nvPr/>
        </p:nvSpPr>
        <p:spPr>
          <a:xfrm>
            <a:off x="9093250" y="913542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073" name="Picture 65" descr="Picture 6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17200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74" name="Picture 66" descr="Picture 6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172002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075" name="TextBox 67"/>
          <p:cNvSpPr txBox="1"/>
          <p:nvPr/>
        </p:nvSpPr>
        <p:spPr>
          <a:xfrm>
            <a:off x="18832982" y="9135426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ARCD-1532</a:t>
            </a:r>
          </a:p>
        </p:txBody>
      </p:sp>
      <p:sp>
        <p:nvSpPr>
          <p:cNvPr id="5076" name="Connector 68"/>
          <p:cNvSpPr/>
          <p:nvPr/>
        </p:nvSpPr>
        <p:spPr>
          <a:xfrm>
            <a:off x="1371600" y="9538334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77" name="TextBox 69"/>
          <p:cNvSpPr txBox="1"/>
          <p:nvPr/>
        </p:nvSpPr>
        <p:spPr>
          <a:xfrm>
            <a:off x="1517902" y="957548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078" name="TextBox 70"/>
          <p:cNvSpPr txBox="1"/>
          <p:nvPr/>
        </p:nvSpPr>
        <p:spPr>
          <a:xfrm>
            <a:off x="2600094" y="957548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Chain order</a:t>
            </a:r>
          </a:p>
        </p:txBody>
      </p:sp>
      <p:sp>
        <p:nvSpPr>
          <p:cNvPr id="5079" name="TextBox 71"/>
          <p:cNvSpPr txBox="1"/>
          <p:nvPr/>
        </p:nvSpPr>
        <p:spPr>
          <a:xfrm>
            <a:off x="9093250" y="957548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080" name="Picture 72" descr="Picture 7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61205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81" name="Picture 73" descr="Picture 7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61205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082" name="TextBox 74"/>
          <p:cNvSpPr txBox="1"/>
          <p:nvPr/>
        </p:nvSpPr>
        <p:spPr>
          <a:xfrm>
            <a:off x="18832982" y="9575482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ARCD-2652</a:t>
            </a:r>
          </a:p>
        </p:txBody>
      </p:sp>
      <p:sp>
        <p:nvSpPr>
          <p:cNvPr id="5083" name="Connector 75"/>
          <p:cNvSpPr/>
          <p:nvPr/>
        </p:nvSpPr>
        <p:spPr>
          <a:xfrm>
            <a:off x="1371600" y="997839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84" name="TextBox 76"/>
          <p:cNvSpPr txBox="1"/>
          <p:nvPr/>
        </p:nvSpPr>
        <p:spPr>
          <a:xfrm>
            <a:off x="1517902" y="10015535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5085" name="TextBox 77"/>
          <p:cNvSpPr txBox="1"/>
          <p:nvPr/>
        </p:nvSpPr>
        <p:spPr>
          <a:xfrm>
            <a:off x="2600094" y="10015535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Bracket order</a:t>
            </a:r>
          </a:p>
        </p:txBody>
      </p:sp>
      <p:sp>
        <p:nvSpPr>
          <p:cNvPr id="5086" name="TextBox 78"/>
          <p:cNvSpPr txBox="1"/>
          <p:nvPr/>
        </p:nvSpPr>
        <p:spPr>
          <a:xfrm>
            <a:off x="9093250" y="100155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087" name="Picture 79" descr="Picture 7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05211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88" name="Picture 80" descr="Picture 8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052112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089" name="TextBox 81"/>
          <p:cNvSpPr txBox="1"/>
          <p:nvPr/>
        </p:nvSpPr>
        <p:spPr>
          <a:xfrm>
            <a:off x="18832982" y="10015535"/>
            <a:ext cx="230465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ARCD-1708</a:t>
            </a:r>
          </a:p>
        </p:txBody>
      </p:sp>
      <p:sp>
        <p:nvSpPr>
          <p:cNvPr id="5090" name="Connector 82"/>
          <p:cNvSpPr/>
          <p:nvPr/>
        </p:nvSpPr>
        <p:spPr>
          <a:xfrm>
            <a:off x="1371600" y="1041844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91" name="TextBox 83"/>
          <p:cNvSpPr txBox="1"/>
          <p:nvPr/>
        </p:nvSpPr>
        <p:spPr>
          <a:xfrm>
            <a:off x="1517902" y="1045559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5092" name="TextBox 84"/>
          <p:cNvSpPr txBox="1"/>
          <p:nvPr/>
        </p:nvSpPr>
        <p:spPr>
          <a:xfrm>
            <a:off x="2600094" y="1045559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on close (MOC)</a:t>
            </a:r>
          </a:p>
        </p:txBody>
      </p:sp>
      <p:sp>
        <p:nvSpPr>
          <p:cNvPr id="5093" name="TextBox 85"/>
          <p:cNvSpPr txBox="1"/>
          <p:nvPr/>
        </p:nvSpPr>
        <p:spPr>
          <a:xfrm>
            <a:off x="9093250" y="1045559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094" name="Picture 86" descr="Picture 8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49216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95" name="Picture 87" descr="Picture 8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49216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096" name="TextBox 88"/>
          <p:cNvSpPr txBox="1"/>
          <p:nvPr/>
        </p:nvSpPr>
        <p:spPr>
          <a:xfrm>
            <a:off x="18832982" y="10455592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ARCD-9245</a:t>
            </a:r>
          </a:p>
        </p:txBody>
      </p:sp>
      <p:sp>
        <p:nvSpPr>
          <p:cNvPr id="5097" name="Connector 89"/>
          <p:cNvSpPr/>
          <p:nvPr/>
        </p:nvSpPr>
        <p:spPr>
          <a:xfrm>
            <a:off x="1371600" y="108585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98" name="TextBox 90"/>
          <p:cNvSpPr txBox="1"/>
          <p:nvPr/>
        </p:nvSpPr>
        <p:spPr>
          <a:xfrm>
            <a:off x="1517902" y="10895647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5099" name="TextBox 91"/>
          <p:cNvSpPr txBox="1"/>
          <p:nvPr/>
        </p:nvSpPr>
        <p:spPr>
          <a:xfrm>
            <a:off x="2600094" y="10895647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Trailing order</a:t>
            </a:r>
          </a:p>
        </p:txBody>
      </p:sp>
      <p:sp>
        <p:nvSpPr>
          <p:cNvPr id="5100" name="TextBox 92"/>
          <p:cNvSpPr txBox="1"/>
          <p:nvPr/>
        </p:nvSpPr>
        <p:spPr>
          <a:xfrm>
            <a:off x="9093250" y="1089564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101" name="Picture 93" descr="Picture 9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93222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02" name="Picture 94" descr="Picture 9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93222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103" name="Connector 95"/>
          <p:cNvSpPr/>
          <p:nvPr/>
        </p:nvSpPr>
        <p:spPr>
          <a:xfrm>
            <a:off x="1371600" y="1129855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04" name="TextBox 96"/>
          <p:cNvSpPr txBox="1"/>
          <p:nvPr/>
        </p:nvSpPr>
        <p:spPr>
          <a:xfrm>
            <a:off x="1517902" y="1133570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5105" name="TextBox 97"/>
          <p:cNvSpPr txBox="1"/>
          <p:nvPr/>
        </p:nvSpPr>
        <p:spPr>
          <a:xfrm>
            <a:off x="2600094" y="1133570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Trading session (regular/pre market/ post market)</a:t>
            </a:r>
          </a:p>
        </p:txBody>
      </p:sp>
      <p:sp>
        <p:nvSpPr>
          <p:cNvPr id="5106" name="TextBox 98"/>
          <p:cNvSpPr txBox="1"/>
          <p:nvPr/>
        </p:nvSpPr>
        <p:spPr>
          <a:xfrm>
            <a:off x="9093250" y="1133570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107" name="Picture 99" descr="Picture 9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37227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08" name="Picture 100" descr="Picture 10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372277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109" name="Connector 101"/>
          <p:cNvSpPr/>
          <p:nvPr/>
        </p:nvSpPr>
        <p:spPr>
          <a:xfrm>
            <a:off x="1371600" y="1173860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10" name="TextBox 102"/>
          <p:cNvSpPr txBox="1"/>
          <p:nvPr/>
        </p:nvSpPr>
        <p:spPr>
          <a:xfrm>
            <a:off x="1517902" y="1177575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5111" name="TextBox 103"/>
          <p:cNvSpPr txBox="1"/>
          <p:nvPr/>
        </p:nvSpPr>
        <p:spPr>
          <a:xfrm>
            <a:off x="2600094" y="1177575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Overnight trading</a:t>
            </a:r>
          </a:p>
        </p:txBody>
      </p:sp>
      <p:sp>
        <p:nvSpPr>
          <p:cNvPr id="5112" name="TextBox 104"/>
          <p:cNvSpPr txBox="1"/>
          <p:nvPr/>
        </p:nvSpPr>
        <p:spPr>
          <a:xfrm>
            <a:off x="9093250" y="1177575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113" name="Picture 105" descr="Picture 10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81233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14" name="Picture 106" descr="Picture 10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81233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115" name="Connector 107"/>
          <p:cNvSpPr/>
          <p:nvPr/>
        </p:nvSpPr>
        <p:spPr>
          <a:xfrm>
            <a:off x="1371600" y="1217866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16" name="TextBox 108"/>
          <p:cNvSpPr txBox="1"/>
          <p:nvPr/>
        </p:nvSpPr>
        <p:spPr>
          <a:xfrm>
            <a:off x="1517902" y="1221581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5117" name="TextBox 109"/>
          <p:cNvSpPr txBox="1"/>
          <p:nvPr/>
        </p:nvSpPr>
        <p:spPr>
          <a:xfrm>
            <a:off x="2600094" y="1221581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Frication Shares</a:t>
            </a:r>
          </a:p>
        </p:txBody>
      </p:sp>
      <p:sp>
        <p:nvSpPr>
          <p:cNvPr id="5118" name="TextBox 110"/>
          <p:cNvSpPr txBox="1"/>
          <p:nvPr/>
        </p:nvSpPr>
        <p:spPr>
          <a:xfrm>
            <a:off x="9093250" y="12215810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119" name="Picture 111" descr="Picture 1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225238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0" name="Picture 112" descr="Picture 11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252387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121" name="Connector 113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5124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077 / 111</a:t>
            </a:r>
          </a:p>
        </p:txBody>
      </p:sp>
      <p:sp>
        <p:nvSpPr>
          <p:cNvPr id="5125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5126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Orders Validity</a:t>
            </a:r>
          </a:p>
        </p:txBody>
      </p:sp>
      <p:sp>
        <p:nvSpPr>
          <p:cNvPr id="5127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5128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5129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5130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5131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5132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5133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5134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5135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36" name="TextBox 14"/>
          <p:cNvSpPr txBox="1"/>
          <p:nvPr/>
        </p:nvSpPr>
        <p:spPr>
          <a:xfrm>
            <a:off x="1517902" y="5737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137" name="TextBox 15"/>
          <p:cNvSpPr txBox="1"/>
          <p:nvPr/>
        </p:nvSpPr>
        <p:spPr>
          <a:xfrm>
            <a:off x="2600094" y="5737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</a:t>
            </a:r>
          </a:p>
        </p:txBody>
      </p:sp>
      <p:sp>
        <p:nvSpPr>
          <p:cNvPr id="5138" name="TextBox 16"/>
          <p:cNvSpPr txBox="1"/>
          <p:nvPr/>
        </p:nvSpPr>
        <p:spPr>
          <a:xfrm>
            <a:off x="9093250" y="5737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139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0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141" name="Connector 19"/>
          <p:cNvSpPr/>
          <p:nvPr/>
        </p:nvSpPr>
        <p:spPr>
          <a:xfrm>
            <a:off x="1371600" y="6263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42" name="TextBox 20"/>
          <p:cNvSpPr txBox="1"/>
          <p:nvPr/>
        </p:nvSpPr>
        <p:spPr>
          <a:xfrm>
            <a:off x="1517902" y="6423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143" name="TextBox 21"/>
          <p:cNvSpPr txBox="1"/>
          <p:nvPr/>
        </p:nvSpPr>
        <p:spPr>
          <a:xfrm>
            <a:off x="2600094" y="6423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Till date (up to 30 days)</a:t>
            </a:r>
          </a:p>
        </p:txBody>
      </p:sp>
      <p:sp>
        <p:nvSpPr>
          <p:cNvPr id="5144" name="TextBox 22"/>
          <p:cNvSpPr txBox="1"/>
          <p:nvPr/>
        </p:nvSpPr>
        <p:spPr>
          <a:xfrm>
            <a:off x="9093250" y="6423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5145" name="TextBox 23"/>
          <p:cNvSpPr txBox="1"/>
          <p:nvPr/>
        </p:nvSpPr>
        <p:spPr>
          <a:xfrm>
            <a:off x="10894893" y="6423659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5146" name="TextBox 24"/>
          <p:cNvSpPr txBox="1"/>
          <p:nvPr/>
        </p:nvSpPr>
        <p:spPr>
          <a:xfrm>
            <a:off x="12626399" y="6423659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5147" name="Connector 25"/>
          <p:cNvSpPr/>
          <p:nvPr/>
        </p:nvSpPr>
        <p:spPr>
          <a:xfrm>
            <a:off x="1371600" y="6949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48" name="TextBox 26"/>
          <p:cNvSpPr txBox="1"/>
          <p:nvPr/>
        </p:nvSpPr>
        <p:spPr>
          <a:xfrm>
            <a:off x="1517902" y="7109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149" name="TextBox 27"/>
          <p:cNvSpPr txBox="1"/>
          <p:nvPr/>
        </p:nvSpPr>
        <p:spPr>
          <a:xfrm>
            <a:off x="2600094" y="7109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Fill or kill</a:t>
            </a:r>
          </a:p>
        </p:txBody>
      </p:sp>
      <p:sp>
        <p:nvSpPr>
          <p:cNvPr id="5150" name="TextBox 28"/>
          <p:cNvSpPr txBox="1"/>
          <p:nvPr/>
        </p:nvSpPr>
        <p:spPr>
          <a:xfrm>
            <a:off x="9093250" y="7109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151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2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153" name="Connector 31"/>
          <p:cNvSpPr/>
          <p:nvPr/>
        </p:nvSpPr>
        <p:spPr>
          <a:xfrm>
            <a:off x="1371600" y="763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54" name="TextBox 32"/>
          <p:cNvSpPr txBox="1"/>
          <p:nvPr/>
        </p:nvSpPr>
        <p:spPr>
          <a:xfrm>
            <a:off x="1517902" y="7795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155" name="TextBox 33"/>
          <p:cNvSpPr txBox="1"/>
          <p:nvPr/>
        </p:nvSpPr>
        <p:spPr>
          <a:xfrm>
            <a:off x="2600094" y="7795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Till cancellation (up to 30 days)</a:t>
            </a:r>
          </a:p>
        </p:txBody>
      </p:sp>
      <p:sp>
        <p:nvSpPr>
          <p:cNvPr id="5156" name="TextBox 34"/>
          <p:cNvSpPr txBox="1"/>
          <p:nvPr/>
        </p:nvSpPr>
        <p:spPr>
          <a:xfrm>
            <a:off x="9093250" y="7795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157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8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159" name="Connector 37"/>
          <p:cNvSpPr/>
          <p:nvPr/>
        </p:nvSpPr>
        <p:spPr>
          <a:xfrm>
            <a:off x="1371600" y="8321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60" name="TextBox 38"/>
          <p:cNvSpPr txBox="1"/>
          <p:nvPr/>
        </p:nvSpPr>
        <p:spPr>
          <a:xfrm>
            <a:off x="1517902" y="84810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161" name="TextBox 39"/>
          <p:cNvSpPr txBox="1"/>
          <p:nvPr/>
        </p:nvSpPr>
        <p:spPr>
          <a:xfrm>
            <a:off x="2600094" y="84810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Immediate or cancel</a:t>
            </a:r>
          </a:p>
        </p:txBody>
      </p:sp>
      <p:sp>
        <p:nvSpPr>
          <p:cNvPr id="5162" name="TextBox 40"/>
          <p:cNvSpPr txBox="1"/>
          <p:nvPr/>
        </p:nvSpPr>
        <p:spPr>
          <a:xfrm>
            <a:off x="9093250" y="84810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163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64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165" name="Connector 43"/>
          <p:cNvSpPr/>
          <p:nvPr/>
        </p:nvSpPr>
        <p:spPr>
          <a:xfrm>
            <a:off x="1371600" y="90068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5168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066 / 111</a:t>
            </a:r>
          </a:p>
        </p:txBody>
      </p:sp>
      <p:sp>
        <p:nvSpPr>
          <p:cNvPr id="5169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5170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Transfer &amp; Funding</a:t>
            </a:r>
          </a:p>
        </p:txBody>
      </p:sp>
      <p:sp>
        <p:nvSpPr>
          <p:cNvPr id="5171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5172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5173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5174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5175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5176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5177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5178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5179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80" name="TextBox 14"/>
          <p:cNvSpPr txBox="1"/>
          <p:nvPr/>
        </p:nvSpPr>
        <p:spPr>
          <a:xfrm>
            <a:off x="1517902" y="5737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181" name="TextBox 15"/>
          <p:cNvSpPr txBox="1"/>
          <p:nvPr/>
        </p:nvSpPr>
        <p:spPr>
          <a:xfrm>
            <a:off x="2600094" y="5737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transfer options visibility</a:t>
            </a:r>
          </a:p>
        </p:txBody>
      </p:sp>
      <p:sp>
        <p:nvSpPr>
          <p:cNvPr id="5182" name="TextBox 16"/>
          <p:cNvSpPr txBox="1"/>
          <p:nvPr/>
        </p:nvSpPr>
        <p:spPr>
          <a:xfrm>
            <a:off x="9093250" y="5737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183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4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185" name="Connector 19"/>
          <p:cNvSpPr/>
          <p:nvPr/>
        </p:nvSpPr>
        <p:spPr>
          <a:xfrm>
            <a:off x="1371600" y="6263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86" name="TextBox 20"/>
          <p:cNvSpPr txBox="1"/>
          <p:nvPr/>
        </p:nvSpPr>
        <p:spPr>
          <a:xfrm>
            <a:off x="1517902" y="6423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187" name="TextBox 21"/>
          <p:cNvSpPr txBox="1"/>
          <p:nvPr/>
        </p:nvSpPr>
        <p:spPr>
          <a:xfrm>
            <a:off x="2600094" y="6423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status visibility</a:t>
            </a:r>
          </a:p>
        </p:txBody>
      </p:sp>
      <p:sp>
        <p:nvSpPr>
          <p:cNvPr id="5188" name="TextBox 22"/>
          <p:cNvSpPr txBox="1"/>
          <p:nvPr/>
        </p:nvSpPr>
        <p:spPr>
          <a:xfrm>
            <a:off x="9093250" y="6423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189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90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191" name="Connector 25"/>
          <p:cNvSpPr/>
          <p:nvPr/>
        </p:nvSpPr>
        <p:spPr>
          <a:xfrm>
            <a:off x="1371600" y="6949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92" name="TextBox 26"/>
          <p:cNvSpPr txBox="1"/>
          <p:nvPr/>
        </p:nvSpPr>
        <p:spPr>
          <a:xfrm>
            <a:off x="1517902" y="7109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193" name="TextBox 27"/>
          <p:cNvSpPr txBox="1"/>
          <p:nvPr/>
        </p:nvSpPr>
        <p:spPr>
          <a:xfrm>
            <a:off x="2600094" y="7109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history</a:t>
            </a:r>
          </a:p>
        </p:txBody>
      </p:sp>
      <p:sp>
        <p:nvSpPr>
          <p:cNvPr id="5194" name="TextBox 28"/>
          <p:cNvSpPr txBox="1"/>
          <p:nvPr/>
        </p:nvSpPr>
        <p:spPr>
          <a:xfrm>
            <a:off x="9093250" y="7109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195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96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197" name="TextBox 31"/>
          <p:cNvSpPr txBox="1"/>
          <p:nvPr/>
        </p:nvSpPr>
        <p:spPr>
          <a:xfrm>
            <a:off x="14504212" y="71094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history</a:t>
            </a:r>
          </a:p>
        </p:txBody>
      </p:sp>
      <p:sp>
        <p:nvSpPr>
          <p:cNvPr id="5198" name="Connector 32"/>
          <p:cNvSpPr/>
          <p:nvPr/>
        </p:nvSpPr>
        <p:spPr>
          <a:xfrm>
            <a:off x="1371600" y="763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99" name="TextBox 33"/>
          <p:cNvSpPr txBox="1"/>
          <p:nvPr/>
        </p:nvSpPr>
        <p:spPr>
          <a:xfrm>
            <a:off x="1517902" y="7795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200" name="TextBox 34"/>
          <p:cNvSpPr txBox="1"/>
          <p:nvPr/>
        </p:nvSpPr>
        <p:spPr>
          <a:xfrm>
            <a:off x="2600094" y="7795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source visibility</a:t>
            </a:r>
          </a:p>
        </p:txBody>
      </p:sp>
      <p:sp>
        <p:nvSpPr>
          <p:cNvPr id="5201" name="TextBox 35"/>
          <p:cNvSpPr txBox="1"/>
          <p:nvPr/>
        </p:nvSpPr>
        <p:spPr>
          <a:xfrm>
            <a:off x="9093250" y="7795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202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03" name="Picture 37" descr="Picture 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204" name="Connector 38"/>
          <p:cNvSpPr/>
          <p:nvPr/>
        </p:nvSpPr>
        <p:spPr>
          <a:xfrm>
            <a:off x="1371600" y="8321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05" name="TextBox 39"/>
          <p:cNvSpPr txBox="1"/>
          <p:nvPr/>
        </p:nvSpPr>
        <p:spPr>
          <a:xfrm>
            <a:off x="1517902" y="84810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206" name="TextBox 40"/>
          <p:cNvSpPr txBox="1"/>
          <p:nvPr/>
        </p:nvSpPr>
        <p:spPr>
          <a:xfrm>
            <a:off x="2600094" y="84810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eligibility visibility</a:t>
            </a:r>
          </a:p>
        </p:txBody>
      </p:sp>
      <p:sp>
        <p:nvSpPr>
          <p:cNvPr id="5207" name="TextBox 41"/>
          <p:cNvSpPr txBox="1"/>
          <p:nvPr/>
        </p:nvSpPr>
        <p:spPr>
          <a:xfrm>
            <a:off x="9093250" y="84810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208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09" name="Picture 43" descr="Picture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210" name="Connector 44"/>
          <p:cNvSpPr/>
          <p:nvPr/>
        </p:nvSpPr>
        <p:spPr>
          <a:xfrm>
            <a:off x="1371600" y="90068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11" name="TextBox 45"/>
          <p:cNvSpPr txBox="1"/>
          <p:nvPr/>
        </p:nvSpPr>
        <p:spPr>
          <a:xfrm>
            <a:off x="1517902" y="9166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5212" name="TextBox 46"/>
          <p:cNvSpPr txBox="1"/>
          <p:nvPr/>
        </p:nvSpPr>
        <p:spPr>
          <a:xfrm>
            <a:off x="2600094" y="9166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Deposit cash (cash in)</a:t>
            </a:r>
          </a:p>
        </p:txBody>
      </p:sp>
      <p:sp>
        <p:nvSpPr>
          <p:cNvPr id="5213" name="TextBox 47"/>
          <p:cNvSpPr txBox="1"/>
          <p:nvPr/>
        </p:nvSpPr>
        <p:spPr>
          <a:xfrm>
            <a:off x="9093250" y="9166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214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15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216" name="Connector 50"/>
          <p:cNvSpPr/>
          <p:nvPr/>
        </p:nvSpPr>
        <p:spPr>
          <a:xfrm>
            <a:off x="1371600" y="9692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17" name="TextBox 51"/>
          <p:cNvSpPr txBox="1"/>
          <p:nvPr/>
        </p:nvSpPr>
        <p:spPr>
          <a:xfrm>
            <a:off x="1517902" y="9852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5218" name="TextBox 52"/>
          <p:cNvSpPr txBox="1"/>
          <p:nvPr/>
        </p:nvSpPr>
        <p:spPr>
          <a:xfrm>
            <a:off x="2600094" y="9852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Withdraw (cash out)</a:t>
            </a:r>
          </a:p>
        </p:txBody>
      </p:sp>
      <p:sp>
        <p:nvSpPr>
          <p:cNvPr id="5219" name="TextBox 53"/>
          <p:cNvSpPr txBox="1"/>
          <p:nvPr/>
        </p:nvSpPr>
        <p:spPr>
          <a:xfrm>
            <a:off x="9093250" y="9852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220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8892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21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8892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222" name="Connector 56"/>
          <p:cNvSpPr/>
          <p:nvPr/>
        </p:nvSpPr>
        <p:spPr>
          <a:xfrm>
            <a:off x="1371600" y="10378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5225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078 / 111</a:t>
            </a:r>
          </a:p>
        </p:txBody>
      </p:sp>
      <p:sp>
        <p:nvSpPr>
          <p:cNvPr id="5226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5227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Cash in to US portfolio</a:t>
            </a:r>
          </a:p>
        </p:txBody>
      </p:sp>
      <p:sp>
        <p:nvSpPr>
          <p:cNvPr id="5228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5229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5230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5231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5232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5233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5234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5235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5236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37" name="TextBox 14"/>
          <p:cNvSpPr txBox="1"/>
          <p:nvPr/>
        </p:nvSpPr>
        <p:spPr>
          <a:xfrm>
            <a:off x="1517902" y="568832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238" name="TextBox 15"/>
          <p:cNvSpPr txBox="1"/>
          <p:nvPr/>
        </p:nvSpPr>
        <p:spPr>
          <a:xfrm>
            <a:off x="2600094" y="568832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Linked account (if ARB)</a:t>
            </a:r>
          </a:p>
        </p:txBody>
      </p:sp>
      <p:sp>
        <p:nvSpPr>
          <p:cNvPr id="5239" name="TextBox 16"/>
          <p:cNvSpPr txBox="1"/>
          <p:nvPr/>
        </p:nvSpPr>
        <p:spPr>
          <a:xfrm>
            <a:off x="9093250" y="568832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240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2490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41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2490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242" name="Connector 19"/>
          <p:cNvSpPr/>
          <p:nvPr/>
        </p:nvSpPr>
        <p:spPr>
          <a:xfrm>
            <a:off x="1371600" y="616457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43" name="TextBox 20"/>
          <p:cNvSpPr txBox="1"/>
          <p:nvPr/>
        </p:nvSpPr>
        <p:spPr>
          <a:xfrm>
            <a:off x="1517902" y="627507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244" name="TextBox 21"/>
          <p:cNvSpPr txBox="1"/>
          <p:nvPr/>
        </p:nvSpPr>
        <p:spPr>
          <a:xfrm>
            <a:off x="2600094" y="627507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ARB account</a:t>
            </a:r>
          </a:p>
        </p:txBody>
      </p:sp>
      <p:sp>
        <p:nvSpPr>
          <p:cNvPr id="5245" name="TextBox 22"/>
          <p:cNvSpPr txBox="1"/>
          <p:nvPr/>
        </p:nvSpPr>
        <p:spPr>
          <a:xfrm>
            <a:off x="9093250" y="627507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246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31164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47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31164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248" name="Connector 25"/>
          <p:cNvSpPr/>
          <p:nvPr/>
        </p:nvSpPr>
        <p:spPr>
          <a:xfrm>
            <a:off x="1371600" y="67513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49" name="TextBox 26"/>
          <p:cNvSpPr txBox="1"/>
          <p:nvPr/>
        </p:nvSpPr>
        <p:spPr>
          <a:xfrm>
            <a:off x="1517902" y="686180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250" name="TextBox 27"/>
          <p:cNvSpPr txBox="1"/>
          <p:nvPr/>
        </p:nvSpPr>
        <p:spPr>
          <a:xfrm>
            <a:off x="2600094" y="686180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banks</a:t>
            </a:r>
          </a:p>
        </p:txBody>
      </p:sp>
      <p:sp>
        <p:nvSpPr>
          <p:cNvPr id="5251" name="TextBox 28"/>
          <p:cNvSpPr txBox="1"/>
          <p:nvPr/>
        </p:nvSpPr>
        <p:spPr>
          <a:xfrm>
            <a:off x="9093250" y="686180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252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89838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53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89838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254" name="Connector 31"/>
          <p:cNvSpPr/>
          <p:nvPr/>
        </p:nvSpPr>
        <p:spPr>
          <a:xfrm>
            <a:off x="1371600" y="73380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55" name="TextBox 32"/>
          <p:cNvSpPr txBox="1"/>
          <p:nvPr/>
        </p:nvSpPr>
        <p:spPr>
          <a:xfrm>
            <a:off x="1517902" y="744855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256" name="TextBox 33"/>
          <p:cNvSpPr txBox="1"/>
          <p:nvPr/>
        </p:nvSpPr>
        <p:spPr>
          <a:xfrm>
            <a:off x="2600094" y="744855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Apply pay</a:t>
            </a:r>
          </a:p>
        </p:txBody>
      </p:sp>
      <p:sp>
        <p:nvSpPr>
          <p:cNvPr id="5257" name="TextBox 34"/>
          <p:cNvSpPr txBox="1"/>
          <p:nvPr/>
        </p:nvSpPr>
        <p:spPr>
          <a:xfrm>
            <a:off x="9093250" y="744854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258" name="Picture 35" descr="Picture 3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748512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59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748512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260" name="Connector 37"/>
          <p:cNvSpPr/>
          <p:nvPr/>
        </p:nvSpPr>
        <p:spPr>
          <a:xfrm>
            <a:off x="1371600" y="79248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61" name="TextBox 38"/>
          <p:cNvSpPr txBox="1"/>
          <p:nvPr/>
        </p:nvSpPr>
        <p:spPr>
          <a:xfrm>
            <a:off x="1517902" y="803529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262" name="TextBox 39"/>
          <p:cNvSpPr txBox="1"/>
          <p:nvPr/>
        </p:nvSpPr>
        <p:spPr>
          <a:xfrm>
            <a:off x="2600094" y="803529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Debit/Credit cards</a:t>
            </a:r>
          </a:p>
        </p:txBody>
      </p:sp>
      <p:sp>
        <p:nvSpPr>
          <p:cNvPr id="5263" name="TextBox 40"/>
          <p:cNvSpPr txBox="1"/>
          <p:nvPr/>
        </p:nvSpPr>
        <p:spPr>
          <a:xfrm>
            <a:off x="9093250" y="803529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264" name="Picture 41" descr="Picture 4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807186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65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807186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266" name="Connector 43"/>
          <p:cNvSpPr/>
          <p:nvPr/>
        </p:nvSpPr>
        <p:spPr>
          <a:xfrm>
            <a:off x="1371600" y="85115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67" name="TextBox 44"/>
          <p:cNvSpPr txBox="1"/>
          <p:nvPr/>
        </p:nvSpPr>
        <p:spPr>
          <a:xfrm>
            <a:off x="1517902" y="862203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5268" name="TextBox 45"/>
          <p:cNvSpPr txBox="1"/>
          <p:nvPr/>
        </p:nvSpPr>
        <p:spPr>
          <a:xfrm>
            <a:off x="2600094" y="862203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Mokafaa</a:t>
            </a:r>
          </a:p>
        </p:txBody>
      </p:sp>
      <p:sp>
        <p:nvSpPr>
          <p:cNvPr id="5269" name="TextBox 46"/>
          <p:cNvSpPr txBox="1"/>
          <p:nvPr/>
        </p:nvSpPr>
        <p:spPr>
          <a:xfrm>
            <a:off x="9093250" y="86220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270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65860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71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65860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272" name="Connector 49"/>
          <p:cNvSpPr/>
          <p:nvPr/>
        </p:nvSpPr>
        <p:spPr>
          <a:xfrm>
            <a:off x="1371600" y="90982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73" name="TextBox 50"/>
          <p:cNvSpPr txBox="1"/>
          <p:nvPr/>
        </p:nvSpPr>
        <p:spPr>
          <a:xfrm>
            <a:off x="1517902" y="920876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5274" name="TextBox 51"/>
          <p:cNvSpPr txBox="1"/>
          <p:nvPr/>
        </p:nvSpPr>
        <p:spPr>
          <a:xfrm>
            <a:off x="2600094" y="920876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ARC Account (UCM)</a:t>
            </a:r>
          </a:p>
        </p:txBody>
      </p:sp>
      <p:sp>
        <p:nvSpPr>
          <p:cNvPr id="5275" name="TextBox 52"/>
          <p:cNvSpPr txBox="1"/>
          <p:nvPr/>
        </p:nvSpPr>
        <p:spPr>
          <a:xfrm>
            <a:off x="9093250" y="920876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276" name="Picture 53" descr="Picture 5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24534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77" name="Picture 54" descr="Picture 5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24534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278" name="Connector 55"/>
          <p:cNvSpPr/>
          <p:nvPr/>
        </p:nvSpPr>
        <p:spPr>
          <a:xfrm>
            <a:off x="1371600" y="96850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79" name="TextBox 56"/>
          <p:cNvSpPr txBox="1"/>
          <p:nvPr/>
        </p:nvSpPr>
        <p:spPr>
          <a:xfrm>
            <a:off x="1517902" y="979550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5280" name="TextBox 57"/>
          <p:cNvSpPr txBox="1"/>
          <p:nvPr/>
        </p:nvSpPr>
        <p:spPr>
          <a:xfrm>
            <a:off x="2600094" y="979550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portfolio</a:t>
            </a:r>
          </a:p>
        </p:txBody>
      </p:sp>
      <p:sp>
        <p:nvSpPr>
          <p:cNvPr id="5281" name="TextBox 58"/>
          <p:cNvSpPr txBox="1"/>
          <p:nvPr/>
        </p:nvSpPr>
        <p:spPr>
          <a:xfrm>
            <a:off x="9093250" y="979550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282" name="Picture 59" descr="Picture 5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83208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83" name="Picture 60" descr="Picture 6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83208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284" name="Connector 61"/>
          <p:cNvSpPr/>
          <p:nvPr/>
        </p:nvSpPr>
        <p:spPr>
          <a:xfrm>
            <a:off x="1371600" y="102717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85" name="TextBox 62"/>
          <p:cNvSpPr txBox="1"/>
          <p:nvPr/>
        </p:nvSpPr>
        <p:spPr>
          <a:xfrm>
            <a:off x="1517902" y="1038225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5286" name="TextBox 63"/>
          <p:cNvSpPr txBox="1"/>
          <p:nvPr/>
        </p:nvSpPr>
        <p:spPr>
          <a:xfrm>
            <a:off x="2600094" y="1038225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US portfolio</a:t>
            </a:r>
          </a:p>
        </p:txBody>
      </p:sp>
      <p:sp>
        <p:nvSpPr>
          <p:cNvPr id="5287" name="TextBox 64"/>
          <p:cNvSpPr txBox="1"/>
          <p:nvPr/>
        </p:nvSpPr>
        <p:spPr>
          <a:xfrm>
            <a:off x="9093250" y="1038224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5288" name="TextBox 65"/>
          <p:cNvSpPr txBox="1"/>
          <p:nvPr/>
        </p:nvSpPr>
        <p:spPr>
          <a:xfrm>
            <a:off x="10894893" y="1038225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5289" name="TextBox 66"/>
          <p:cNvSpPr txBox="1"/>
          <p:nvPr/>
        </p:nvSpPr>
        <p:spPr>
          <a:xfrm>
            <a:off x="12626399" y="1038225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5290" name="Connector 67"/>
          <p:cNvSpPr/>
          <p:nvPr/>
        </p:nvSpPr>
        <p:spPr>
          <a:xfrm>
            <a:off x="1371600" y="108585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91" name="TextBox 68"/>
          <p:cNvSpPr txBox="1"/>
          <p:nvPr/>
        </p:nvSpPr>
        <p:spPr>
          <a:xfrm>
            <a:off x="1517902" y="1096899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292" name="TextBox 69"/>
          <p:cNvSpPr txBox="1"/>
          <p:nvPr/>
        </p:nvSpPr>
        <p:spPr>
          <a:xfrm>
            <a:off x="2600094" y="1096899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international portfolio</a:t>
            </a:r>
          </a:p>
        </p:txBody>
      </p:sp>
      <p:sp>
        <p:nvSpPr>
          <p:cNvPr id="5293" name="TextBox 70"/>
          <p:cNvSpPr txBox="1"/>
          <p:nvPr/>
        </p:nvSpPr>
        <p:spPr>
          <a:xfrm>
            <a:off x="9093250" y="1096899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294" name="Picture 71" descr="Picture 7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00556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295" name="Picture 72" descr="Picture 7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00556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296" name="Connector 73"/>
          <p:cNvSpPr/>
          <p:nvPr/>
        </p:nvSpPr>
        <p:spPr>
          <a:xfrm>
            <a:off x="1371600" y="1144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97" name="TextBox 74"/>
          <p:cNvSpPr txBox="1"/>
          <p:nvPr/>
        </p:nvSpPr>
        <p:spPr>
          <a:xfrm>
            <a:off x="1517902" y="1155573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5298" name="TextBox 75"/>
          <p:cNvSpPr txBox="1"/>
          <p:nvPr/>
        </p:nvSpPr>
        <p:spPr>
          <a:xfrm>
            <a:off x="2600094" y="1155573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Crowd fund portfolio</a:t>
            </a:r>
          </a:p>
        </p:txBody>
      </p:sp>
      <p:sp>
        <p:nvSpPr>
          <p:cNvPr id="5299" name="TextBox 76"/>
          <p:cNvSpPr txBox="1"/>
          <p:nvPr/>
        </p:nvSpPr>
        <p:spPr>
          <a:xfrm>
            <a:off x="9093250" y="115557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300" name="Picture 77" descr="Picture 7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59230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01" name="Picture 78" descr="Picture 7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59230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302" name="Connector 79"/>
          <p:cNvSpPr/>
          <p:nvPr/>
        </p:nvSpPr>
        <p:spPr>
          <a:xfrm>
            <a:off x="1371600" y="120319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03" name="TextBox 80"/>
          <p:cNvSpPr txBox="1"/>
          <p:nvPr/>
        </p:nvSpPr>
        <p:spPr>
          <a:xfrm>
            <a:off x="1517902" y="1214246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5304" name="TextBox 81"/>
          <p:cNvSpPr txBox="1"/>
          <p:nvPr/>
        </p:nvSpPr>
        <p:spPr>
          <a:xfrm>
            <a:off x="2600094" y="1214246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Robo portfolio</a:t>
            </a:r>
          </a:p>
        </p:txBody>
      </p:sp>
      <p:sp>
        <p:nvSpPr>
          <p:cNvPr id="5305" name="TextBox 82"/>
          <p:cNvSpPr txBox="1"/>
          <p:nvPr/>
        </p:nvSpPr>
        <p:spPr>
          <a:xfrm>
            <a:off x="9093250" y="1214246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306" name="Picture 83" descr="Picture 8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217904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07" name="Picture 84" descr="Picture 8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17904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308" name="Connector 85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5311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079 / 111</a:t>
            </a:r>
          </a:p>
        </p:txBody>
      </p:sp>
      <p:sp>
        <p:nvSpPr>
          <p:cNvPr id="5312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5313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Cash out to US portfolio</a:t>
            </a:r>
          </a:p>
        </p:txBody>
      </p:sp>
      <p:sp>
        <p:nvSpPr>
          <p:cNvPr id="5314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5315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5316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5317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5318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5319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5320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5321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5322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23" name="TextBox 14"/>
          <p:cNvSpPr txBox="1"/>
          <p:nvPr/>
        </p:nvSpPr>
        <p:spPr>
          <a:xfrm>
            <a:off x="1517902" y="568832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324" name="TextBox 15"/>
          <p:cNvSpPr txBox="1"/>
          <p:nvPr/>
        </p:nvSpPr>
        <p:spPr>
          <a:xfrm>
            <a:off x="2600094" y="568832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Linked account (if ARB)</a:t>
            </a:r>
          </a:p>
        </p:txBody>
      </p:sp>
      <p:sp>
        <p:nvSpPr>
          <p:cNvPr id="5325" name="TextBox 16"/>
          <p:cNvSpPr txBox="1"/>
          <p:nvPr/>
        </p:nvSpPr>
        <p:spPr>
          <a:xfrm>
            <a:off x="9093250" y="568832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326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2490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27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2490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328" name="Connector 19"/>
          <p:cNvSpPr/>
          <p:nvPr/>
        </p:nvSpPr>
        <p:spPr>
          <a:xfrm>
            <a:off x="1371600" y="616457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29" name="TextBox 20"/>
          <p:cNvSpPr txBox="1"/>
          <p:nvPr/>
        </p:nvSpPr>
        <p:spPr>
          <a:xfrm>
            <a:off x="1517902" y="627507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330" name="TextBox 21"/>
          <p:cNvSpPr txBox="1"/>
          <p:nvPr/>
        </p:nvSpPr>
        <p:spPr>
          <a:xfrm>
            <a:off x="2600094" y="627507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ARB account</a:t>
            </a:r>
          </a:p>
        </p:txBody>
      </p:sp>
      <p:sp>
        <p:nvSpPr>
          <p:cNvPr id="5331" name="TextBox 22"/>
          <p:cNvSpPr txBox="1"/>
          <p:nvPr/>
        </p:nvSpPr>
        <p:spPr>
          <a:xfrm>
            <a:off x="9093250" y="627507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332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31164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33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31164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334" name="Connector 25"/>
          <p:cNvSpPr/>
          <p:nvPr/>
        </p:nvSpPr>
        <p:spPr>
          <a:xfrm>
            <a:off x="1371600" y="67513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35" name="TextBox 26"/>
          <p:cNvSpPr txBox="1"/>
          <p:nvPr/>
        </p:nvSpPr>
        <p:spPr>
          <a:xfrm>
            <a:off x="1517902" y="686180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336" name="TextBox 27"/>
          <p:cNvSpPr txBox="1"/>
          <p:nvPr/>
        </p:nvSpPr>
        <p:spPr>
          <a:xfrm>
            <a:off x="2600094" y="686180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banks</a:t>
            </a:r>
          </a:p>
        </p:txBody>
      </p:sp>
      <p:sp>
        <p:nvSpPr>
          <p:cNvPr id="5337" name="TextBox 28"/>
          <p:cNvSpPr txBox="1"/>
          <p:nvPr/>
        </p:nvSpPr>
        <p:spPr>
          <a:xfrm>
            <a:off x="9093250" y="686180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338" name="Picture 29" descr="Picture 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689838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39" name="Picture 30" descr="Picture 3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689838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340" name="Connector 31"/>
          <p:cNvSpPr/>
          <p:nvPr/>
        </p:nvSpPr>
        <p:spPr>
          <a:xfrm>
            <a:off x="1371600" y="73380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41" name="TextBox 32"/>
          <p:cNvSpPr txBox="1"/>
          <p:nvPr/>
        </p:nvSpPr>
        <p:spPr>
          <a:xfrm>
            <a:off x="1517902" y="744855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342" name="TextBox 33"/>
          <p:cNvSpPr txBox="1"/>
          <p:nvPr/>
        </p:nvSpPr>
        <p:spPr>
          <a:xfrm>
            <a:off x="2600094" y="744855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Apply pay</a:t>
            </a:r>
          </a:p>
        </p:txBody>
      </p:sp>
      <p:sp>
        <p:nvSpPr>
          <p:cNvPr id="5343" name="TextBox 34"/>
          <p:cNvSpPr txBox="1"/>
          <p:nvPr/>
        </p:nvSpPr>
        <p:spPr>
          <a:xfrm>
            <a:off x="9093250" y="744854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5344" name="TextBox 35"/>
          <p:cNvSpPr txBox="1"/>
          <p:nvPr/>
        </p:nvSpPr>
        <p:spPr>
          <a:xfrm>
            <a:off x="10894893" y="744855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5345" name="TextBox 36"/>
          <p:cNvSpPr txBox="1"/>
          <p:nvPr/>
        </p:nvSpPr>
        <p:spPr>
          <a:xfrm>
            <a:off x="12626399" y="744855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5346" name="Connector 37"/>
          <p:cNvSpPr/>
          <p:nvPr/>
        </p:nvSpPr>
        <p:spPr>
          <a:xfrm>
            <a:off x="1371600" y="79248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47" name="TextBox 38"/>
          <p:cNvSpPr txBox="1"/>
          <p:nvPr/>
        </p:nvSpPr>
        <p:spPr>
          <a:xfrm>
            <a:off x="1517902" y="803529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348" name="TextBox 39"/>
          <p:cNvSpPr txBox="1"/>
          <p:nvPr/>
        </p:nvSpPr>
        <p:spPr>
          <a:xfrm>
            <a:off x="2600094" y="803529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Debit/Credit cards</a:t>
            </a:r>
          </a:p>
        </p:txBody>
      </p:sp>
      <p:sp>
        <p:nvSpPr>
          <p:cNvPr id="5349" name="TextBox 40"/>
          <p:cNvSpPr txBox="1"/>
          <p:nvPr/>
        </p:nvSpPr>
        <p:spPr>
          <a:xfrm>
            <a:off x="9093250" y="803529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5350" name="TextBox 41"/>
          <p:cNvSpPr txBox="1"/>
          <p:nvPr/>
        </p:nvSpPr>
        <p:spPr>
          <a:xfrm>
            <a:off x="10894893" y="803529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5351" name="TextBox 42"/>
          <p:cNvSpPr txBox="1"/>
          <p:nvPr/>
        </p:nvSpPr>
        <p:spPr>
          <a:xfrm>
            <a:off x="12626399" y="803529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5352" name="Connector 43"/>
          <p:cNvSpPr/>
          <p:nvPr/>
        </p:nvSpPr>
        <p:spPr>
          <a:xfrm>
            <a:off x="1371600" y="85115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53" name="TextBox 44"/>
          <p:cNvSpPr txBox="1"/>
          <p:nvPr/>
        </p:nvSpPr>
        <p:spPr>
          <a:xfrm>
            <a:off x="1517902" y="862203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5354" name="TextBox 45"/>
          <p:cNvSpPr txBox="1"/>
          <p:nvPr/>
        </p:nvSpPr>
        <p:spPr>
          <a:xfrm>
            <a:off x="2600094" y="862203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Mokafaa</a:t>
            </a:r>
          </a:p>
        </p:txBody>
      </p:sp>
      <p:sp>
        <p:nvSpPr>
          <p:cNvPr id="5355" name="TextBox 46"/>
          <p:cNvSpPr txBox="1"/>
          <p:nvPr/>
        </p:nvSpPr>
        <p:spPr>
          <a:xfrm>
            <a:off x="9093250" y="86220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5356" name="TextBox 47"/>
          <p:cNvSpPr txBox="1"/>
          <p:nvPr/>
        </p:nvSpPr>
        <p:spPr>
          <a:xfrm>
            <a:off x="10894893" y="862203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5357" name="TextBox 48"/>
          <p:cNvSpPr txBox="1"/>
          <p:nvPr/>
        </p:nvSpPr>
        <p:spPr>
          <a:xfrm>
            <a:off x="12626399" y="862203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5358" name="Connector 49"/>
          <p:cNvSpPr/>
          <p:nvPr/>
        </p:nvSpPr>
        <p:spPr>
          <a:xfrm>
            <a:off x="1371600" y="90982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59" name="TextBox 50"/>
          <p:cNvSpPr txBox="1"/>
          <p:nvPr/>
        </p:nvSpPr>
        <p:spPr>
          <a:xfrm>
            <a:off x="1517902" y="920876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5360" name="TextBox 51"/>
          <p:cNvSpPr txBox="1"/>
          <p:nvPr/>
        </p:nvSpPr>
        <p:spPr>
          <a:xfrm>
            <a:off x="2600094" y="920876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ARC Account (UCM)</a:t>
            </a:r>
          </a:p>
        </p:txBody>
      </p:sp>
      <p:sp>
        <p:nvSpPr>
          <p:cNvPr id="5361" name="TextBox 52"/>
          <p:cNvSpPr txBox="1"/>
          <p:nvPr/>
        </p:nvSpPr>
        <p:spPr>
          <a:xfrm>
            <a:off x="9093250" y="920876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362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24534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63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24534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364" name="Connector 55"/>
          <p:cNvSpPr/>
          <p:nvPr/>
        </p:nvSpPr>
        <p:spPr>
          <a:xfrm>
            <a:off x="1371600" y="96850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65" name="TextBox 56"/>
          <p:cNvSpPr txBox="1"/>
          <p:nvPr/>
        </p:nvSpPr>
        <p:spPr>
          <a:xfrm>
            <a:off x="1517902" y="979550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5366" name="TextBox 57"/>
          <p:cNvSpPr txBox="1"/>
          <p:nvPr/>
        </p:nvSpPr>
        <p:spPr>
          <a:xfrm>
            <a:off x="2600094" y="979550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portfolio</a:t>
            </a:r>
          </a:p>
        </p:txBody>
      </p:sp>
      <p:sp>
        <p:nvSpPr>
          <p:cNvPr id="5367" name="TextBox 58"/>
          <p:cNvSpPr txBox="1"/>
          <p:nvPr/>
        </p:nvSpPr>
        <p:spPr>
          <a:xfrm>
            <a:off x="9093250" y="979550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368" name="Picture 59" descr="Picture 5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83208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69" name="Picture 60" descr="Picture 6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83208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370" name="Connector 61"/>
          <p:cNvSpPr/>
          <p:nvPr/>
        </p:nvSpPr>
        <p:spPr>
          <a:xfrm>
            <a:off x="1371600" y="102717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71" name="TextBox 62"/>
          <p:cNvSpPr txBox="1"/>
          <p:nvPr/>
        </p:nvSpPr>
        <p:spPr>
          <a:xfrm>
            <a:off x="1517902" y="1038225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5372" name="TextBox 63"/>
          <p:cNvSpPr txBox="1"/>
          <p:nvPr/>
        </p:nvSpPr>
        <p:spPr>
          <a:xfrm>
            <a:off x="2600094" y="1038225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US portfolio</a:t>
            </a:r>
          </a:p>
        </p:txBody>
      </p:sp>
      <p:sp>
        <p:nvSpPr>
          <p:cNvPr id="5373" name="TextBox 64"/>
          <p:cNvSpPr txBox="1"/>
          <p:nvPr/>
        </p:nvSpPr>
        <p:spPr>
          <a:xfrm>
            <a:off x="9093250" y="1038224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5374" name="TextBox 65"/>
          <p:cNvSpPr txBox="1"/>
          <p:nvPr/>
        </p:nvSpPr>
        <p:spPr>
          <a:xfrm>
            <a:off x="10894893" y="1038225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5375" name="TextBox 66"/>
          <p:cNvSpPr txBox="1"/>
          <p:nvPr/>
        </p:nvSpPr>
        <p:spPr>
          <a:xfrm>
            <a:off x="12626399" y="1038225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5376" name="Connector 67"/>
          <p:cNvSpPr/>
          <p:nvPr/>
        </p:nvSpPr>
        <p:spPr>
          <a:xfrm>
            <a:off x="1371600" y="108585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77" name="TextBox 68"/>
          <p:cNvSpPr txBox="1"/>
          <p:nvPr/>
        </p:nvSpPr>
        <p:spPr>
          <a:xfrm>
            <a:off x="1517902" y="1096899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378" name="TextBox 69"/>
          <p:cNvSpPr txBox="1"/>
          <p:nvPr/>
        </p:nvSpPr>
        <p:spPr>
          <a:xfrm>
            <a:off x="2600094" y="1096899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international portfolio</a:t>
            </a:r>
          </a:p>
        </p:txBody>
      </p:sp>
      <p:sp>
        <p:nvSpPr>
          <p:cNvPr id="5379" name="TextBox 70"/>
          <p:cNvSpPr txBox="1"/>
          <p:nvPr/>
        </p:nvSpPr>
        <p:spPr>
          <a:xfrm>
            <a:off x="9093250" y="1096899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380" name="Picture 71" descr="Picture 7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00556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81" name="Picture 72" descr="Picture 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00556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382" name="Connector 73"/>
          <p:cNvSpPr/>
          <p:nvPr/>
        </p:nvSpPr>
        <p:spPr>
          <a:xfrm>
            <a:off x="1371600" y="1144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83" name="TextBox 74"/>
          <p:cNvSpPr txBox="1"/>
          <p:nvPr/>
        </p:nvSpPr>
        <p:spPr>
          <a:xfrm>
            <a:off x="1517902" y="1155573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5384" name="TextBox 75"/>
          <p:cNvSpPr txBox="1"/>
          <p:nvPr/>
        </p:nvSpPr>
        <p:spPr>
          <a:xfrm>
            <a:off x="2600094" y="1155573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Crowd fund portfolio</a:t>
            </a:r>
          </a:p>
        </p:txBody>
      </p:sp>
      <p:sp>
        <p:nvSpPr>
          <p:cNvPr id="5385" name="TextBox 76"/>
          <p:cNvSpPr txBox="1"/>
          <p:nvPr/>
        </p:nvSpPr>
        <p:spPr>
          <a:xfrm>
            <a:off x="9093250" y="115557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386" name="Picture 77" descr="Picture 7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59230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87" name="Picture 78" descr="Picture 7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59230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388" name="Connector 79"/>
          <p:cNvSpPr/>
          <p:nvPr/>
        </p:nvSpPr>
        <p:spPr>
          <a:xfrm>
            <a:off x="1371600" y="120319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89" name="TextBox 80"/>
          <p:cNvSpPr txBox="1"/>
          <p:nvPr/>
        </p:nvSpPr>
        <p:spPr>
          <a:xfrm>
            <a:off x="1517902" y="1214246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5390" name="TextBox 81"/>
          <p:cNvSpPr txBox="1"/>
          <p:nvPr/>
        </p:nvSpPr>
        <p:spPr>
          <a:xfrm>
            <a:off x="2600094" y="1214246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Robo portfolio</a:t>
            </a:r>
          </a:p>
        </p:txBody>
      </p:sp>
      <p:sp>
        <p:nvSpPr>
          <p:cNvPr id="5391" name="TextBox 82"/>
          <p:cNvSpPr txBox="1"/>
          <p:nvPr/>
        </p:nvSpPr>
        <p:spPr>
          <a:xfrm>
            <a:off x="9093250" y="1214246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392" name="Picture 83" descr="Picture 8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17904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393" name="Picture 84" descr="Picture 8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17904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394" name="Connector 85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5397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067 / 111</a:t>
            </a:r>
          </a:p>
        </p:txBody>
      </p:sp>
      <p:sp>
        <p:nvSpPr>
          <p:cNvPr id="5398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5399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Market Intelligence &amp; Context</a:t>
            </a:r>
          </a:p>
        </p:txBody>
      </p:sp>
      <p:sp>
        <p:nvSpPr>
          <p:cNvPr id="5400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5401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5402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5403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5404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5405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5406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5407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5408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09" name="TextBox 14"/>
          <p:cNvSpPr txBox="1"/>
          <p:nvPr/>
        </p:nvSpPr>
        <p:spPr>
          <a:xfrm>
            <a:off x="1517902" y="5614415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410" name="TextBox 15"/>
          <p:cNvSpPr txBox="1"/>
          <p:nvPr/>
        </p:nvSpPr>
        <p:spPr>
          <a:xfrm>
            <a:off x="2600094" y="5614415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index visibility</a:t>
            </a:r>
          </a:p>
        </p:txBody>
      </p:sp>
      <p:sp>
        <p:nvSpPr>
          <p:cNvPr id="5411" name="TextBox 16"/>
          <p:cNvSpPr txBox="1"/>
          <p:nvPr/>
        </p:nvSpPr>
        <p:spPr>
          <a:xfrm>
            <a:off x="9093250" y="5614415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412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099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13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099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414" name="TextBox 19"/>
          <p:cNvSpPr txBox="1"/>
          <p:nvPr/>
        </p:nvSpPr>
        <p:spPr>
          <a:xfrm>
            <a:off x="14504212" y="5614415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live price</a:t>
            </a:r>
          </a:p>
        </p:txBody>
      </p:sp>
      <p:sp>
        <p:nvSpPr>
          <p:cNvPr id="5415" name="Connector 20"/>
          <p:cNvSpPr/>
          <p:nvPr/>
        </p:nvSpPr>
        <p:spPr>
          <a:xfrm>
            <a:off x="1371600" y="60167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16" name="TextBox 21"/>
          <p:cNvSpPr txBox="1"/>
          <p:nvPr/>
        </p:nvSpPr>
        <p:spPr>
          <a:xfrm>
            <a:off x="1517902" y="605332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417" name="TextBox 22"/>
          <p:cNvSpPr txBox="1"/>
          <p:nvPr/>
        </p:nvSpPr>
        <p:spPr>
          <a:xfrm>
            <a:off x="2600094" y="6053328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news integration</a:t>
            </a:r>
          </a:p>
        </p:txBody>
      </p:sp>
      <p:sp>
        <p:nvSpPr>
          <p:cNvPr id="5418" name="TextBox 23"/>
          <p:cNvSpPr txBox="1"/>
          <p:nvPr/>
        </p:nvSpPr>
        <p:spPr>
          <a:xfrm>
            <a:off x="9093250" y="605332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419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8990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20" name="Picture 25" descr="Picture 2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8990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421" name="Connector 26"/>
          <p:cNvSpPr/>
          <p:nvPr/>
        </p:nvSpPr>
        <p:spPr>
          <a:xfrm>
            <a:off x="1371600" y="6455664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22" name="TextBox 27"/>
          <p:cNvSpPr txBox="1"/>
          <p:nvPr/>
        </p:nvSpPr>
        <p:spPr>
          <a:xfrm>
            <a:off x="1517902" y="64922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423" name="TextBox 28"/>
          <p:cNvSpPr txBox="1"/>
          <p:nvPr/>
        </p:nvSpPr>
        <p:spPr>
          <a:xfrm>
            <a:off x="2600094" y="64922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Advance market chart</a:t>
            </a:r>
          </a:p>
        </p:txBody>
      </p:sp>
      <p:sp>
        <p:nvSpPr>
          <p:cNvPr id="5424" name="TextBox 29"/>
          <p:cNvSpPr txBox="1"/>
          <p:nvPr/>
        </p:nvSpPr>
        <p:spPr>
          <a:xfrm>
            <a:off x="9093250" y="6492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425" name="Picture 30" descr="Picture 3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652881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26" name="Picture 31" descr="Picture 3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652881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427" name="Connector 32"/>
          <p:cNvSpPr/>
          <p:nvPr/>
        </p:nvSpPr>
        <p:spPr>
          <a:xfrm>
            <a:off x="1371600" y="689457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28" name="TextBox 33"/>
          <p:cNvSpPr txBox="1"/>
          <p:nvPr/>
        </p:nvSpPr>
        <p:spPr>
          <a:xfrm>
            <a:off x="1517902" y="693115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429" name="TextBox 34"/>
          <p:cNvSpPr txBox="1"/>
          <p:nvPr/>
        </p:nvSpPr>
        <p:spPr>
          <a:xfrm>
            <a:off x="2600094" y="693115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benchmark comparison</a:t>
            </a:r>
          </a:p>
        </p:txBody>
      </p:sp>
      <p:sp>
        <p:nvSpPr>
          <p:cNvPr id="5430" name="TextBox 35"/>
          <p:cNvSpPr txBox="1"/>
          <p:nvPr/>
        </p:nvSpPr>
        <p:spPr>
          <a:xfrm>
            <a:off x="9093250" y="69311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431" name="Picture 36" descr="Picture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696772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32" name="Picture 37" descr="Picture 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696772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433" name="Connector 38"/>
          <p:cNvSpPr/>
          <p:nvPr/>
        </p:nvSpPr>
        <p:spPr>
          <a:xfrm>
            <a:off x="1371600" y="73334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34" name="TextBox 39"/>
          <p:cNvSpPr txBox="1"/>
          <p:nvPr/>
        </p:nvSpPr>
        <p:spPr>
          <a:xfrm>
            <a:off x="1517902" y="737006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435" name="TextBox 40"/>
          <p:cNvSpPr txBox="1"/>
          <p:nvPr/>
        </p:nvSpPr>
        <p:spPr>
          <a:xfrm>
            <a:off x="2600094" y="737006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trends visibility</a:t>
            </a:r>
          </a:p>
        </p:txBody>
      </p:sp>
      <p:sp>
        <p:nvSpPr>
          <p:cNvPr id="5436" name="TextBox 41"/>
          <p:cNvSpPr txBox="1"/>
          <p:nvPr/>
        </p:nvSpPr>
        <p:spPr>
          <a:xfrm>
            <a:off x="9093250" y="737006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437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40664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38" name="Picture 43" descr="Picture 4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40664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439" name="Connector 44"/>
          <p:cNvSpPr/>
          <p:nvPr/>
        </p:nvSpPr>
        <p:spPr>
          <a:xfrm>
            <a:off x="1371600" y="77724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40" name="TextBox 45"/>
          <p:cNvSpPr txBox="1"/>
          <p:nvPr/>
        </p:nvSpPr>
        <p:spPr>
          <a:xfrm>
            <a:off x="1517902" y="780897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5441" name="TextBox 46"/>
          <p:cNvSpPr txBox="1"/>
          <p:nvPr/>
        </p:nvSpPr>
        <p:spPr>
          <a:xfrm>
            <a:off x="2600094" y="780897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Stocks List</a:t>
            </a:r>
          </a:p>
        </p:txBody>
      </p:sp>
      <p:sp>
        <p:nvSpPr>
          <p:cNvPr id="5442" name="TextBox 47"/>
          <p:cNvSpPr txBox="1"/>
          <p:nvPr/>
        </p:nvSpPr>
        <p:spPr>
          <a:xfrm>
            <a:off x="9093250" y="78089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443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4555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44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45552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445" name="Connector 50"/>
          <p:cNvSpPr/>
          <p:nvPr/>
        </p:nvSpPr>
        <p:spPr>
          <a:xfrm>
            <a:off x="1371600" y="821131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46" name="TextBox 51"/>
          <p:cNvSpPr txBox="1"/>
          <p:nvPr/>
        </p:nvSpPr>
        <p:spPr>
          <a:xfrm>
            <a:off x="1517902" y="824788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5447" name="TextBox 52"/>
          <p:cNvSpPr txBox="1"/>
          <p:nvPr/>
        </p:nvSpPr>
        <p:spPr>
          <a:xfrm>
            <a:off x="2600094" y="8247888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Shariah Stocks List</a:t>
            </a:r>
          </a:p>
        </p:txBody>
      </p:sp>
      <p:sp>
        <p:nvSpPr>
          <p:cNvPr id="5448" name="TextBox 53"/>
          <p:cNvSpPr txBox="1"/>
          <p:nvPr/>
        </p:nvSpPr>
        <p:spPr>
          <a:xfrm>
            <a:off x="9093250" y="824788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449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28446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50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28446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451" name="Connector 56"/>
          <p:cNvSpPr/>
          <p:nvPr/>
        </p:nvSpPr>
        <p:spPr>
          <a:xfrm>
            <a:off x="1371600" y="865022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52" name="TextBox 57"/>
          <p:cNvSpPr txBox="1"/>
          <p:nvPr/>
        </p:nvSpPr>
        <p:spPr>
          <a:xfrm>
            <a:off x="1517902" y="86868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5453" name="TextBox 58"/>
          <p:cNvSpPr txBox="1"/>
          <p:nvPr/>
        </p:nvSpPr>
        <p:spPr>
          <a:xfrm>
            <a:off x="2600094" y="86868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Options List</a:t>
            </a:r>
          </a:p>
        </p:txBody>
      </p:sp>
      <p:sp>
        <p:nvSpPr>
          <p:cNvPr id="5454" name="TextBox 59"/>
          <p:cNvSpPr txBox="1"/>
          <p:nvPr/>
        </p:nvSpPr>
        <p:spPr>
          <a:xfrm>
            <a:off x="9093250" y="86867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455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7233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56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7233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457" name="Connector 62"/>
          <p:cNvSpPr/>
          <p:nvPr/>
        </p:nvSpPr>
        <p:spPr>
          <a:xfrm>
            <a:off x="1371600" y="908913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58" name="TextBox 63"/>
          <p:cNvSpPr txBox="1"/>
          <p:nvPr/>
        </p:nvSpPr>
        <p:spPr>
          <a:xfrm>
            <a:off x="1517902" y="912571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5459" name="TextBox 64"/>
          <p:cNvSpPr txBox="1"/>
          <p:nvPr/>
        </p:nvSpPr>
        <p:spPr>
          <a:xfrm>
            <a:off x="2600094" y="912571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Trending Stocks</a:t>
            </a:r>
          </a:p>
        </p:txBody>
      </p:sp>
      <p:sp>
        <p:nvSpPr>
          <p:cNvPr id="5460" name="TextBox 65"/>
          <p:cNvSpPr txBox="1"/>
          <p:nvPr/>
        </p:nvSpPr>
        <p:spPr>
          <a:xfrm>
            <a:off x="9093250" y="912571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461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16228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62" name="Picture 67" descr="Picture 6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16228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463" name="Connector 68"/>
          <p:cNvSpPr/>
          <p:nvPr/>
        </p:nvSpPr>
        <p:spPr>
          <a:xfrm>
            <a:off x="1371600" y="9528047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64" name="TextBox 69"/>
          <p:cNvSpPr txBox="1"/>
          <p:nvPr/>
        </p:nvSpPr>
        <p:spPr>
          <a:xfrm>
            <a:off x="1517902" y="956462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465" name="TextBox 70"/>
          <p:cNvSpPr txBox="1"/>
          <p:nvPr/>
        </p:nvSpPr>
        <p:spPr>
          <a:xfrm>
            <a:off x="2600094" y="956462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Top Movers stocks (Gainers/Losers/Value/ Quantity)</a:t>
            </a:r>
          </a:p>
        </p:txBody>
      </p:sp>
      <p:sp>
        <p:nvSpPr>
          <p:cNvPr id="5466" name="TextBox 71"/>
          <p:cNvSpPr txBox="1"/>
          <p:nvPr/>
        </p:nvSpPr>
        <p:spPr>
          <a:xfrm>
            <a:off x="9093250" y="956462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467" name="Picture 72" descr="Picture 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60120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68" name="Picture 73" descr="Picture 7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60120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469" name="Connector 74"/>
          <p:cNvSpPr/>
          <p:nvPr/>
        </p:nvSpPr>
        <p:spPr>
          <a:xfrm>
            <a:off x="1371600" y="99669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70" name="TextBox 75"/>
          <p:cNvSpPr txBox="1"/>
          <p:nvPr/>
        </p:nvSpPr>
        <p:spPr>
          <a:xfrm>
            <a:off x="1517902" y="10003535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5471" name="TextBox 76"/>
          <p:cNvSpPr txBox="1"/>
          <p:nvPr/>
        </p:nvSpPr>
        <p:spPr>
          <a:xfrm>
            <a:off x="2600094" y="10003535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Top Movers stocks (Per/Post market/Overnight)</a:t>
            </a:r>
          </a:p>
        </p:txBody>
      </p:sp>
      <p:sp>
        <p:nvSpPr>
          <p:cNvPr id="5472" name="TextBox 77"/>
          <p:cNvSpPr txBox="1"/>
          <p:nvPr/>
        </p:nvSpPr>
        <p:spPr>
          <a:xfrm>
            <a:off x="9093250" y="10003535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473" name="Picture 78" descr="Picture 7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04011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74" name="Picture 79" descr="Picture 7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04011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475" name="Connector 80"/>
          <p:cNvSpPr/>
          <p:nvPr/>
        </p:nvSpPr>
        <p:spPr>
          <a:xfrm>
            <a:off x="1371600" y="1040587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76" name="TextBox 81"/>
          <p:cNvSpPr txBox="1"/>
          <p:nvPr/>
        </p:nvSpPr>
        <p:spPr>
          <a:xfrm>
            <a:off x="1517902" y="1044244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5477" name="TextBox 82"/>
          <p:cNvSpPr txBox="1"/>
          <p:nvPr/>
        </p:nvSpPr>
        <p:spPr>
          <a:xfrm>
            <a:off x="2600094" y="1044244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watch</a:t>
            </a:r>
          </a:p>
        </p:txBody>
      </p:sp>
      <p:sp>
        <p:nvSpPr>
          <p:cNvPr id="5478" name="TextBox 83"/>
          <p:cNvSpPr txBox="1"/>
          <p:nvPr/>
        </p:nvSpPr>
        <p:spPr>
          <a:xfrm>
            <a:off x="9093250" y="1044244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479" name="Picture 84" descr="Picture 8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47902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80" name="Picture 85" descr="Picture 8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47902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481" name="Connector 86"/>
          <p:cNvSpPr/>
          <p:nvPr/>
        </p:nvSpPr>
        <p:spPr>
          <a:xfrm>
            <a:off x="1371600" y="108447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82" name="TextBox 87"/>
          <p:cNvSpPr txBox="1"/>
          <p:nvPr/>
        </p:nvSpPr>
        <p:spPr>
          <a:xfrm>
            <a:off x="1517902" y="108813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5483" name="TextBox 88"/>
          <p:cNvSpPr txBox="1"/>
          <p:nvPr/>
        </p:nvSpPr>
        <p:spPr>
          <a:xfrm>
            <a:off x="2600094" y="108813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Sector market performance</a:t>
            </a:r>
          </a:p>
        </p:txBody>
      </p:sp>
      <p:sp>
        <p:nvSpPr>
          <p:cNvPr id="5484" name="TextBox 89"/>
          <p:cNvSpPr txBox="1"/>
          <p:nvPr/>
        </p:nvSpPr>
        <p:spPr>
          <a:xfrm>
            <a:off x="9093250" y="108813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485" name="Picture 90" descr="Picture 9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9179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86" name="Picture 91" descr="Picture 9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9179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487" name="Connector 92"/>
          <p:cNvSpPr/>
          <p:nvPr/>
        </p:nvSpPr>
        <p:spPr>
          <a:xfrm>
            <a:off x="1371600" y="11283694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88" name="TextBox 93"/>
          <p:cNvSpPr txBox="1"/>
          <p:nvPr/>
        </p:nvSpPr>
        <p:spPr>
          <a:xfrm>
            <a:off x="1517902" y="1132027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5489" name="TextBox 94"/>
          <p:cNvSpPr txBox="1"/>
          <p:nvPr/>
        </p:nvSpPr>
        <p:spPr>
          <a:xfrm>
            <a:off x="2600094" y="1132027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Sector Heatmap</a:t>
            </a:r>
          </a:p>
        </p:txBody>
      </p:sp>
      <p:sp>
        <p:nvSpPr>
          <p:cNvPr id="5490" name="TextBox 95"/>
          <p:cNvSpPr txBox="1"/>
          <p:nvPr/>
        </p:nvSpPr>
        <p:spPr>
          <a:xfrm>
            <a:off x="9093250" y="1132027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491" name="Picture 96" descr="Picture 9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35684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92" name="Picture 97" descr="Picture 9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356847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493" name="Connector 98"/>
          <p:cNvSpPr/>
          <p:nvPr/>
        </p:nvSpPr>
        <p:spPr>
          <a:xfrm>
            <a:off x="1371600" y="1172260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94" name="TextBox 99"/>
          <p:cNvSpPr txBox="1"/>
          <p:nvPr/>
        </p:nvSpPr>
        <p:spPr>
          <a:xfrm>
            <a:off x="1517902" y="1175918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5495" name="TextBox 100"/>
          <p:cNvSpPr txBox="1"/>
          <p:nvPr/>
        </p:nvSpPr>
        <p:spPr>
          <a:xfrm>
            <a:off x="2600094" y="1175918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Instrument research access</a:t>
            </a:r>
          </a:p>
        </p:txBody>
      </p:sp>
      <p:sp>
        <p:nvSpPr>
          <p:cNvPr id="5496" name="TextBox 101"/>
          <p:cNvSpPr txBox="1"/>
          <p:nvPr/>
        </p:nvSpPr>
        <p:spPr>
          <a:xfrm>
            <a:off x="9093250" y="1175918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497" name="Picture 102" descr="Picture 10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79575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98" name="Picture 103" descr="Picture 10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795759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499" name="Connector 104"/>
          <p:cNvSpPr/>
          <p:nvPr/>
        </p:nvSpPr>
        <p:spPr>
          <a:xfrm>
            <a:off x="1371600" y="121615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00" name="TextBox 105"/>
          <p:cNvSpPr txBox="1"/>
          <p:nvPr/>
        </p:nvSpPr>
        <p:spPr>
          <a:xfrm>
            <a:off x="1517902" y="1219809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5501" name="TextBox 106"/>
          <p:cNvSpPr txBox="1"/>
          <p:nvPr/>
        </p:nvSpPr>
        <p:spPr>
          <a:xfrm>
            <a:off x="2600094" y="1219809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Corporate actions visibility</a:t>
            </a:r>
          </a:p>
        </p:txBody>
      </p:sp>
      <p:sp>
        <p:nvSpPr>
          <p:cNvPr id="5502" name="TextBox 107"/>
          <p:cNvSpPr txBox="1"/>
          <p:nvPr/>
        </p:nvSpPr>
        <p:spPr>
          <a:xfrm>
            <a:off x="9093250" y="1219809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503" name="Picture 108" descr="Picture 10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223467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04" name="Picture 109" descr="Picture 10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23467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505" name="Connector 110"/>
          <p:cNvSpPr/>
          <p:nvPr/>
        </p:nvSpPr>
        <p:spPr>
          <a:xfrm>
            <a:off x="1371600" y="1260043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06" name="TextBox 111"/>
          <p:cNvSpPr txBox="1"/>
          <p:nvPr/>
        </p:nvSpPr>
        <p:spPr>
          <a:xfrm>
            <a:off x="1517902" y="12637006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5507" name="TextBox 112"/>
          <p:cNvSpPr txBox="1"/>
          <p:nvPr/>
        </p:nvSpPr>
        <p:spPr>
          <a:xfrm>
            <a:off x="2600094" y="12637006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Subscribe for live prices banner</a:t>
            </a:r>
          </a:p>
        </p:txBody>
      </p:sp>
      <p:sp>
        <p:nvSpPr>
          <p:cNvPr id="5508" name="TextBox 113"/>
          <p:cNvSpPr txBox="1"/>
          <p:nvPr/>
        </p:nvSpPr>
        <p:spPr>
          <a:xfrm>
            <a:off x="9093250" y="1263700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509" name="Picture 114" descr="Picture 11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267358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10" name="Picture 115" descr="Picture 11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267358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511" name="TextBox 116"/>
          <p:cNvSpPr txBox="1"/>
          <p:nvPr/>
        </p:nvSpPr>
        <p:spPr>
          <a:xfrm>
            <a:off x="14504212" y="12637006"/>
            <a:ext cx="403616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Will be free</a:t>
            </a:r>
          </a:p>
        </p:txBody>
      </p:sp>
      <p:sp>
        <p:nvSpPr>
          <p:cNvPr id="5512" name="Connector 117"/>
          <p:cNvSpPr/>
          <p:nvPr/>
        </p:nvSpPr>
        <p:spPr>
          <a:xfrm>
            <a:off x="1371600" y="1303934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5515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068 / 112</a:t>
            </a:r>
          </a:p>
        </p:txBody>
      </p:sp>
      <p:sp>
        <p:nvSpPr>
          <p:cNvPr id="5516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5517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Market Intelligence &amp; Context</a:t>
            </a:r>
          </a:p>
        </p:txBody>
      </p:sp>
      <p:sp>
        <p:nvSpPr>
          <p:cNvPr id="5518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5519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5520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5521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5522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5523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5524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5525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5526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27" name="TextBox 14"/>
          <p:cNvSpPr txBox="1"/>
          <p:nvPr/>
        </p:nvSpPr>
        <p:spPr>
          <a:xfrm>
            <a:off x="1517902" y="5614415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5528" name="TextBox 15"/>
          <p:cNvSpPr txBox="1"/>
          <p:nvPr/>
        </p:nvSpPr>
        <p:spPr>
          <a:xfrm>
            <a:off x="2600094" y="5614415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Advance Market overview (up/Down, Net Flow)</a:t>
            </a:r>
          </a:p>
        </p:txBody>
      </p:sp>
      <p:sp>
        <p:nvSpPr>
          <p:cNvPr id="5529" name="TextBox 16"/>
          <p:cNvSpPr txBox="1"/>
          <p:nvPr/>
        </p:nvSpPr>
        <p:spPr>
          <a:xfrm>
            <a:off x="9093250" y="5614415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5530" name="Connector 19"/>
          <p:cNvSpPr/>
          <p:nvPr/>
        </p:nvSpPr>
        <p:spPr>
          <a:xfrm>
            <a:off x="1371600" y="60167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31" name="TextBox 20"/>
          <p:cNvSpPr txBox="1"/>
          <p:nvPr/>
        </p:nvSpPr>
        <p:spPr>
          <a:xfrm>
            <a:off x="1517902" y="605332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19</a:t>
            </a:r>
          </a:p>
        </p:txBody>
      </p:sp>
      <p:sp>
        <p:nvSpPr>
          <p:cNvPr id="5532" name="TextBox 21"/>
          <p:cNvSpPr txBox="1"/>
          <p:nvPr/>
        </p:nvSpPr>
        <p:spPr>
          <a:xfrm>
            <a:off x="2600094" y="6053328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Screener (High Growth, Biggest Earnings)</a:t>
            </a:r>
          </a:p>
        </p:txBody>
      </p:sp>
      <p:sp>
        <p:nvSpPr>
          <p:cNvPr id="5533" name="TextBox 22"/>
          <p:cNvSpPr txBox="1"/>
          <p:nvPr/>
        </p:nvSpPr>
        <p:spPr>
          <a:xfrm>
            <a:off x="9093250" y="605332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5534" name="Connector 25"/>
          <p:cNvSpPr/>
          <p:nvPr/>
        </p:nvSpPr>
        <p:spPr>
          <a:xfrm>
            <a:off x="1371600" y="6455664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35" name="TextBox 26"/>
          <p:cNvSpPr txBox="1"/>
          <p:nvPr/>
        </p:nvSpPr>
        <p:spPr>
          <a:xfrm>
            <a:off x="1517902" y="64922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5536" name="TextBox 27"/>
          <p:cNvSpPr txBox="1"/>
          <p:nvPr/>
        </p:nvSpPr>
        <p:spPr>
          <a:xfrm>
            <a:off x="2600094" y="64922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Upcoming IPO</a:t>
            </a:r>
          </a:p>
        </p:txBody>
      </p:sp>
      <p:sp>
        <p:nvSpPr>
          <p:cNvPr id="5537" name="TextBox 28"/>
          <p:cNvSpPr txBox="1"/>
          <p:nvPr/>
        </p:nvSpPr>
        <p:spPr>
          <a:xfrm>
            <a:off x="9093250" y="6492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538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52881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39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52881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540" name="Connector 31"/>
          <p:cNvSpPr/>
          <p:nvPr/>
        </p:nvSpPr>
        <p:spPr>
          <a:xfrm>
            <a:off x="1371600" y="689457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1" name="TextBox 32"/>
          <p:cNvSpPr txBox="1"/>
          <p:nvPr/>
        </p:nvSpPr>
        <p:spPr>
          <a:xfrm>
            <a:off x="1517902" y="693115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21</a:t>
            </a:r>
          </a:p>
        </p:txBody>
      </p:sp>
      <p:sp>
        <p:nvSpPr>
          <p:cNvPr id="5542" name="TextBox 33"/>
          <p:cNvSpPr txBox="1"/>
          <p:nvPr/>
        </p:nvSpPr>
        <p:spPr>
          <a:xfrm>
            <a:off x="2600094" y="693115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Recent IPO Performance</a:t>
            </a:r>
          </a:p>
        </p:txBody>
      </p:sp>
      <p:sp>
        <p:nvSpPr>
          <p:cNvPr id="5543" name="TextBox 34"/>
          <p:cNvSpPr txBox="1"/>
          <p:nvPr/>
        </p:nvSpPr>
        <p:spPr>
          <a:xfrm>
            <a:off x="9093250" y="69311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544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96772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45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96772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546" name="Connector 37"/>
          <p:cNvSpPr/>
          <p:nvPr/>
        </p:nvSpPr>
        <p:spPr>
          <a:xfrm>
            <a:off x="1371600" y="73334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7" name="TextBox 38"/>
          <p:cNvSpPr txBox="1"/>
          <p:nvPr/>
        </p:nvSpPr>
        <p:spPr>
          <a:xfrm>
            <a:off x="1517902" y="737006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22</a:t>
            </a:r>
          </a:p>
        </p:txBody>
      </p:sp>
      <p:sp>
        <p:nvSpPr>
          <p:cNvPr id="5548" name="TextBox 39"/>
          <p:cNvSpPr txBox="1"/>
          <p:nvPr/>
        </p:nvSpPr>
        <p:spPr>
          <a:xfrm>
            <a:off x="2600094" y="737006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Earnings Beat</a:t>
            </a:r>
          </a:p>
        </p:txBody>
      </p:sp>
      <p:sp>
        <p:nvSpPr>
          <p:cNvPr id="5549" name="TextBox 40"/>
          <p:cNvSpPr txBox="1"/>
          <p:nvPr/>
        </p:nvSpPr>
        <p:spPr>
          <a:xfrm>
            <a:off x="9093250" y="737006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5550" name="Connector 43"/>
          <p:cNvSpPr/>
          <p:nvPr/>
        </p:nvSpPr>
        <p:spPr>
          <a:xfrm>
            <a:off x="1371600" y="77724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51" name="TextBox 44"/>
          <p:cNvSpPr txBox="1"/>
          <p:nvPr/>
        </p:nvSpPr>
        <p:spPr>
          <a:xfrm>
            <a:off x="1517902" y="780897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23</a:t>
            </a:r>
          </a:p>
        </p:txBody>
      </p:sp>
      <p:sp>
        <p:nvSpPr>
          <p:cNvPr id="5552" name="TextBox 45"/>
          <p:cNvSpPr txBox="1"/>
          <p:nvPr/>
        </p:nvSpPr>
        <p:spPr>
          <a:xfrm>
            <a:off x="2600094" y="780897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Rating change list</a:t>
            </a:r>
          </a:p>
        </p:txBody>
      </p:sp>
      <p:sp>
        <p:nvSpPr>
          <p:cNvPr id="5553" name="TextBox 46"/>
          <p:cNvSpPr txBox="1"/>
          <p:nvPr/>
        </p:nvSpPr>
        <p:spPr>
          <a:xfrm>
            <a:off x="9093250" y="78089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5554" name="Connector 49"/>
          <p:cNvSpPr/>
          <p:nvPr/>
        </p:nvSpPr>
        <p:spPr>
          <a:xfrm>
            <a:off x="1371600" y="821131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55" name="TextBox 50"/>
          <p:cNvSpPr txBox="1"/>
          <p:nvPr/>
        </p:nvSpPr>
        <p:spPr>
          <a:xfrm>
            <a:off x="1517902" y="824788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24</a:t>
            </a:r>
          </a:p>
        </p:txBody>
      </p:sp>
      <p:sp>
        <p:nvSpPr>
          <p:cNvPr id="5556" name="TextBox 51"/>
          <p:cNvSpPr txBox="1"/>
          <p:nvPr/>
        </p:nvSpPr>
        <p:spPr>
          <a:xfrm>
            <a:off x="2600094" y="8247888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Monitor</a:t>
            </a:r>
          </a:p>
        </p:txBody>
      </p:sp>
      <p:sp>
        <p:nvSpPr>
          <p:cNvPr id="5557" name="TextBox 52"/>
          <p:cNvSpPr txBox="1"/>
          <p:nvPr/>
        </p:nvSpPr>
        <p:spPr>
          <a:xfrm>
            <a:off x="9093250" y="824788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5558" name="Connector 55"/>
          <p:cNvSpPr/>
          <p:nvPr/>
        </p:nvSpPr>
        <p:spPr>
          <a:xfrm>
            <a:off x="1371600" y="865022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59" name="TextBox 56"/>
          <p:cNvSpPr txBox="1"/>
          <p:nvPr/>
        </p:nvSpPr>
        <p:spPr>
          <a:xfrm>
            <a:off x="1517902" y="86868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25</a:t>
            </a:r>
          </a:p>
        </p:txBody>
      </p:sp>
      <p:sp>
        <p:nvSpPr>
          <p:cNvPr id="5560" name="TextBox 57"/>
          <p:cNvSpPr txBox="1"/>
          <p:nvPr/>
        </p:nvSpPr>
        <p:spPr>
          <a:xfrm>
            <a:off x="2600094" y="86868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Liquidity</a:t>
            </a:r>
          </a:p>
        </p:txBody>
      </p:sp>
      <p:sp>
        <p:nvSpPr>
          <p:cNvPr id="5561" name="TextBox 58"/>
          <p:cNvSpPr txBox="1"/>
          <p:nvPr/>
        </p:nvSpPr>
        <p:spPr>
          <a:xfrm>
            <a:off x="9093250" y="86868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562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7233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63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7233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564" name="Connector 61"/>
          <p:cNvSpPr/>
          <p:nvPr/>
        </p:nvSpPr>
        <p:spPr>
          <a:xfrm>
            <a:off x="1371600" y="908913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65" name="TextBox 62"/>
          <p:cNvSpPr txBox="1"/>
          <p:nvPr/>
        </p:nvSpPr>
        <p:spPr>
          <a:xfrm>
            <a:off x="1517902" y="912571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26</a:t>
            </a:r>
          </a:p>
        </p:txBody>
      </p:sp>
      <p:sp>
        <p:nvSpPr>
          <p:cNvPr id="5566" name="TextBox 63"/>
          <p:cNvSpPr txBox="1"/>
          <p:nvPr/>
        </p:nvSpPr>
        <p:spPr>
          <a:xfrm>
            <a:off x="2600094" y="912571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Volatility</a:t>
            </a:r>
          </a:p>
        </p:txBody>
      </p:sp>
      <p:sp>
        <p:nvSpPr>
          <p:cNvPr id="5567" name="TextBox 64"/>
          <p:cNvSpPr txBox="1"/>
          <p:nvPr/>
        </p:nvSpPr>
        <p:spPr>
          <a:xfrm>
            <a:off x="9093250" y="912571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5568" name="Connector 67"/>
          <p:cNvSpPr/>
          <p:nvPr/>
        </p:nvSpPr>
        <p:spPr>
          <a:xfrm>
            <a:off x="1371600" y="9528047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69" name="TextBox 68"/>
          <p:cNvSpPr txBox="1"/>
          <p:nvPr/>
        </p:nvSpPr>
        <p:spPr>
          <a:xfrm>
            <a:off x="1517902" y="956462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27</a:t>
            </a:r>
          </a:p>
        </p:txBody>
      </p:sp>
      <p:sp>
        <p:nvSpPr>
          <p:cNvPr id="5570" name="TextBox 69"/>
          <p:cNvSpPr txBox="1"/>
          <p:nvPr/>
        </p:nvSpPr>
        <p:spPr>
          <a:xfrm>
            <a:off x="2600094" y="956462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alerts</a:t>
            </a:r>
          </a:p>
        </p:txBody>
      </p:sp>
      <p:sp>
        <p:nvSpPr>
          <p:cNvPr id="5571" name="TextBox 70"/>
          <p:cNvSpPr txBox="1"/>
          <p:nvPr/>
        </p:nvSpPr>
        <p:spPr>
          <a:xfrm>
            <a:off x="9093250" y="956462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5572" name="Connector 73"/>
          <p:cNvSpPr/>
          <p:nvPr/>
        </p:nvSpPr>
        <p:spPr>
          <a:xfrm>
            <a:off x="1371600" y="9966959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73" name="TextBox 74"/>
          <p:cNvSpPr txBox="1"/>
          <p:nvPr/>
        </p:nvSpPr>
        <p:spPr>
          <a:xfrm>
            <a:off x="1517902" y="10003535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28</a:t>
            </a:r>
          </a:p>
        </p:txBody>
      </p:sp>
      <p:sp>
        <p:nvSpPr>
          <p:cNvPr id="5574" name="TextBox 75"/>
          <p:cNvSpPr txBox="1"/>
          <p:nvPr/>
        </p:nvSpPr>
        <p:spPr>
          <a:xfrm>
            <a:off x="2600094" y="10003535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display preferences</a:t>
            </a:r>
          </a:p>
        </p:txBody>
      </p:sp>
      <p:sp>
        <p:nvSpPr>
          <p:cNvPr id="5575" name="TextBox 76"/>
          <p:cNvSpPr txBox="1"/>
          <p:nvPr/>
        </p:nvSpPr>
        <p:spPr>
          <a:xfrm>
            <a:off x="9093250" y="10003535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sp>
        <p:nvSpPr>
          <p:cNvPr id="5576" name="TextBox 77"/>
          <p:cNvSpPr txBox="1"/>
          <p:nvPr/>
        </p:nvSpPr>
        <p:spPr>
          <a:xfrm>
            <a:off x="1517902" y="10442447"/>
            <a:ext cx="29261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29</a:t>
            </a:r>
          </a:p>
        </p:txBody>
      </p:sp>
      <p:sp>
        <p:nvSpPr>
          <p:cNvPr id="5577" name="Connector 79"/>
          <p:cNvSpPr/>
          <p:nvPr/>
        </p:nvSpPr>
        <p:spPr>
          <a:xfrm>
            <a:off x="1371600" y="1040587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78" name="TextBox 80"/>
          <p:cNvSpPr txBox="1"/>
          <p:nvPr/>
        </p:nvSpPr>
        <p:spPr>
          <a:xfrm>
            <a:off x="9093250" y="1044244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5579" name="Picture 83" descr="Picture 8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47902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80" name="Picture 84" descr="Picture 8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47902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581" name="Connector 85"/>
          <p:cNvSpPr/>
          <p:nvPr/>
        </p:nvSpPr>
        <p:spPr>
          <a:xfrm>
            <a:off x="1371600" y="1084478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82" name="TextBox 86"/>
          <p:cNvSpPr txBox="1"/>
          <p:nvPr/>
        </p:nvSpPr>
        <p:spPr>
          <a:xfrm>
            <a:off x="9093250" y="108813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5583" name="Picture 89" descr="Picture 8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04011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84" name="Picture 90" descr="Picture 9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04011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585" name="TextBox 77"/>
          <p:cNvSpPr txBox="1"/>
          <p:nvPr/>
        </p:nvSpPr>
        <p:spPr>
          <a:xfrm>
            <a:off x="1517902" y="10947890"/>
            <a:ext cx="29261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30</a:t>
            </a:r>
          </a:p>
        </p:txBody>
      </p:sp>
      <p:sp>
        <p:nvSpPr>
          <p:cNvPr id="5586" name="TextBox 75"/>
          <p:cNvSpPr txBox="1"/>
          <p:nvPr/>
        </p:nvSpPr>
        <p:spPr>
          <a:xfrm>
            <a:off x="2600094" y="1045251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My position watchlist</a:t>
            </a:r>
          </a:p>
        </p:txBody>
      </p:sp>
      <p:sp>
        <p:nvSpPr>
          <p:cNvPr id="5587" name="TextBox 75"/>
          <p:cNvSpPr txBox="1"/>
          <p:nvPr/>
        </p:nvSpPr>
        <p:spPr>
          <a:xfrm>
            <a:off x="2600094" y="10910379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Indices page</a:t>
            </a:r>
          </a:p>
        </p:txBody>
      </p:sp>
      <p:pic>
        <p:nvPicPr>
          <p:cNvPr id="5588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099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89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099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90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9801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91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9801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92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39852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93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39852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94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4555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95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4555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96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28446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97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28446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98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15125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599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15125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600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59364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601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59364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602" name="Picture 83" descr="Picture 8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9179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603" name="Picture 84" descr="Picture 8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9179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604" name="TextBox 105"/>
          <p:cNvSpPr txBox="1"/>
          <p:nvPr/>
        </p:nvSpPr>
        <p:spPr>
          <a:xfrm>
            <a:off x="18832982" y="10538920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ARCD-91580</a:t>
            </a:r>
          </a:p>
        </p:txBody>
      </p:sp>
      <p:sp>
        <p:nvSpPr>
          <p:cNvPr id="5605" name="TextBox 105"/>
          <p:cNvSpPr txBox="1"/>
          <p:nvPr/>
        </p:nvSpPr>
        <p:spPr>
          <a:xfrm>
            <a:off x="18832982" y="9187893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ARCD-58777</a:t>
            </a:r>
          </a:p>
        </p:txBody>
      </p:sp>
      <p:sp>
        <p:nvSpPr>
          <p:cNvPr id="5606" name="TextBox 105"/>
          <p:cNvSpPr txBox="1"/>
          <p:nvPr/>
        </p:nvSpPr>
        <p:spPr>
          <a:xfrm>
            <a:off x="18832982" y="8783273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ARCD-41013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5609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069 / 111</a:t>
            </a:r>
          </a:p>
        </p:txBody>
      </p:sp>
      <p:sp>
        <p:nvSpPr>
          <p:cNvPr id="5610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5611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Stock Details</a:t>
            </a:r>
          </a:p>
        </p:txBody>
      </p:sp>
      <p:sp>
        <p:nvSpPr>
          <p:cNvPr id="5612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5613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5614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5615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5616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5617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5618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5619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5620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21" name="TextBox 14"/>
          <p:cNvSpPr txBox="1"/>
          <p:nvPr/>
        </p:nvSpPr>
        <p:spPr>
          <a:xfrm>
            <a:off x="1517902" y="5614415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622" name="TextBox 15"/>
          <p:cNvSpPr txBox="1"/>
          <p:nvPr/>
        </p:nvSpPr>
        <p:spPr>
          <a:xfrm>
            <a:off x="2600094" y="5614415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name/Symbol/Logo</a:t>
            </a:r>
          </a:p>
        </p:txBody>
      </p:sp>
      <p:sp>
        <p:nvSpPr>
          <p:cNvPr id="5623" name="TextBox 16"/>
          <p:cNvSpPr txBox="1"/>
          <p:nvPr/>
        </p:nvSpPr>
        <p:spPr>
          <a:xfrm>
            <a:off x="9093250" y="5614415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624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099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625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099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626" name="Connector 19"/>
          <p:cNvSpPr/>
          <p:nvPr/>
        </p:nvSpPr>
        <p:spPr>
          <a:xfrm>
            <a:off x="1371600" y="60167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27" name="TextBox 20"/>
          <p:cNvSpPr txBox="1"/>
          <p:nvPr/>
        </p:nvSpPr>
        <p:spPr>
          <a:xfrm>
            <a:off x="1517902" y="605332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628" name="TextBox 21"/>
          <p:cNvSpPr txBox="1"/>
          <p:nvPr/>
        </p:nvSpPr>
        <p:spPr>
          <a:xfrm>
            <a:off x="2600094" y="6053328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Chart performance</a:t>
            </a:r>
          </a:p>
        </p:txBody>
      </p:sp>
      <p:sp>
        <p:nvSpPr>
          <p:cNvPr id="5629" name="TextBox 22"/>
          <p:cNvSpPr txBox="1"/>
          <p:nvPr/>
        </p:nvSpPr>
        <p:spPr>
          <a:xfrm>
            <a:off x="9093250" y="605332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630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8990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631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8990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632" name="Connector 25"/>
          <p:cNvSpPr/>
          <p:nvPr/>
        </p:nvSpPr>
        <p:spPr>
          <a:xfrm>
            <a:off x="1371600" y="6455664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33" name="TextBox 26"/>
          <p:cNvSpPr txBox="1"/>
          <p:nvPr/>
        </p:nvSpPr>
        <p:spPr>
          <a:xfrm>
            <a:off x="1517902" y="64922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634" name="TextBox 27"/>
          <p:cNvSpPr txBox="1"/>
          <p:nvPr/>
        </p:nvSpPr>
        <p:spPr>
          <a:xfrm>
            <a:off x="2600094" y="64922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Market tag</a:t>
            </a:r>
          </a:p>
        </p:txBody>
      </p:sp>
      <p:sp>
        <p:nvSpPr>
          <p:cNvPr id="5635" name="TextBox 28"/>
          <p:cNvSpPr txBox="1"/>
          <p:nvPr/>
        </p:nvSpPr>
        <p:spPr>
          <a:xfrm>
            <a:off x="9093250" y="6492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636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52881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637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52881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638" name="Connector 31"/>
          <p:cNvSpPr/>
          <p:nvPr/>
        </p:nvSpPr>
        <p:spPr>
          <a:xfrm>
            <a:off x="1371600" y="689457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39" name="TextBox 32"/>
          <p:cNvSpPr txBox="1"/>
          <p:nvPr/>
        </p:nvSpPr>
        <p:spPr>
          <a:xfrm>
            <a:off x="1517902" y="693115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640" name="TextBox 33"/>
          <p:cNvSpPr txBox="1"/>
          <p:nvPr/>
        </p:nvSpPr>
        <p:spPr>
          <a:xfrm>
            <a:off x="2600094" y="693115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Sector tag</a:t>
            </a:r>
          </a:p>
        </p:txBody>
      </p:sp>
      <p:sp>
        <p:nvSpPr>
          <p:cNvPr id="5641" name="TextBox 34"/>
          <p:cNvSpPr txBox="1"/>
          <p:nvPr/>
        </p:nvSpPr>
        <p:spPr>
          <a:xfrm>
            <a:off x="9093250" y="69311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642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96772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643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96772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644" name="Connector 37"/>
          <p:cNvSpPr/>
          <p:nvPr/>
        </p:nvSpPr>
        <p:spPr>
          <a:xfrm>
            <a:off x="1371600" y="73334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45" name="TextBox 38"/>
          <p:cNvSpPr txBox="1"/>
          <p:nvPr/>
        </p:nvSpPr>
        <p:spPr>
          <a:xfrm>
            <a:off x="1517902" y="737006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646" name="TextBox 39"/>
          <p:cNvSpPr txBox="1"/>
          <p:nvPr/>
        </p:nvSpPr>
        <p:spPr>
          <a:xfrm>
            <a:off x="2600094" y="737006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last price/change</a:t>
            </a:r>
          </a:p>
        </p:txBody>
      </p:sp>
      <p:sp>
        <p:nvSpPr>
          <p:cNvPr id="5647" name="TextBox 40"/>
          <p:cNvSpPr txBox="1"/>
          <p:nvPr/>
        </p:nvSpPr>
        <p:spPr>
          <a:xfrm>
            <a:off x="9093250" y="737006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648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40664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649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40664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650" name="Connector 43"/>
          <p:cNvSpPr/>
          <p:nvPr/>
        </p:nvSpPr>
        <p:spPr>
          <a:xfrm>
            <a:off x="1371600" y="77724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51" name="TextBox 44"/>
          <p:cNvSpPr txBox="1"/>
          <p:nvPr/>
        </p:nvSpPr>
        <p:spPr>
          <a:xfrm>
            <a:off x="1517902" y="780897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5652" name="TextBox 45"/>
          <p:cNvSpPr txBox="1"/>
          <p:nvPr/>
        </p:nvSpPr>
        <p:spPr>
          <a:xfrm>
            <a:off x="2600094" y="780897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Depth</a:t>
            </a:r>
          </a:p>
        </p:txBody>
      </p:sp>
      <p:sp>
        <p:nvSpPr>
          <p:cNvPr id="5653" name="TextBox 46"/>
          <p:cNvSpPr txBox="1"/>
          <p:nvPr/>
        </p:nvSpPr>
        <p:spPr>
          <a:xfrm>
            <a:off x="9093250" y="78089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654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4555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655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45552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656" name="Connector 49"/>
          <p:cNvSpPr/>
          <p:nvPr/>
        </p:nvSpPr>
        <p:spPr>
          <a:xfrm>
            <a:off x="1371600" y="821131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57" name="TextBox 50"/>
          <p:cNvSpPr txBox="1"/>
          <p:nvPr/>
        </p:nvSpPr>
        <p:spPr>
          <a:xfrm>
            <a:off x="1517902" y="824788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5658" name="TextBox 51"/>
          <p:cNvSpPr txBox="1"/>
          <p:nvPr/>
        </p:nvSpPr>
        <p:spPr>
          <a:xfrm>
            <a:off x="2600094" y="8247888"/>
            <a:ext cx="6200549" cy="584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Key statistics (closing price, volume, P/E, P/B, market cap, day's range, 52-week range)</a:t>
            </a:r>
          </a:p>
        </p:txBody>
      </p:sp>
      <p:sp>
        <p:nvSpPr>
          <p:cNvPr id="5659" name="TextBox 52"/>
          <p:cNvSpPr txBox="1"/>
          <p:nvPr/>
        </p:nvSpPr>
        <p:spPr>
          <a:xfrm>
            <a:off x="9093250" y="824788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660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28446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661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28446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662" name="Connector 55"/>
          <p:cNvSpPr/>
          <p:nvPr/>
        </p:nvSpPr>
        <p:spPr>
          <a:xfrm>
            <a:off x="1371600" y="881532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63" name="TextBox 56"/>
          <p:cNvSpPr txBox="1"/>
          <p:nvPr/>
        </p:nvSpPr>
        <p:spPr>
          <a:xfrm>
            <a:off x="1517902" y="88519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5664" name="TextBox 57"/>
          <p:cNvSpPr txBox="1"/>
          <p:nvPr/>
        </p:nvSpPr>
        <p:spPr>
          <a:xfrm>
            <a:off x="2600094" y="88519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News tab with articles</a:t>
            </a:r>
          </a:p>
        </p:txBody>
      </p:sp>
      <p:sp>
        <p:nvSpPr>
          <p:cNvPr id="5665" name="TextBox 58"/>
          <p:cNvSpPr txBox="1"/>
          <p:nvPr/>
        </p:nvSpPr>
        <p:spPr>
          <a:xfrm>
            <a:off x="9093250" y="88518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666" name="Picture 59" descr="Picture 5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88884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667" name="Picture 60" descr="Picture 6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88884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668" name="Connector 61"/>
          <p:cNvSpPr/>
          <p:nvPr/>
        </p:nvSpPr>
        <p:spPr>
          <a:xfrm>
            <a:off x="1371600" y="925423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69" name="TextBox 62"/>
          <p:cNvSpPr txBox="1"/>
          <p:nvPr/>
        </p:nvSpPr>
        <p:spPr>
          <a:xfrm>
            <a:off x="1517902" y="929081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5670" name="TextBox 63"/>
          <p:cNvSpPr txBox="1"/>
          <p:nvPr/>
        </p:nvSpPr>
        <p:spPr>
          <a:xfrm>
            <a:off x="2600094" y="9290811"/>
            <a:ext cx="6200549" cy="584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Financial tab (valuation, income statement, balance sheet, cash flow, profitability, efficiency, dividends)</a:t>
            </a:r>
          </a:p>
        </p:txBody>
      </p:sp>
      <p:sp>
        <p:nvSpPr>
          <p:cNvPr id="5671" name="TextBox 64"/>
          <p:cNvSpPr txBox="1"/>
          <p:nvPr/>
        </p:nvSpPr>
        <p:spPr>
          <a:xfrm>
            <a:off x="9093250" y="929081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672" name="Picture 65" descr="Picture 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32738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673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32738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674" name="Connector 67"/>
          <p:cNvSpPr/>
          <p:nvPr/>
        </p:nvSpPr>
        <p:spPr>
          <a:xfrm>
            <a:off x="1371600" y="9870947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75" name="TextBox 68"/>
          <p:cNvSpPr txBox="1"/>
          <p:nvPr/>
        </p:nvSpPr>
        <p:spPr>
          <a:xfrm>
            <a:off x="1517902" y="990752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676" name="TextBox 69"/>
          <p:cNvSpPr txBox="1"/>
          <p:nvPr/>
        </p:nvSpPr>
        <p:spPr>
          <a:xfrm>
            <a:off x="2600094" y="990752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Company profile (sector, industry, employees, description)</a:t>
            </a:r>
          </a:p>
        </p:txBody>
      </p:sp>
      <p:sp>
        <p:nvSpPr>
          <p:cNvPr id="5677" name="TextBox 70"/>
          <p:cNvSpPr txBox="1"/>
          <p:nvPr/>
        </p:nvSpPr>
        <p:spPr>
          <a:xfrm>
            <a:off x="9093250" y="990752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678" name="Picture 71" descr="Picture 7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94410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679" name="Picture 72" descr="Picture 7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94410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680" name="TextBox 73"/>
          <p:cNvSpPr txBox="1"/>
          <p:nvPr/>
        </p:nvSpPr>
        <p:spPr>
          <a:xfrm>
            <a:off x="14504212" y="9996423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 Native</a:t>
            </a:r>
          </a:p>
        </p:txBody>
      </p:sp>
      <p:sp>
        <p:nvSpPr>
          <p:cNvPr id="5681" name="Connector 74"/>
          <p:cNvSpPr/>
          <p:nvPr/>
        </p:nvSpPr>
        <p:spPr>
          <a:xfrm>
            <a:off x="1371600" y="103098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82" name="TextBox 75"/>
          <p:cNvSpPr txBox="1"/>
          <p:nvPr/>
        </p:nvSpPr>
        <p:spPr>
          <a:xfrm>
            <a:off x="1517902" y="10346435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5683" name="TextBox 76"/>
          <p:cNvSpPr txBox="1"/>
          <p:nvPr/>
        </p:nvSpPr>
        <p:spPr>
          <a:xfrm>
            <a:off x="2600094" y="10346435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Holdings tab</a:t>
            </a:r>
          </a:p>
        </p:txBody>
      </p:sp>
      <p:sp>
        <p:nvSpPr>
          <p:cNvPr id="5684" name="TextBox 77"/>
          <p:cNvSpPr txBox="1"/>
          <p:nvPr/>
        </p:nvSpPr>
        <p:spPr>
          <a:xfrm>
            <a:off x="9093250" y="10346435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685" name="Picture 78" descr="Picture 7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38301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686" name="Picture 79" descr="Picture 7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38301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687" name="Connector 80"/>
          <p:cNvSpPr/>
          <p:nvPr/>
        </p:nvSpPr>
        <p:spPr>
          <a:xfrm>
            <a:off x="1371600" y="1074877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88" name="TextBox 81"/>
          <p:cNvSpPr txBox="1"/>
          <p:nvPr/>
        </p:nvSpPr>
        <p:spPr>
          <a:xfrm>
            <a:off x="1517902" y="1078534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5689" name="TextBox 82"/>
          <p:cNvSpPr txBox="1"/>
          <p:nvPr/>
        </p:nvSpPr>
        <p:spPr>
          <a:xfrm>
            <a:off x="2600094" y="1078534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Research Reports tab</a:t>
            </a:r>
          </a:p>
        </p:txBody>
      </p:sp>
      <p:sp>
        <p:nvSpPr>
          <p:cNvPr id="5690" name="TextBox 83"/>
          <p:cNvSpPr txBox="1"/>
          <p:nvPr/>
        </p:nvSpPr>
        <p:spPr>
          <a:xfrm>
            <a:off x="9093250" y="1078534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691" name="Picture 84" descr="Picture 8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082192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692" name="Picture 85" descr="Picture 8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082192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693" name="Connector 86"/>
          <p:cNvSpPr/>
          <p:nvPr/>
        </p:nvSpPr>
        <p:spPr>
          <a:xfrm>
            <a:off x="1371600" y="111876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94" name="TextBox 87"/>
          <p:cNvSpPr txBox="1"/>
          <p:nvPr/>
        </p:nvSpPr>
        <p:spPr>
          <a:xfrm>
            <a:off x="1517902" y="11224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5695" name="TextBox 88"/>
          <p:cNvSpPr txBox="1"/>
          <p:nvPr/>
        </p:nvSpPr>
        <p:spPr>
          <a:xfrm>
            <a:off x="2600094" y="11224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Analysts Ratings tab</a:t>
            </a:r>
          </a:p>
        </p:txBody>
      </p:sp>
      <p:sp>
        <p:nvSpPr>
          <p:cNvPr id="5696" name="TextBox 89"/>
          <p:cNvSpPr txBox="1"/>
          <p:nvPr/>
        </p:nvSpPr>
        <p:spPr>
          <a:xfrm>
            <a:off x="9093250" y="11224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697" name="Picture 90" descr="Picture 9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112608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698" name="Picture 91" descr="Picture 9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112608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699" name="TextBox 92"/>
          <p:cNvSpPr txBox="1"/>
          <p:nvPr/>
        </p:nvSpPr>
        <p:spPr>
          <a:xfrm>
            <a:off x="14504212" y="112877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 Native</a:t>
            </a:r>
          </a:p>
        </p:txBody>
      </p:sp>
      <p:sp>
        <p:nvSpPr>
          <p:cNvPr id="5700" name="Connector 93"/>
          <p:cNvSpPr/>
          <p:nvPr/>
        </p:nvSpPr>
        <p:spPr>
          <a:xfrm>
            <a:off x="1371600" y="11626594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01" name="TextBox 94"/>
          <p:cNvSpPr txBox="1"/>
          <p:nvPr/>
        </p:nvSpPr>
        <p:spPr>
          <a:xfrm>
            <a:off x="1517902" y="1166317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5702" name="TextBox 95"/>
          <p:cNvSpPr txBox="1"/>
          <p:nvPr/>
        </p:nvSpPr>
        <p:spPr>
          <a:xfrm>
            <a:off x="2600094" y="1166317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EPS chart</a:t>
            </a:r>
          </a:p>
        </p:txBody>
      </p:sp>
      <p:sp>
        <p:nvSpPr>
          <p:cNvPr id="5703" name="TextBox 96"/>
          <p:cNvSpPr txBox="1"/>
          <p:nvPr/>
        </p:nvSpPr>
        <p:spPr>
          <a:xfrm>
            <a:off x="9093250" y="1166317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704" name="Picture 97" descr="Picture 9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69974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05" name="Picture 98" descr="Picture 9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699747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706" name="Connector 99"/>
          <p:cNvSpPr/>
          <p:nvPr/>
        </p:nvSpPr>
        <p:spPr>
          <a:xfrm>
            <a:off x="1371600" y="1206550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07" name="TextBox 100"/>
          <p:cNvSpPr txBox="1"/>
          <p:nvPr/>
        </p:nvSpPr>
        <p:spPr>
          <a:xfrm>
            <a:off x="1517902" y="1210208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5708" name="TextBox 101"/>
          <p:cNvSpPr txBox="1"/>
          <p:nvPr/>
        </p:nvSpPr>
        <p:spPr>
          <a:xfrm>
            <a:off x="2600094" y="1210208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Earnings surprise %</a:t>
            </a:r>
          </a:p>
        </p:txBody>
      </p:sp>
      <p:sp>
        <p:nvSpPr>
          <p:cNvPr id="5709" name="TextBox 102"/>
          <p:cNvSpPr txBox="1"/>
          <p:nvPr/>
        </p:nvSpPr>
        <p:spPr>
          <a:xfrm>
            <a:off x="9093250" y="1210208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710" name="Picture 103" descr="Picture 10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13865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11" name="Picture 104" descr="Picture 10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138659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712" name="Connector 105"/>
          <p:cNvSpPr/>
          <p:nvPr/>
        </p:nvSpPr>
        <p:spPr>
          <a:xfrm>
            <a:off x="1371600" y="125044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13" name="TextBox 106"/>
          <p:cNvSpPr txBox="1"/>
          <p:nvPr/>
        </p:nvSpPr>
        <p:spPr>
          <a:xfrm>
            <a:off x="1517902" y="1254099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5714" name="TextBox 107"/>
          <p:cNvSpPr txBox="1"/>
          <p:nvPr/>
        </p:nvSpPr>
        <p:spPr>
          <a:xfrm>
            <a:off x="2600094" y="1254099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Watchlist &amp; notification buttons</a:t>
            </a:r>
          </a:p>
        </p:txBody>
      </p:sp>
      <p:sp>
        <p:nvSpPr>
          <p:cNvPr id="5715" name="TextBox 108"/>
          <p:cNvSpPr txBox="1"/>
          <p:nvPr/>
        </p:nvSpPr>
        <p:spPr>
          <a:xfrm>
            <a:off x="9093250" y="1254099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716" name="Picture 109" descr="Picture 10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57757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17" name="Picture 110" descr="Picture 1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57757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718" name="Connector 111"/>
          <p:cNvSpPr/>
          <p:nvPr/>
        </p:nvSpPr>
        <p:spPr>
          <a:xfrm>
            <a:off x="1371600" y="1294333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19" name="TextBox 112"/>
          <p:cNvSpPr txBox="1"/>
          <p:nvPr/>
        </p:nvSpPr>
        <p:spPr>
          <a:xfrm>
            <a:off x="1517902" y="12979906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5720" name="TextBox 113"/>
          <p:cNvSpPr txBox="1"/>
          <p:nvPr/>
        </p:nvSpPr>
        <p:spPr>
          <a:xfrm>
            <a:off x="2600094" y="12979906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 / Sell buttons</a:t>
            </a:r>
          </a:p>
        </p:txBody>
      </p:sp>
      <p:sp>
        <p:nvSpPr>
          <p:cNvPr id="5721" name="TextBox 114"/>
          <p:cNvSpPr txBox="1"/>
          <p:nvPr/>
        </p:nvSpPr>
        <p:spPr>
          <a:xfrm>
            <a:off x="9093250" y="1297990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722" name="Picture 115" descr="Picture 1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301648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23" name="Picture 116" descr="Picture 1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3016483"/>
            <a:ext cx="292610" cy="2926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5726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070 / 111</a:t>
            </a:r>
          </a:p>
        </p:txBody>
      </p:sp>
      <p:sp>
        <p:nvSpPr>
          <p:cNvPr id="5727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5728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Stock Details</a:t>
            </a:r>
          </a:p>
        </p:txBody>
      </p:sp>
      <p:sp>
        <p:nvSpPr>
          <p:cNvPr id="5729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5730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5731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5732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5733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5734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5735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5736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5737" name="Connector 13"/>
          <p:cNvSpPr/>
          <p:nvPr/>
        </p:nvSpPr>
        <p:spPr>
          <a:xfrm>
            <a:off x="1371600" y="5577840"/>
            <a:ext cx="21643848" cy="1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38" name="TextBox 14"/>
          <p:cNvSpPr txBox="1"/>
          <p:nvPr/>
        </p:nvSpPr>
        <p:spPr>
          <a:xfrm>
            <a:off x="1517902" y="5614415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5739" name="TextBox 15"/>
          <p:cNvSpPr txBox="1"/>
          <p:nvPr/>
        </p:nvSpPr>
        <p:spPr>
          <a:xfrm>
            <a:off x="2600094" y="5614415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Next report estimation</a:t>
            </a:r>
          </a:p>
        </p:txBody>
      </p:sp>
      <p:sp>
        <p:nvSpPr>
          <p:cNvPr id="5740" name="TextBox 16"/>
          <p:cNvSpPr txBox="1"/>
          <p:nvPr/>
        </p:nvSpPr>
        <p:spPr>
          <a:xfrm>
            <a:off x="9093250" y="5614415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741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099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42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099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743" name="Connector 19"/>
          <p:cNvSpPr/>
          <p:nvPr/>
        </p:nvSpPr>
        <p:spPr>
          <a:xfrm>
            <a:off x="1371600" y="6016752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44" name="TextBox 20"/>
          <p:cNvSpPr txBox="1"/>
          <p:nvPr/>
        </p:nvSpPr>
        <p:spPr>
          <a:xfrm>
            <a:off x="1517902" y="605332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19</a:t>
            </a:r>
          </a:p>
        </p:txBody>
      </p:sp>
      <p:sp>
        <p:nvSpPr>
          <p:cNvPr id="5745" name="TextBox 21"/>
          <p:cNvSpPr txBox="1"/>
          <p:nvPr/>
        </p:nvSpPr>
        <p:spPr>
          <a:xfrm>
            <a:off x="2600094" y="6053328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Annual revenue trend</a:t>
            </a:r>
          </a:p>
        </p:txBody>
      </p:sp>
      <p:sp>
        <p:nvSpPr>
          <p:cNvPr id="5746" name="TextBox 22"/>
          <p:cNvSpPr txBox="1"/>
          <p:nvPr/>
        </p:nvSpPr>
        <p:spPr>
          <a:xfrm>
            <a:off x="9093250" y="605332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747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8990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48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8990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749" name="Connector 25"/>
          <p:cNvSpPr/>
          <p:nvPr/>
        </p:nvSpPr>
        <p:spPr>
          <a:xfrm>
            <a:off x="1371600" y="6455664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50" name="TextBox 26"/>
          <p:cNvSpPr txBox="1"/>
          <p:nvPr/>
        </p:nvSpPr>
        <p:spPr>
          <a:xfrm>
            <a:off x="1517902" y="64922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5751" name="TextBox 27"/>
          <p:cNvSpPr txBox="1"/>
          <p:nvPr/>
        </p:nvSpPr>
        <p:spPr>
          <a:xfrm>
            <a:off x="2600094" y="64922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flow (Annual/Quarterly)</a:t>
            </a:r>
          </a:p>
        </p:txBody>
      </p:sp>
      <p:sp>
        <p:nvSpPr>
          <p:cNvPr id="5752" name="TextBox 28"/>
          <p:cNvSpPr txBox="1"/>
          <p:nvPr/>
        </p:nvSpPr>
        <p:spPr>
          <a:xfrm>
            <a:off x="9093250" y="6492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753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52881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54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52881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755" name="Connector 31"/>
          <p:cNvSpPr/>
          <p:nvPr/>
        </p:nvSpPr>
        <p:spPr>
          <a:xfrm>
            <a:off x="1371600" y="6894576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56" name="TextBox 32"/>
          <p:cNvSpPr txBox="1"/>
          <p:nvPr/>
        </p:nvSpPr>
        <p:spPr>
          <a:xfrm>
            <a:off x="1517902" y="693115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21</a:t>
            </a:r>
          </a:p>
        </p:txBody>
      </p:sp>
      <p:sp>
        <p:nvSpPr>
          <p:cNvPr id="5757" name="TextBox 33"/>
          <p:cNvSpPr txBox="1"/>
          <p:nvPr/>
        </p:nvSpPr>
        <p:spPr>
          <a:xfrm>
            <a:off x="2600094" y="693115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Statements tab</a:t>
            </a:r>
          </a:p>
        </p:txBody>
      </p:sp>
      <p:sp>
        <p:nvSpPr>
          <p:cNvPr id="5758" name="TextBox 34"/>
          <p:cNvSpPr txBox="1"/>
          <p:nvPr/>
        </p:nvSpPr>
        <p:spPr>
          <a:xfrm>
            <a:off x="9093250" y="69311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759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96772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60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96772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761" name="Connector 37"/>
          <p:cNvSpPr/>
          <p:nvPr/>
        </p:nvSpPr>
        <p:spPr>
          <a:xfrm>
            <a:off x="1371600" y="7333488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62" name="TextBox 38"/>
          <p:cNvSpPr txBox="1"/>
          <p:nvPr/>
        </p:nvSpPr>
        <p:spPr>
          <a:xfrm>
            <a:off x="1517902" y="737006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22</a:t>
            </a:r>
          </a:p>
        </p:txBody>
      </p:sp>
      <p:sp>
        <p:nvSpPr>
          <p:cNvPr id="5763" name="TextBox 39"/>
          <p:cNvSpPr txBox="1"/>
          <p:nvPr/>
        </p:nvSpPr>
        <p:spPr>
          <a:xfrm>
            <a:off x="2600094" y="737006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Actions tab (Dividends/Splits)</a:t>
            </a:r>
          </a:p>
        </p:txBody>
      </p:sp>
      <p:sp>
        <p:nvSpPr>
          <p:cNvPr id="5764" name="TextBox 40"/>
          <p:cNvSpPr txBox="1"/>
          <p:nvPr/>
        </p:nvSpPr>
        <p:spPr>
          <a:xfrm>
            <a:off x="9093250" y="737006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5765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40664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66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40664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767" name="Connector 43"/>
          <p:cNvSpPr/>
          <p:nvPr/>
        </p:nvSpPr>
        <p:spPr>
          <a:xfrm>
            <a:off x="1371600" y="7772400"/>
            <a:ext cx="21643848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68" name="TextBox 44"/>
          <p:cNvSpPr txBox="1"/>
          <p:nvPr/>
        </p:nvSpPr>
        <p:spPr>
          <a:xfrm>
            <a:off x="1517902" y="780897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23</a:t>
            </a:r>
          </a:p>
        </p:txBody>
      </p:sp>
      <p:sp>
        <p:nvSpPr>
          <p:cNvPr id="5769" name="TextBox 45"/>
          <p:cNvSpPr txBox="1"/>
          <p:nvPr/>
        </p:nvSpPr>
        <p:spPr>
          <a:xfrm>
            <a:off x="2600094" y="780897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Insider Trades</a:t>
            </a:r>
          </a:p>
        </p:txBody>
      </p:sp>
      <p:sp>
        <p:nvSpPr>
          <p:cNvPr id="5770" name="TextBox 46"/>
          <p:cNvSpPr txBox="1"/>
          <p:nvPr/>
        </p:nvSpPr>
        <p:spPr>
          <a:xfrm>
            <a:off x="9093250" y="78089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771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4555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72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45552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773" name="Connector 49"/>
          <p:cNvSpPr/>
          <p:nvPr/>
        </p:nvSpPr>
        <p:spPr>
          <a:xfrm>
            <a:off x="1371600" y="8211311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74" name="TextBox 50"/>
          <p:cNvSpPr txBox="1"/>
          <p:nvPr/>
        </p:nvSpPr>
        <p:spPr>
          <a:xfrm>
            <a:off x="1517902" y="8247888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24</a:t>
            </a:r>
          </a:p>
        </p:txBody>
      </p:sp>
      <p:sp>
        <p:nvSpPr>
          <p:cNvPr id="5775" name="TextBox 51"/>
          <p:cNvSpPr txBox="1"/>
          <p:nvPr/>
        </p:nvSpPr>
        <p:spPr>
          <a:xfrm>
            <a:off x="2600094" y="8247888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Government Trades</a:t>
            </a:r>
          </a:p>
        </p:txBody>
      </p:sp>
      <p:sp>
        <p:nvSpPr>
          <p:cNvPr id="5776" name="TextBox 52"/>
          <p:cNvSpPr txBox="1"/>
          <p:nvPr/>
        </p:nvSpPr>
        <p:spPr>
          <a:xfrm>
            <a:off x="9093250" y="824788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777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28446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78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28446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779" name="Connector 55"/>
          <p:cNvSpPr/>
          <p:nvPr/>
        </p:nvSpPr>
        <p:spPr>
          <a:xfrm>
            <a:off x="1371600" y="8650223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80" name="TextBox 56"/>
          <p:cNvSpPr txBox="1"/>
          <p:nvPr/>
        </p:nvSpPr>
        <p:spPr>
          <a:xfrm>
            <a:off x="1517902" y="86868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25</a:t>
            </a:r>
          </a:p>
        </p:txBody>
      </p:sp>
      <p:sp>
        <p:nvSpPr>
          <p:cNvPr id="5781" name="TextBox 57"/>
          <p:cNvSpPr txBox="1"/>
          <p:nvPr/>
        </p:nvSpPr>
        <p:spPr>
          <a:xfrm>
            <a:off x="2600094" y="86868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comparison</a:t>
            </a:r>
          </a:p>
        </p:txBody>
      </p:sp>
      <p:sp>
        <p:nvSpPr>
          <p:cNvPr id="5782" name="TextBox 58"/>
          <p:cNvSpPr txBox="1"/>
          <p:nvPr/>
        </p:nvSpPr>
        <p:spPr>
          <a:xfrm>
            <a:off x="9093250" y="868680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5783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7233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84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7233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785" name="Connector 61"/>
          <p:cNvSpPr/>
          <p:nvPr/>
        </p:nvSpPr>
        <p:spPr>
          <a:xfrm>
            <a:off x="1371600" y="9089135"/>
            <a:ext cx="21643848" cy="1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86" name="TextBox 62"/>
          <p:cNvSpPr txBox="1"/>
          <p:nvPr/>
        </p:nvSpPr>
        <p:spPr>
          <a:xfrm>
            <a:off x="1517902" y="912571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26</a:t>
            </a:r>
          </a:p>
        </p:txBody>
      </p:sp>
      <p:sp>
        <p:nvSpPr>
          <p:cNvPr id="5787" name="TextBox 63"/>
          <p:cNvSpPr txBox="1"/>
          <p:nvPr/>
        </p:nvSpPr>
        <p:spPr>
          <a:xfrm>
            <a:off x="2600094" y="912571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Trade on Chart</a:t>
            </a:r>
          </a:p>
        </p:txBody>
      </p:sp>
      <p:sp>
        <p:nvSpPr>
          <p:cNvPr id="5788" name="TextBox 64"/>
          <p:cNvSpPr txBox="1"/>
          <p:nvPr/>
        </p:nvSpPr>
        <p:spPr>
          <a:xfrm>
            <a:off x="9093250" y="912571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789" name="Picture 65" descr="Picture 6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16228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90" name="Picture 66" descr="Picture 6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162288"/>
            <a:ext cx="292610" cy="2926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5793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071 / 111</a:t>
            </a:r>
          </a:p>
        </p:txBody>
      </p:sp>
      <p:sp>
        <p:nvSpPr>
          <p:cNvPr id="5794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5795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Corporate Actions &amp; Events</a:t>
            </a:r>
          </a:p>
        </p:txBody>
      </p:sp>
      <p:sp>
        <p:nvSpPr>
          <p:cNvPr id="5796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5797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5798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5799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5800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5801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5802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5803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5804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05" name="TextBox 14"/>
          <p:cNvSpPr txBox="1"/>
          <p:nvPr/>
        </p:nvSpPr>
        <p:spPr>
          <a:xfrm>
            <a:off x="1517902" y="5737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806" name="TextBox 15"/>
          <p:cNvSpPr txBox="1"/>
          <p:nvPr/>
        </p:nvSpPr>
        <p:spPr>
          <a:xfrm>
            <a:off x="2600094" y="5737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Dividends history</a:t>
            </a:r>
          </a:p>
        </p:txBody>
      </p:sp>
      <p:sp>
        <p:nvSpPr>
          <p:cNvPr id="5807" name="TextBox 16"/>
          <p:cNvSpPr txBox="1"/>
          <p:nvPr/>
        </p:nvSpPr>
        <p:spPr>
          <a:xfrm>
            <a:off x="9093250" y="5737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808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09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810" name="Connector 19"/>
          <p:cNvSpPr/>
          <p:nvPr/>
        </p:nvSpPr>
        <p:spPr>
          <a:xfrm>
            <a:off x="1371600" y="6263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11" name="TextBox 20"/>
          <p:cNvSpPr txBox="1"/>
          <p:nvPr/>
        </p:nvSpPr>
        <p:spPr>
          <a:xfrm>
            <a:off x="1517902" y="6423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812" name="TextBox 21"/>
          <p:cNvSpPr txBox="1"/>
          <p:nvPr/>
        </p:nvSpPr>
        <p:spPr>
          <a:xfrm>
            <a:off x="2600094" y="6423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splits history</a:t>
            </a:r>
          </a:p>
        </p:txBody>
      </p:sp>
      <p:sp>
        <p:nvSpPr>
          <p:cNvPr id="5813" name="TextBox 22"/>
          <p:cNvSpPr txBox="1"/>
          <p:nvPr/>
        </p:nvSpPr>
        <p:spPr>
          <a:xfrm>
            <a:off x="9093250" y="6423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814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15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816" name="Connector 25"/>
          <p:cNvSpPr/>
          <p:nvPr/>
        </p:nvSpPr>
        <p:spPr>
          <a:xfrm>
            <a:off x="1371600" y="6949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17" name="TextBox 26"/>
          <p:cNvSpPr txBox="1"/>
          <p:nvPr/>
        </p:nvSpPr>
        <p:spPr>
          <a:xfrm>
            <a:off x="1517902" y="7109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818" name="TextBox 27"/>
          <p:cNvSpPr txBox="1"/>
          <p:nvPr/>
        </p:nvSpPr>
        <p:spPr>
          <a:xfrm>
            <a:off x="2600094" y="7109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Corporate actions filter (All / Dividends / Splits)</a:t>
            </a:r>
          </a:p>
        </p:txBody>
      </p:sp>
      <p:sp>
        <p:nvSpPr>
          <p:cNvPr id="5819" name="TextBox 28"/>
          <p:cNvSpPr txBox="1"/>
          <p:nvPr/>
        </p:nvSpPr>
        <p:spPr>
          <a:xfrm>
            <a:off x="9093250" y="7109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820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21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822" name="Connector 31"/>
          <p:cNvSpPr/>
          <p:nvPr/>
        </p:nvSpPr>
        <p:spPr>
          <a:xfrm>
            <a:off x="1371600" y="763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23" name="TextBox 32"/>
          <p:cNvSpPr txBox="1"/>
          <p:nvPr/>
        </p:nvSpPr>
        <p:spPr>
          <a:xfrm>
            <a:off x="1517902" y="7795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824" name="TextBox 33"/>
          <p:cNvSpPr txBox="1"/>
          <p:nvPr/>
        </p:nvSpPr>
        <p:spPr>
          <a:xfrm>
            <a:off x="2600094" y="7795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Distribution date display</a:t>
            </a:r>
          </a:p>
        </p:txBody>
      </p:sp>
      <p:sp>
        <p:nvSpPr>
          <p:cNvPr id="5825" name="TextBox 34"/>
          <p:cNvSpPr txBox="1"/>
          <p:nvPr/>
        </p:nvSpPr>
        <p:spPr>
          <a:xfrm>
            <a:off x="9093250" y="7795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826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27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828" name="Connector 37"/>
          <p:cNvSpPr/>
          <p:nvPr/>
        </p:nvSpPr>
        <p:spPr>
          <a:xfrm>
            <a:off x="1371600" y="8321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29" name="TextBox 38"/>
          <p:cNvSpPr txBox="1"/>
          <p:nvPr/>
        </p:nvSpPr>
        <p:spPr>
          <a:xfrm>
            <a:off x="1517902" y="84810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830" name="TextBox 39"/>
          <p:cNvSpPr txBox="1"/>
          <p:nvPr/>
        </p:nvSpPr>
        <p:spPr>
          <a:xfrm>
            <a:off x="2600094" y="84810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 per share display</a:t>
            </a:r>
          </a:p>
        </p:txBody>
      </p:sp>
      <p:sp>
        <p:nvSpPr>
          <p:cNvPr id="5831" name="TextBox 40"/>
          <p:cNvSpPr txBox="1"/>
          <p:nvPr/>
        </p:nvSpPr>
        <p:spPr>
          <a:xfrm>
            <a:off x="9093250" y="84810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832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33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5176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834" name="Connector 43"/>
          <p:cNvSpPr/>
          <p:nvPr/>
        </p:nvSpPr>
        <p:spPr>
          <a:xfrm>
            <a:off x="1371600" y="90068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35" name="TextBox 44"/>
          <p:cNvSpPr txBox="1"/>
          <p:nvPr/>
        </p:nvSpPr>
        <p:spPr>
          <a:xfrm>
            <a:off x="1517902" y="9166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5836" name="TextBox 45"/>
          <p:cNvSpPr txBox="1"/>
          <p:nvPr/>
        </p:nvSpPr>
        <p:spPr>
          <a:xfrm>
            <a:off x="2600094" y="9166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Financial Actions</a:t>
            </a:r>
          </a:p>
        </p:txBody>
      </p:sp>
      <p:sp>
        <p:nvSpPr>
          <p:cNvPr id="5837" name="TextBox 46"/>
          <p:cNvSpPr txBox="1"/>
          <p:nvPr/>
        </p:nvSpPr>
        <p:spPr>
          <a:xfrm>
            <a:off x="9093250" y="9166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838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39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203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840" name="Connector 49"/>
          <p:cNvSpPr/>
          <p:nvPr/>
        </p:nvSpPr>
        <p:spPr>
          <a:xfrm>
            <a:off x="1371600" y="9692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41" name="TextBox 50"/>
          <p:cNvSpPr txBox="1"/>
          <p:nvPr/>
        </p:nvSpPr>
        <p:spPr>
          <a:xfrm>
            <a:off x="1517902" y="9852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5842" name="TextBox 51"/>
          <p:cNvSpPr txBox="1"/>
          <p:nvPr/>
        </p:nvSpPr>
        <p:spPr>
          <a:xfrm>
            <a:off x="2600094" y="9852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Earnings calendar date</a:t>
            </a:r>
          </a:p>
        </p:txBody>
      </p:sp>
      <p:sp>
        <p:nvSpPr>
          <p:cNvPr id="5843" name="TextBox 52"/>
          <p:cNvSpPr txBox="1"/>
          <p:nvPr/>
        </p:nvSpPr>
        <p:spPr>
          <a:xfrm>
            <a:off x="9093250" y="9852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844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8892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45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8892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846" name="Connector 55"/>
          <p:cNvSpPr/>
          <p:nvPr/>
        </p:nvSpPr>
        <p:spPr>
          <a:xfrm>
            <a:off x="1371600" y="10378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47" name="TextBox 56"/>
          <p:cNvSpPr txBox="1"/>
          <p:nvPr/>
        </p:nvSpPr>
        <p:spPr>
          <a:xfrm>
            <a:off x="1517902" y="10538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5848" name="TextBox 57"/>
          <p:cNvSpPr txBox="1"/>
          <p:nvPr/>
        </p:nvSpPr>
        <p:spPr>
          <a:xfrm>
            <a:off x="2600094" y="10538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Quarterly / Annual toggle</a:t>
            </a:r>
          </a:p>
        </p:txBody>
      </p:sp>
      <p:sp>
        <p:nvSpPr>
          <p:cNvPr id="5849" name="TextBox 58"/>
          <p:cNvSpPr txBox="1"/>
          <p:nvPr/>
        </p:nvSpPr>
        <p:spPr>
          <a:xfrm>
            <a:off x="9093250" y="10538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850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50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51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50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852" name="Connector 61"/>
          <p:cNvSpPr/>
          <p:nvPr/>
        </p:nvSpPr>
        <p:spPr>
          <a:xfrm>
            <a:off x="1371600" y="11064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53" name="TextBox 62"/>
          <p:cNvSpPr txBox="1"/>
          <p:nvPr/>
        </p:nvSpPr>
        <p:spPr>
          <a:xfrm>
            <a:off x="1517902" y="11224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5854" name="TextBox 63"/>
          <p:cNvSpPr txBox="1"/>
          <p:nvPr/>
        </p:nvSpPr>
        <p:spPr>
          <a:xfrm>
            <a:off x="2600094" y="11224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Filter by period (Annual / Quarterly)</a:t>
            </a:r>
          </a:p>
        </p:txBody>
      </p:sp>
      <p:sp>
        <p:nvSpPr>
          <p:cNvPr id="5855" name="TextBox 64"/>
          <p:cNvSpPr txBox="1"/>
          <p:nvPr/>
        </p:nvSpPr>
        <p:spPr>
          <a:xfrm>
            <a:off x="9093250" y="11224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5856" name="Picture 65" descr="Picture 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2608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57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2608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858" name="Connector 67"/>
          <p:cNvSpPr/>
          <p:nvPr/>
        </p:nvSpPr>
        <p:spPr>
          <a:xfrm>
            <a:off x="1371600" y="11750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5861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072 / 111</a:t>
            </a:r>
          </a:p>
        </p:txBody>
      </p:sp>
      <p:sp>
        <p:nvSpPr>
          <p:cNvPr id="5862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5863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Research &amp; Company Intelligence</a:t>
            </a:r>
          </a:p>
        </p:txBody>
      </p:sp>
      <p:sp>
        <p:nvSpPr>
          <p:cNvPr id="5864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5865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5866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5867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5868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5869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5870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5871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5872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73" name="TextBox 14"/>
          <p:cNvSpPr txBox="1"/>
          <p:nvPr/>
        </p:nvSpPr>
        <p:spPr>
          <a:xfrm>
            <a:off x="1517902" y="566576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874" name="TextBox 15"/>
          <p:cNvSpPr txBox="1"/>
          <p:nvPr/>
        </p:nvSpPr>
        <p:spPr>
          <a:xfrm>
            <a:off x="2600094" y="566576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Company profile summary</a:t>
            </a:r>
          </a:p>
        </p:txBody>
      </p:sp>
      <p:sp>
        <p:nvSpPr>
          <p:cNvPr id="5875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876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77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878" name="Connector 19"/>
          <p:cNvSpPr/>
          <p:nvPr/>
        </p:nvSpPr>
        <p:spPr>
          <a:xfrm>
            <a:off x="1371600" y="611944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79" name="TextBox 20"/>
          <p:cNvSpPr txBox="1"/>
          <p:nvPr/>
        </p:nvSpPr>
        <p:spPr>
          <a:xfrm>
            <a:off x="1517902" y="620736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880" name="TextBox 21"/>
          <p:cNvSpPr txBox="1"/>
          <p:nvPr/>
        </p:nvSpPr>
        <p:spPr>
          <a:xfrm>
            <a:off x="2600094" y="620736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Sector classification</a:t>
            </a:r>
          </a:p>
        </p:txBody>
      </p:sp>
      <p:sp>
        <p:nvSpPr>
          <p:cNvPr id="5881" name="TextBox 22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882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83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884" name="Connector 25"/>
          <p:cNvSpPr/>
          <p:nvPr/>
        </p:nvSpPr>
        <p:spPr>
          <a:xfrm>
            <a:off x="1371600" y="66610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85" name="TextBox 26"/>
          <p:cNvSpPr txBox="1"/>
          <p:nvPr/>
        </p:nvSpPr>
        <p:spPr>
          <a:xfrm>
            <a:off x="1517902" y="674897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5886" name="TextBox 27"/>
          <p:cNvSpPr txBox="1"/>
          <p:nvPr/>
        </p:nvSpPr>
        <p:spPr>
          <a:xfrm>
            <a:off x="2600094" y="674897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Industry classification</a:t>
            </a:r>
          </a:p>
        </p:txBody>
      </p:sp>
      <p:sp>
        <p:nvSpPr>
          <p:cNvPr id="5887" name="TextBox 28"/>
          <p:cNvSpPr txBox="1"/>
          <p:nvPr/>
        </p:nvSpPr>
        <p:spPr>
          <a:xfrm>
            <a:off x="9093250" y="674897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888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89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890" name="Connector 31"/>
          <p:cNvSpPr/>
          <p:nvPr/>
        </p:nvSpPr>
        <p:spPr>
          <a:xfrm>
            <a:off x="1371600" y="720265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91" name="TextBox 32"/>
          <p:cNvSpPr txBox="1"/>
          <p:nvPr/>
        </p:nvSpPr>
        <p:spPr>
          <a:xfrm>
            <a:off x="1517902" y="729058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892" name="TextBox 33"/>
          <p:cNvSpPr txBox="1"/>
          <p:nvPr/>
        </p:nvSpPr>
        <p:spPr>
          <a:xfrm>
            <a:off x="2600094" y="729058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Employees count</a:t>
            </a:r>
          </a:p>
        </p:txBody>
      </p:sp>
      <p:sp>
        <p:nvSpPr>
          <p:cNvPr id="5893" name="TextBox 34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894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95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896" name="Connector 37"/>
          <p:cNvSpPr/>
          <p:nvPr/>
        </p:nvSpPr>
        <p:spPr>
          <a:xfrm>
            <a:off x="1371600" y="774426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97" name="TextBox 38"/>
          <p:cNvSpPr txBox="1"/>
          <p:nvPr/>
        </p:nvSpPr>
        <p:spPr>
          <a:xfrm>
            <a:off x="1517902" y="783218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898" name="TextBox 39"/>
          <p:cNvSpPr txBox="1"/>
          <p:nvPr/>
        </p:nvSpPr>
        <p:spPr>
          <a:xfrm>
            <a:off x="2600094" y="783218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Founders information</a:t>
            </a:r>
          </a:p>
        </p:txBody>
      </p:sp>
      <p:sp>
        <p:nvSpPr>
          <p:cNvPr id="5899" name="TextBox 40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900" name="Picture 41" descr="Picture 4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01" name="Picture 42" descr="Picture 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902" name="TextBox 43"/>
          <p:cNvSpPr txBox="1"/>
          <p:nvPr/>
        </p:nvSpPr>
        <p:spPr>
          <a:xfrm>
            <a:off x="14504212" y="7832187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 native</a:t>
            </a:r>
          </a:p>
        </p:txBody>
      </p:sp>
      <p:sp>
        <p:nvSpPr>
          <p:cNvPr id="5903" name="Connector 44"/>
          <p:cNvSpPr/>
          <p:nvPr/>
        </p:nvSpPr>
        <p:spPr>
          <a:xfrm>
            <a:off x="1371600" y="828587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04" name="TextBox 45"/>
          <p:cNvSpPr txBox="1"/>
          <p:nvPr/>
        </p:nvSpPr>
        <p:spPr>
          <a:xfrm>
            <a:off x="1517902" y="837379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905" name="TextBox 46"/>
          <p:cNvSpPr txBox="1"/>
          <p:nvPr/>
        </p:nvSpPr>
        <p:spPr>
          <a:xfrm>
            <a:off x="2600094" y="837379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Headquarters location</a:t>
            </a:r>
          </a:p>
        </p:txBody>
      </p:sp>
      <p:sp>
        <p:nvSpPr>
          <p:cNvPr id="5906" name="TextBox 47"/>
          <p:cNvSpPr txBox="1"/>
          <p:nvPr/>
        </p:nvSpPr>
        <p:spPr>
          <a:xfrm>
            <a:off x="9093250" y="837379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907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08" name="Picture 49" descr="Picture 4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909" name="Connector 50"/>
          <p:cNvSpPr/>
          <p:nvPr/>
        </p:nvSpPr>
        <p:spPr>
          <a:xfrm>
            <a:off x="1371600" y="882747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10" name="TextBox 51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5911" name="TextBox 52"/>
          <p:cNvSpPr txBox="1"/>
          <p:nvPr/>
        </p:nvSpPr>
        <p:spPr>
          <a:xfrm>
            <a:off x="2600094" y="8915400"/>
            <a:ext cx="6200549" cy="584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Tabs structure (Analysts / Financial / Profile / Holdings / Trades)</a:t>
            </a:r>
          </a:p>
        </p:txBody>
      </p:sp>
      <p:sp>
        <p:nvSpPr>
          <p:cNvPr id="5912" name="TextBox 53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913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14" name="Picture 55" descr="Picture 5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915" name="Connector 56"/>
          <p:cNvSpPr/>
          <p:nvPr/>
        </p:nvSpPr>
        <p:spPr>
          <a:xfrm>
            <a:off x="1371600" y="93690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16" name="TextBox 57"/>
          <p:cNvSpPr txBox="1"/>
          <p:nvPr/>
        </p:nvSpPr>
        <p:spPr>
          <a:xfrm>
            <a:off x="1517902" y="945700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5917" name="TextBox 58"/>
          <p:cNvSpPr txBox="1"/>
          <p:nvPr/>
        </p:nvSpPr>
        <p:spPr>
          <a:xfrm>
            <a:off x="2600094" y="945700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Insider Trades list</a:t>
            </a:r>
          </a:p>
        </p:txBody>
      </p:sp>
      <p:sp>
        <p:nvSpPr>
          <p:cNvPr id="5918" name="TextBox 59"/>
          <p:cNvSpPr txBox="1"/>
          <p:nvPr/>
        </p:nvSpPr>
        <p:spPr>
          <a:xfrm>
            <a:off x="9093250" y="945700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919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20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921" name="Connector 62"/>
          <p:cNvSpPr/>
          <p:nvPr/>
        </p:nvSpPr>
        <p:spPr>
          <a:xfrm>
            <a:off x="1371600" y="99106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22" name="TextBox 63"/>
          <p:cNvSpPr txBox="1"/>
          <p:nvPr/>
        </p:nvSpPr>
        <p:spPr>
          <a:xfrm>
            <a:off x="1517902" y="999861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5923" name="TextBox 64"/>
          <p:cNvSpPr txBox="1"/>
          <p:nvPr/>
        </p:nvSpPr>
        <p:spPr>
          <a:xfrm>
            <a:off x="2600094" y="999861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Government Trades list</a:t>
            </a:r>
          </a:p>
        </p:txBody>
      </p:sp>
      <p:sp>
        <p:nvSpPr>
          <p:cNvPr id="5924" name="TextBox 65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925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26" name="Picture 67" descr="Picture 6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927" name="Connector 68"/>
          <p:cNvSpPr/>
          <p:nvPr/>
        </p:nvSpPr>
        <p:spPr>
          <a:xfrm>
            <a:off x="1371600" y="1045229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28" name="TextBox 69"/>
          <p:cNvSpPr txBox="1"/>
          <p:nvPr/>
        </p:nvSpPr>
        <p:spPr>
          <a:xfrm>
            <a:off x="1517902" y="1054021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929" name="TextBox 70"/>
          <p:cNvSpPr txBox="1"/>
          <p:nvPr/>
        </p:nvSpPr>
        <p:spPr>
          <a:xfrm>
            <a:off x="2600094" y="1054021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Earnings estimates</a:t>
            </a:r>
          </a:p>
        </p:txBody>
      </p:sp>
      <p:sp>
        <p:nvSpPr>
          <p:cNvPr id="5930" name="TextBox 71"/>
          <p:cNvSpPr txBox="1"/>
          <p:nvPr/>
        </p:nvSpPr>
        <p:spPr>
          <a:xfrm>
            <a:off x="9093250" y="105402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931" name="Picture 72" descr="Picture 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32" name="Picture 73" descr="Picture 7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933" name="Connector 74"/>
          <p:cNvSpPr/>
          <p:nvPr/>
        </p:nvSpPr>
        <p:spPr>
          <a:xfrm>
            <a:off x="1371600" y="1099390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34" name="TextBox 75"/>
          <p:cNvSpPr txBox="1"/>
          <p:nvPr/>
        </p:nvSpPr>
        <p:spPr>
          <a:xfrm>
            <a:off x="1517902" y="1108182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5935" name="TextBox 76"/>
          <p:cNvSpPr txBox="1"/>
          <p:nvPr/>
        </p:nvSpPr>
        <p:spPr>
          <a:xfrm>
            <a:off x="2600094" y="1108182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Favorite (heart icon)</a:t>
            </a:r>
          </a:p>
        </p:txBody>
      </p:sp>
      <p:sp>
        <p:nvSpPr>
          <p:cNvPr id="5936" name="TextBox 77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937" name="Picture 78" descr="Picture 7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38" name="Picture 79" descr="Picture 7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939" name="Connector 80"/>
          <p:cNvSpPr/>
          <p:nvPr/>
        </p:nvSpPr>
        <p:spPr>
          <a:xfrm>
            <a:off x="1371600" y="1153550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40" name="TextBox 81"/>
          <p:cNvSpPr txBox="1"/>
          <p:nvPr/>
        </p:nvSpPr>
        <p:spPr>
          <a:xfrm>
            <a:off x="1517902" y="1162343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5941" name="TextBox 82"/>
          <p:cNvSpPr txBox="1"/>
          <p:nvPr/>
        </p:nvSpPr>
        <p:spPr>
          <a:xfrm>
            <a:off x="2600094" y="1162343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Live Subscribe banner</a:t>
            </a:r>
          </a:p>
        </p:txBody>
      </p:sp>
      <p:sp>
        <p:nvSpPr>
          <p:cNvPr id="5942" name="TextBox 83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5943" name="Picture 84" descr="Picture 8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44" name="Picture 85" descr="Picture 8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945" name="TextBox 86"/>
          <p:cNvSpPr txBox="1"/>
          <p:nvPr/>
        </p:nvSpPr>
        <p:spPr>
          <a:xfrm>
            <a:off x="14504212" y="11623430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Will be free</a:t>
            </a:r>
          </a:p>
        </p:txBody>
      </p:sp>
      <p:sp>
        <p:nvSpPr>
          <p:cNvPr id="5946" name="Connector 87"/>
          <p:cNvSpPr/>
          <p:nvPr/>
        </p:nvSpPr>
        <p:spPr>
          <a:xfrm>
            <a:off x="1371600" y="1207711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47" name="TextBox 88"/>
          <p:cNvSpPr txBox="1"/>
          <p:nvPr/>
        </p:nvSpPr>
        <p:spPr>
          <a:xfrm>
            <a:off x="1517902" y="1216503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5948" name="TextBox 89"/>
          <p:cNvSpPr txBox="1"/>
          <p:nvPr/>
        </p:nvSpPr>
        <p:spPr>
          <a:xfrm>
            <a:off x="2600094" y="1216503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Quarterly / Annual toggle (Financial)</a:t>
            </a:r>
          </a:p>
        </p:txBody>
      </p:sp>
      <p:sp>
        <p:nvSpPr>
          <p:cNvPr id="5949" name="TextBox 90"/>
          <p:cNvSpPr txBox="1"/>
          <p:nvPr/>
        </p:nvSpPr>
        <p:spPr>
          <a:xfrm>
            <a:off x="9093250" y="1216503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5950" name="Picture 91" descr="Picture 9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51" name="Picture 92" descr="Picture 9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952" name="Connector 93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5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5955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073 / 111</a:t>
            </a:r>
          </a:p>
        </p:txBody>
      </p:sp>
      <p:sp>
        <p:nvSpPr>
          <p:cNvPr id="5956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5957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Portfolio analytics &amp; health</a:t>
            </a:r>
          </a:p>
        </p:txBody>
      </p:sp>
      <p:sp>
        <p:nvSpPr>
          <p:cNvPr id="5958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5959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5960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5961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5962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5963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5964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5965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5966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67" name="TextBox 14"/>
          <p:cNvSpPr txBox="1"/>
          <p:nvPr/>
        </p:nvSpPr>
        <p:spPr>
          <a:xfrm>
            <a:off x="1517902" y="566576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968" name="TextBox 15"/>
          <p:cNvSpPr txBox="1"/>
          <p:nvPr/>
        </p:nvSpPr>
        <p:spPr>
          <a:xfrm>
            <a:off x="2600094" y="566576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health score</a:t>
            </a:r>
          </a:p>
        </p:txBody>
      </p:sp>
      <p:sp>
        <p:nvSpPr>
          <p:cNvPr id="5969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970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71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02339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972" name="TextBox 19"/>
          <p:cNvSpPr txBox="1"/>
          <p:nvPr/>
        </p:nvSpPr>
        <p:spPr>
          <a:xfrm>
            <a:off x="18832982" y="5665763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5973" name="Connector 20"/>
          <p:cNvSpPr/>
          <p:nvPr/>
        </p:nvSpPr>
        <p:spPr>
          <a:xfrm>
            <a:off x="1371600" y="611944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74" name="TextBox 21"/>
          <p:cNvSpPr txBox="1"/>
          <p:nvPr/>
        </p:nvSpPr>
        <p:spPr>
          <a:xfrm>
            <a:off x="1517902" y="620736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975" name="TextBox 22"/>
          <p:cNvSpPr txBox="1"/>
          <p:nvPr/>
        </p:nvSpPr>
        <p:spPr>
          <a:xfrm>
            <a:off x="2600094" y="620736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Risk concentration analysis</a:t>
            </a:r>
          </a:p>
        </p:txBody>
      </p:sp>
      <p:sp>
        <p:nvSpPr>
          <p:cNvPr id="5976" name="TextBox 23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977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78" name="Picture 25" descr="Picture 2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24394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979" name="TextBox 26"/>
          <p:cNvSpPr txBox="1"/>
          <p:nvPr/>
        </p:nvSpPr>
        <p:spPr>
          <a:xfrm>
            <a:off x="18832982" y="620736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5980" name="Connector 27"/>
          <p:cNvSpPr/>
          <p:nvPr/>
        </p:nvSpPr>
        <p:spPr>
          <a:xfrm>
            <a:off x="1371600" y="66610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81" name="TextBox 28"/>
          <p:cNvSpPr txBox="1"/>
          <p:nvPr/>
        </p:nvSpPr>
        <p:spPr>
          <a:xfrm>
            <a:off x="1517902" y="674897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982" name="TextBox 29"/>
          <p:cNvSpPr txBox="1"/>
          <p:nvPr/>
        </p:nvSpPr>
        <p:spPr>
          <a:xfrm>
            <a:off x="2600094" y="674897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Diversification score</a:t>
            </a:r>
          </a:p>
        </p:txBody>
      </p:sp>
      <p:sp>
        <p:nvSpPr>
          <p:cNvPr id="5983" name="TextBox 30"/>
          <p:cNvSpPr txBox="1"/>
          <p:nvPr/>
        </p:nvSpPr>
        <p:spPr>
          <a:xfrm>
            <a:off x="9093250" y="674897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984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85" name="Picture 32" descr="Picture 3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78555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986" name="TextBox 33"/>
          <p:cNvSpPr txBox="1"/>
          <p:nvPr/>
        </p:nvSpPr>
        <p:spPr>
          <a:xfrm>
            <a:off x="18832982" y="6748974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5987" name="Connector 34"/>
          <p:cNvSpPr/>
          <p:nvPr/>
        </p:nvSpPr>
        <p:spPr>
          <a:xfrm>
            <a:off x="1371600" y="720265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88" name="TextBox 35"/>
          <p:cNvSpPr txBox="1"/>
          <p:nvPr/>
        </p:nvSpPr>
        <p:spPr>
          <a:xfrm>
            <a:off x="1517902" y="729058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989" name="TextBox 36"/>
          <p:cNvSpPr txBox="1"/>
          <p:nvPr/>
        </p:nvSpPr>
        <p:spPr>
          <a:xfrm>
            <a:off x="2600094" y="729058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Performance vs benchmark</a:t>
            </a:r>
          </a:p>
        </p:txBody>
      </p:sp>
      <p:sp>
        <p:nvSpPr>
          <p:cNvPr id="5990" name="TextBox 37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991" name="Picture 38" descr="Picture 3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92" name="Picture 39" descr="Picture 3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32715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993" name="TextBox 40"/>
          <p:cNvSpPr txBox="1"/>
          <p:nvPr/>
        </p:nvSpPr>
        <p:spPr>
          <a:xfrm>
            <a:off x="18832982" y="7290581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5994" name="Connector 41"/>
          <p:cNvSpPr/>
          <p:nvPr/>
        </p:nvSpPr>
        <p:spPr>
          <a:xfrm>
            <a:off x="1371600" y="774426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95" name="TextBox 42"/>
          <p:cNvSpPr txBox="1"/>
          <p:nvPr/>
        </p:nvSpPr>
        <p:spPr>
          <a:xfrm>
            <a:off x="1517902" y="783218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996" name="TextBox 43"/>
          <p:cNvSpPr txBox="1"/>
          <p:nvPr/>
        </p:nvSpPr>
        <p:spPr>
          <a:xfrm>
            <a:off x="2600094" y="783218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volatility analysis</a:t>
            </a:r>
          </a:p>
        </p:txBody>
      </p:sp>
      <p:sp>
        <p:nvSpPr>
          <p:cNvPr id="5997" name="TextBox 44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5998" name="Picture 45" descr="Picture 4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99" name="Picture 46" descr="Picture 4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6876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000" name="TextBox 47"/>
          <p:cNvSpPr txBox="1"/>
          <p:nvPr/>
        </p:nvSpPr>
        <p:spPr>
          <a:xfrm>
            <a:off x="18832982" y="7832187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6001" name="Connector 48"/>
          <p:cNvSpPr/>
          <p:nvPr/>
        </p:nvSpPr>
        <p:spPr>
          <a:xfrm>
            <a:off x="1371600" y="828587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02" name="TextBox 49"/>
          <p:cNvSpPr txBox="1"/>
          <p:nvPr/>
        </p:nvSpPr>
        <p:spPr>
          <a:xfrm>
            <a:off x="1517902" y="837379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003" name="TextBox 50"/>
          <p:cNvSpPr txBox="1"/>
          <p:nvPr/>
        </p:nvSpPr>
        <p:spPr>
          <a:xfrm>
            <a:off x="2600094" y="837379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diagnostics summary</a:t>
            </a:r>
          </a:p>
        </p:txBody>
      </p:sp>
      <p:sp>
        <p:nvSpPr>
          <p:cNvPr id="6004" name="TextBox 51"/>
          <p:cNvSpPr txBox="1"/>
          <p:nvPr/>
        </p:nvSpPr>
        <p:spPr>
          <a:xfrm>
            <a:off x="9093250" y="837379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005" name="Picture 52" descr="Picture 5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06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41036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007" name="TextBox 54"/>
          <p:cNvSpPr txBox="1"/>
          <p:nvPr/>
        </p:nvSpPr>
        <p:spPr>
          <a:xfrm>
            <a:off x="18832982" y="8373791"/>
            <a:ext cx="230465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6008" name="Connector 55"/>
          <p:cNvSpPr/>
          <p:nvPr/>
        </p:nvSpPr>
        <p:spPr>
          <a:xfrm>
            <a:off x="1371600" y="882747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09" name="TextBox 56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6010" name="TextBox 57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Peer portfolio comparison</a:t>
            </a:r>
          </a:p>
        </p:txBody>
      </p:sp>
      <p:sp>
        <p:nvSpPr>
          <p:cNvPr id="6011" name="TextBox 58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012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13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014" name="TextBox 61"/>
          <p:cNvSpPr txBox="1"/>
          <p:nvPr/>
        </p:nvSpPr>
        <p:spPr>
          <a:xfrm>
            <a:off x="18832982" y="8915400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6015" name="Connector 62"/>
          <p:cNvSpPr/>
          <p:nvPr/>
        </p:nvSpPr>
        <p:spPr>
          <a:xfrm>
            <a:off x="1371600" y="93690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16" name="TextBox 63"/>
          <p:cNvSpPr txBox="1"/>
          <p:nvPr/>
        </p:nvSpPr>
        <p:spPr>
          <a:xfrm>
            <a:off x="1517902" y="945700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017" name="TextBox 64"/>
          <p:cNvSpPr txBox="1"/>
          <p:nvPr/>
        </p:nvSpPr>
        <p:spPr>
          <a:xfrm>
            <a:off x="2600094" y="945700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Asset allocation analysis</a:t>
            </a:r>
          </a:p>
        </p:txBody>
      </p:sp>
      <p:sp>
        <p:nvSpPr>
          <p:cNvPr id="6018" name="TextBox 65"/>
          <p:cNvSpPr txBox="1"/>
          <p:nvPr/>
        </p:nvSpPr>
        <p:spPr>
          <a:xfrm>
            <a:off x="9093250" y="945700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019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20" name="Picture 67" descr="Picture 6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493580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021" name="TextBox 68"/>
          <p:cNvSpPr txBox="1"/>
          <p:nvPr/>
        </p:nvSpPr>
        <p:spPr>
          <a:xfrm>
            <a:off x="18832982" y="9457004"/>
            <a:ext cx="230465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6022" name="Connector 69"/>
          <p:cNvSpPr/>
          <p:nvPr/>
        </p:nvSpPr>
        <p:spPr>
          <a:xfrm>
            <a:off x="1371600" y="99106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23" name="TextBox 70"/>
          <p:cNvSpPr txBox="1"/>
          <p:nvPr/>
        </p:nvSpPr>
        <p:spPr>
          <a:xfrm>
            <a:off x="1517902" y="999861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6024" name="TextBox 71"/>
          <p:cNvSpPr txBox="1"/>
          <p:nvPr/>
        </p:nvSpPr>
        <p:spPr>
          <a:xfrm>
            <a:off x="2600094" y="999861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risk exposure</a:t>
            </a:r>
          </a:p>
        </p:txBody>
      </p:sp>
      <p:sp>
        <p:nvSpPr>
          <p:cNvPr id="6025" name="TextBox 72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026" name="Picture 73" descr="Picture 7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27" name="Picture 74" descr="Picture 7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03518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028" name="Connector 75"/>
          <p:cNvSpPr/>
          <p:nvPr/>
        </p:nvSpPr>
        <p:spPr>
          <a:xfrm>
            <a:off x="1371600" y="1045229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29" name="TextBox 76"/>
          <p:cNvSpPr txBox="1"/>
          <p:nvPr/>
        </p:nvSpPr>
        <p:spPr>
          <a:xfrm>
            <a:off x="1517902" y="1054021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6030" name="TextBox 77"/>
          <p:cNvSpPr txBox="1"/>
          <p:nvPr/>
        </p:nvSpPr>
        <p:spPr>
          <a:xfrm>
            <a:off x="2600094" y="1054021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performance attribution</a:t>
            </a:r>
          </a:p>
        </p:txBody>
      </p:sp>
      <p:sp>
        <p:nvSpPr>
          <p:cNvPr id="6031" name="TextBox 78"/>
          <p:cNvSpPr txBox="1"/>
          <p:nvPr/>
        </p:nvSpPr>
        <p:spPr>
          <a:xfrm>
            <a:off x="9093250" y="105402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032" name="Picture 79" descr="Picture 7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33" name="Picture 80" descr="Picture 8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57679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034" name="TextBox 81"/>
          <p:cNvSpPr txBox="1"/>
          <p:nvPr/>
        </p:nvSpPr>
        <p:spPr>
          <a:xfrm>
            <a:off x="18832982" y="10540217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6035" name="Connector 82"/>
          <p:cNvSpPr/>
          <p:nvPr/>
        </p:nvSpPr>
        <p:spPr>
          <a:xfrm>
            <a:off x="1371600" y="1099390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36" name="TextBox 83"/>
          <p:cNvSpPr txBox="1"/>
          <p:nvPr/>
        </p:nvSpPr>
        <p:spPr>
          <a:xfrm>
            <a:off x="1517902" y="1108182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6037" name="TextBox 84"/>
          <p:cNvSpPr txBox="1"/>
          <p:nvPr/>
        </p:nvSpPr>
        <p:spPr>
          <a:xfrm>
            <a:off x="2600094" y="1108182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Investment recommendations / insights</a:t>
            </a:r>
          </a:p>
        </p:txBody>
      </p:sp>
      <p:sp>
        <p:nvSpPr>
          <p:cNvPr id="6038" name="TextBox 85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039" name="Picture 86" descr="Picture 8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40" name="Picture 87" descr="Picture 8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11839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041" name="Connector 88"/>
          <p:cNvSpPr/>
          <p:nvPr/>
        </p:nvSpPr>
        <p:spPr>
          <a:xfrm>
            <a:off x="1371600" y="1153550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42" name="TextBox 89"/>
          <p:cNvSpPr txBox="1"/>
          <p:nvPr/>
        </p:nvSpPr>
        <p:spPr>
          <a:xfrm>
            <a:off x="1517902" y="1162343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6043" name="TextBox 90"/>
          <p:cNvSpPr txBox="1"/>
          <p:nvPr/>
        </p:nvSpPr>
        <p:spPr>
          <a:xfrm>
            <a:off x="2600094" y="1162343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rebalance suggestion</a:t>
            </a:r>
          </a:p>
        </p:txBody>
      </p:sp>
      <p:sp>
        <p:nvSpPr>
          <p:cNvPr id="6044" name="TextBox 91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6045" name="Picture 92" descr="Picture 9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46" name="Picture 93" descr="Picture 9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66000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047" name="Connector 94"/>
          <p:cNvSpPr/>
          <p:nvPr/>
        </p:nvSpPr>
        <p:spPr>
          <a:xfrm>
            <a:off x="1371600" y="1207711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48" name="TextBox 95"/>
          <p:cNvSpPr txBox="1"/>
          <p:nvPr/>
        </p:nvSpPr>
        <p:spPr>
          <a:xfrm>
            <a:off x="1517902" y="1216503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6049" name="TextBox 96"/>
          <p:cNvSpPr txBox="1"/>
          <p:nvPr/>
        </p:nvSpPr>
        <p:spPr>
          <a:xfrm>
            <a:off x="2600094" y="1216503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Risk preference settings</a:t>
            </a:r>
          </a:p>
        </p:txBody>
      </p:sp>
      <p:sp>
        <p:nvSpPr>
          <p:cNvPr id="6050" name="TextBox 97"/>
          <p:cNvSpPr txBox="1"/>
          <p:nvPr/>
        </p:nvSpPr>
        <p:spPr>
          <a:xfrm>
            <a:off x="9093250" y="1216503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6051" name="Picture 98" descr="Picture 9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52" name="Picture 99" descr="Picture 9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20161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053" name="Connector 100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6056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074 / 111</a:t>
            </a:r>
          </a:p>
        </p:txBody>
      </p:sp>
      <p:sp>
        <p:nvSpPr>
          <p:cNvPr id="6057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6058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Portfolio Insights &amp; Intelligence</a:t>
            </a:r>
          </a:p>
        </p:txBody>
      </p:sp>
      <p:sp>
        <p:nvSpPr>
          <p:cNvPr id="6059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6060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6061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062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063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064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065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066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067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68" name="TextBox 14"/>
          <p:cNvSpPr txBox="1"/>
          <p:nvPr/>
        </p:nvSpPr>
        <p:spPr>
          <a:xfrm>
            <a:off x="1517902" y="57150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069" name="TextBox 15"/>
          <p:cNvSpPr txBox="1"/>
          <p:nvPr/>
        </p:nvSpPr>
        <p:spPr>
          <a:xfrm>
            <a:off x="2600094" y="57150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Asset allocation analysis</a:t>
            </a:r>
          </a:p>
        </p:txBody>
      </p:sp>
      <p:sp>
        <p:nvSpPr>
          <p:cNvPr id="6070" name="TextBox 16"/>
          <p:cNvSpPr txBox="1"/>
          <p:nvPr/>
        </p:nvSpPr>
        <p:spPr>
          <a:xfrm>
            <a:off x="9093250" y="57149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071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515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72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515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073" name="TextBox 19"/>
          <p:cNvSpPr txBox="1"/>
          <p:nvPr/>
        </p:nvSpPr>
        <p:spPr>
          <a:xfrm>
            <a:off x="18832982" y="5715000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6074" name="Connector 20"/>
          <p:cNvSpPr/>
          <p:nvPr/>
        </p:nvSpPr>
        <p:spPr>
          <a:xfrm>
            <a:off x="1371600" y="621792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75" name="TextBox 21"/>
          <p:cNvSpPr txBox="1"/>
          <p:nvPr/>
        </p:nvSpPr>
        <p:spPr>
          <a:xfrm>
            <a:off x="1517902" y="635507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076" name="TextBox 22"/>
          <p:cNvSpPr txBox="1"/>
          <p:nvPr/>
        </p:nvSpPr>
        <p:spPr>
          <a:xfrm>
            <a:off x="2600094" y="635507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Top gainers / losers analysis</a:t>
            </a:r>
          </a:p>
        </p:txBody>
      </p:sp>
      <p:sp>
        <p:nvSpPr>
          <p:cNvPr id="6077" name="TextBox 23"/>
          <p:cNvSpPr txBox="1"/>
          <p:nvPr/>
        </p:nvSpPr>
        <p:spPr>
          <a:xfrm>
            <a:off x="9093250" y="635507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078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39165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79" name="Picture 25" descr="Picture 2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39165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080" name="TextBox 26"/>
          <p:cNvSpPr txBox="1"/>
          <p:nvPr/>
        </p:nvSpPr>
        <p:spPr>
          <a:xfrm>
            <a:off x="18832982" y="635507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6081" name="Connector 27"/>
          <p:cNvSpPr/>
          <p:nvPr/>
        </p:nvSpPr>
        <p:spPr>
          <a:xfrm>
            <a:off x="1371600" y="68580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2" name="TextBox 28"/>
          <p:cNvSpPr txBox="1"/>
          <p:nvPr/>
        </p:nvSpPr>
        <p:spPr>
          <a:xfrm>
            <a:off x="1517902" y="69951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083" name="TextBox 29"/>
          <p:cNvSpPr txBox="1"/>
          <p:nvPr/>
        </p:nvSpPr>
        <p:spPr>
          <a:xfrm>
            <a:off x="2600094" y="69951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Unrealized gain analysis</a:t>
            </a:r>
          </a:p>
        </p:txBody>
      </p:sp>
      <p:sp>
        <p:nvSpPr>
          <p:cNvPr id="6084" name="TextBox 30"/>
          <p:cNvSpPr txBox="1"/>
          <p:nvPr/>
        </p:nvSpPr>
        <p:spPr>
          <a:xfrm>
            <a:off x="9093250" y="69951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085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0317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86" name="Picture 32" descr="Picture 3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0317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087" name="TextBox 33"/>
          <p:cNvSpPr txBox="1"/>
          <p:nvPr/>
        </p:nvSpPr>
        <p:spPr>
          <a:xfrm>
            <a:off x="18832982" y="69951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6088" name="Connector 34"/>
          <p:cNvSpPr/>
          <p:nvPr/>
        </p:nvSpPr>
        <p:spPr>
          <a:xfrm>
            <a:off x="1371600" y="74980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9" name="TextBox 35"/>
          <p:cNvSpPr txBox="1"/>
          <p:nvPr/>
        </p:nvSpPr>
        <p:spPr>
          <a:xfrm>
            <a:off x="1517902" y="76352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090" name="TextBox 36"/>
          <p:cNvSpPr txBox="1"/>
          <p:nvPr/>
        </p:nvSpPr>
        <p:spPr>
          <a:xfrm>
            <a:off x="2600094" y="76352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 analytics</a:t>
            </a:r>
          </a:p>
        </p:txBody>
      </p:sp>
      <p:sp>
        <p:nvSpPr>
          <p:cNvPr id="6091" name="TextBox 37"/>
          <p:cNvSpPr txBox="1"/>
          <p:nvPr/>
        </p:nvSpPr>
        <p:spPr>
          <a:xfrm>
            <a:off x="9093250" y="7635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092" name="Picture 38" descr="Picture 3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67181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93" name="Picture 39" descr="Picture 3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67181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094" name="TextBox 40"/>
          <p:cNvSpPr txBox="1"/>
          <p:nvPr/>
        </p:nvSpPr>
        <p:spPr>
          <a:xfrm>
            <a:off x="18832982" y="7635240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6095" name="Connector 41"/>
          <p:cNvSpPr/>
          <p:nvPr/>
        </p:nvSpPr>
        <p:spPr>
          <a:xfrm>
            <a:off x="1371600" y="81381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96" name="TextBox 42"/>
          <p:cNvSpPr txBox="1"/>
          <p:nvPr/>
        </p:nvSpPr>
        <p:spPr>
          <a:xfrm>
            <a:off x="1517902" y="827531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097" name="TextBox 43"/>
          <p:cNvSpPr txBox="1"/>
          <p:nvPr/>
        </p:nvSpPr>
        <p:spPr>
          <a:xfrm>
            <a:off x="2600094" y="827531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Sector exposure analysis</a:t>
            </a:r>
          </a:p>
        </p:txBody>
      </p:sp>
      <p:sp>
        <p:nvSpPr>
          <p:cNvPr id="6098" name="TextBox 44"/>
          <p:cNvSpPr txBox="1"/>
          <p:nvPr/>
        </p:nvSpPr>
        <p:spPr>
          <a:xfrm>
            <a:off x="9093250" y="827531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099" name="Picture 45" descr="Picture 4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31189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00" name="Picture 46" descr="Picture 4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31189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101" name="TextBox 47"/>
          <p:cNvSpPr txBox="1"/>
          <p:nvPr/>
        </p:nvSpPr>
        <p:spPr>
          <a:xfrm>
            <a:off x="18832982" y="8275318"/>
            <a:ext cx="230465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6102" name="Connector 48"/>
          <p:cNvSpPr/>
          <p:nvPr/>
        </p:nvSpPr>
        <p:spPr>
          <a:xfrm>
            <a:off x="1371600" y="8778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03" name="TextBox 49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104" name="TextBox 50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Holding period analysis</a:t>
            </a:r>
          </a:p>
        </p:txBody>
      </p:sp>
      <p:sp>
        <p:nvSpPr>
          <p:cNvPr id="6105" name="TextBox 51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106" name="Picture 52" descr="Picture 5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07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108" name="TextBox 54"/>
          <p:cNvSpPr txBox="1"/>
          <p:nvPr/>
        </p:nvSpPr>
        <p:spPr>
          <a:xfrm>
            <a:off x="18832982" y="8915400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6109" name="Connector 55"/>
          <p:cNvSpPr/>
          <p:nvPr/>
        </p:nvSpPr>
        <p:spPr>
          <a:xfrm>
            <a:off x="1371600" y="94183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10" name="TextBox 56"/>
          <p:cNvSpPr txBox="1"/>
          <p:nvPr/>
        </p:nvSpPr>
        <p:spPr>
          <a:xfrm>
            <a:off x="1517902" y="955548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111" name="TextBox 57"/>
          <p:cNvSpPr txBox="1"/>
          <p:nvPr/>
        </p:nvSpPr>
        <p:spPr>
          <a:xfrm>
            <a:off x="2600094" y="955548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trend analysis</a:t>
            </a:r>
          </a:p>
        </p:txBody>
      </p:sp>
      <p:sp>
        <p:nvSpPr>
          <p:cNvPr id="6112" name="TextBox 58"/>
          <p:cNvSpPr txBox="1"/>
          <p:nvPr/>
        </p:nvSpPr>
        <p:spPr>
          <a:xfrm>
            <a:off x="9093250" y="955548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113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59205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14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59205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115" name="TextBox 61"/>
          <p:cNvSpPr txBox="1"/>
          <p:nvPr/>
        </p:nvSpPr>
        <p:spPr>
          <a:xfrm>
            <a:off x="18832982" y="9555480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6116" name="Connector 62"/>
          <p:cNvSpPr/>
          <p:nvPr/>
        </p:nvSpPr>
        <p:spPr>
          <a:xfrm>
            <a:off x="1371600" y="100584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17" name="TextBox 63"/>
          <p:cNvSpPr txBox="1"/>
          <p:nvPr/>
        </p:nvSpPr>
        <p:spPr>
          <a:xfrm>
            <a:off x="1517902" y="101955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6118" name="TextBox 64"/>
          <p:cNvSpPr txBox="1"/>
          <p:nvPr/>
        </p:nvSpPr>
        <p:spPr>
          <a:xfrm>
            <a:off x="2600094" y="101955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change insights</a:t>
            </a:r>
          </a:p>
        </p:txBody>
      </p:sp>
      <p:sp>
        <p:nvSpPr>
          <p:cNvPr id="6119" name="TextBox 65"/>
          <p:cNvSpPr txBox="1"/>
          <p:nvPr/>
        </p:nvSpPr>
        <p:spPr>
          <a:xfrm>
            <a:off x="9093250" y="101955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120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2321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21" name="Picture 67" descr="Picture 6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2321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122" name="TextBox 68"/>
          <p:cNvSpPr txBox="1"/>
          <p:nvPr/>
        </p:nvSpPr>
        <p:spPr>
          <a:xfrm>
            <a:off x="18832982" y="101955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6123" name="Connector 69"/>
          <p:cNvSpPr/>
          <p:nvPr/>
        </p:nvSpPr>
        <p:spPr>
          <a:xfrm>
            <a:off x="1371600" y="106984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24" name="TextBox 70"/>
          <p:cNvSpPr txBox="1"/>
          <p:nvPr/>
        </p:nvSpPr>
        <p:spPr>
          <a:xfrm>
            <a:off x="1517902" y="108356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6125" name="TextBox 71"/>
          <p:cNvSpPr txBox="1"/>
          <p:nvPr/>
        </p:nvSpPr>
        <p:spPr>
          <a:xfrm>
            <a:off x="2600094" y="108356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Investment insights summary</a:t>
            </a:r>
          </a:p>
        </p:txBody>
      </p:sp>
      <p:sp>
        <p:nvSpPr>
          <p:cNvPr id="6126" name="TextBox 72"/>
          <p:cNvSpPr txBox="1"/>
          <p:nvPr/>
        </p:nvSpPr>
        <p:spPr>
          <a:xfrm>
            <a:off x="9093250" y="108356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127" name="Picture 73" descr="Picture 7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87221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28" name="Picture 74" descr="Picture 7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87221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129" name="Connector 75"/>
          <p:cNvSpPr/>
          <p:nvPr/>
        </p:nvSpPr>
        <p:spPr>
          <a:xfrm>
            <a:off x="1371600" y="113385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0" name="TextBox 76"/>
          <p:cNvSpPr txBox="1"/>
          <p:nvPr/>
        </p:nvSpPr>
        <p:spPr>
          <a:xfrm>
            <a:off x="1517902" y="1147571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6131" name="TextBox 77"/>
          <p:cNvSpPr txBox="1"/>
          <p:nvPr/>
        </p:nvSpPr>
        <p:spPr>
          <a:xfrm>
            <a:off x="2600094" y="1147571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Insight-driven alerts</a:t>
            </a:r>
          </a:p>
        </p:txBody>
      </p:sp>
      <p:sp>
        <p:nvSpPr>
          <p:cNvPr id="6132" name="TextBox 78"/>
          <p:cNvSpPr txBox="1"/>
          <p:nvPr/>
        </p:nvSpPr>
        <p:spPr>
          <a:xfrm>
            <a:off x="9093250" y="1147571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6133" name="Picture 79" descr="Picture 7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51229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34" name="Picture 80" descr="Picture 8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51229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135" name="TextBox 81"/>
          <p:cNvSpPr txBox="1"/>
          <p:nvPr/>
        </p:nvSpPr>
        <p:spPr>
          <a:xfrm>
            <a:off x="18832982" y="11475718"/>
            <a:ext cx="230465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6136" name="Connector 82"/>
          <p:cNvSpPr/>
          <p:nvPr/>
        </p:nvSpPr>
        <p:spPr>
          <a:xfrm>
            <a:off x="1371600" y="11978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7" name="TextBox 83"/>
          <p:cNvSpPr txBox="1"/>
          <p:nvPr/>
        </p:nvSpPr>
        <p:spPr>
          <a:xfrm>
            <a:off x="1517902" y="121158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6138" name="TextBox 84"/>
          <p:cNvSpPr txBox="1"/>
          <p:nvPr/>
        </p:nvSpPr>
        <p:spPr>
          <a:xfrm>
            <a:off x="2600094" y="121158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Insight preferences</a:t>
            </a:r>
          </a:p>
        </p:txBody>
      </p:sp>
      <p:sp>
        <p:nvSpPr>
          <p:cNvPr id="6139" name="TextBox 85"/>
          <p:cNvSpPr txBox="1"/>
          <p:nvPr/>
        </p:nvSpPr>
        <p:spPr>
          <a:xfrm>
            <a:off x="9093250" y="121157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6140" name="Picture 86" descr="Picture 8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1523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41" name="Picture 87" descr="Picture 8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1523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142" name="Connector 88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6145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075 / 111</a:t>
            </a:r>
          </a:p>
        </p:txBody>
      </p:sp>
      <p:sp>
        <p:nvSpPr>
          <p:cNvPr id="6146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US MARKET  ·  CAPABILITY ASSESSMENT</a:t>
            </a:r>
          </a:p>
        </p:txBody>
      </p:sp>
      <p:sp>
        <p:nvSpPr>
          <p:cNvPr id="6147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Reporting &amp; Statements</a:t>
            </a:r>
          </a:p>
        </p:txBody>
      </p:sp>
      <p:sp>
        <p:nvSpPr>
          <p:cNvPr id="6148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6149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6150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151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152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153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154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155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156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57" name="TextBox 14"/>
          <p:cNvSpPr txBox="1"/>
          <p:nvPr/>
        </p:nvSpPr>
        <p:spPr>
          <a:xfrm>
            <a:off x="1517902" y="57150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158" name="TextBox 15"/>
          <p:cNvSpPr txBox="1"/>
          <p:nvPr/>
        </p:nvSpPr>
        <p:spPr>
          <a:xfrm>
            <a:off x="2600094" y="57150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overall report</a:t>
            </a:r>
          </a:p>
        </p:txBody>
      </p:sp>
      <p:sp>
        <p:nvSpPr>
          <p:cNvPr id="6159" name="TextBox 16"/>
          <p:cNvSpPr txBox="1"/>
          <p:nvPr/>
        </p:nvSpPr>
        <p:spPr>
          <a:xfrm>
            <a:off x="9093250" y="57149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160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515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61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515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162" name="Connector 19"/>
          <p:cNvSpPr/>
          <p:nvPr/>
        </p:nvSpPr>
        <p:spPr>
          <a:xfrm>
            <a:off x="1371600" y="621792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63" name="TextBox 20"/>
          <p:cNvSpPr txBox="1"/>
          <p:nvPr/>
        </p:nvSpPr>
        <p:spPr>
          <a:xfrm>
            <a:off x="1517902" y="635507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164" name="TextBox 21"/>
          <p:cNvSpPr txBox="1"/>
          <p:nvPr/>
        </p:nvSpPr>
        <p:spPr>
          <a:xfrm>
            <a:off x="2600094" y="635507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dividends (1 month within a year)</a:t>
            </a:r>
          </a:p>
        </p:txBody>
      </p:sp>
      <p:sp>
        <p:nvSpPr>
          <p:cNvPr id="6165" name="TextBox 22"/>
          <p:cNvSpPr txBox="1"/>
          <p:nvPr/>
        </p:nvSpPr>
        <p:spPr>
          <a:xfrm>
            <a:off x="9093250" y="635507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166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39165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67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39165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168" name="TextBox 25"/>
          <p:cNvSpPr txBox="1"/>
          <p:nvPr/>
        </p:nvSpPr>
        <p:spPr>
          <a:xfrm>
            <a:off x="14504212" y="635507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6169" name="TextBox 26"/>
          <p:cNvSpPr txBox="1"/>
          <p:nvPr/>
        </p:nvSpPr>
        <p:spPr>
          <a:xfrm>
            <a:off x="18832982" y="635507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6170" name="Connector 27"/>
          <p:cNvSpPr/>
          <p:nvPr/>
        </p:nvSpPr>
        <p:spPr>
          <a:xfrm>
            <a:off x="1371600" y="68580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71" name="TextBox 28"/>
          <p:cNvSpPr txBox="1"/>
          <p:nvPr/>
        </p:nvSpPr>
        <p:spPr>
          <a:xfrm>
            <a:off x="1517902" y="69951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172" name="TextBox 29"/>
          <p:cNvSpPr txBox="1"/>
          <p:nvPr/>
        </p:nvSpPr>
        <p:spPr>
          <a:xfrm>
            <a:off x="2600094" y="69951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Online statement (1 month within a year)</a:t>
            </a:r>
          </a:p>
        </p:txBody>
      </p:sp>
      <p:sp>
        <p:nvSpPr>
          <p:cNvPr id="6173" name="TextBox 30"/>
          <p:cNvSpPr txBox="1"/>
          <p:nvPr/>
        </p:nvSpPr>
        <p:spPr>
          <a:xfrm>
            <a:off x="9093250" y="69951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174" name="Picture 31" descr="Picture 3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0317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75" name="Picture 32" descr="Picture 3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0317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176" name="TextBox 33"/>
          <p:cNvSpPr txBox="1"/>
          <p:nvPr/>
        </p:nvSpPr>
        <p:spPr>
          <a:xfrm>
            <a:off x="14504212" y="69951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6177" name="Connector 34"/>
          <p:cNvSpPr/>
          <p:nvPr/>
        </p:nvSpPr>
        <p:spPr>
          <a:xfrm>
            <a:off x="1371600" y="74980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78" name="TextBox 35"/>
          <p:cNvSpPr txBox="1"/>
          <p:nvPr/>
        </p:nvSpPr>
        <p:spPr>
          <a:xfrm>
            <a:off x="1517902" y="76352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179" name="TextBox 36"/>
          <p:cNvSpPr txBox="1"/>
          <p:nvPr/>
        </p:nvSpPr>
        <p:spPr>
          <a:xfrm>
            <a:off x="2600094" y="76352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Orders report (1 month within a year)</a:t>
            </a:r>
          </a:p>
        </p:txBody>
      </p:sp>
      <p:sp>
        <p:nvSpPr>
          <p:cNvPr id="6180" name="TextBox 37"/>
          <p:cNvSpPr txBox="1"/>
          <p:nvPr/>
        </p:nvSpPr>
        <p:spPr>
          <a:xfrm>
            <a:off x="9093250" y="7635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181" name="Picture 38" descr="Picture 3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67181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82" name="Picture 39" descr="Picture 3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67181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183" name="TextBox 40"/>
          <p:cNvSpPr txBox="1"/>
          <p:nvPr/>
        </p:nvSpPr>
        <p:spPr>
          <a:xfrm>
            <a:off x="14504212" y="7635240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6184" name="Connector 41"/>
          <p:cNvSpPr/>
          <p:nvPr/>
        </p:nvSpPr>
        <p:spPr>
          <a:xfrm>
            <a:off x="1371600" y="81381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85" name="TextBox 42"/>
          <p:cNvSpPr txBox="1"/>
          <p:nvPr/>
        </p:nvSpPr>
        <p:spPr>
          <a:xfrm>
            <a:off x="1517902" y="827531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186" name="TextBox 43"/>
          <p:cNvSpPr txBox="1"/>
          <p:nvPr/>
        </p:nvSpPr>
        <p:spPr>
          <a:xfrm>
            <a:off x="2600094" y="827531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Holding statement report (1 month within a year)</a:t>
            </a:r>
          </a:p>
        </p:txBody>
      </p:sp>
      <p:sp>
        <p:nvSpPr>
          <p:cNvPr id="6187" name="TextBox 44"/>
          <p:cNvSpPr txBox="1"/>
          <p:nvPr/>
        </p:nvSpPr>
        <p:spPr>
          <a:xfrm>
            <a:off x="9093250" y="827531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188" name="Picture 45" descr="Picture 4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31189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89" name="Picture 46" descr="Picture 4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31189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190" name="TextBox 47"/>
          <p:cNvSpPr txBox="1"/>
          <p:nvPr/>
        </p:nvSpPr>
        <p:spPr>
          <a:xfrm>
            <a:off x="14504212" y="8275318"/>
            <a:ext cx="403616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6191" name="TextBox 48"/>
          <p:cNvSpPr txBox="1"/>
          <p:nvPr/>
        </p:nvSpPr>
        <p:spPr>
          <a:xfrm>
            <a:off x="18832982" y="8275318"/>
            <a:ext cx="230465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ARCD-52378</a:t>
            </a:r>
          </a:p>
        </p:txBody>
      </p:sp>
      <p:sp>
        <p:nvSpPr>
          <p:cNvPr id="6192" name="Connector 49"/>
          <p:cNvSpPr/>
          <p:nvPr/>
        </p:nvSpPr>
        <p:spPr>
          <a:xfrm>
            <a:off x="1371600" y="8778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93" name="TextBox 50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194" name="TextBox 51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Stock Transaction report (Today and yesterday only)</a:t>
            </a:r>
          </a:p>
        </p:txBody>
      </p:sp>
      <p:sp>
        <p:nvSpPr>
          <p:cNvPr id="6195" name="TextBox 52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196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97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198" name="TextBox 55"/>
          <p:cNvSpPr txBox="1"/>
          <p:nvPr/>
        </p:nvSpPr>
        <p:spPr>
          <a:xfrm>
            <a:off x="14504212" y="8915399"/>
            <a:ext cx="403616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6199" name="TextBox 56"/>
          <p:cNvSpPr txBox="1"/>
          <p:nvPr/>
        </p:nvSpPr>
        <p:spPr>
          <a:xfrm>
            <a:off x="18832982" y="8915400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6200" name="Connector 57"/>
          <p:cNvSpPr/>
          <p:nvPr/>
        </p:nvSpPr>
        <p:spPr>
          <a:xfrm>
            <a:off x="1371600" y="94183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01" name="TextBox 58"/>
          <p:cNvSpPr txBox="1"/>
          <p:nvPr/>
        </p:nvSpPr>
        <p:spPr>
          <a:xfrm>
            <a:off x="1517902" y="955548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6202" name="TextBox 59"/>
          <p:cNvSpPr txBox="1"/>
          <p:nvPr/>
        </p:nvSpPr>
        <p:spPr>
          <a:xfrm>
            <a:off x="2600094" y="955548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Profit/loss Report</a:t>
            </a:r>
          </a:p>
        </p:txBody>
      </p:sp>
      <p:sp>
        <p:nvSpPr>
          <p:cNvPr id="6203" name="TextBox 60"/>
          <p:cNvSpPr txBox="1"/>
          <p:nvPr/>
        </p:nvSpPr>
        <p:spPr>
          <a:xfrm>
            <a:off x="9093250" y="955548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204" name="Picture 61" descr="Picture 6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14343" y="959205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205" name="Picture 62" descr="Picture 6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45850" y="959205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206" name="Connector 63"/>
          <p:cNvSpPr/>
          <p:nvPr/>
        </p:nvSpPr>
        <p:spPr>
          <a:xfrm>
            <a:off x="1371600" y="100584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07" name="TextBox 64"/>
          <p:cNvSpPr txBox="1"/>
          <p:nvPr/>
        </p:nvSpPr>
        <p:spPr>
          <a:xfrm>
            <a:off x="1517902" y="101955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208" name="TextBox 65"/>
          <p:cNvSpPr txBox="1"/>
          <p:nvPr/>
        </p:nvSpPr>
        <p:spPr>
          <a:xfrm>
            <a:off x="2600094" y="101955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Generate portfolio report</a:t>
            </a:r>
          </a:p>
        </p:txBody>
      </p:sp>
      <p:sp>
        <p:nvSpPr>
          <p:cNvPr id="6209" name="TextBox 66"/>
          <p:cNvSpPr txBox="1"/>
          <p:nvPr/>
        </p:nvSpPr>
        <p:spPr>
          <a:xfrm>
            <a:off x="9093250" y="101955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6210" name="Picture 67" descr="Picture 6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2321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211" name="Picture 68" descr="Picture 6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2321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212" name="TextBox 69"/>
          <p:cNvSpPr txBox="1"/>
          <p:nvPr/>
        </p:nvSpPr>
        <p:spPr>
          <a:xfrm>
            <a:off x="18832982" y="101955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6213" name="Connector 70"/>
          <p:cNvSpPr/>
          <p:nvPr/>
        </p:nvSpPr>
        <p:spPr>
          <a:xfrm>
            <a:off x="1371600" y="106984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14" name="TextBox 71"/>
          <p:cNvSpPr txBox="1"/>
          <p:nvPr/>
        </p:nvSpPr>
        <p:spPr>
          <a:xfrm>
            <a:off x="1517902" y="108356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6215" name="TextBox 72"/>
          <p:cNvSpPr txBox="1"/>
          <p:nvPr/>
        </p:nvSpPr>
        <p:spPr>
          <a:xfrm>
            <a:off x="2600094" y="108356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Export report (PDF/Excel)</a:t>
            </a:r>
          </a:p>
        </p:txBody>
      </p:sp>
      <p:sp>
        <p:nvSpPr>
          <p:cNvPr id="6216" name="TextBox 73"/>
          <p:cNvSpPr txBox="1"/>
          <p:nvPr/>
        </p:nvSpPr>
        <p:spPr>
          <a:xfrm>
            <a:off x="9093250" y="108356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6217" name="Picture 74" descr="Picture 7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87221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218" name="Picture 75" descr="Picture 7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87221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219" name="TextBox 76"/>
          <p:cNvSpPr txBox="1"/>
          <p:nvPr/>
        </p:nvSpPr>
        <p:spPr>
          <a:xfrm>
            <a:off x="18832982" y="10835640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ARCD-60816</a:t>
            </a:r>
          </a:p>
        </p:txBody>
      </p:sp>
      <p:sp>
        <p:nvSpPr>
          <p:cNvPr id="6220" name="Connector 77"/>
          <p:cNvSpPr/>
          <p:nvPr/>
        </p:nvSpPr>
        <p:spPr>
          <a:xfrm>
            <a:off x="1371600" y="113385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21" name="TextBox 78"/>
          <p:cNvSpPr txBox="1"/>
          <p:nvPr/>
        </p:nvSpPr>
        <p:spPr>
          <a:xfrm>
            <a:off x="1517902" y="1147571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6222" name="TextBox 79"/>
          <p:cNvSpPr txBox="1"/>
          <p:nvPr/>
        </p:nvSpPr>
        <p:spPr>
          <a:xfrm>
            <a:off x="2600094" y="1147571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Download account statement</a:t>
            </a:r>
          </a:p>
        </p:txBody>
      </p:sp>
      <p:sp>
        <p:nvSpPr>
          <p:cNvPr id="6223" name="TextBox 80"/>
          <p:cNvSpPr txBox="1"/>
          <p:nvPr/>
        </p:nvSpPr>
        <p:spPr>
          <a:xfrm>
            <a:off x="9093250" y="1147571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6224" name="Picture 81" descr="Picture 8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512294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225" name="Picture 82" descr="Picture 8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512294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226" name="Connector 83"/>
          <p:cNvSpPr/>
          <p:nvPr/>
        </p:nvSpPr>
        <p:spPr>
          <a:xfrm>
            <a:off x="1371600" y="11978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27" name="TextBox 84"/>
          <p:cNvSpPr txBox="1"/>
          <p:nvPr/>
        </p:nvSpPr>
        <p:spPr>
          <a:xfrm>
            <a:off x="1517902" y="121158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6228" name="TextBox 85"/>
          <p:cNvSpPr txBox="1"/>
          <p:nvPr/>
        </p:nvSpPr>
        <p:spPr>
          <a:xfrm>
            <a:off x="2600094" y="121158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Report period selection</a:t>
            </a:r>
          </a:p>
        </p:txBody>
      </p:sp>
      <p:sp>
        <p:nvSpPr>
          <p:cNvPr id="6229" name="TextBox 86"/>
          <p:cNvSpPr txBox="1"/>
          <p:nvPr/>
        </p:nvSpPr>
        <p:spPr>
          <a:xfrm>
            <a:off x="9093250" y="121157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pic>
        <p:nvPicPr>
          <p:cNvPr id="6230" name="Picture 87" descr="Picture 8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21523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231" name="Picture 88" descr="Picture 8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21523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232" name="TextBox 89"/>
          <p:cNvSpPr txBox="1"/>
          <p:nvPr/>
        </p:nvSpPr>
        <p:spPr>
          <a:xfrm>
            <a:off x="14504212" y="12115799"/>
            <a:ext cx="403616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Flexible custom period selection</a:t>
            </a:r>
          </a:p>
        </p:txBody>
      </p:sp>
      <p:sp>
        <p:nvSpPr>
          <p:cNvPr id="6233" name="Connector 90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5" name="TextBox 3"/>
          <p:cNvSpPr txBox="1"/>
          <p:nvPr/>
        </p:nvSpPr>
        <p:spPr>
          <a:xfrm>
            <a:off x="18900646" y="1097280"/>
            <a:ext cx="4114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300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APRIL 2026</a:t>
            </a:r>
          </a:p>
        </p:txBody>
      </p:sp>
      <p:sp>
        <p:nvSpPr>
          <p:cNvPr id="6236" name="Rectangle 4"/>
          <p:cNvSpPr/>
          <p:nvPr/>
        </p:nvSpPr>
        <p:spPr>
          <a:xfrm>
            <a:off x="1371600" y="4114799"/>
            <a:ext cx="1371600" cy="36579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6237" name="TextBox 5"/>
          <p:cNvSpPr txBox="1"/>
          <p:nvPr/>
        </p:nvSpPr>
        <p:spPr>
          <a:xfrm>
            <a:off x="1371600" y="4389120"/>
            <a:ext cx="20116800" cy="1719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Mashurah </a:t>
            </a:r>
            <a:r>
              <a:rPr>
                <a:solidFill>
                  <a:srgbClr val="0333E8"/>
                </a:solidFill>
              </a:rPr>
              <a:t>(Robo)</a:t>
            </a:r>
          </a:p>
        </p:txBody>
      </p:sp>
      <p:sp>
        <p:nvSpPr>
          <p:cNvPr id="6238" name="TextBox 6"/>
          <p:cNvSpPr txBox="1"/>
          <p:nvPr/>
        </p:nvSpPr>
        <p:spPr>
          <a:xfrm>
            <a:off x="1371600" y="7863840"/>
            <a:ext cx="20116800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Automated robo-advisory portfolios</a:t>
            </a:r>
          </a:p>
        </p:txBody>
      </p:sp>
      <p:sp>
        <p:nvSpPr>
          <p:cNvPr id="6239" name="TextBox 7"/>
          <p:cNvSpPr txBox="1"/>
          <p:nvPr/>
        </p:nvSpPr>
        <p:spPr>
          <a:xfrm>
            <a:off x="1371600" y="9143999"/>
            <a:ext cx="20116800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 LIVE STATUS  ·  JIRA COVERAGE</a:t>
            </a:r>
          </a:p>
        </p:txBody>
      </p:sp>
      <p:sp>
        <p:nvSpPr>
          <p:cNvPr id="6240" name="TextBox 8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080 / 111</a:t>
            </a:r>
          </a:p>
        </p:txBody>
      </p:sp>
      <p:pic>
        <p:nvPicPr>
          <p:cNvPr id="624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2200" cy="8220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6244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081 / 111</a:t>
            </a:r>
          </a:p>
        </p:txBody>
      </p:sp>
      <p:sp>
        <p:nvSpPr>
          <p:cNvPr id="6245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MASHURAH (ROBO)  ·  SECTION SUMMARY</a:t>
            </a:r>
          </a:p>
        </p:txBody>
      </p:sp>
      <p:sp>
        <p:nvSpPr>
          <p:cNvPr id="6246" name="TextBox 4"/>
          <p:cNvSpPr txBox="1"/>
          <p:nvPr/>
        </p:nvSpPr>
        <p:spPr>
          <a:xfrm>
            <a:off x="1371600" y="2834638"/>
            <a:ext cx="20116800" cy="769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4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74 capabilities assessed. 39 already live.</a:t>
            </a:r>
          </a:p>
        </p:txBody>
      </p:sp>
      <p:sp>
        <p:nvSpPr>
          <p:cNvPr id="6247" name="TextBox 5"/>
          <p:cNvSpPr txBox="1"/>
          <p:nvPr/>
        </p:nvSpPr>
        <p:spPr>
          <a:xfrm>
            <a:off x="1371600" y="5760720"/>
            <a:ext cx="6400800" cy="3200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8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74</a:t>
            </a:r>
          </a:p>
        </p:txBody>
      </p:sp>
      <p:sp>
        <p:nvSpPr>
          <p:cNvPr id="6248" name="TextBox 6"/>
          <p:cNvSpPr txBox="1"/>
          <p:nvPr/>
        </p:nvSpPr>
        <p:spPr>
          <a:xfrm>
            <a:off x="1371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TOTAL CAPABILITIES</a:t>
            </a:r>
          </a:p>
        </p:txBody>
      </p:sp>
      <p:sp>
        <p:nvSpPr>
          <p:cNvPr id="6249" name="Rectangle 7"/>
          <p:cNvSpPr/>
          <p:nvPr/>
        </p:nvSpPr>
        <p:spPr>
          <a:xfrm>
            <a:off x="1371600" y="9098280"/>
            <a:ext cx="1371600" cy="36578"/>
          </a:xfrm>
          <a:prstGeom prst="rect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6250" name="TextBox 8"/>
          <p:cNvSpPr txBox="1"/>
          <p:nvPr/>
        </p:nvSpPr>
        <p:spPr>
          <a:xfrm>
            <a:off x="8229600" y="5760720"/>
            <a:ext cx="6400800" cy="3200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8000">
                <a:solidFill>
                  <a:srgbClr val="059669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39</a:t>
            </a:r>
          </a:p>
        </p:txBody>
      </p:sp>
      <p:sp>
        <p:nvSpPr>
          <p:cNvPr id="6251" name="TextBox 9"/>
          <p:cNvSpPr txBox="1"/>
          <p:nvPr/>
        </p:nvSpPr>
        <p:spPr>
          <a:xfrm>
            <a:off x="8229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LIVE ON APP   (53% OF 74)</a:t>
            </a:r>
          </a:p>
        </p:txBody>
      </p:sp>
      <p:sp>
        <p:nvSpPr>
          <p:cNvPr id="6252" name="Rectangle 10"/>
          <p:cNvSpPr/>
          <p:nvPr/>
        </p:nvSpPr>
        <p:spPr>
          <a:xfrm>
            <a:off x="8229600" y="9098280"/>
            <a:ext cx="1371600" cy="36578"/>
          </a:xfrm>
          <a:prstGeom prst="rect">
            <a:avLst/>
          </a:prstGeom>
          <a:solidFill>
            <a:srgbClr val="05966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6253" name="TextBox 11"/>
          <p:cNvSpPr txBox="1"/>
          <p:nvPr/>
        </p:nvSpPr>
        <p:spPr>
          <a:xfrm>
            <a:off x="15087600" y="5760720"/>
            <a:ext cx="6400800" cy="3200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8000">
                <a:solidFill>
                  <a:srgbClr val="0333E8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6254" name="TextBox 12"/>
          <p:cNvSpPr txBox="1"/>
          <p:nvPr/>
        </p:nvSpPr>
        <p:spPr>
          <a:xfrm>
            <a:off x="15087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TRACKED IN JIRA   (0% OF 74)</a:t>
            </a:r>
          </a:p>
        </p:txBody>
      </p:sp>
      <p:sp>
        <p:nvSpPr>
          <p:cNvPr id="6255" name="Rectangle 13"/>
          <p:cNvSpPr/>
          <p:nvPr/>
        </p:nvSpPr>
        <p:spPr>
          <a:xfrm>
            <a:off x="15087600" y="9098280"/>
            <a:ext cx="1371600" cy="36578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6256" name="Connector 14"/>
          <p:cNvSpPr/>
          <p:nvPr/>
        </p:nvSpPr>
        <p:spPr>
          <a:xfrm>
            <a:off x="1371600" y="10789918"/>
            <a:ext cx="21643849" cy="2"/>
          </a:xfrm>
          <a:prstGeom prst="line">
            <a:avLst/>
          </a:prstGeom>
          <a:ln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57" name="TextBox 15"/>
          <p:cNvSpPr txBox="1"/>
          <p:nvPr/>
        </p:nvSpPr>
        <p:spPr>
          <a:xfrm>
            <a:off x="1371600" y="11109959"/>
            <a:ext cx="1828800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TWO HEADLINES</a:t>
            </a:r>
          </a:p>
        </p:txBody>
      </p:sp>
      <p:sp>
        <p:nvSpPr>
          <p:cNvPr id="6258" name="TextBox 16"/>
          <p:cNvSpPr txBox="1"/>
          <p:nvPr/>
        </p:nvSpPr>
        <p:spPr>
          <a:xfrm>
            <a:off x="1371600" y="11612880"/>
            <a:ext cx="10058400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35 capabilities not live on the app yet.</a:t>
            </a:r>
          </a:p>
        </p:txBody>
      </p:sp>
      <p:sp>
        <p:nvSpPr>
          <p:cNvPr id="6259" name="TextBox 17"/>
          <p:cNvSpPr txBox="1"/>
          <p:nvPr/>
        </p:nvSpPr>
        <p:spPr>
          <a:xfrm>
            <a:off x="11978640" y="11612880"/>
            <a:ext cx="10058402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Zero Jira coverage — no work is being tracked.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858554" y="-118831"/>
            <a:ext cx="8882655" cy="14425960"/>
          </a:xfrm>
          <a:prstGeom prst="rect">
            <a:avLst/>
          </a:prstGeom>
          <a:ln w="12700">
            <a:miter lim="400000"/>
          </a:ln>
        </p:spPr>
      </p:pic>
      <p:sp>
        <p:nvSpPr>
          <p:cNvPr id="6262" name="Rectangle 6"/>
          <p:cNvSpPr/>
          <p:nvPr/>
        </p:nvSpPr>
        <p:spPr>
          <a:xfrm>
            <a:off x="117674" y="14407852"/>
            <a:ext cx="4450085" cy="50800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6265" name="Rectangle 7"/>
          <p:cNvGrpSpPr/>
          <p:nvPr/>
        </p:nvGrpSpPr>
        <p:grpSpPr>
          <a:xfrm>
            <a:off x="117674" y="14475113"/>
            <a:ext cx="6478783" cy="440743"/>
            <a:chOff x="0" y="0"/>
            <a:chExt cx="6478782" cy="440741"/>
          </a:xfrm>
        </p:grpSpPr>
        <p:sp>
          <p:nvSpPr>
            <p:cNvPr id="6263" name="Rectangle"/>
            <p:cNvSpPr/>
            <p:nvPr/>
          </p:nvSpPr>
          <p:spPr>
            <a:xfrm>
              <a:off x="-1" y="-1"/>
              <a:ext cx="6478783" cy="4407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264" name="* Last numbers for International, ROBO are at Q3, Q4 2025"/>
            <p:cNvSpPr txBox="1"/>
            <p:nvPr/>
          </p:nvSpPr>
          <p:spPr>
            <a:xfrm>
              <a:off x="45720" y="53823"/>
              <a:ext cx="6387340" cy="3330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i="1" sz="180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* Last numbers for International, ROBO are at Q3, Q4 2025</a:t>
              </a:r>
            </a:p>
          </p:txBody>
        </p:sp>
      </p:grpSp>
      <p:pic>
        <p:nvPicPr>
          <p:cNvPr id="6266" name="Frame 1.png" descr="Frame 1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144"/>
          <a:stretch>
            <a:fillRect/>
          </a:stretch>
        </p:blipFill>
        <p:spPr>
          <a:xfrm>
            <a:off x="25426263" y="2703744"/>
            <a:ext cx="9069094" cy="8780690"/>
          </a:xfrm>
          <a:prstGeom prst="rect">
            <a:avLst/>
          </a:prstGeom>
          <a:ln w="12700">
            <a:miter lim="400000"/>
          </a:ln>
        </p:spPr>
      </p:pic>
      <p:pic>
        <p:nvPicPr>
          <p:cNvPr id="6267" name="Picture 910" descr="Picture 91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6268" name="TextBox 911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082 / 111</a:t>
            </a:r>
          </a:p>
        </p:txBody>
      </p:sp>
      <p:sp>
        <p:nvSpPr>
          <p:cNvPr id="6269" name="TextBox 912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MASHURAH (ROBO)</a:t>
            </a:r>
          </a:p>
        </p:txBody>
      </p:sp>
      <p:sp>
        <p:nvSpPr>
          <p:cNvPr id="6270" name="TextBox 913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Sitemap</a:t>
            </a:r>
          </a:p>
        </p:txBody>
      </p:sp>
      <p:sp>
        <p:nvSpPr>
          <p:cNvPr id="6271" name="Connector 914"/>
          <p:cNvSpPr/>
          <p:nvPr/>
        </p:nvSpPr>
        <p:spPr>
          <a:xfrm flipV="1">
            <a:off x="2926079" y="8415911"/>
            <a:ext cx="227235" cy="8801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72" name="Connector 915"/>
          <p:cNvSpPr/>
          <p:nvPr/>
        </p:nvSpPr>
        <p:spPr>
          <a:xfrm flipV="1">
            <a:off x="3153312" y="8275718"/>
            <a:ext cx="213438" cy="14019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73" name="Connector 916"/>
          <p:cNvSpPr/>
          <p:nvPr/>
        </p:nvSpPr>
        <p:spPr>
          <a:xfrm flipV="1">
            <a:off x="3366749" y="8092739"/>
            <a:ext cx="202643" cy="182982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74" name="Connector 917"/>
          <p:cNvSpPr/>
          <p:nvPr/>
        </p:nvSpPr>
        <p:spPr>
          <a:xfrm flipV="1">
            <a:off x="3569391" y="7876368"/>
            <a:ext cx="194845" cy="216372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75" name="Connector 918"/>
          <p:cNvSpPr/>
          <p:nvPr/>
        </p:nvSpPr>
        <p:spPr>
          <a:xfrm flipV="1">
            <a:off x="3764234" y="7636006"/>
            <a:ext cx="190047" cy="24036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76" name="Connector 919"/>
          <p:cNvSpPr/>
          <p:nvPr/>
        </p:nvSpPr>
        <p:spPr>
          <a:xfrm flipV="1">
            <a:off x="3954279" y="7381047"/>
            <a:ext cx="188247" cy="25496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77" name="Connector 920"/>
          <p:cNvSpPr/>
          <p:nvPr/>
        </p:nvSpPr>
        <p:spPr>
          <a:xfrm flipV="1">
            <a:off x="4142525" y="7120891"/>
            <a:ext cx="189447" cy="260157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78" name="Connector 921"/>
          <p:cNvSpPr/>
          <p:nvPr/>
        </p:nvSpPr>
        <p:spPr>
          <a:xfrm flipV="1">
            <a:off x="4331968" y="6864933"/>
            <a:ext cx="193645" cy="255959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79" name="Connector 922"/>
          <p:cNvSpPr/>
          <p:nvPr/>
        </p:nvSpPr>
        <p:spPr>
          <a:xfrm flipV="1">
            <a:off x="4525612" y="6622567"/>
            <a:ext cx="200843" cy="24236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0" name="Connector 923"/>
          <p:cNvSpPr/>
          <p:nvPr/>
        </p:nvSpPr>
        <p:spPr>
          <a:xfrm flipV="1">
            <a:off x="4726454" y="6403200"/>
            <a:ext cx="211041" cy="21937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1" name="Connector 924"/>
          <p:cNvSpPr/>
          <p:nvPr/>
        </p:nvSpPr>
        <p:spPr>
          <a:xfrm flipV="1">
            <a:off x="4937492" y="6216220"/>
            <a:ext cx="224237" cy="18698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2" name="Connector 925"/>
          <p:cNvSpPr/>
          <p:nvPr/>
        </p:nvSpPr>
        <p:spPr>
          <a:xfrm flipV="1">
            <a:off x="5161727" y="6071029"/>
            <a:ext cx="240431" cy="145193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3" name="Connector 926"/>
          <p:cNvSpPr/>
          <p:nvPr/>
        </p:nvSpPr>
        <p:spPr>
          <a:xfrm flipV="1">
            <a:off x="5402157" y="5977023"/>
            <a:ext cx="259626" cy="94008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4" name="Connector 927"/>
          <p:cNvSpPr/>
          <p:nvPr/>
        </p:nvSpPr>
        <p:spPr>
          <a:xfrm flipV="1">
            <a:off x="5661781" y="5943598"/>
            <a:ext cx="281820" cy="3342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5" name="Connector 928"/>
          <p:cNvSpPr/>
          <p:nvPr/>
        </p:nvSpPr>
        <p:spPr>
          <a:xfrm>
            <a:off x="5943600" y="5943600"/>
            <a:ext cx="12344401" cy="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6" name="Connector 929"/>
          <p:cNvSpPr/>
          <p:nvPr/>
        </p:nvSpPr>
        <p:spPr>
          <a:xfrm>
            <a:off x="2926078" y="8503918"/>
            <a:ext cx="227235" cy="86676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7" name="Connector 930"/>
          <p:cNvSpPr/>
          <p:nvPr/>
        </p:nvSpPr>
        <p:spPr>
          <a:xfrm>
            <a:off x="3153311" y="8590594"/>
            <a:ext cx="213440" cy="136462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8" name="Connector 931"/>
          <p:cNvSpPr/>
          <p:nvPr/>
        </p:nvSpPr>
        <p:spPr>
          <a:xfrm>
            <a:off x="3366751" y="8727054"/>
            <a:ext cx="202643" cy="17725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9" name="Connector 932"/>
          <p:cNvSpPr/>
          <p:nvPr/>
        </p:nvSpPr>
        <p:spPr>
          <a:xfrm>
            <a:off x="3569391" y="8904302"/>
            <a:ext cx="194845" cy="20904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90" name="Connector 933"/>
          <p:cNvSpPr/>
          <p:nvPr/>
        </p:nvSpPr>
        <p:spPr>
          <a:xfrm>
            <a:off x="3764234" y="9113342"/>
            <a:ext cx="190047" cy="23183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91" name="Connector 934"/>
          <p:cNvSpPr/>
          <p:nvPr/>
        </p:nvSpPr>
        <p:spPr>
          <a:xfrm>
            <a:off x="3954279" y="9345172"/>
            <a:ext cx="188247" cy="24563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92" name="Connector 935"/>
          <p:cNvSpPr/>
          <p:nvPr/>
        </p:nvSpPr>
        <p:spPr>
          <a:xfrm>
            <a:off x="4142525" y="9590802"/>
            <a:ext cx="189447" cy="250429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93" name="Connector 936"/>
          <p:cNvSpPr/>
          <p:nvPr/>
        </p:nvSpPr>
        <p:spPr>
          <a:xfrm>
            <a:off x="4331970" y="9841230"/>
            <a:ext cx="193645" cy="24623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94" name="Connector 937"/>
          <p:cNvSpPr/>
          <p:nvPr/>
        </p:nvSpPr>
        <p:spPr>
          <a:xfrm>
            <a:off x="4525612" y="10087457"/>
            <a:ext cx="200843" cy="23303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95" name="Connector 938"/>
          <p:cNvSpPr/>
          <p:nvPr/>
        </p:nvSpPr>
        <p:spPr>
          <a:xfrm>
            <a:off x="4726454" y="10320490"/>
            <a:ext cx="211041" cy="21084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96" name="Connector 939"/>
          <p:cNvSpPr/>
          <p:nvPr/>
        </p:nvSpPr>
        <p:spPr>
          <a:xfrm>
            <a:off x="4937492" y="10531326"/>
            <a:ext cx="224237" cy="17965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97" name="Connector 940"/>
          <p:cNvSpPr/>
          <p:nvPr/>
        </p:nvSpPr>
        <p:spPr>
          <a:xfrm>
            <a:off x="5161727" y="10710975"/>
            <a:ext cx="240431" cy="13946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98" name="Connector 941"/>
          <p:cNvSpPr/>
          <p:nvPr/>
        </p:nvSpPr>
        <p:spPr>
          <a:xfrm>
            <a:off x="5402155" y="10850435"/>
            <a:ext cx="259626" cy="90276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99" name="Connector 942"/>
          <p:cNvSpPr/>
          <p:nvPr/>
        </p:nvSpPr>
        <p:spPr>
          <a:xfrm>
            <a:off x="5661781" y="10940708"/>
            <a:ext cx="281820" cy="3209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00" name="Connector 943"/>
          <p:cNvSpPr/>
          <p:nvPr/>
        </p:nvSpPr>
        <p:spPr>
          <a:xfrm>
            <a:off x="5943600" y="10972800"/>
            <a:ext cx="12344401" cy="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01" name="Oval 944"/>
          <p:cNvSpPr/>
          <p:nvPr/>
        </p:nvSpPr>
        <p:spPr>
          <a:xfrm>
            <a:off x="2148838" y="7726680"/>
            <a:ext cx="1554484" cy="1554483"/>
          </a:xfrm>
          <a:prstGeom prst="ellipse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6302" name="Oval 945"/>
          <p:cNvSpPr/>
          <p:nvPr/>
        </p:nvSpPr>
        <p:spPr>
          <a:xfrm>
            <a:off x="2286000" y="7863840"/>
            <a:ext cx="1280162" cy="1280163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6303" name="TextBox 946"/>
          <p:cNvSpPr txBox="1"/>
          <p:nvPr/>
        </p:nvSpPr>
        <p:spPr>
          <a:xfrm>
            <a:off x="640079" y="9281159"/>
            <a:ext cx="4572003" cy="248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HOME</a:t>
            </a:r>
          </a:p>
        </p:txBody>
      </p:sp>
      <p:sp>
        <p:nvSpPr>
          <p:cNvPr id="6304" name="TextBox 947"/>
          <p:cNvSpPr txBox="1"/>
          <p:nvPr/>
        </p:nvSpPr>
        <p:spPr>
          <a:xfrm>
            <a:off x="640079" y="9646918"/>
            <a:ext cx="4572003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ROOT  ·  INTERCHANGE</a:t>
            </a:r>
          </a:p>
        </p:txBody>
      </p:sp>
      <p:sp>
        <p:nvSpPr>
          <p:cNvPr id="6305" name="Oval 948"/>
          <p:cNvSpPr/>
          <p:nvPr/>
        </p:nvSpPr>
        <p:spPr>
          <a:xfrm>
            <a:off x="5646420" y="5646420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6306" name="TextBox 949"/>
          <p:cNvSpPr txBox="1"/>
          <p:nvPr/>
        </p:nvSpPr>
        <p:spPr>
          <a:xfrm>
            <a:off x="36576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6307" name="TextBox 950"/>
          <p:cNvSpPr txBox="1"/>
          <p:nvPr/>
        </p:nvSpPr>
        <p:spPr>
          <a:xfrm>
            <a:off x="3657600" y="521207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Mashura Market</a:t>
            </a:r>
          </a:p>
        </p:txBody>
      </p:sp>
      <p:sp>
        <p:nvSpPr>
          <p:cNvPr id="6308" name="Oval 951"/>
          <p:cNvSpPr/>
          <p:nvPr/>
        </p:nvSpPr>
        <p:spPr>
          <a:xfrm>
            <a:off x="11818618" y="5646420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6309" name="TextBox 952"/>
          <p:cNvSpPr txBox="1"/>
          <p:nvPr/>
        </p:nvSpPr>
        <p:spPr>
          <a:xfrm>
            <a:off x="98298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6310" name="TextBox 953"/>
          <p:cNvSpPr txBox="1"/>
          <p:nvPr/>
        </p:nvSpPr>
        <p:spPr>
          <a:xfrm>
            <a:off x="9829800" y="521207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Portfolio Strategy</a:t>
            </a:r>
          </a:p>
        </p:txBody>
      </p:sp>
      <p:sp>
        <p:nvSpPr>
          <p:cNvPr id="6311" name="Oval 954"/>
          <p:cNvSpPr/>
          <p:nvPr/>
        </p:nvSpPr>
        <p:spPr>
          <a:xfrm>
            <a:off x="17990819" y="5646420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6312" name="TextBox 955"/>
          <p:cNvSpPr txBox="1"/>
          <p:nvPr/>
        </p:nvSpPr>
        <p:spPr>
          <a:xfrm>
            <a:off x="160020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6313" name="TextBox 956"/>
          <p:cNvSpPr txBox="1"/>
          <p:nvPr/>
        </p:nvSpPr>
        <p:spPr>
          <a:xfrm>
            <a:off x="16002000" y="521207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Create Portfolio</a:t>
            </a:r>
          </a:p>
        </p:txBody>
      </p:sp>
      <p:sp>
        <p:nvSpPr>
          <p:cNvPr id="6314" name="Oval 957"/>
          <p:cNvSpPr/>
          <p:nvPr/>
        </p:nvSpPr>
        <p:spPr>
          <a:xfrm>
            <a:off x="5646420" y="10675618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6315" name="TextBox 958"/>
          <p:cNvSpPr txBox="1"/>
          <p:nvPr/>
        </p:nvSpPr>
        <p:spPr>
          <a:xfrm>
            <a:off x="3657600" y="11475718"/>
            <a:ext cx="4572000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6316" name="TextBox 959"/>
          <p:cNvSpPr txBox="1"/>
          <p:nvPr/>
        </p:nvSpPr>
        <p:spPr>
          <a:xfrm>
            <a:off x="3657600" y="1179575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Portfolios</a:t>
            </a:r>
          </a:p>
        </p:txBody>
      </p:sp>
      <p:sp>
        <p:nvSpPr>
          <p:cNvPr id="6317" name="Oval 960"/>
          <p:cNvSpPr/>
          <p:nvPr/>
        </p:nvSpPr>
        <p:spPr>
          <a:xfrm>
            <a:off x="17990819" y="10675618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6318" name="TextBox 961"/>
          <p:cNvSpPr txBox="1"/>
          <p:nvPr/>
        </p:nvSpPr>
        <p:spPr>
          <a:xfrm>
            <a:off x="16002000" y="11475718"/>
            <a:ext cx="4572000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6319" name="TextBox 962"/>
          <p:cNvSpPr txBox="1"/>
          <p:nvPr/>
        </p:nvSpPr>
        <p:spPr>
          <a:xfrm>
            <a:off x="16002000" y="1179575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Mashura Portfolios</a:t>
            </a:r>
          </a:p>
        </p:txBody>
      </p:sp>
      <p:sp>
        <p:nvSpPr>
          <p:cNvPr id="6320" name="Rounded Rectangle 963"/>
          <p:cNvSpPr/>
          <p:nvPr/>
        </p:nvSpPr>
        <p:spPr>
          <a:xfrm>
            <a:off x="19659600" y="4389120"/>
            <a:ext cx="3474721" cy="146304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6321" name="Connector 964"/>
          <p:cNvSpPr/>
          <p:nvPr/>
        </p:nvSpPr>
        <p:spPr>
          <a:xfrm>
            <a:off x="19933919" y="4800600"/>
            <a:ext cx="640082" cy="0"/>
          </a:xfrm>
          <a:prstGeom prst="line">
            <a:avLst/>
          </a:prstGeom>
          <a:ln w="889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22" name="TextBox 965"/>
          <p:cNvSpPr txBox="1"/>
          <p:nvPr/>
        </p:nvSpPr>
        <p:spPr>
          <a:xfrm>
            <a:off x="20756880" y="4663440"/>
            <a:ext cx="274320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PRIMARY LINE</a:t>
            </a:r>
          </a:p>
        </p:txBody>
      </p:sp>
      <p:sp>
        <p:nvSpPr>
          <p:cNvPr id="6323" name="Connector 966"/>
          <p:cNvSpPr/>
          <p:nvPr/>
        </p:nvSpPr>
        <p:spPr>
          <a:xfrm>
            <a:off x="19933919" y="5486400"/>
            <a:ext cx="640082" cy="0"/>
          </a:xfrm>
          <a:prstGeom prst="line">
            <a:avLst/>
          </a:prstGeom>
          <a:ln w="889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24" name="TextBox 967"/>
          <p:cNvSpPr txBox="1"/>
          <p:nvPr/>
        </p:nvSpPr>
        <p:spPr>
          <a:xfrm>
            <a:off x="20756880" y="5349240"/>
            <a:ext cx="274320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PORTFOLIO 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6327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083 / 111</a:t>
            </a:r>
          </a:p>
        </p:txBody>
      </p:sp>
      <p:sp>
        <p:nvSpPr>
          <p:cNvPr id="6328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MASHURAH (ROBO)  ·  CAPABILITY ASSESSMENT</a:t>
            </a:r>
          </a:p>
        </p:txBody>
      </p:sp>
      <p:sp>
        <p:nvSpPr>
          <p:cNvPr id="6329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Portfolio Valuation &amp; Performance</a:t>
            </a:r>
          </a:p>
        </p:txBody>
      </p:sp>
      <p:sp>
        <p:nvSpPr>
          <p:cNvPr id="6330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6331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6332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333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334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335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336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337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338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39" name="TextBox 14"/>
          <p:cNvSpPr txBox="1"/>
          <p:nvPr/>
        </p:nvSpPr>
        <p:spPr>
          <a:xfrm>
            <a:off x="1517902" y="566576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340" name="TextBox 15"/>
          <p:cNvSpPr txBox="1"/>
          <p:nvPr/>
        </p:nvSpPr>
        <p:spPr>
          <a:xfrm>
            <a:off x="2600094" y="566576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portfolio value</a:t>
            </a:r>
          </a:p>
        </p:txBody>
      </p:sp>
      <p:sp>
        <p:nvSpPr>
          <p:cNvPr id="6341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342" name="Connector 17"/>
          <p:cNvSpPr/>
          <p:nvPr/>
        </p:nvSpPr>
        <p:spPr>
          <a:xfrm>
            <a:off x="1371600" y="611944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43" name="TextBox 18"/>
          <p:cNvSpPr txBox="1"/>
          <p:nvPr/>
        </p:nvSpPr>
        <p:spPr>
          <a:xfrm>
            <a:off x="1517902" y="620736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344" name="TextBox 19"/>
          <p:cNvSpPr txBox="1"/>
          <p:nvPr/>
        </p:nvSpPr>
        <p:spPr>
          <a:xfrm>
            <a:off x="2600094" y="620736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value</a:t>
            </a:r>
          </a:p>
        </p:txBody>
      </p:sp>
      <p:sp>
        <p:nvSpPr>
          <p:cNvPr id="6345" name="TextBox 20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346" name="Connector 21"/>
          <p:cNvSpPr/>
          <p:nvPr/>
        </p:nvSpPr>
        <p:spPr>
          <a:xfrm>
            <a:off x="1371600" y="66610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47" name="TextBox 22"/>
          <p:cNvSpPr txBox="1"/>
          <p:nvPr/>
        </p:nvSpPr>
        <p:spPr>
          <a:xfrm>
            <a:off x="1517902" y="674897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348" name="TextBox 23"/>
          <p:cNvSpPr txBox="1"/>
          <p:nvPr/>
        </p:nvSpPr>
        <p:spPr>
          <a:xfrm>
            <a:off x="2600094" y="674897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 / loss value</a:t>
            </a:r>
          </a:p>
        </p:txBody>
      </p:sp>
      <p:sp>
        <p:nvSpPr>
          <p:cNvPr id="6349" name="TextBox 24"/>
          <p:cNvSpPr txBox="1"/>
          <p:nvPr/>
        </p:nvSpPr>
        <p:spPr>
          <a:xfrm>
            <a:off x="9093250" y="674897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350" name="TextBox 25"/>
          <p:cNvSpPr txBox="1"/>
          <p:nvPr/>
        </p:nvSpPr>
        <p:spPr>
          <a:xfrm>
            <a:off x="14504212" y="6748974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Available in SDK</a:t>
            </a:r>
          </a:p>
        </p:txBody>
      </p:sp>
      <p:sp>
        <p:nvSpPr>
          <p:cNvPr id="6351" name="Connector 26"/>
          <p:cNvSpPr/>
          <p:nvPr/>
        </p:nvSpPr>
        <p:spPr>
          <a:xfrm>
            <a:off x="1371600" y="720265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52" name="TextBox 27"/>
          <p:cNvSpPr txBox="1"/>
          <p:nvPr/>
        </p:nvSpPr>
        <p:spPr>
          <a:xfrm>
            <a:off x="1517902" y="729058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353" name="TextBox 28"/>
          <p:cNvSpPr txBox="1"/>
          <p:nvPr/>
        </p:nvSpPr>
        <p:spPr>
          <a:xfrm>
            <a:off x="2600094" y="729058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 / loss %</a:t>
            </a:r>
          </a:p>
        </p:txBody>
      </p:sp>
      <p:sp>
        <p:nvSpPr>
          <p:cNvPr id="6354" name="TextBox 29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355" name="Connector 30"/>
          <p:cNvSpPr/>
          <p:nvPr/>
        </p:nvSpPr>
        <p:spPr>
          <a:xfrm>
            <a:off x="1371600" y="774426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56" name="TextBox 31"/>
          <p:cNvSpPr txBox="1"/>
          <p:nvPr/>
        </p:nvSpPr>
        <p:spPr>
          <a:xfrm>
            <a:off x="1517902" y="783218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357" name="TextBox 32"/>
          <p:cNvSpPr txBox="1"/>
          <p:nvPr/>
        </p:nvSpPr>
        <p:spPr>
          <a:xfrm>
            <a:off x="2600094" y="783218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gain / loss (overall)</a:t>
            </a:r>
          </a:p>
        </p:txBody>
      </p:sp>
      <p:sp>
        <p:nvSpPr>
          <p:cNvPr id="6358" name="TextBox 33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359" name="TextBox 34"/>
          <p:cNvSpPr txBox="1"/>
          <p:nvPr/>
        </p:nvSpPr>
        <p:spPr>
          <a:xfrm>
            <a:off x="14504212" y="7832187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Performance attribution insight</a:t>
            </a:r>
          </a:p>
        </p:txBody>
      </p:sp>
      <p:sp>
        <p:nvSpPr>
          <p:cNvPr id="6360" name="Connector 35"/>
          <p:cNvSpPr/>
          <p:nvPr/>
        </p:nvSpPr>
        <p:spPr>
          <a:xfrm>
            <a:off x="1371600" y="828587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61" name="TextBox 36"/>
          <p:cNvSpPr txBox="1"/>
          <p:nvPr/>
        </p:nvSpPr>
        <p:spPr>
          <a:xfrm>
            <a:off x="1517902" y="837379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362" name="TextBox 37"/>
          <p:cNvSpPr txBox="1"/>
          <p:nvPr/>
        </p:nvSpPr>
        <p:spPr>
          <a:xfrm>
            <a:off x="2600094" y="837379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Cost value Gain/loss after sell</a:t>
            </a:r>
          </a:p>
        </p:txBody>
      </p:sp>
      <p:sp>
        <p:nvSpPr>
          <p:cNvPr id="6363" name="TextBox 38"/>
          <p:cNvSpPr txBox="1"/>
          <p:nvPr/>
        </p:nvSpPr>
        <p:spPr>
          <a:xfrm>
            <a:off x="9093250" y="837379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364" name="TextBox 39"/>
          <p:cNvSpPr txBox="1"/>
          <p:nvPr/>
        </p:nvSpPr>
        <p:spPr>
          <a:xfrm>
            <a:off x="10894893" y="8373791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365" name="TextBox 40"/>
          <p:cNvSpPr txBox="1"/>
          <p:nvPr/>
        </p:nvSpPr>
        <p:spPr>
          <a:xfrm>
            <a:off x="12626399" y="8373791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366" name="Connector 41"/>
          <p:cNvSpPr/>
          <p:nvPr/>
        </p:nvSpPr>
        <p:spPr>
          <a:xfrm>
            <a:off x="1371600" y="882747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67" name="TextBox 42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6368" name="TextBox 43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</a:t>
            </a:r>
          </a:p>
        </p:txBody>
      </p:sp>
      <p:sp>
        <p:nvSpPr>
          <p:cNvPr id="6369" name="TextBox 44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370" name="Connector 45"/>
          <p:cNvSpPr/>
          <p:nvPr/>
        </p:nvSpPr>
        <p:spPr>
          <a:xfrm>
            <a:off x="1371600" y="93690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71" name="TextBox 46"/>
          <p:cNvSpPr txBox="1"/>
          <p:nvPr/>
        </p:nvSpPr>
        <p:spPr>
          <a:xfrm>
            <a:off x="1517902" y="945700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372" name="TextBox 47"/>
          <p:cNvSpPr txBox="1"/>
          <p:nvPr/>
        </p:nvSpPr>
        <p:spPr>
          <a:xfrm>
            <a:off x="2600094" y="945700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performance chart</a:t>
            </a:r>
          </a:p>
        </p:txBody>
      </p:sp>
      <p:sp>
        <p:nvSpPr>
          <p:cNvPr id="6373" name="TextBox 48"/>
          <p:cNvSpPr txBox="1"/>
          <p:nvPr/>
        </p:nvSpPr>
        <p:spPr>
          <a:xfrm>
            <a:off x="9093250" y="945700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374" name="TextBox 49"/>
          <p:cNvSpPr txBox="1"/>
          <p:nvPr/>
        </p:nvSpPr>
        <p:spPr>
          <a:xfrm>
            <a:off x="14504212" y="9457004"/>
            <a:ext cx="403616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Performance chart in SDK</a:t>
            </a:r>
          </a:p>
        </p:txBody>
      </p:sp>
      <p:sp>
        <p:nvSpPr>
          <p:cNvPr id="6375" name="Connector 50"/>
          <p:cNvSpPr/>
          <p:nvPr/>
        </p:nvSpPr>
        <p:spPr>
          <a:xfrm>
            <a:off x="1371600" y="99106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76" name="TextBox 51"/>
          <p:cNvSpPr txBox="1"/>
          <p:nvPr/>
        </p:nvSpPr>
        <p:spPr>
          <a:xfrm>
            <a:off x="1517902" y="999861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6377" name="TextBox 52"/>
          <p:cNvSpPr txBox="1"/>
          <p:nvPr/>
        </p:nvSpPr>
        <p:spPr>
          <a:xfrm>
            <a:off x="2600094" y="999861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Performance period selector (1W / 1M / 2M / 3M)</a:t>
            </a:r>
          </a:p>
        </p:txBody>
      </p:sp>
      <p:sp>
        <p:nvSpPr>
          <p:cNvPr id="6378" name="TextBox 53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379" name="Connector 54"/>
          <p:cNvSpPr/>
          <p:nvPr/>
        </p:nvSpPr>
        <p:spPr>
          <a:xfrm>
            <a:off x="1371600" y="1045229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80" name="TextBox 55"/>
          <p:cNvSpPr txBox="1"/>
          <p:nvPr/>
        </p:nvSpPr>
        <p:spPr>
          <a:xfrm>
            <a:off x="1517902" y="1054021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6381" name="TextBox 56"/>
          <p:cNvSpPr txBox="1"/>
          <p:nvPr/>
        </p:nvSpPr>
        <p:spPr>
          <a:xfrm>
            <a:off x="2600094" y="1054021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Rename portfolio</a:t>
            </a:r>
          </a:p>
        </p:txBody>
      </p:sp>
      <p:sp>
        <p:nvSpPr>
          <p:cNvPr id="6382" name="TextBox 57"/>
          <p:cNvSpPr txBox="1"/>
          <p:nvPr/>
        </p:nvSpPr>
        <p:spPr>
          <a:xfrm>
            <a:off x="9093250" y="105402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383" name="Connector 58"/>
          <p:cNvSpPr/>
          <p:nvPr/>
        </p:nvSpPr>
        <p:spPr>
          <a:xfrm>
            <a:off x="1371600" y="1099390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84" name="TextBox 59"/>
          <p:cNvSpPr txBox="1"/>
          <p:nvPr/>
        </p:nvSpPr>
        <p:spPr>
          <a:xfrm>
            <a:off x="1517902" y="1108182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6385" name="TextBox 60"/>
          <p:cNvSpPr txBox="1"/>
          <p:nvPr/>
        </p:nvSpPr>
        <p:spPr>
          <a:xfrm>
            <a:off x="2600094" y="1108182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Delete portfolio</a:t>
            </a:r>
          </a:p>
        </p:txBody>
      </p:sp>
      <p:sp>
        <p:nvSpPr>
          <p:cNvPr id="6386" name="TextBox 61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387" name="Connector 62"/>
          <p:cNvSpPr/>
          <p:nvPr/>
        </p:nvSpPr>
        <p:spPr>
          <a:xfrm>
            <a:off x="1371600" y="1153550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88" name="TextBox 63"/>
          <p:cNvSpPr txBox="1"/>
          <p:nvPr/>
        </p:nvSpPr>
        <p:spPr>
          <a:xfrm>
            <a:off x="1517902" y="1162343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6389" name="TextBox 64"/>
          <p:cNvSpPr txBox="1"/>
          <p:nvPr/>
        </p:nvSpPr>
        <p:spPr>
          <a:xfrm>
            <a:off x="2600094" y="1162343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creation</a:t>
            </a:r>
          </a:p>
        </p:txBody>
      </p:sp>
      <p:sp>
        <p:nvSpPr>
          <p:cNvPr id="6390" name="TextBox 65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391" name="Connector 66"/>
          <p:cNvSpPr/>
          <p:nvPr/>
        </p:nvSpPr>
        <p:spPr>
          <a:xfrm>
            <a:off x="1371600" y="1207711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92" name="TextBox 67"/>
          <p:cNvSpPr txBox="1"/>
          <p:nvPr/>
        </p:nvSpPr>
        <p:spPr>
          <a:xfrm>
            <a:off x="1517902" y="1216503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6393" name="TextBox 68"/>
          <p:cNvSpPr txBox="1"/>
          <p:nvPr/>
        </p:nvSpPr>
        <p:spPr>
          <a:xfrm>
            <a:off x="2600094" y="1216503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Change performance period</a:t>
            </a:r>
          </a:p>
        </p:txBody>
      </p:sp>
      <p:sp>
        <p:nvSpPr>
          <p:cNvPr id="6394" name="TextBox 69"/>
          <p:cNvSpPr txBox="1"/>
          <p:nvPr/>
        </p:nvSpPr>
        <p:spPr>
          <a:xfrm>
            <a:off x="9093250" y="1216503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395" name="Connector 70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6398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084 / 111</a:t>
            </a:r>
          </a:p>
        </p:txBody>
      </p:sp>
      <p:sp>
        <p:nvSpPr>
          <p:cNvPr id="6399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MASHURAH (ROBO)  ·  CAPABILITY ASSESSMENT</a:t>
            </a:r>
          </a:p>
        </p:txBody>
      </p:sp>
      <p:sp>
        <p:nvSpPr>
          <p:cNvPr id="6400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Holdings Management</a:t>
            </a:r>
          </a:p>
        </p:txBody>
      </p:sp>
      <p:sp>
        <p:nvSpPr>
          <p:cNvPr id="6401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6402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6403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404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405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406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407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408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409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10" name="TextBox 14"/>
          <p:cNvSpPr txBox="1"/>
          <p:nvPr/>
        </p:nvSpPr>
        <p:spPr>
          <a:xfrm>
            <a:off x="1517902" y="5737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411" name="TextBox 15"/>
          <p:cNvSpPr txBox="1"/>
          <p:nvPr/>
        </p:nvSpPr>
        <p:spPr>
          <a:xfrm>
            <a:off x="2600094" y="5737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Holdings ETFs List</a:t>
            </a:r>
          </a:p>
        </p:txBody>
      </p:sp>
      <p:sp>
        <p:nvSpPr>
          <p:cNvPr id="6412" name="TextBox 16"/>
          <p:cNvSpPr txBox="1"/>
          <p:nvPr/>
        </p:nvSpPr>
        <p:spPr>
          <a:xfrm>
            <a:off x="9093250" y="5737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413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414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7744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415" name="Connector 19"/>
          <p:cNvSpPr/>
          <p:nvPr/>
        </p:nvSpPr>
        <p:spPr>
          <a:xfrm>
            <a:off x="1371600" y="6263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16" name="TextBox 20"/>
          <p:cNvSpPr txBox="1"/>
          <p:nvPr/>
        </p:nvSpPr>
        <p:spPr>
          <a:xfrm>
            <a:off x="1517902" y="6423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417" name="TextBox 21"/>
          <p:cNvSpPr txBox="1"/>
          <p:nvPr/>
        </p:nvSpPr>
        <p:spPr>
          <a:xfrm>
            <a:off x="2600094" y="6423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ETFS market value</a:t>
            </a:r>
          </a:p>
        </p:txBody>
      </p:sp>
      <p:sp>
        <p:nvSpPr>
          <p:cNvPr id="6418" name="TextBox 22"/>
          <p:cNvSpPr txBox="1"/>
          <p:nvPr/>
        </p:nvSpPr>
        <p:spPr>
          <a:xfrm>
            <a:off x="9093250" y="6423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419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420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4602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421" name="Connector 25"/>
          <p:cNvSpPr/>
          <p:nvPr/>
        </p:nvSpPr>
        <p:spPr>
          <a:xfrm>
            <a:off x="1371600" y="6949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22" name="TextBox 26"/>
          <p:cNvSpPr txBox="1"/>
          <p:nvPr/>
        </p:nvSpPr>
        <p:spPr>
          <a:xfrm>
            <a:off x="1517902" y="7109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423" name="TextBox 27"/>
          <p:cNvSpPr txBox="1"/>
          <p:nvPr/>
        </p:nvSpPr>
        <p:spPr>
          <a:xfrm>
            <a:off x="2600094" y="7109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ETF Holding percentage</a:t>
            </a:r>
          </a:p>
        </p:txBody>
      </p:sp>
      <p:sp>
        <p:nvSpPr>
          <p:cNvPr id="6424" name="TextBox 28"/>
          <p:cNvSpPr txBox="1"/>
          <p:nvPr/>
        </p:nvSpPr>
        <p:spPr>
          <a:xfrm>
            <a:off x="9093250" y="7109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425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426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1460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427" name="Connector 31"/>
          <p:cNvSpPr/>
          <p:nvPr/>
        </p:nvSpPr>
        <p:spPr>
          <a:xfrm>
            <a:off x="1371600" y="763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28" name="TextBox 32"/>
          <p:cNvSpPr txBox="1"/>
          <p:nvPr/>
        </p:nvSpPr>
        <p:spPr>
          <a:xfrm>
            <a:off x="1517902" y="7795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429" name="TextBox 33"/>
          <p:cNvSpPr txBox="1"/>
          <p:nvPr/>
        </p:nvSpPr>
        <p:spPr>
          <a:xfrm>
            <a:off x="2600094" y="7795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Dividend</a:t>
            </a:r>
          </a:p>
        </p:txBody>
      </p:sp>
      <p:sp>
        <p:nvSpPr>
          <p:cNvPr id="6430" name="TextBox 34"/>
          <p:cNvSpPr txBox="1"/>
          <p:nvPr/>
        </p:nvSpPr>
        <p:spPr>
          <a:xfrm>
            <a:off x="9093250" y="7795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431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432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318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433" name="Connector 37"/>
          <p:cNvSpPr/>
          <p:nvPr/>
        </p:nvSpPr>
        <p:spPr>
          <a:xfrm>
            <a:off x="1371600" y="8321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6436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085 / 111</a:t>
            </a:r>
          </a:p>
        </p:txBody>
      </p:sp>
      <p:sp>
        <p:nvSpPr>
          <p:cNvPr id="6437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MASHURAH (ROBO)  ·  CAPABILITY ASSESSMENT</a:t>
            </a:r>
          </a:p>
        </p:txBody>
      </p:sp>
      <p:sp>
        <p:nvSpPr>
          <p:cNvPr id="6438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Holding Details</a:t>
            </a:r>
          </a:p>
        </p:txBody>
      </p:sp>
      <p:sp>
        <p:nvSpPr>
          <p:cNvPr id="6439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6440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6441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442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443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444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445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446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447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48" name="TextBox 14"/>
          <p:cNvSpPr txBox="1"/>
          <p:nvPr/>
        </p:nvSpPr>
        <p:spPr>
          <a:xfrm>
            <a:off x="1517902" y="57150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449" name="TextBox 15"/>
          <p:cNvSpPr txBox="1"/>
          <p:nvPr/>
        </p:nvSpPr>
        <p:spPr>
          <a:xfrm>
            <a:off x="2600094" y="57150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value</a:t>
            </a:r>
          </a:p>
        </p:txBody>
      </p:sp>
      <p:sp>
        <p:nvSpPr>
          <p:cNvPr id="6450" name="TextBox 16"/>
          <p:cNvSpPr txBox="1"/>
          <p:nvPr/>
        </p:nvSpPr>
        <p:spPr>
          <a:xfrm>
            <a:off x="9093250" y="57149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451" name="Connector 17"/>
          <p:cNvSpPr/>
          <p:nvPr/>
        </p:nvSpPr>
        <p:spPr>
          <a:xfrm>
            <a:off x="1371600" y="621792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52" name="TextBox 18"/>
          <p:cNvSpPr txBox="1"/>
          <p:nvPr/>
        </p:nvSpPr>
        <p:spPr>
          <a:xfrm>
            <a:off x="1517902" y="635507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453" name="TextBox 19"/>
          <p:cNvSpPr txBox="1"/>
          <p:nvPr/>
        </p:nvSpPr>
        <p:spPr>
          <a:xfrm>
            <a:off x="2600094" y="635507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quantity</a:t>
            </a:r>
          </a:p>
        </p:txBody>
      </p:sp>
      <p:sp>
        <p:nvSpPr>
          <p:cNvPr id="6454" name="TextBox 20"/>
          <p:cNvSpPr txBox="1"/>
          <p:nvPr/>
        </p:nvSpPr>
        <p:spPr>
          <a:xfrm>
            <a:off x="9093250" y="635507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455" name="TextBox 21"/>
          <p:cNvSpPr txBox="1"/>
          <p:nvPr/>
        </p:nvSpPr>
        <p:spPr>
          <a:xfrm>
            <a:off x="10894893" y="6355079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456" name="TextBox 22"/>
          <p:cNvSpPr txBox="1"/>
          <p:nvPr/>
        </p:nvSpPr>
        <p:spPr>
          <a:xfrm>
            <a:off x="12626399" y="6355079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457" name="Connector 23"/>
          <p:cNvSpPr/>
          <p:nvPr/>
        </p:nvSpPr>
        <p:spPr>
          <a:xfrm>
            <a:off x="1371600" y="68580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58" name="TextBox 24"/>
          <p:cNvSpPr txBox="1"/>
          <p:nvPr/>
        </p:nvSpPr>
        <p:spPr>
          <a:xfrm>
            <a:off x="1517902" y="69951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459" name="TextBox 25"/>
          <p:cNvSpPr txBox="1"/>
          <p:nvPr/>
        </p:nvSpPr>
        <p:spPr>
          <a:xfrm>
            <a:off x="2600094" y="69951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Average cost</a:t>
            </a:r>
          </a:p>
        </p:txBody>
      </p:sp>
      <p:sp>
        <p:nvSpPr>
          <p:cNvPr id="6460" name="TextBox 26"/>
          <p:cNvSpPr txBox="1"/>
          <p:nvPr/>
        </p:nvSpPr>
        <p:spPr>
          <a:xfrm>
            <a:off x="9093250" y="69951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461" name="TextBox 27"/>
          <p:cNvSpPr txBox="1"/>
          <p:nvPr/>
        </p:nvSpPr>
        <p:spPr>
          <a:xfrm>
            <a:off x="10894893" y="6995159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462" name="TextBox 28"/>
          <p:cNvSpPr txBox="1"/>
          <p:nvPr/>
        </p:nvSpPr>
        <p:spPr>
          <a:xfrm>
            <a:off x="12626399" y="6995159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463" name="Connector 29"/>
          <p:cNvSpPr/>
          <p:nvPr/>
        </p:nvSpPr>
        <p:spPr>
          <a:xfrm>
            <a:off x="1371600" y="74980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64" name="TextBox 30"/>
          <p:cNvSpPr txBox="1"/>
          <p:nvPr/>
        </p:nvSpPr>
        <p:spPr>
          <a:xfrm>
            <a:off x="1517902" y="76352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465" name="TextBox 31"/>
          <p:cNvSpPr txBox="1"/>
          <p:nvPr/>
        </p:nvSpPr>
        <p:spPr>
          <a:xfrm>
            <a:off x="2600094" y="76352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cost value</a:t>
            </a:r>
          </a:p>
        </p:txBody>
      </p:sp>
      <p:sp>
        <p:nvSpPr>
          <p:cNvPr id="6466" name="TextBox 32"/>
          <p:cNvSpPr txBox="1"/>
          <p:nvPr/>
        </p:nvSpPr>
        <p:spPr>
          <a:xfrm>
            <a:off x="9093250" y="7635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467" name="Picture 33" descr="Picture 3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67181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468" name="Picture 34" descr="Picture 3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67181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469" name="TextBox 35"/>
          <p:cNvSpPr txBox="1"/>
          <p:nvPr/>
        </p:nvSpPr>
        <p:spPr>
          <a:xfrm>
            <a:off x="14504212" y="7635240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Cost history tracking</a:t>
            </a:r>
          </a:p>
        </p:txBody>
      </p:sp>
      <p:sp>
        <p:nvSpPr>
          <p:cNvPr id="6470" name="Connector 36"/>
          <p:cNvSpPr/>
          <p:nvPr/>
        </p:nvSpPr>
        <p:spPr>
          <a:xfrm>
            <a:off x="1371600" y="81381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71" name="TextBox 37"/>
          <p:cNvSpPr txBox="1"/>
          <p:nvPr/>
        </p:nvSpPr>
        <p:spPr>
          <a:xfrm>
            <a:off x="1517902" y="827531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472" name="TextBox 38"/>
          <p:cNvSpPr txBox="1"/>
          <p:nvPr/>
        </p:nvSpPr>
        <p:spPr>
          <a:xfrm>
            <a:off x="2600094" y="827531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Last traded price</a:t>
            </a:r>
          </a:p>
        </p:txBody>
      </p:sp>
      <p:sp>
        <p:nvSpPr>
          <p:cNvPr id="6473" name="TextBox 39"/>
          <p:cNvSpPr txBox="1"/>
          <p:nvPr/>
        </p:nvSpPr>
        <p:spPr>
          <a:xfrm>
            <a:off x="9093250" y="827531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474" name="TextBox 40"/>
          <p:cNvSpPr txBox="1"/>
          <p:nvPr/>
        </p:nvSpPr>
        <p:spPr>
          <a:xfrm>
            <a:off x="10894893" y="8275318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475" name="TextBox 41"/>
          <p:cNvSpPr txBox="1"/>
          <p:nvPr/>
        </p:nvSpPr>
        <p:spPr>
          <a:xfrm>
            <a:off x="12626399" y="8275318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476" name="Connector 42"/>
          <p:cNvSpPr/>
          <p:nvPr/>
        </p:nvSpPr>
        <p:spPr>
          <a:xfrm>
            <a:off x="1371600" y="8778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77" name="TextBox 43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478" name="TextBox 44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Gain / loss value</a:t>
            </a:r>
          </a:p>
        </p:txBody>
      </p:sp>
      <p:sp>
        <p:nvSpPr>
          <p:cNvPr id="6479" name="TextBox 45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480" name="Picture 46" descr="Picture 4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481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95197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482" name="TextBox 48"/>
          <p:cNvSpPr txBox="1"/>
          <p:nvPr/>
        </p:nvSpPr>
        <p:spPr>
          <a:xfrm>
            <a:off x="14504212" y="8915399"/>
            <a:ext cx="403616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Available in SDK</a:t>
            </a:r>
          </a:p>
        </p:txBody>
      </p:sp>
      <p:sp>
        <p:nvSpPr>
          <p:cNvPr id="6483" name="Connector 49"/>
          <p:cNvSpPr/>
          <p:nvPr/>
        </p:nvSpPr>
        <p:spPr>
          <a:xfrm>
            <a:off x="1371600" y="94183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84" name="TextBox 50"/>
          <p:cNvSpPr txBox="1"/>
          <p:nvPr/>
        </p:nvSpPr>
        <p:spPr>
          <a:xfrm>
            <a:off x="1517902" y="955548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6485" name="TextBox 51"/>
          <p:cNvSpPr txBox="1"/>
          <p:nvPr/>
        </p:nvSpPr>
        <p:spPr>
          <a:xfrm>
            <a:off x="2600094" y="955548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Gain / loss percentage</a:t>
            </a:r>
          </a:p>
        </p:txBody>
      </p:sp>
      <p:sp>
        <p:nvSpPr>
          <p:cNvPr id="6486" name="TextBox 52"/>
          <p:cNvSpPr txBox="1"/>
          <p:nvPr/>
        </p:nvSpPr>
        <p:spPr>
          <a:xfrm>
            <a:off x="9093250" y="955548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487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59205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488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59205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489" name="TextBox 55"/>
          <p:cNvSpPr txBox="1"/>
          <p:nvPr/>
        </p:nvSpPr>
        <p:spPr>
          <a:xfrm>
            <a:off x="14504212" y="9555480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Available in SDK</a:t>
            </a:r>
          </a:p>
        </p:txBody>
      </p:sp>
      <p:sp>
        <p:nvSpPr>
          <p:cNvPr id="6490" name="Connector 56"/>
          <p:cNvSpPr/>
          <p:nvPr/>
        </p:nvSpPr>
        <p:spPr>
          <a:xfrm>
            <a:off x="1371600" y="100584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91" name="TextBox 57"/>
          <p:cNvSpPr txBox="1"/>
          <p:nvPr/>
        </p:nvSpPr>
        <p:spPr>
          <a:xfrm>
            <a:off x="1517902" y="101955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492" name="TextBox 58"/>
          <p:cNvSpPr txBox="1"/>
          <p:nvPr/>
        </p:nvSpPr>
        <p:spPr>
          <a:xfrm>
            <a:off x="2600094" y="101955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Cost value P/L</a:t>
            </a:r>
          </a:p>
        </p:txBody>
      </p:sp>
      <p:sp>
        <p:nvSpPr>
          <p:cNvPr id="6493" name="TextBox 59"/>
          <p:cNvSpPr txBox="1"/>
          <p:nvPr/>
        </p:nvSpPr>
        <p:spPr>
          <a:xfrm>
            <a:off x="9093250" y="101955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494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232135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495" name="Picture 61" descr="Picture 6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232135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496" name="TextBox 62"/>
          <p:cNvSpPr txBox="1"/>
          <p:nvPr/>
        </p:nvSpPr>
        <p:spPr>
          <a:xfrm>
            <a:off x="14504212" y="101955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Available in SDK</a:t>
            </a:r>
          </a:p>
        </p:txBody>
      </p:sp>
      <p:sp>
        <p:nvSpPr>
          <p:cNvPr id="6497" name="Connector 63"/>
          <p:cNvSpPr/>
          <p:nvPr/>
        </p:nvSpPr>
        <p:spPr>
          <a:xfrm>
            <a:off x="1371600" y="106984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98" name="TextBox 64"/>
          <p:cNvSpPr txBox="1"/>
          <p:nvPr/>
        </p:nvSpPr>
        <p:spPr>
          <a:xfrm>
            <a:off x="1517902" y="108356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6499" name="TextBox 65"/>
          <p:cNvSpPr txBox="1"/>
          <p:nvPr/>
        </p:nvSpPr>
        <p:spPr>
          <a:xfrm>
            <a:off x="2600094" y="108356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Avg price P/L</a:t>
            </a:r>
          </a:p>
        </p:txBody>
      </p:sp>
      <p:sp>
        <p:nvSpPr>
          <p:cNvPr id="6500" name="TextBox 66"/>
          <p:cNvSpPr txBox="1"/>
          <p:nvPr/>
        </p:nvSpPr>
        <p:spPr>
          <a:xfrm>
            <a:off x="9093250" y="108356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501" name="TextBox 67"/>
          <p:cNvSpPr txBox="1"/>
          <p:nvPr/>
        </p:nvSpPr>
        <p:spPr>
          <a:xfrm>
            <a:off x="10894893" y="1083564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502" name="TextBox 68"/>
          <p:cNvSpPr txBox="1"/>
          <p:nvPr/>
        </p:nvSpPr>
        <p:spPr>
          <a:xfrm>
            <a:off x="12626399" y="1083564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503" name="Connector 69"/>
          <p:cNvSpPr/>
          <p:nvPr/>
        </p:nvSpPr>
        <p:spPr>
          <a:xfrm>
            <a:off x="1371600" y="113385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04" name="TextBox 70"/>
          <p:cNvSpPr txBox="1"/>
          <p:nvPr/>
        </p:nvSpPr>
        <p:spPr>
          <a:xfrm>
            <a:off x="1517902" y="1147571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6505" name="TextBox 71"/>
          <p:cNvSpPr txBox="1"/>
          <p:nvPr/>
        </p:nvSpPr>
        <p:spPr>
          <a:xfrm>
            <a:off x="2600094" y="1147571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Unrealized P/L (UPL)</a:t>
            </a:r>
          </a:p>
        </p:txBody>
      </p:sp>
      <p:sp>
        <p:nvSpPr>
          <p:cNvPr id="6506" name="TextBox 72"/>
          <p:cNvSpPr txBox="1"/>
          <p:nvPr/>
        </p:nvSpPr>
        <p:spPr>
          <a:xfrm>
            <a:off x="9093250" y="1147571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507" name="TextBox 73"/>
          <p:cNvSpPr txBox="1"/>
          <p:nvPr/>
        </p:nvSpPr>
        <p:spPr>
          <a:xfrm>
            <a:off x="10894893" y="11475718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508" name="TextBox 74"/>
          <p:cNvSpPr txBox="1"/>
          <p:nvPr/>
        </p:nvSpPr>
        <p:spPr>
          <a:xfrm>
            <a:off x="12626399" y="11475718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509" name="Connector 75"/>
          <p:cNvSpPr/>
          <p:nvPr/>
        </p:nvSpPr>
        <p:spPr>
          <a:xfrm>
            <a:off x="1371600" y="11978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10" name="TextBox 76"/>
          <p:cNvSpPr txBox="1"/>
          <p:nvPr/>
        </p:nvSpPr>
        <p:spPr>
          <a:xfrm>
            <a:off x="1517902" y="121158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6511" name="TextBox 77"/>
          <p:cNvSpPr txBox="1"/>
          <p:nvPr/>
        </p:nvSpPr>
        <p:spPr>
          <a:xfrm>
            <a:off x="2600094" y="121158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Invest/withdraw</a:t>
            </a:r>
          </a:p>
        </p:txBody>
      </p:sp>
      <p:sp>
        <p:nvSpPr>
          <p:cNvPr id="6512" name="TextBox 78"/>
          <p:cNvSpPr txBox="1"/>
          <p:nvPr/>
        </p:nvSpPr>
        <p:spPr>
          <a:xfrm>
            <a:off x="9093250" y="121157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513" name="Connector 79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6516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086 / 111</a:t>
            </a:r>
          </a:p>
        </p:txBody>
      </p:sp>
      <p:sp>
        <p:nvSpPr>
          <p:cNvPr id="6517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MASHURAH (ROBO)  ·  CAPABILITY ASSESSMENT</a:t>
            </a:r>
          </a:p>
        </p:txBody>
      </p:sp>
      <p:sp>
        <p:nvSpPr>
          <p:cNvPr id="6518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Cash &amp; Liquidity Management</a:t>
            </a:r>
          </a:p>
        </p:txBody>
      </p:sp>
      <p:sp>
        <p:nvSpPr>
          <p:cNvPr id="6519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6520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6521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522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523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524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525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526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527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28" name="TextBox 14"/>
          <p:cNvSpPr txBox="1"/>
          <p:nvPr/>
        </p:nvSpPr>
        <p:spPr>
          <a:xfrm>
            <a:off x="1517902" y="5737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529" name="TextBox 15"/>
          <p:cNvSpPr txBox="1"/>
          <p:nvPr/>
        </p:nvSpPr>
        <p:spPr>
          <a:xfrm>
            <a:off x="2600094" y="5737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cash</a:t>
            </a:r>
          </a:p>
        </p:txBody>
      </p:sp>
      <p:sp>
        <p:nvSpPr>
          <p:cNvPr id="6530" name="TextBox 16"/>
          <p:cNvSpPr txBox="1"/>
          <p:nvPr/>
        </p:nvSpPr>
        <p:spPr>
          <a:xfrm>
            <a:off x="9093250" y="5737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531" name="Connector 17"/>
          <p:cNvSpPr/>
          <p:nvPr/>
        </p:nvSpPr>
        <p:spPr>
          <a:xfrm>
            <a:off x="1371600" y="6263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32" name="TextBox 18"/>
          <p:cNvSpPr txBox="1"/>
          <p:nvPr/>
        </p:nvSpPr>
        <p:spPr>
          <a:xfrm>
            <a:off x="1517902" y="6423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533" name="TextBox 19"/>
          <p:cNvSpPr txBox="1"/>
          <p:nvPr/>
        </p:nvSpPr>
        <p:spPr>
          <a:xfrm>
            <a:off x="2600094" y="6423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Available cash for withdraw</a:t>
            </a:r>
          </a:p>
        </p:txBody>
      </p:sp>
      <p:sp>
        <p:nvSpPr>
          <p:cNvPr id="6534" name="TextBox 20"/>
          <p:cNvSpPr txBox="1"/>
          <p:nvPr/>
        </p:nvSpPr>
        <p:spPr>
          <a:xfrm>
            <a:off x="9093250" y="6423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535" name="TextBox 21"/>
          <p:cNvSpPr txBox="1"/>
          <p:nvPr/>
        </p:nvSpPr>
        <p:spPr>
          <a:xfrm>
            <a:off x="14504212" y="64236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Withdrawal eligibility rules visibility</a:t>
            </a:r>
          </a:p>
        </p:txBody>
      </p:sp>
      <p:sp>
        <p:nvSpPr>
          <p:cNvPr id="6536" name="Connector 22"/>
          <p:cNvSpPr/>
          <p:nvPr/>
        </p:nvSpPr>
        <p:spPr>
          <a:xfrm>
            <a:off x="1371600" y="6949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37" name="TextBox 23"/>
          <p:cNvSpPr txBox="1"/>
          <p:nvPr/>
        </p:nvSpPr>
        <p:spPr>
          <a:xfrm>
            <a:off x="1517902" y="7109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538" name="TextBox 24"/>
          <p:cNvSpPr txBox="1"/>
          <p:nvPr/>
        </p:nvSpPr>
        <p:spPr>
          <a:xfrm>
            <a:off x="2600094" y="7109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Buying power</a:t>
            </a:r>
          </a:p>
        </p:txBody>
      </p:sp>
      <p:sp>
        <p:nvSpPr>
          <p:cNvPr id="6539" name="TextBox 25"/>
          <p:cNvSpPr txBox="1"/>
          <p:nvPr/>
        </p:nvSpPr>
        <p:spPr>
          <a:xfrm>
            <a:off x="9093250" y="7109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540" name="TextBox 26"/>
          <p:cNvSpPr txBox="1"/>
          <p:nvPr/>
        </p:nvSpPr>
        <p:spPr>
          <a:xfrm>
            <a:off x="10894893" y="7109459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541" name="TextBox 27"/>
          <p:cNvSpPr txBox="1"/>
          <p:nvPr/>
        </p:nvSpPr>
        <p:spPr>
          <a:xfrm>
            <a:off x="12626399" y="7109459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542" name="Connector 28"/>
          <p:cNvSpPr/>
          <p:nvPr/>
        </p:nvSpPr>
        <p:spPr>
          <a:xfrm>
            <a:off x="1371600" y="763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43" name="TextBox 29"/>
          <p:cNvSpPr txBox="1"/>
          <p:nvPr/>
        </p:nvSpPr>
        <p:spPr>
          <a:xfrm>
            <a:off x="1517902" y="7795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544" name="TextBox 30"/>
          <p:cNvSpPr txBox="1"/>
          <p:nvPr/>
        </p:nvSpPr>
        <p:spPr>
          <a:xfrm>
            <a:off x="2600094" y="7795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under processing</a:t>
            </a:r>
          </a:p>
        </p:txBody>
      </p:sp>
      <p:sp>
        <p:nvSpPr>
          <p:cNvPr id="6545" name="TextBox 31"/>
          <p:cNvSpPr txBox="1"/>
          <p:nvPr/>
        </p:nvSpPr>
        <p:spPr>
          <a:xfrm>
            <a:off x="9093250" y="7795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546" name="TextBox 32"/>
          <p:cNvSpPr txBox="1"/>
          <p:nvPr/>
        </p:nvSpPr>
        <p:spPr>
          <a:xfrm>
            <a:off x="14504212" y="77952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Processing status tracking</a:t>
            </a:r>
          </a:p>
        </p:txBody>
      </p:sp>
      <p:sp>
        <p:nvSpPr>
          <p:cNvPr id="6547" name="Connector 33"/>
          <p:cNvSpPr/>
          <p:nvPr/>
        </p:nvSpPr>
        <p:spPr>
          <a:xfrm>
            <a:off x="1371600" y="8321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48" name="TextBox 34"/>
          <p:cNvSpPr txBox="1"/>
          <p:nvPr/>
        </p:nvSpPr>
        <p:spPr>
          <a:xfrm>
            <a:off x="1517902" y="84810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549" name="TextBox 35"/>
          <p:cNvSpPr txBox="1"/>
          <p:nvPr/>
        </p:nvSpPr>
        <p:spPr>
          <a:xfrm>
            <a:off x="2600094" y="84810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breakdown details</a:t>
            </a:r>
          </a:p>
        </p:txBody>
      </p:sp>
      <p:sp>
        <p:nvSpPr>
          <p:cNvPr id="6550" name="TextBox 36"/>
          <p:cNvSpPr txBox="1"/>
          <p:nvPr/>
        </p:nvSpPr>
        <p:spPr>
          <a:xfrm>
            <a:off x="9093250" y="84810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551" name="Connector 37"/>
          <p:cNvSpPr/>
          <p:nvPr/>
        </p:nvSpPr>
        <p:spPr>
          <a:xfrm>
            <a:off x="1371600" y="90068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52" name="TextBox 38"/>
          <p:cNvSpPr txBox="1"/>
          <p:nvPr/>
        </p:nvSpPr>
        <p:spPr>
          <a:xfrm>
            <a:off x="1517902" y="9166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553" name="TextBox 39"/>
          <p:cNvSpPr txBox="1"/>
          <p:nvPr/>
        </p:nvSpPr>
        <p:spPr>
          <a:xfrm>
            <a:off x="2600094" y="9166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Liquidity visibility</a:t>
            </a:r>
          </a:p>
        </p:txBody>
      </p:sp>
      <p:sp>
        <p:nvSpPr>
          <p:cNvPr id="6554" name="TextBox 40"/>
          <p:cNvSpPr txBox="1"/>
          <p:nvPr/>
        </p:nvSpPr>
        <p:spPr>
          <a:xfrm>
            <a:off x="9093250" y="9166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555" name="Connector 41"/>
          <p:cNvSpPr/>
          <p:nvPr/>
        </p:nvSpPr>
        <p:spPr>
          <a:xfrm>
            <a:off x="1371600" y="9692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56" name="TextBox 42"/>
          <p:cNvSpPr txBox="1"/>
          <p:nvPr/>
        </p:nvSpPr>
        <p:spPr>
          <a:xfrm>
            <a:off x="1517902" y="9852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6557" name="TextBox 43"/>
          <p:cNvSpPr txBox="1"/>
          <p:nvPr/>
        </p:nvSpPr>
        <p:spPr>
          <a:xfrm>
            <a:off x="2600094" y="9852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cash navigation</a:t>
            </a:r>
          </a:p>
        </p:txBody>
      </p:sp>
      <p:sp>
        <p:nvSpPr>
          <p:cNvPr id="6558" name="TextBox 44"/>
          <p:cNvSpPr txBox="1"/>
          <p:nvPr/>
        </p:nvSpPr>
        <p:spPr>
          <a:xfrm>
            <a:off x="9093250" y="9852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559" name="Connector 45"/>
          <p:cNvSpPr/>
          <p:nvPr/>
        </p:nvSpPr>
        <p:spPr>
          <a:xfrm>
            <a:off x="1371600" y="10378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60" name="TextBox 46"/>
          <p:cNvSpPr txBox="1"/>
          <p:nvPr/>
        </p:nvSpPr>
        <p:spPr>
          <a:xfrm>
            <a:off x="1517902" y="10538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561" name="TextBox 47"/>
          <p:cNvSpPr txBox="1"/>
          <p:nvPr/>
        </p:nvSpPr>
        <p:spPr>
          <a:xfrm>
            <a:off x="2600094" y="10538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display preferences</a:t>
            </a:r>
          </a:p>
        </p:txBody>
      </p:sp>
      <p:sp>
        <p:nvSpPr>
          <p:cNvPr id="6562" name="TextBox 48"/>
          <p:cNvSpPr txBox="1"/>
          <p:nvPr/>
        </p:nvSpPr>
        <p:spPr>
          <a:xfrm>
            <a:off x="9093250" y="10538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563" name="TextBox 49"/>
          <p:cNvSpPr txBox="1"/>
          <p:nvPr/>
        </p:nvSpPr>
        <p:spPr>
          <a:xfrm>
            <a:off x="14504212" y="105384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customization</a:t>
            </a:r>
          </a:p>
        </p:txBody>
      </p:sp>
      <p:sp>
        <p:nvSpPr>
          <p:cNvPr id="6564" name="Connector 50"/>
          <p:cNvSpPr/>
          <p:nvPr/>
        </p:nvSpPr>
        <p:spPr>
          <a:xfrm>
            <a:off x="1371600" y="11064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6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6567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087 / 111</a:t>
            </a:r>
          </a:p>
        </p:txBody>
      </p:sp>
      <p:sp>
        <p:nvSpPr>
          <p:cNvPr id="6568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MASHURAH (ROBO)  ·  CAPABILITY ASSESSMENT</a:t>
            </a:r>
          </a:p>
        </p:txBody>
      </p:sp>
      <p:sp>
        <p:nvSpPr>
          <p:cNvPr id="6569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Transfer &amp; Funding</a:t>
            </a:r>
          </a:p>
        </p:txBody>
      </p:sp>
      <p:sp>
        <p:nvSpPr>
          <p:cNvPr id="6570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6571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6572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573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574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575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576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577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578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79" name="TextBox 14"/>
          <p:cNvSpPr txBox="1"/>
          <p:nvPr/>
        </p:nvSpPr>
        <p:spPr>
          <a:xfrm>
            <a:off x="1517902" y="5737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580" name="TextBox 15"/>
          <p:cNvSpPr txBox="1"/>
          <p:nvPr/>
        </p:nvSpPr>
        <p:spPr>
          <a:xfrm>
            <a:off x="2600094" y="5737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transfer options visibility</a:t>
            </a:r>
          </a:p>
        </p:txBody>
      </p:sp>
      <p:sp>
        <p:nvSpPr>
          <p:cNvPr id="6581" name="TextBox 16"/>
          <p:cNvSpPr txBox="1"/>
          <p:nvPr/>
        </p:nvSpPr>
        <p:spPr>
          <a:xfrm>
            <a:off x="9093250" y="5737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582" name="Connector 17"/>
          <p:cNvSpPr/>
          <p:nvPr/>
        </p:nvSpPr>
        <p:spPr>
          <a:xfrm>
            <a:off x="1371600" y="6263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83" name="TextBox 18"/>
          <p:cNvSpPr txBox="1"/>
          <p:nvPr/>
        </p:nvSpPr>
        <p:spPr>
          <a:xfrm>
            <a:off x="1517902" y="6423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584" name="TextBox 19"/>
          <p:cNvSpPr txBox="1"/>
          <p:nvPr/>
        </p:nvSpPr>
        <p:spPr>
          <a:xfrm>
            <a:off x="2600094" y="6423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status visibility</a:t>
            </a:r>
          </a:p>
        </p:txBody>
      </p:sp>
      <p:sp>
        <p:nvSpPr>
          <p:cNvPr id="6585" name="TextBox 20"/>
          <p:cNvSpPr txBox="1"/>
          <p:nvPr/>
        </p:nvSpPr>
        <p:spPr>
          <a:xfrm>
            <a:off x="9093250" y="6423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586" name="Connector 21"/>
          <p:cNvSpPr/>
          <p:nvPr/>
        </p:nvSpPr>
        <p:spPr>
          <a:xfrm>
            <a:off x="1371600" y="6949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87" name="TextBox 22"/>
          <p:cNvSpPr txBox="1"/>
          <p:nvPr/>
        </p:nvSpPr>
        <p:spPr>
          <a:xfrm>
            <a:off x="1517902" y="7109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588" name="TextBox 23"/>
          <p:cNvSpPr txBox="1"/>
          <p:nvPr/>
        </p:nvSpPr>
        <p:spPr>
          <a:xfrm>
            <a:off x="2600094" y="7109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history</a:t>
            </a:r>
          </a:p>
        </p:txBody>
      </p:sp>
      <p:sp>
        <p:nvSpPr>
          <p:cNvPr id="6589" name="TextBox 24"/>
          <p:cNvSpPr txBox="1"/>
          <p:nvPr/>
        </p:nvSpPr>
        <p:spPr>
          <a:xfrm>
            <a:off x="9093250" y="7109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590" name="Connector 25"/>
          <p:cNvSpPr/>
          <p:nvPr/>
        </p:nvSpPr>
        <p:spPr>
          <a:xfrm>
            <a:off x="1371600" y="763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91" name="TextBox 26"/>
          <p:cNvSpPr txBox="1"/>
          <p:nvPr/>
        </p:nvSpPr>
        <p:spPr>
          <a:xfrm>
            <a:off x="1517902" y="7795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592" name="TextBox 27"/>
          <p:cNvSpPr txBox="1"/>
          <p:nvPr/>
        </p:nvSpPr>
        <p:spPr>
          <a:xfrm>
            <a:off x="2600094" y="7795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source visibility</a:t>
            </a:r>
          </a:p>
        </p:txBody>
      </p:sp>
      <p:sp>
        <p:nvSpPr>
          <p:cNvPr id="6593" name="TextBox 28"/>
          <p:cNvSpPr txBox="1"/>
          <p:nvPr/>
        </p:nvSpPr>
        <p:spPr>
          <a:xfrm>
            <a:off x="9093250" y="7795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594" name="Connector 29"/>
          <p:cNvSpPr/>
          <p:nvPr/>
        </p:nvSpPr>
        <p:spPr>
          <a:xfrm>
            <a:off x="1371600" y="8321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95" name="TextBox 30"/>
          <p:cNvSpPr txBox="1"/>
          <p:nvPr/>
        </p:nvSpPr>
        <p:spPr>
          <a:xfrm>
            <a:off x="1517902" y="84810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596" name="TextBox 31"/>
          <p:cNvSpPr txBox="1"/>
          <p:nvPr/>
        </p:nvSpPr>
        <p:spPr>
          <a:xfrm>
            <a:off x="2600094" y="84810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eligibility visibility</a:t>
            </a:r>
          </a:p>
        </p:txBody>
      </p:sp>
      <p:sp>
        <p:nvSpPr>
          <p:cNvPr id="6597" name="TextBox 32"/>
          <p:cNvSpPr txBox="1"/>
          <p:nvPr/>
        </p:nvSpPr>
        <p:spPr>
          <a:xfrm>
            <a:off x="9093250" y="84810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598" name="Connector 33"/>
          <p:cNvSpPr/>
          <p:nvPr/>
        </p:nvSpPr>
        <p:spPr>
          <a:xfrm>
            <a:off x="1371600" y="90068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99" name="TextBox 34"/>
          <p:cNvSpPr txBox="1"/>
          <p:nvPr/>
        </p:nvSpPr>
        <p:spPr>
          <a:xfrm>
            <a:off x="1517902" y="9166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600" name="TextBox 35"/>
          <p:cNvSpPr txBox="1"/>
          <p:nvPr/>
        </p:nvSpPr>
        <p:spPr>
          <a:xfrm>
            <a:off x="2600094" y="9166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Deposit cash (cash in)</a:t>
            </a:r>
          </a:p>
        </p:txBody>
      </p:sp>
      <p:sp>
        <p:nvSpPr>
          <p:cNvPr id="6601" name="TextBox 36"/>
          <p:cNvSpPr txBox="1"/>
          <p:nvPr/>
        </p:nvSpPr>
        <p:spPr>
          <a:xfrm>
            <a:off x="9093250" y="9166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02" name="Connector 37"/>
          <p:cNvSpPr/>
          <p:nvPr/>
        </p:nvSpPr>
        <p:spPr>
          <a:xfrm>
            <a:off x="1371600" y="9692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03" name="TextBox 38"/>
          <p:cNvSpPr txBox="1"/>
          <p:nvPr/>
        </p:nvSpPr>
        <p:spPr>
          <a:xfrm>
            <a:off x="1517902" y="9852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6604" name="TextBox 39"/>
          <p:cNvSpPr txBox="1"/>
          <p:nvPr/>
        </p:nvSpPr>
        <p:spPr>
          <a:xfrm>
            <a:off x="2600094" y="9852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Withdraw (cash out)</a:t>
            </a:r>
          </a:p>
        </p:txBody>
      </p:sp>
      <p:sp>
        <p:nvSpPr>
          <p:cNvPr id="6605" name="TextBox 40"/>
          <p:cNvSpPr txBox="1"/>
          <p:nvPr/>
        </p:nvSpPr>
        <p:spPr>
          <a:xfrm>
            <a:off x="9093250" y="9852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06" name="Connector 41"/>
          <p:cNvSpPr/>
          <p:nvPr/>
        </p:nvSpPr>
        <p:spPr>
          <a:xfrm>
            <a:off x="1371600" y="10378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6609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088 / 111</a:t>
            </a:r>
          </a:p>
        </p:txBody>
      </p:sp>
      <p:sp>
        <p:nvSpPr>
          <p:cNvPr id="6610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MASHURAH (ROBO)  ·  CAPABILITY ASSESSMENT</a:t>
            </a:r>
          </a:p>
        </p:txBody>
      </p:sp>
      <p:sp>
        <p:nvSpPr>
          <p:cNvPr id="6611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Reporting &amp; Statements</a:t>
            </a:r>
          </a:p>
        </p:txBody>
      </p:sp>
      <p:sp>
        <p:nvSpPr>
          <p:cNvPr id="6612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6613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6614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615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616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617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618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619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620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21" name="TextBox 14"/>
          <p:cNvSpPr txBox="1"/>
          <p:nvPr/>
        </p:nvSpPr>
        <p:spPr>
          <a:xfrm>
            <a:off x="1517902" y="5737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622" name="TextBox 15"/>
          <p:cNvSpPr txBox="1"/>
          <p:nvPr/>
        </p:nvSpPr>
        <p:spPr>
          <a:xfrm>
            <a:off x="2600094" y="5737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overall report</a:t>
            </a:r>
          </a:p>
        </p:txBody>
      </p:sp>
      <p:sp>
        <p:nvSpPr>
          <p:cNvPr id="6623" name="TextBox 16"/>
          <p:cNvSpPr txBox="1"/>
          <p:nvPr/>
        </p:nvSpPr>
        <p:spPr>
          <a:xfrm>
            <a:off x="9093250" y="5737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624" name="Connector 17"/>
          <p:cNvSpPr/>
          <p:nvPr/>
        </p:nvSpPr>
        <p:spPr>
          <a:xfrm>
            <a:off x="1371600" y="6263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25" name="TextBox 18"/>
          <p:cNvSpPr txBox="1"/>
          <p:nvPr/>
        </p:nvSpPr>
        <p:spPr>
          <a:xfrm>
            <a:off x="1517902" y="6423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626" name="TextBox 19"/>
          <p:cNvSpPr txBox="1"/>
          <p:nvPr/>
        </p:nvSpPr>
        <p:spPr>
          <a:xfrm>
            <a:off x="2600094" y="6423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Profit / loss report (1 month within a year)</a:t>
            </a:r>
          </a:p>
        </p:txBody>
      </p:sp>
      <p:sp>
        <p:nvSpPr>
          <p:cNvPr id="6627" name="TextBox 20"/>
          <p:cNvSpPr txBox="1"/>
          <p:nvPr/>
        </p:nvSpPr>
        <p:spPr>
          <a:xfrm>
            <a:off x="9093250" y="6423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628" name="TextBox 21"/>
          <p:cNvSpPr txBox="1"/>
          <p:nvPr/>
        </p:nvSpPr>
        <p:spPr>
          <a:xfrm>
            <a:off x="14504212" y="64236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6629" name="Connector 22"/>
          <p:cNvSpPr/>
          <p:nvPr/>
        </p:nvSpPr>
        <p:spPr>
          <a:xfrm>
            <a:off x="1371600" y="6949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30" name="TextBox 23"/>
          <p:cNvSpPr txBox="1"/>
          <p:nvPr/>
        </p:nvSpPr>
        <p:spPr>
          <a:xfrm>
            <a:off x="1517902" y="7109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631" name="TextBox 24"/>
          <p:cNvSpPr txBox="1"/>
          <p:nvPr/>
        </p:nvSpPr>
        <p:spPr>
          <a:xfrm>
            <a:off x="2600094" y="7109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Account statement (1 month within a year)</a:t>
            </a:r>
          </a:p>
        </p:txBody>
      </p:sp>
      <p:sp>
        <p:nvSpPr>
          <p:cNvPr id="6632" name="TextBox 25"/>
          <p:cNvSpPr txBox="1"/>
          <p:nvPr/>
        </p:nvSpPr>
        <p:spPr>
          <a:xfrm>
            <a:off x="9093250" y="7109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633" name="TextBox 26"/>
          <p:cNvSpPr txBox="1"/>
          <p:nvPr/>
        </p:nvSpPr>
        <p:spPr>
          <a:xfrm>
            <a:off x="14504212" y="71094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6634" name="Connector 27"/>
          <p:cNvSpPr/>
          <p:nvPr/>
        </p:nvSpPr>
        <p:spPr>
          <a:xfrm>
            <a:off x="1371600" y="763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35" name="TextBox 28"/>
          <p:cNvSpPr txBox="1"/>
          <p:nvPr/>
        </p:nvSpPr>
        <p:spPr>
          <a:xfrm>
            <a:off x="1517902" y="7795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636" name="TextBox 29"/>
          <p:cNvSpPr txBox="1"/>
          <p:nvPr/>
        </p:nvSpPr>
        <p:spPr>
          <a:xfrm>
            <a:off x="2600094" y="7795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Cost report (1 month within a year)</a:t>
            </a:r>
          </a:p>
        </p:txBody>
      </p:sp>
      <p:sp>
        <p:nvSpPr>
          <p:cNvPr id="6637" name="TextBox 30"/>
          <p:cNvSpPr txBox="1"/>
          <p:nvPr/>
        </p:nvSpPr>
        <p:spPr>
          <a:xfrm>
            <a:off x="9093250" y="7795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638" name="TextBox 31"/>
          <p:cNvSpPr txBox="1"/>
          <p:nvPr/>
        </p:nvSpPr>
        <p:spPr>
          <a:xfrm>
            <a:off x="14504212" y="77952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6639" name="Connector 32"/>
          <p:cNvSpPr/>
          <p:nvPr/>
        </p:nvSpPr>
        <p:spPr>
          <a:xfrm>
            <a:off x="1371600" y="8321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40" name="TextBox 33"/>
          <p:cNvSpPr txBox="1"/>
          <p:nvPr/>
        </p:nvSpPr>
        <p:spPr>
          <a:xfrm>
            <a:off x="1517902" y="84810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641" name="TextBox 34"/>
          <p:cNvSpPr txBox="1"/>
          <p:nvPr/>
        </p:nvSpPr>
        <p:spPr>
          <a:xfrm>
            <a:off x="2600094" y="84810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Dividend report (1 month within a year)</a:t>
            </a:r>
          </a:p>
        </p:txBody>
      </p:sp>
      <p:sp>
        <p:nvSpPr>
          <p:cNvPr id="6642" name="TextBox 35"/>
          <p:cNvSpPr txBox="1"/>
          <p:nvPr/>
        </p:nvSpPr>
        <p:spPr>
          <a:xfrm>
            <a:off x="9093250" y="84810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643" name="TextBox 36"/>
          <p:cNvSpPr txBox="1"/>
          <p:nvPr/>
        </p:nvSpPr>
        <p:spPr>
          <a:xfrm>
            <a:off x="14504212" y="84810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6644" name="Connector 37"/>
          <p:cNvSpPr/>
          <p:nvPr/>
        </p:nvSpPr>
        <p:spPr>
          <a:xfrm>
            <a:off x="1371600" y="90068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45" name="TextBox 38"/>
          <p:cNvSpPr txBox="1"/>
          <p:nvPr/>
        </p:nvSpPr>
        <p:spPr>
          <a:xfrm>
            <a:off x="1517902" y="9166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646" name="TextBox 39"/>
          <p:cNvSpPr txBox="1"/>
          <p:nvPr/>
        </p:nvSpPr>
        <p:spPr>
          <a:xfrm>
            <a:off x="2600094" y="9166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Generate portfolio report</a:t>
            </a:r>
          </a:p>
        </p:txBody>
      </p:sp>
      <p:sp>
        <p:nvSpPr>
          <p:cNvPr id="6647" name="TextBox 40"/>
          <p:cNvSpPr txBox="1"/>
          <p:nvPr/>
        </p:nvSpPr>
        <p:spPr>
          <a:xfrm>
            <a:off x="9093250" y="9166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48" name="Connector 41"/>
          <p:cNvSpPr/>
          <p:nvPr/>
        </p:nvSpPr>
        <p:spPr>
          <a:xfrm>
            <a:off x="1371600" y="9692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49" name="TextBox 42"/>
          <p:cNvSpPr txBox="1"/>
          <p:nvPr/>
        </p:nvSpPr>
        <p:spPr>
          <a:xfrm>
            <a:off x="1517902" y="9852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6650" name="TextBox 43"/>
          <p:cNvSpPr txBox="1"/>
          <p:nvPr/>
        </p:nvSpPr>
        <p:spPr>
          <a:xfrm>
            <a:off x="2600094" y="9852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Export report (PDF/Excel)</a:t>
            </a:r>
          </a:p>
        </p:txBody>
      </p:sp>
      <p:sp>
        <p:nvSpPr>
          <p:cNvPr id="6651" name="TextBox 44"/>
          <p:cNvSpPr txBox="1"/>
          <p:nvPr/>
        </p:nvSpPr>
        <p:spPr>
          <a:xfrm>
            <a:off x="9093250" y="9852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52" name="Connector 45"/>
          <p:cNvSpPr/>
          <p:nvPr/>
        </p:nvSpPr>
        <p:spPr>
          <a:xfrm>
            <a:off x="1371600" y="10378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53" name="TextBox 46"/>
          <p:cNvSpPr txBox="1"/>
          <p:nvPr/>
        </p:nvSpPr>
        <p:spPr>
          <a:xfrm>
            <a:off x="1517902" y="10538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6654" name="TextBox 47"/>
          <p:cNvSpPr txBox="1"/>
          <p:nvPr/>
        </p:nvSpPr>
        <p:spPr>
          <a:xfrm>
            <a:off x="2600094" y="10538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Report period selection</a:t>
            </a:r>
          </a:p>
        </p:txBody>
      </p:sp>
      <p:sp>
        <p:nvSpPr>
          <p:cNvPr id="6655" name="TextBox 48"/>
          <p:cNvSpPr txBox="1"/>
          <p:nvPr/>
        </p:nvSpPr>
        <p:spPr>
          <a:xfrm>
            <a:off x="9093250" y="10538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sp>
        <p:nvSpPr>
          <p:cNvPr id="6656" name="TextBox 49"/>
          <p:cNvSpPr txBox="1"/>
          <p:nvPr/>
        </p:nvSpPr>
        <p:spPr>
          <a:xfrm>
            <a:off x="14504212" y="105384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Flexible custom period selection</a:t>
            </a:r>
          </a:p>
        </p:txBody>
      </p:sp>
      <p:sp>
        <p:nvSpPr>
          <p:cNvPr id="6657" name="Connector 50"/>
          <p:cNvSpPr/>
          <p:nvPr/>
        </p:nvSpPr>
        <p:spPr>
          <a:xfrm>
            <a:off x="1371600" y="11064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6660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089 / 111</a:t>
            </a:r>
          </a:p>
        </p:txBody>
      </p:sp>
      <p:sp>
        <p:nvSpPr>
          <p:cNvPr id="6661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MASHURAH (ROBO)  ·  CAPABILITY ASSESSMENT</a:t>
            </a:r>
          </a:p>
        </p:txBody>
      </p:sp>
      <p:sp>
        <p:nvSpPr>
          <p:cNvPr id="6662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Market Intelligence &amp; Context</a:t>
            </a:r>
          </a:p>
        </p:txBody>
      </p:sp>
      <p:sp>
        <p:nvSpPr>
          <p:cNvPr id="6663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6664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6665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666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667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668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669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670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671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72" name="TextBox 14"/>
          <p:cNvSpPr txBox="1"/>
          <p:nvPr/>
        </p:nvSpPr>
        <p:spPr>
          <a:xfrm>
            <a:off x="1517902" y="5737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673" name="TextBox 15"/>
          <p:cNvSpPr txBox="1"/>
          <p:nvPr/>
        </p:nvSpPr>
        <p:spPr>
          <a:xfrm>
            <a:off x="2600094" y="5737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Strategies (Balanced / Growth / High Growth)</a:t>
            </a:r>
          </a:p>
        </p:txBody>
      </p:sp>
      <p:sp>
        <p:nvSpPr>
          <p:cNvPr id="6674" name="TextBox 16"/>
          <p:cNvSpPr txBox="1"/>
          <p:nvPr/>
        </p:nvSpPr>
        <p:spPr>
          <a:xfrm>
            <a:off x="9093250" y="5737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675" name="Connector 17"/>
          <p:cNvSpPr/>
          <p:nvPr/>
        </p:nvSpPr>
        <p:spPr>
          <a:xfrm>
            <a:off x="1371600" y="6263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76" name="TextBox 18"/>
          <p:cNvSpPr txBox="1"/>
          <p:nvPr/>
        </p:nvSpPr>
        <p:spPr>
          <a:xfrm>
            <a:off x="1517902" y="6423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677" name="TextBox 19"/>
          <p:cNvSpPr txBox="1"/>
          <p:nvPr/>
        </p:nvSpPr>
        <p:spPr>
          <a:xfrm>
            <a:off x="2600094" y="6423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Actions tab (Dividends)</a:t>
            </a:r>
          </a:p>
        </p:txBody>
      </p:sp>
      <p:sp>
        <p:nvSpPr>
          <p:cNvPr id="6678" name="TextBox 20"/>
          <p:cNvSpPr txBox="1"/>
          <p:nvPr/>
        </p:nvSpPr>
        <p:spPr>
          <a:xfrm>
            <a:off x="9093250" y="6423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679" name="Connector 21"/>
          <p:cNvSpPr/>
          <p:nvPr/>
        </p:nvSpPr>
        <p:spPr>
          <a:xfrm>
            <a:off x="1371600" y="6949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80" name="TextBox 22"/>
          <p:cNvSpPr txBox="1"/>
          <p:nvPr/>
        </p:nvSpPr>
        <p:spPr>
          <a:xfrm>
            <a:off x="1517902" y="7109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681" name="TextBox 23"/>
          <p:cNvSpPr txBox="1"/>
          <p:nvPr/>
        </p:nvSpPr>
        <p:spPr>
          <a:xfrm>
            <a:off x="2600094" y="7109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Performance%</a:t>
            </a:r>
          </a:p>
        </p:txBody>
      </p:sp>
      <p:sp>
        <p:nvSpPr>
          <p:cNvPr id="6682" name="TextBox 24"/>
          <p:cNvSpPr txBox="1"/>
          <p:nvPr/>
        </p:nvSpPr>
        <p:spPr>
          <a:xfrm>
            <a:off x="9093250" y="7109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683" name="Connector 25"/>
          <p:cNvSpPr/>
          <p:nvPr/>
        </p:nvSpPr>
        <p:spPr>
          <a:xfrm>
            <a:off x="1371600" y="763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84" name="TextBox 26"/>
          <p:cNvSpPr txBox="1"/>
          <p:nvPr/>
        </p:nvSpPr>
        <p:spPr>
          <a:xfrm>
            <a:off x="1517902" y="7795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685" name="TextBox 27"/>
          <p:cNvSpPr txBox="1"/>
          <p:nvPr/>
        </p:nvSpPr>
        <p:spPr>
          <a:xfrm>
            <a:off x="2600094" y="7795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details</a:t>
            </a:r>
          </a:p>
        </p:txBody>
      </p:sp>
      <p:sp>
        <p:nvSpPr>
          <p:cNvPr id="6686" name="TextBox 28"/>
          <p:cNvSpPr txBox="1"/>
          <p:nvPr/>
        </p:nvSpPr>
        <p:spPr>
          <a:xfrm>
            <a:off x="9093250" y="7795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687" name="Connector 29"/>
          <p:cNvSpPr/>
          <p:nvPr/>
        </p:nvSpPr>
        <p:spPr>
          <a:xfrm>
            <a:off x="1371600" y="8321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88" name="TextBox 30"/>
          <p:cNvSpPr txBox="1"/>
          <p:nvPr/>
        </p:nvSpPr>
        <p:spPr>
          <a:xfrm>
            <a:off x="1517902" y="84810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689" name="TextBox 31"/>
          <p:cNvSpPr txBox="1"/>
          <p:nvPr/>
        </p:nvSpPr>
        <p:spPr>
          <a:xfrm>
            <a:off x="2600094" y="84810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Asset allocation breakdown</a:t>
            </a:r>
          </a:p>
        </p:txBody>
      </p:sp>
      <p:sp>
        <p:nvSpPr>
          <p:cNvPr id="6690" name="TextBox 32"/>
          <p:cNvSpPr txBox="1"/>
          <p:nvPr/>
        </p:nvSpPr>
        <p:spPr>
          <a:xfrm>
            <a:off x="9093250" y="84810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691" name="Connector 33"/>
          <p:cNvSpPr/>
          <p:nvPr/>
        </p:nvSpPr>
        <p:spPr>
          <a:xfrm>
            <a:off x="1371600" y="90068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92" name="TextBox 34"/>
          <p:cNvSpPr txBox="1"/>
          <p:nvPr/>
        </p:nvSpPr>
        <p:spPr>
          <a:xfrm>
            <a:off x="1517902" y="9166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693" name="TextBox 35"/>
          <p:cNvSpPr txBox="1"/>
          <p:nvPr/>
        </p:nvSpPr>
        <p:spPr>
          <a:xfrm>
            <a:off x="2600094" y="9166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Minimum subscription</a:t>
            </a:r>
          </a:p>
        </p:txBody>
      </p:sp>
      <p:sp>
        <p:nvSpPr>
          <p:cNvPr id="6694" name="TextBox 36"/>
          <p:cNvSpPr txBox="1"/>
          <p:nvPr/>
        </p:nvSpPr>
        <p:spPr>
          <a:xfrm>
            <a:off x="9093250" y="9166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6695" name="Connector 37"/>
          <p:cNvSpPr/>
          <p:nvPr/>
        </p:nvSpPr>
        <p:spPr>
          <a:xfrm>
            <a:off x="1371600" y="9692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96" name="TextBox 38"/>
          <p:cNvSpPr txBox="1"/>
          <p:nvPr/>
        </p:nvSpPr>
        <p:spPr>
          <a:xfrm>
            <a:off x="1517902" y="9852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6697" name="TextBox 39"/>
          <p:cNvSpPr txBox="1"/>
          <p:nvPr/>
        </p:nvSpPr>
        <p:spPr>
          <a:xfrm>
            <a:off x="2600094" y="9852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Risk level</a:t>
            </a:r>
          </a:p>
        </p:txBody>
      </p:sp>
      <p:sp>
        <p:nvSpPr>
          <p:cNvPr id="6698" name="TextBox 40"/>
          <p:cNvSpPr txBox="1"/>
          <p:nvPr/>
        </p:nvSpPr>
        <p:spPr>
          <a:xfrm>
            <a:off x="9093250" y="9852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699" name="Connector 41"/>
          <p:cNvSpPr/>
          <p:nvPr/>
        </p:nvSpPr>
        <p:spPr>
          <a:xfrm>
            <a:off x="1371600" y="10378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00" name="TextBox 42"/>
          <p:cNvSpPr txBox="1"/>
          <p:nvPr/>
        </p:nvSpPr>
        <p:spPr>
          <a:xfrm>
            <a:off x="1517902" y="10538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701" name="TextBox 43"/>
          <p:cNvSpPr txBox="1"/>
          <p:nvPr/>
        </p:nvSpPr>
        <p:spPr>
          <a:xfrm>
            <a:off x="2600094" y="10538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alerts</a:t>
            </a:r>
          </a:p>
        </p:txBody>
      </p:sp>
      <p:sp>
        <p:nvSpPr>
          <p:cNvPr id="6702" name="TextBox 44"/>
          <p:cNvSpPr txBox="1"/>
          <p:nvPr/>
        </p:nvSpPr>
        <p:spPr>
          <a:xfrm>
            <a:off x="9093250" y="10538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703" name="Connector 45"/>
          <p:cNvSpPr/>
          <p:nvPr/>
        </p:nvSpPr>
        <p:spPr>
          <a:xfrm>
            <a:off x="1371600" y="11064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04" name="TextBox 46"/>
          <p:cNvSpPr txBox="1"/>
          <p:nvPr/>
        </p:nvSpPr>
        <p:spPr>
          <a:xfrm>
            <a:off x="1517902" y="11224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6705" name="TextBox 47"/>
          <p:cNvSpPr txBox="1"/>
          <p:nvPr/>
        </p:nvSpPr>
        <p:spPr>
          <a:xfrm>
            <a:off x="2600094" y="11224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Create portfolio</a:t>
            </a:r>
          </a:p>
        </p:txBody>
      </p:sp>
      <p:sp>
        <p:nvSpPr>
          <p:cNvPr id="6706" name="TextBox 48"/>
          <p:cNvSpPr txBox="1"/>
          <p:nvPr/>
        </p:nvSpPr>
        <p:spPr>
          <a:xfrm>
            <a:off x="9093250" y="11224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707" name="TextBox 49"/>
          <p:cNvSpPr txBox="1"/>
          <p:nvPr/>
        </p:nvSpPr>
        <p:spPr>
          <a:xfrm>
            <a:off x="14504212" y="112242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Available in SDK</a:t>
            </a:r>
          </a:p>
        </p:txBody>
      </p:sp>
      <p:sp>
        <p:nvSpPr>
          <p:cNvPr id="6708" name="Connector 50"/>
          <p:cNvSpPr/>
          <p:nvPr/>
        </p:nvSpPr>
        <p:spPr>
          <a:xfrm>
            <a:off x="1371600" y="11750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1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6711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090 / 111</a:t>
            </a:r>
          </a:p>
        </p:txBody>
      </p:sp>
      <p:sp>
        <p:nvSpPr>
          <p:cNvPr id="6712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MASHURAH (ROBO)  ·  CAPABILITY ASSESSMENT</a:t>
            </a:r>
          </a:p>
        </p:txBody>
      </p:sp>
      <p:sp>
        <p:nvSpPr>
          <p:cNvPr id="6713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Cash in to local portfolio</a:t>
            </a:r>
          </a:p>
        </p:txBody>
      </p:sp>
      <p:sp>
        <p:nvSpPr>
          <p:cNvPr id="6714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6715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6716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717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718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719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720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721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722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23" name="TextBox 14"/>
          <p:cNvSpPr txBox="1"/>
          <p:nvPr/>
        </p:nvSpPr>
        <p:spPr>
          <a:xfrm>
            <a:off x="1517902" y="568832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724" name="TextBox 15"/>
          <p:cNvSpPr txBox="1"/>
          <p:nvPr/>
        </p:nvSpPr>
        <p:spPr>
          <a:xfrm>
            <a:off x="2600094" y="568832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Linked account (if ARB)</a:t>
            </a:r>
          </a:p>
        </p:txBody>
      </p:sp>
      <p:sp>
        <p:nvSpPr>
          <p:cNvPr id="6725" name="TextBox 16"/>
          <p:cNvSpPr txBox="1"/>
          <p:nvPr/>
        </p:nvSpPr>
        <p:spPr>
          <a:xfrm>
            <a:off x="9093250" y="568832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726" name="Connector 17"/>
          <p:cNvSpPr/>
          <p:nvPr/>
        </p:nvSpPr>
        <p:spPr>
          <a:xfrm>
            <a:off x="1371600" y="616457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27" name="TextBox 18"/>
          <p:cNvSpPr txBox="1"/>
          <p:nvPr/>
        </p:nvSpPr>
        <p:spPr>
          <a:xfrm>
            <a:off x="1517902" y="627507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728" name="TextBox 19"/>
          <p:cNvSpPr txBox="1"/>
          <p:nvPr/>
        </p:nvSpPr>
        <p:spPr>
          <a:xfrm>
            <a:off x="2600094" y="627507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ARB account</a:t>
            </a:r>
          </a:p>
        </p:txBody>
      </p:sp>
      <p:sp>
        <p:nvSpPr>
          <p:cNvPr id="6729" name="TextBox 20"/>
          <p:cNvSpPr txBox="1"/>
          <p:nvPr/>
        </p:nvSpPr>
        <p:spPr>
          <a:xfrm>
            <a:off x="9093250" y="627507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730" name="Connector 21"/>
          <p:cNvSpPr/>
          <p:nvPr/>
        </p:nvSpPr>
        <p:spPr>
          <a:xfrm>
            <a:off x="1371600" y="67513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31" name="TextBox 22"/>
          <p:cNvSpPr txBox="1"/>
          <p:nvPr/>
        </p:nvSpPr>
        <p:spPr>
          <a:xfrm>
            <a:off x="1517902" y="686180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732" name="TextBox 23"/>
          <p:cNvSpPr txBox="1"/>
          <p:nvPr/>
        </p:nvSpPr>
        <p:spPr>
          <a:xfrm>
            <a:off x="2600094" y="686180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banks</a:t>
            </a:r>
          </a:p>
        </p:txBody>
      </p:sp>
      <p:sp>
        <p:nvSpPr>
          <p:cNvPr id="6733" name="TextBox 24"/>
          <p:cNvSpPr txBox="1"/>
          <p:nvPr/>
        </p:nvSpPr>
        <p:spPr>
          <a:xfrm>
            <a:off x="9093250" y="686180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734" name="Connector 25"/>
          <p:cNvSpPr/>
          <p:nvPr/>
        </p:nvSpPr>
        <p:spPr>
          <a:xfrm>
            <a:off x="1371600" y="73380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35" name="TextBox 26"/>
          <p:cNvSpPr txBox="1"/>
          <p:nvPr/>
        </p:nvSpPr>
        <p:spPr>
          <a:xfrm>
            <a:off x="1517902" y="744855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736" name="TextBox 27"/>
          <p:cNvSpPr txBox="1"/>
          <p:nvPr/>
        </p:nvSpPr>
        <p:spPr>
          <a:xfrm>
            <a:off x="2600094" y="744855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Apply pay</a:t>
            </a:r>
          </a:p>
        </p:txBody>
      </p:sp>
      <p:sp>
        <p:nvSpPr>
          <p:cNvPr id="6737" name="TextBox 28"/>
          <p:cNvSpPr txBox="1"/>
          <p:nvPr/>
        </p:nvSpPr>
        <p:spPr>
          <a:xfrm>
            <a:off x="9093250" y="744854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738" name="Connector 29"/>
          <p:cNvSpPr/>
          <p:nvPr/>
        </p:nvSpPr>
        <p:spPr>
          <a:xfrm>
            <a:off x="1371600" y="79248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39" name="TextBox 30"/>
          <p:cNvSpPr txBox="1"/>
          <p:nvPr/>
        </p:nvSpPr>
        <p:spPr>
          <a:xfrm>
            <a:off x="1517902" y="803529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740" name="TextBox 31"/>
          <p:cNvSpPr txBox="1"/>
          <p:nvPr/>
        </p:nvSpPr>
        <p:spPr>
          <a:xfrm>
            <a:off x="2600094" y="803529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Debit/Credit cards</a:t>
            </a:r>
          </a:p>
        </p:txBody>
      </p:sp>
      <p:sp>
        <p:nvSpPr>
          <p:cNvPr id="6741" name="TextBox 32"/>
          <p:cNvSpPr txBox="1"/>
          <p:nvPr/>
        </p:nvSpPr>
        <p:spPr>
          <a:xfrm>
            <a:off x="9093250" y="803529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742" name="Connector 33"/>
          <p:cNvSpPr/>
          <p:nvPr/>
        </p:nvSpPr>
        <p:spPr>
          <a:xfrm>
            <a:off x="1371600" y="85115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3" name="TextBox 34"/>
          <p:cNvSpPr txBox="1"/>
          <p:nvPr/>
        </p:nvSpPr>
        <p:spPr>
          <a:xfrm>
            <a:off x="1517902" y="862203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744" name="TextBox 35"/>
          <p:cNvSpPr txBox="1"/>
          <p:nvPr/>
        </p:nvSpPr>
        <p:spPr>
          <a:xfrm>
            <a:off x="2600094" y="862203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Mokafaa</a:t>
            </a:r>
          </a:p>
        </p:txBody>
      </p:sp>
      <p:sp>
        <p:nvSpPr>
          <p:cNvPr id="6745" name="TextBox 36"/>
          <p:cNvSpPr txBox="1"/>
          <p:nvPr/>
        </p:nvSpPr>
        <p:spPr>
          <a:xfrm>
            <a:off x="9093250" y="86220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746" name="Connector 37"/>
          <p:cNvSpPr/>
          <p:nvPr/>
        </p:nvSpPr>
        <p:spPr>
          <a:xfrm>
            <a:off x="1371600" y="90982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7" name="TextBox 38"/>
          <p:cNvSpPr txBox="1"/>
          <p:nvPr/>
        </p:nvSpPr>
        <p:spPr>
          <a:xfrm>
            <a:off x="1517902" y="920876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6748" name="TextBox 39"/>
          <p:cNvSpPr txBox="1"/>
          <p:nvPr/>
        </p:nvSpPr>
        <p:spPr>
          <a:xfrm>
            <a:off x="2600094" y="920876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ARC Account (UCM)</a:t>
            </a:r>
          </a:p>
        </p:txBody>
      </p:sp>
      <p:sp>
        <p:nvSpPr>
          <p:cNvPr id="6749" name="TextBox 40"/>
          <p:cNvSpPr txBox="1"/>
          <p:nvPr/>
        </p:nvSpPr>
        <p:spPr>
          <a:xfrm>
            <a:off x="9093250" y="920876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750" name="Connector 41"/>
          <p:cNvSpPr/>
          <p:nvPr/>
        </p:nvSpPr>
        <p:spPr>
          <a:xfrm>
            <a:off x="1371600" y="96850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1" name="TextBox 42"/>
          <p:cNvSpPr txBox="1"/>
          <p:nvPr/>
        </p:nvSpPr>
        <p:spPr>
          <a:xfrm>
            <a:off x="1517902" y="979550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752" name="TextBox 43"/>
          <p:cNvSpPr txBox="1"/>
          <p:nvPr/>
        </p:nvSpPr>
        <p:spPr>
          <a:xfrm>
            <a:off x="2600094" y="979550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local portfolio</a:t>
            </a:r>
          </a:p>
        </p:txBody>
      </p:sp>
      <p:sp>
        <p:nvSpPr>
          <p:cNvPr id="6753" name="TextBox 44"/>
          <p:cNvSpPr txBox="1"/>
          <p:nvPr/>
        </p:nvSpPr>
        <p:spPr>
          <a:xfrm>
            <a:off x="9093250" y="979550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754" name="Connector 45"/>
          <p:cNvSpPr/>
          <p:nvPr/>
        </p:nvSpPr>
        <p:spPr>
          <a:xfrm>
            <a:off x="1371600" y="102717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5" name="TextBox 46"/>
          <p:cNvSpPr txBox="1"/>
          <p:nvPr/>
        </p:nvSpPr>
        <p:spPr>
          <a:xfrm>
            <a:off x="1517902" y="1038225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6756" name="TextBox 47"/>
          <p:cNvSpPr txBox="1"/>
          <p:nvPr/>
        </p:nvSpPr>
        <p:spPr>
          <a:xfrm>
            <a:off x="2600094" y="1038225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portfolio</a:t>
            </a:r>
          </a:p>
        </p:txBody>
      </p:sp>
      <p:sp>
        <p:nvSpPr>
          <p:cNvPr id="6757" name="TextBox 48"/>
          <p:cNvSpPr txBox="1"/>
          <p:nvPr/>
        </p:nvSpPr>
        <p:spPr>
          <a:xfrm>
            <a:off x="9093250" y="1038224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758" name="Connector 49"/>
          <p:cNvSpPr/>
          <p:nvPr/>
        </p:nvSpPr>
        <p:spPr>
          <a:xfrm>
            <a:off x="1371600" y="108585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9" name="TextBox 50"/>
          <p:cNvSpPr txBox="1"/>
          <p:nvPr/>
        </p:nvSpPr>
        <p:spPr>
          <a:xfrm>
            <a:off x="1517902" y="1096899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6760" name="TextBox 51"/>
          <p:cNvSpPr txBox="1"/>
          <p:nvPr/>
        </p:nvSpPr>
        <p:spPr>
          <a:xfrm>
            <a:off x="2600094" y="1096899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US portfolio</a:t>
            </a:r>
          </a:p>
        </p:txBody>
      </p:sp>
      <p:sp>
        <p:nvSpPr>
          <p:cNvPr id="6761" name="TextBox 52"/>
          <p:cNvSpPr txBox="1"/>
          <p:nvPr/>
        </p:nvSpPr>
        <p:spPr>
          <a:xfrm>
            <a:off x="9093250" y="1096899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762" name="Connector 53"/>
          <p:cNvSpPr/>
          <p:nvPr/>
        </p:nvSpPr>
        <p:spPr>
          <a:xfrm>
            <a:off x="1371600" y="1144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63" name="TextBox 54"/>
          <p:cNvSpPr txBox="1"/>
          <p:nvPr/>
        </p:nvSpPr>
        <p:spPr>
          <a:xfrm>
            <a:off x="1517902" y="1155573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6764" name="TextBox 55"/>
          <p:cNvSpPr txBox="1"/>
          <p:nvPr/>
        </p:nvSpPr>
        <p:spPr>
          <a:xfrm>
            <a:off x="2600094" y="1155573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international portfolio</a:t>
            </a:r>
          </a:p>
        </p:txBody>
      </p:sp>
      <p:sp>
        <p:nvSpPr>
          <p:cNvPr id="6765" name="TextBox 56"/>
          <p:cNvSpPr txBox="1"/>
          <p:nvPr/>
        </p:nvSpPr>
        <p:spPr>
          <a:xfrm>
            <a:off x="9093250" y="115557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766" name="Connector 57"/>
          <p:cNvSpPr/>
          <p:nvPr/>
        </p:nvSpPr>
        <p:spPr>
          <a:xfrm>
            <a:off x="1371600" y="120319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67" name="TextBox 58"/>
          <p:cNvSpPr txBox="1"/>
          <p:nvPr/>
        </p:nvSpPr>
        <p:spPr>
          <a:xfrm>
            <a:off x="1517902" y="1214246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6768" name="TextBox 59"/>
          <p:cNvSpPr txBox="1"/>
          <p:nvPr/>
        </p:nvSpPr>
        <p:spPr>
          <a:xfrm>
            <a:off x="2600094" y="1214246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Crowd fund portfolio</a:t>
            </a:r>
          </a:p>
        </p:txBody>
      </p:sp>
      <p:sp>
        <p:nvSpPr>
          <p:cNvPr id="6769" name="TextBox 60"/>
          <p:cNvSpPr txBox="1"/>
          <p:nvPr/>
        </p:nvSpPr>
        <p:spPr>
          <a:xfrm>
            <a:off x="9093250" y="1214246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770" name="Connector 61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6773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091 / 111</a:t>
            </a:r>
          </a:p>
        </p:txBody>
      </p:sp>
      <p:sp>
        <p:nvSpPr>
          <p:cNvPr id="6774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MASHURAH (ROBO)  ·  CAPABILITY ASSESSMENT</a:t>
            </a:r>
          </a:p>
        </p:txBody>
      </p:sp>
      <p:sp>
        <p:nvSpPr>
          <p:cNvPr id="6775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Cash out to local portfolio</a:t>
            </a:r>
          </a:p>
        </p:txBody>
      </p:sp>
      <p:sp>
        <p:nvSpPr>
          <p:cNvPr id="6776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6777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6778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779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780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781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782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783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784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85" name="TextBox 14"/>
          <p:cNvSpPr txBox="1"/>
          <p:nvPr/>
        </p:nvSpPr>
        <p:spPr>
          <a:xfrm>
            <a:off x="1517902" y="568832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786" name="TextBox 15"/>
          <p:cNvSpPr txBox="1"/>
          <p:nvPr/>
        </p:nvSpPr>
        <p:spPr>
          <a:xfrm>
            <a:off x="2600094" y="568832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Linked account (if ARB)</a:t>
            </a:r>
          </a:p>
        </p:txBody>
      </p:sp>
      <p:sp>
        <p:nvSpPr>
          <p:cNvPr id="6787" name="TextBox 16"/>
          <p:cNvSpPr txBox="1"/>
          <p:nvPr/>
        </p:nvSpPr>
        <p:spPr>
          <a:xfrm>
            <a:off x="9093250" y="568832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788" name="Connector 17"/>
          <p:cNvSpPr/>
          <p:nvPr/>
        </p:nvSpPr>
        <p:spPr>
          <a:xfrm>
            <a:off x="1371600" y="616457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89" name="TextBox 18"/>
          <p:cNvSpPr txBox="1"/>
          <p:nvPr/>
        </p:nvSpPr>
        <p:spPr>
          <a:xfrm>
            <a:off x="1517902" y="627507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790" name="TextBox 19"/>
          <p:cNvSpPr txBox="1"/>
          <p:nvPr/>
        </p:nvSpPr>
        <p:spPr>
          <a:xfrm>
            <a:off x="2600094" y="627507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ARB account</a:t>
            </a:r>
          </a:p>
        </p:txBody>
      </p:sp>
      <p:sp>
        <p:nvSpPr>
          <p:cNvPr id="6791" name="TextBox 20"/>
          <p:cNvSpPr txBox="1"/>
          <p:nvPr/>
        </p:nvSpPr>
        <p:spPr>
          <a:xfrm>
            <a:off x="9093250" y="627507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792" name="Connector 21"/>
          <p:cNvSpPr/>
          <p:nvPr/>
        </p:nvSpPr>
        <p:spPr>
          <a:xfrm>
            <a:off x="1371600" y="67513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93" name="TextBox 22"/>
          <p:cNvSpPr txBox="1"/>
          <p:nvPr/>
        </p:nvSpPr>
        <p:spPr>
          <a:xfrm>
            <a:off x="1517902" y="686180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794" name="TextBox 23"/>
          <p:cNvSpPr txBox="1"/>
          <p:nvPr/>
        </p:nvSpPr>
        <p:spPr>
          <a:xfrm>
            <a:off x="2600094" y="686180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banks</a:t>
            </a:r>
          </a:p>
        </p:txBody>
      </p:sp>
      <p:sp>
        <p:nvSpPr>
          <p:cNvPr id="6795" name="TextBox 24"/>
          <p:cNvSpPr txBox="1"/>
          <p:nvPr/>
        </p:nvSpPr>
        <p:spPr>
          <a:xfrm>
            <a:off x="9093250" y="686180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796" name="Connector 25"/>
          <p:cNvSpPr/>
          <p:nvPr/>
        </p:nvSpPr>
        <p:spPr>
          <a:xfrm>
            <a:off x="1371600" y="73380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97" name="TextBox 26"/>
          <p:cNvSpPr txBox="1"/>
          <p:nvPr/>
        </p:nvSpPr>
        <p:spPr>
          <a:xfrm>
            <a:off x="1517902" y="744855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798" name="TextBox 27"/>
          <p:cNvSpPr txBox="1"/>
          <p:nvPr/>
        </p:nvSpPr>
        <p:spPr>
          <a:xfrm>
            <a:off x="2600094" y="744855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Apply pay</a:t>
            </a:r>
          </a:p>
        </p:txBody>
      </p:sp>
      <p:sp>
        <p:nvSpPr>
          <p:cNvPr id="6799" name="TextBox 28"/>
          <p:cNvSpPr txBox="1"/>
          <p:nvPr/>
        </p:nvSpPr>
        <p:spPr>
          <a:xfrm>
            <a:off x="9093250" y="744854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800" name="TextBox 29"/>
          <p:cNvSpPr txBox="1"/>
          <p:nvPr/>
        </p:nvSpPr>
        <p:spPr>
          <a:xfrm>
            <a:off x="10894893" y="744855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801" name="TextBox 30"/>
          <p:cNvSpPr txBox="1"/>
          <p:nvPr/>
        </p:nvSpPr>
        <p:spPr>
          <a:xfrm>
            <a:off x="12626399" y="744855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802" name="Connector 31"/>
          <p:cNvSpPr/>
          <p:nvPr/>
        </p:nvSpPr>
        <p:spPr>
          <a:xfrm>
            <a:off x="1371600" y="79248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03" name="TextBox 32"/>
          <p:cNvSpPr txBox="1"/>
          <p:nvPr/>
        </p:nvSpPr>
        <p:spPr>
          <a:xfrm>
            <a:off x="1517902" y="803529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804" name="TextBox 33"/>
          <p:cNvSpPr txBox="1"/>
          <p:nvPr/>
        </p:nvSpPr>
        <p:spPr>
          <a:xfrm>
            <a:off x="2600094" y="803529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Debit/Credit cards</a:t>
            </a:r>
          </a:p>
        </p:txBody>
      </p:sp>
      <p:sp>
        <p:nvSpPr>
          <p:cNvPr id="6805" name="TextBox 34"/>
          <p:cNvSpPr txBox="1"/>
          <p:nvPr/>
        </p:nvSpPr>
        <p:spPr>
          <a:xfrm>
            <a:off x="9093250" y="803529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806" name="TextBox 35"/>
          <p:cNvSpPr txBox="1"/>
          <p:nvPr/>
        </p:nvSpPr>
        <p:spPr>
          <a:xfrm>
            <a:off x="10894893" y="803529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807" name="TextBox 36"/>
          <p:cNvSpPr txBox="1"/>
          <p:nvPr/>
        </p:nvSpPr>
        <p:spPr>
          <a:xfrm>
            <a:off x="12626399" y="803529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808" name="Connector 37"/>
          <p:cNvSpPr/>
          <p:nvPr/>
        </p:nvSpPr>
        <p:spPr>
          <a:xfrm>
            <a:off x="1371600" y="85115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09" name="TextBox 38"/>
          <p:cNvSpPr txBox="1"/>
          <p:nvPr/>
        </p:nvSpPr>
        <p:spPr>
          <a:xfrm>
            <a:off x="1517902" y="862203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810" name="TextBox 39"/>
          <p:cNvSpPr txBox="1"/>
          <p:nvPr/>
        </p:nvSpPr>
        <p:spPr>
          <a:xfrm>
            <a:off x="2600094" y="862203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Mokafaa</a:t>
            </a:r>
          </a:p>
        </p:txBody>
      </p:sp>
      <p:sp>
        <p:nvSpPr>
          <p:cNvPr id="6811" name="TextBox 40"/>
          <p:cNvSpPr txBox="1"/>
          <p:nvPr/>
        </p:nvSpPr>
        <p:spPr>
          <a:xfrm>
            <a:off x="9093250" y="86220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812" name="TextBox 41"/>
          <p:cNvSpPr txBox="1"/>
          <p:nvPr/>
        </p:nvSpPr>
        <p:spPr>
          <a:xfrm>
            <a:off x="10894893" y="862203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813" name="TextBox 42"/>
          <p:cNvSpPr txBox="1"/>
          <p:nvPr/>
        </p:nvSpPr>
        <p:spPr>
          <a:xfrm>
            <a:off x="12626399" y="8622030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6814" name="Connector 43"/>
          <p:cNvSpPr/>
          <p:nvPr/>
        </p:nvSpPr>
        <p:spPr>
          <a:xfrm>
            <a:off x="1371600" y="90982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15" name="TextBox 44"/>
          <p:cNvSpPr txBox="1"/>
          <p:nvPr/>
        </p:nvSpPr>
        <p:spPr>
          <a:xfrm>
            <a:off x="1517902" y="920876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6816" name="TextBox 45"/>
          <p:cNvSpPr txBox="1"/>
          <p:nvPr/>
        </p:nvSpPr>
        <p:spPr>
          <a:xfrm>
            <a:off x="2600094" y="920876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ARC Account (UCM)</a:t>
            </a:r>
          </a:p>
        </p:txBody>
      </p:sp>
      <p:sp>
        <p:nvSpPr>
          <p:cNvPr id="6817" name="TextBox 46"/>
          <p:cNvSpPr txBox="1"/>
          <p:nvPr/>
        </p:nvSpPr>
        <p:spPr>
          <a:xfrm>
            <a:off x="9093250" y="920876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818" name="Connector 47"/>
          <p:cNvSpPr/>
          <p:nvPr/>
        </p:nvSpPr>
        <p:spPr>
          <a:xfrm>
            <a:off x="1371600" y="96850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19" name="TextBox 48"/>
          <p:cNvSpPr txBox="1"/>
          <p:nvPr/>
        </p:nvSpPr>
        <p:spPr>
          <a:xfrm>
            <a:off x="1517902" y="979550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820" name="TextBox 49"/>
          <p:cNvSpPr txBox="1"/>
          <p:nvPr/>
        </p:nvSpPr>
        <p:spPr>
          <a:xfrm>
            <a:off x="2600094" y="979550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local portfolio</a:t>
            </a:r>
          </a:p>
        </p:txBody>
      </p:sp>
      <p:sp>
        <p:nvSpPr>
          <p:cNvPr id="6821" name="TextBox 50"/>
          <p:cNvSpPr txBox="1"/>
          <p:nvPr/>
        </p:nvSpPr>
        <p:spPr>
          <a:xfrm>
            <a:off x="9093250" y="979550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822" name="Connector 51"/>
          <p:cNvSpPr/>
          <p:nvPr/>
        </p:nvSpPr>
        <p:spPr>
          <a:xfrm>
            <a:off x="1371600" y="102717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23" name="TextBox 52"/>
          <p:cNvSpPr txBox="1"/>
          <p:nvPr/>
        </p:nvSpPr>
        <p:spPr>
          <a:xfrm>
            <a:off x="1517902" y="1038225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6824" name="TextBox 53"/>
          <p:cNvSpPr txBox="1"/>
          <p:nvPr/>
        </p:nvSpPr>
        <p:spPr>
          <a:xfrm>
            <a:off x="2600094" y="1038225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portfolio</a:t>
            </a:r>
          </a:p>
        </p:txBody>
      </p:sp>
      <p:sp>
        <p:nvSpPr>
          <p:cNvPr id="6825" name="TextBox 54"/>
          <p:cNvSpPr txBox="1"/>
          <p:nvPr/>
        </p:nvSpPr>
        <p:spPr>
          <a:xfrm>
            <a:off x="9093250" y="1038224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826" name="Connector 55"/>
          <p:cNvSpPr/>
          <p:nvPr/>
        </p:nvSpPr>
        <p:spPr>
          <a:xfrm>
            <a:off x="1371600" y="108585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27" name="TextBox 56"/>
          <p:cNvSpPr txBox="1"/>
          <p:nvPr/>
        </p:nvSpPr>
        <p:spPr>
          <a:xfrm>
            <a:off x="1517902" y="1096899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6828" name="TextBox 57"/>
          <p:cNvSpPr txBox="1"/>
          <p:nvPr/>
        </p:nvSpPr>
        <p:spPr>
          <a:xfrm>
            <a:off x="2600094" y="1096899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US portfolio</a:t>
            </a:r>
          </a:p>
        </p:txBody>
      </p:sp>
      <p:sp>
        <p:nvSpPr>
          <p:cNvPr id="6829" name="TextBox 58"/>
          <p:cNvSpPr txBox="1"/>
          <p:nvPr/>
        </p:nvSpPr>
        <p:spPr>
          <a:xfrm>
            <a:off x="9093250" y="1096899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830" name="Connector 59"/>
          <p:cNvSpPr/>
          <p:nvPr/>
        </p:nvSpPr>
        <p:spPr>
          <a:xfrm>
            <a:off x="1371600" y="1144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31" name="TextBox 60"/>
          <p:cNvSpPr txBox="1"/>
          <p:nvPr/>
        </p:nvSpPr>
        <p:spPr>
          <a:xfrm>
            <a:off x="1517902" y="1155573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6832" name="TextBox 61"/>
          <p:cNvSpPr txBox="1"/>
          <p:nvPr/>
        </p:nvSpPr>
        <p:spPr>
          <a:xfrm>
            <a:off x="2600094" y="1155573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international portfolio</a:t>
            </a:r>
          </a:p>
        </p:txBody>
      </p:sp>
      <p:sp>
        <p:nvSpPr>
          <p:cNvPr id="6833" name="TextBox 62"/>
          <p:cNvSpPr txBox="1"/>
          <p:nvPr/>
        </p:nvSpPr>
        <p:spPr>
          <a:xfrm>
            <a:off x="9093250" y="115557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834" name="Connector 63"/>
          <p:cNvSpPr/>
          <p:nvPr/>
        </p:nvSpPr>
        <p:spPr>
          <a:xfrm>
            <a:off x="1371600" y="120319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35" name="TextBox 64"/>
          <p:cNvSpPr txBox="1"/>
          <p:nvPr/>
        </p:nvSpPr>
        <p:spPr>
          <a:xfrm>
            <a:off x="1517902" y="1214246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6836" name="TextBox 65"/>
          <p:cNvSpPr txBox="1"/>
          <p:nvPr/>
        </p:nvSpPr>
        <p:spPr>
          <a:xfrm>
            <a:off x="2600094" y="1214246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Crowd fund portfolio</a:t>
            </a:r>
          </a:p>
        </p:txBody>
      </p:sp>
      <p:sp>
        <p:nvSpPr>
          <p:cNvPr id="6837" name="TextBox 66"/>
          <p:cNvSpPr txBox="1"/>
          <p:nvPr/>
        </p:nvSpPr>
        <p:spPr>
          <a:xfrm>
            <a:off x="9093250" y="1214246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838" name="Connector 67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" name="TextBox 3"/>
          <p:cNvSpPr txBox="1"/>
          <p:nvPr/>
        </p:nvSpPr>
        <p:spPr>
          <a:xfrm>
            <a:off x="18900646" y="1097280"/>
            <a:ext cx="4114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300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APRIL 2026</a:t>
            </a:r>
          </a:p>
        </p:txBody>
      </p:sp>
      <p:sp>
        <p:nvSpPr>
          <p:cNvPr id="6841" name="Rectangle 4"/>
          <p:cNvSpPr/>
          <p:nvPr/>
        </p:nvSpPr>
        <p:spPr>
          <a:xfrm>
            <a:off x="1371600" y="4114799"/>
            <a:ext cx="1371600" cy="36579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6842" name="TextBox 5"/>
          <p:cNvSpPr txBox="1"/>
          <p:nvPr/>
        </p:nvSpPr>
        <p:spPr>
          <a:xfrm>
            <a:off x="1371600" y="4389120"/>
            <a:ext cx="20116800" cy="1719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ARC </a:t>
            </a:r>
            <a:r>
              <a:rPr>
                <a:solidFill>
                  <a:srgbClr val="0333E8"/>
                </a:solidFill>
              </a:rPr>
              <a:t>IPO</a:t>
            </a:r>
          </a:p>
        </p:txBody>
      </p:sp>
      <p:sp>
        <p:nvSpPr>
          <p:cNvPr id="6843" name="TextBox 6"/>
          <p:cNvSpPr txBox="1"/>
          <p:nvPr/>
        </p:nvSpPr>
        <p:spPr>
          <a:xfrm>
            <a:off x="1371600" y="7863840"/>
            <a:ext cx="20116800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Initial Public Offering subscriptions and allocations</a:t>
            </a:r>
          </a:p>
        </p:txBody>
      </p:sp>
      <p:sp>
        <p:nvSpPr>
          <p:cNvPr id="6844" name="TextBox 7"/>
          <p:cNvSpPr txBox="1"/>
          <p:nvPr/>
        </p:nvSpPr>
        <p:spPr>
          <a:xfrm>
            <a:off x="1371600" y="9143999"/>
            <a:ext cx="20116800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 LIVE STATUS  ·  JIRA COVERAGE</a:t>
            </a:r>
          </a:p>
        </p:txBody>
      </p:sp>
      <p:sp>
        <p:nvSpPr>
          <p:cNvPr id="6845" name="TextBox 8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092 / 111</a:t>
            </a:r>
          </a:p>
        </p:txBody>
      </p:sp>
      <p:pic>
        <p:nvPicPr>
          <p:cNvPr id="684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2200" cy="8220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6849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093 / 111</a:t>
            </a:r>
          </a:p>
        </p:txBody>
      </p:sp>
      <p:sp>
        <p:nvSpPr>
          <p:cNvPr id="6850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IPO  ·  SECTION SUMMARY</a:t>
            </a:r>
          </a:p>
        </p:txBody>
      </p:sp>
      <p:sp>
        <p:nvSpPr>
          <p:cNvPr id="6851" name="TextBox 4"/>
          <p:cNvSpPr txBox="1"/>
          <p:nvPr/>
        </p:nvSpPr>
        <p:spPr>
          <a:xfrm>
            <a:off x="1371600" y="2834638"/>
            <a:ext cx="20116800" cy="769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4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16 capabilities assessed. 13 already live.</a:t>
            </a:r>
          </a:p>
        </p:txBody>
      </p:sp>
      <p:sp>
        <p:nvSpPr>
          <p:cNvPr id="6852" name="TextBox 5"/>
          <p:cNvSpPr txBox="1"/>
          <p:nvPr/>
        </p:nvSpPr>
        <p:spPr>
          <a:xfrm>
            <a:off x="1371600" y="5760720"/>
            <a:ext cx="6400800" cy="3200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8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6853" name="TextBox 6"/>
          <p:cNvSpPr txBox="1"/>
          <p:nvPr/>
        </p:nvSpPr>
        <p:spPr>
          <a:xfrm>
            <a:off x="1371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TOTAL CAPABILITIES</a:t>
            </a:r>
          </a:p>
        </p:txBody>
      </p:sp>
      <p:sp>
        <p:nvSpPr>
          <p:cNvPr id="6854" name="Rectangle 7"/>
          <p:cNvSpPr/>
          <p:nvPr/>
        </p:nvSpPr>
        <p:spPr>
          <a:xfrm>
            <a:off x="1371600" y="9098280"/>
            <a:ext cx="1371600" cy="36578"/>
          </a:xfrm>
          <a:prstGeom prst="rect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6855" name="TextBox 8"/>
          <p:cNvSpPr txBox="1"/>
          <p:nvPr/>
        </p:nvSpPr>
        <p:spPr>
          <a:xfrm>
            <a:off x="8229600" y="5760720"/>
            <a:ext cx="6400800" cy="3200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8000">
                <a:solidFill>
                  <a:srgbClr val="059669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6856" name="TextBox 9"/>
          <p:cNvSpPr txBox="1"/>
          <p:nvPr/>
        </p:nvSpPr>
        <p:spPr>
          <a:xfrm>
            <a:off x="8229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LIVE ON APP   (81% OF 16)</a:t>
            </a:r>
          </a:p>
        </p:txBody>
      </p:sp>
      <p:sp>
        <p:nvSpPr>
          <p:cNvPr id="6857" name="Rectangle 10"/>
          <p:cNvSpPr/>
          <p:nvPr/>
        </p:nvSpPr>
        <p:spPr>
          <a:xfrm>
            <a:off x="8229600" y="9098280"/>
            <a:ext cx="1371600" cy="36578"/>
          </a:xfrm>
          <a:prstGeom prst="rect">
            <a:avLst/>
          </a:prstGeom>
          <a:solidFill>
            <a:srgbClr val="05966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6858" name="TextBox 11"/>
          <p:cNvSpPr txBox="1"/>
          <p:nvPr/>
        </p:nvSpPr>
        <p:spPr>
          <a:xfrm>
            <a:off x="15087600" y="5760720"/>
            <a:ext cx="6400800" cy="3200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8000">
                <a:solidFill>
                  <a:srgbClr val="0333E8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859" name="TextBox 12"/>
          <p:cNvSpPr txBox="1"/>
          <p:nvPr/>
        </p:nvSpPr>
        <p:spPr>
          <a:xfrm>
            <a:off x="15087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TRACKED IN JIRA   (6% OF 16)</a:t>
            </a:r>
          </a:p>
        </p:txBody>
      </p:sp>
      <p:sp>
        <p:nvSpPr>
          <p:cNvPr id="6860" name="Rectangle 13"/>
          <p:cNvSpPr/>
          <p:nvPr/>
        </p:nvSpPr>
        <p:spPr>
          <a:xfrm>
            <a:off x="15087600" y="9098280"/>
            <a:ext cx="1371600" cy="36578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6861" name="Connector 14"/>
          <p:cNvSpPr/>
          <p:nvPr/>
        </p:nvSpPr>
        <p:spPr>
          <a:xfrm>
            <a:off x="1371600" y="10789918"/>
            <a:ext cx="21643849" cy="2"/>
          </a:xfrm>
          <a:prstGeom prst="line">
            <a:avLst/>
          </a:prstGeom>
          <a:ln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62" name="TextBox 15"/>
          <p:cNvSpPr txBox="1"/>
          <p:nvPr/>
        </p:nvSpPr>
        <p:spPr>
          <a:xfrm>
            <a:off x="1371600" y="11109959"/>
            <a:ext cx="1828800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TWO HEADLINES</a:t>
            </a:r>
          </a:p>
        </p:txBody>
      </p:sp>
      <p:sp>
        <p:nvSpPr>
          <p:cNvPr id="6863" name="TextBox 16"/>
          <p:cNvSpPr txBox="1"/>
          <p:nvPr/>
        </p:nvSpPr>
        <p:spPr>
          <a:xfrm>
            <a:off x="1371600" y="11612880"/>
            <a:ext cx="10058400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Most mature product — 81% already live.</a:t>
            </a:r>
          </a:p>
        </p:txBody>
      </p:sp>
      <p:sp>
        <p:nvSpPr>
          <p:cNvPr id="6864" name="TextBox 17"/>
          <p:cNvSpPr txBox="1"/>
          <p:nvPr/>
        </p:nvSpPr>
        <p:spPr>
          <a:xfrm>
            <a:off x="11978640" y="11612880"/>
            <a:ext cx="10058402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Only 1 Jira ticket across 3 open gaps.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858554" y="-118831"/>
            <a:ext cx="8882655" cy="14425960"/>
          </a:xfrm>
          <a:prstGeom prst="rect">
            <a:avLst/>
          </a:prstGeom>
          <a:ln w="12700">
            <a:miter lim="400000"/>
          </a:ln>
        </p:spPr>
      </p:pic>
      <p:sp>
        <p:nvSpPr>
          <p:cNvPr id="6867" name="Rectangle 6"/>
          <p:cNvSpPr/>
          <p:nvPr/>
        </p:nvSpPr>
        <p:spPr>
          <a:xfrm>
            <a:off x="117674" y="14407852"/>
            <a:ext cx="4450085" cy="50800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6870" name="Rectangle 7"/>
          <p:cNvGrpSpPr/>
          <p:nvPr/>
        </p:nvGrpSpPr>
        <p:grpSpPr>
          <a:xfrm>
            <a:off x="117674" y="14475113"/>
            <a:ext cx="6478783" cy="440743"/>
            <a:chOff x="0" y="0"/>
            <a:chExt cx="6478782" cy="440741"/>
          </a:xfrm>
        </p:grpSpPr>
        <p:sp>
          <p:nvSpPr>
            <p:cNvPr id="6868" name="Rectangle"/>
            <p:cNvSpPr/>
            <p:nvPr/>
          </p:nvSpPr>
          <p:spPr>
            <a:xfrm>
              <a:off x="-1" y="-1"/>
              <a:ext cx="6478783" cy="4407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869" name="* Last numbers for International, ROBO are at Q3, Q4 2025"/>
            <p:cNvSpPr txBox="1"/>
            <p:nvPr/>
          </p:nvSpPr>
          <p:spPr>
            <a:xfrm>
              <a:off x="45720" y="53823"/>
              <a:ext cx="6387340" cy="3330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i="1" sz="180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* Last numbers for International, ROBO are at Q3, Q4 2025</a:t>
              </a:r>
            </a:p>
          </p:txBody>
        </p:sp>
      </p:grpSp>
      <p:pic>
        <p:nvPicPr>
          <p:cNvPr id="6871" name="Picture 1139" descr="Picture 113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6872" name="TextBox 1140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094/ 111</a:t>
            </a:r>
          </a:p>
        </p:txBody>
      </p:sp>
      <p:sp>
        <p:nvSpPr>
          <p:cNvPr id="6873" name="TextBox 1141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IPO</a:t>
            </a:r>
          </a:p>
        </p:txBody>
      </p:sp>
      <p:sp>
        <p:nvSpPr>
          <p:cNvPr id="6874" name="TextBox 1142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Sitemap</a:t>
            </a:r>
          </a:p>
        </p:txBody>
      </p:sp>
      <p:sp>
        <p:nvSpPr>
          <p:cNvPr id="6875" name="Connector 1143"/>
          <p:cNvSpPr/>
          <p:nvPr/>
        </p:nvSpPr>
        <p:spPr>
          <a:xfrm flipV="1">
            <a:off x="2926079" y="8415911"/>
            <a:ext cx="227235" cy="8801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76" name="Connector 1144"/>
          <p:cNvSpPr/>
          <p:nvPr/>
        </p:nvSpPr>
        <p:spPr>
          <a:xfrm flipV="1">
            <a:off x="3153312" y="8275718"/>
            <a:ext cx="213438" cy="14019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77" name="Connector 1145"/>
          <p:cNvSpPr/>
          <p:nvPr/>
        </p:nvSpPr>
        <p:spPr>
          <a:xfrm flipV="1">
            <a:off x="3366749" y="8092739"/>
            <a:ext cx="202643" cy="182982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78" name="Connector 1146"/>
          <p:cNvSpPr/>
          <p:nvPr/>
        </p:nvSpPr>
        <p:spPr>
          <a:xfrm flipV="1">
            <a:off x="3569391" y="7876368"/>
            <a:ext cx="194845" cy="216372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79" name="Connector 1147"/>
          <p:cNvSpPr/>
          <p:nvPr/>
        </p:nvSpPr>
        <p:spPr>
          <a:xfrm flipV="1">
            <a:off x="3764234" y="7636006"/>
            <a:ext cx="190047" cy="24036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0" name="Connector 1148"/>
          <p:cNvSpPr/>
          <p:nvPr/>
        </p:nvSpPr>
        <p:spPr>
          <a:xfrm flipV="1">
            <a:off x="3954279" y="7381047"/>
            <a:ext cx="188247" cy="25496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1" name="Connector 1149"/>
          <p:cNvSpPr/>
          <p:nvPr/>
        </p:nvSpPr>
        <p:spPr>
          <a:xfrm flipV="1">
            <a:off x="4142525" y="7120891"/>
            <a:ext cx="189447" cy="260157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2" name="Connector 1150"/>
          <p:cNvSpPr/>
          <p:nvPr/>
        </p:nvSpPr>
        <p:spPr>
          <a:xfrm flipV="1">
            <a:off x="4331968" y="6864933"/>
            <a:ext cx="193645" cy="255959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3" name="Connector 1151"/>
          <p:cNvSpPr/>
          <p:nvPr/>
        </p:nvSpPr>
        <p:spPr>
          <a:xfrm flipV="1">
            <a:off x="4525612" y="6622567"/>
            <a:ext cx="200843" cy="24236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4" name="Connector 1152"/>
          <p:cNvSpPr/>
          <p:nvPr/>
        </p:nvSpPr>
        <p:spPr>
          <a:xfrm flipV="1">
            <a:off x="4726454" y="6403200"/>
            <a:ext cx="211041" cy="21937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5" name="Connector 1153"/>
          <p:cNvSpPr/>
          <p:nvPr/>
        </p:nvSpPr>
        <p:spPr>
          <a:xfrm flipV="1">
            <a:off x="4937492" y="6216220"/>
            <a:ext cx="224237" cy="18698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6" name="Connector 1154"/>
          <p:cNvSpPr/>
          <p:nvPr/>
        </p:nvSpPr>
        <p:spPr>
          <a:xfrm flipV="1">
            <a:off x="5161727" y="6071029"/>
            <a:ext cx="240431" cy="145193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7" name="Connector 1155"/>
          <p:cNvSpPr/>
          <p:nvPr/>
        </p:nvSpPr>
        <p:spPr>
          <a:xfrm flipV="1">
            <a:off x="5402157" y="5977023"/>
            <a:ext cx="259626" cy="94008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8" name="Connector 1156"/>
          <p:cNvSpPr/>
          <p:nvPr/>
        </p:nvSpPr>
        <p:spPr>
          <a:xfrm flipV="1">
            <a:off x="5661781" y="5943598"/>
            <a:ext cx="281820" cy="3342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9" name="Connector 1157"/>
          <p:cNvSpPr/>
          <p:nvPr/>
        </p:nvSpPr>
        <p:spPr>
          <a:xfrm>
            <a:off x="5943600" y="5943600"/>
            <a:ext cx="12344401" cy="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90" name="Oval 1158"/>
          <p:cNvSpPr/>
          <p:nvPr/>
        </p:nvSpPr>
        <p:spPr>
          <a:xfrm>
            <a:off x="2148838" y="7726680"/>
            <a:ext cx="1554484" cy="1554483"/>
          </a:xfrm>
          <a:prstGeom prst="ellipse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6891" name="Oval 1159"/>
          <p:cNvSpPr/>
          <p:nvPr/>
        </p:nvSpPr>
        <p:spPr>
          <a:xfrm>
            <a:off x="2286000" y="7863840"/>
            <a:ext cx="1280162" cy="1280163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6892" name="TextBox 1160"/>
          <p:cNvSpPr txBox="1"/>
          <p:nvPr/>
        </p:nvSpPr>
        <p:spPr>
          <a:xfrm>
            <a:off x="640079" y="9281159"/>
            <a:ext cx="4572003" cy="248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HOME</a:t>
            </a:r>
          </a:p>
        </p:txBody>
      </p:sp>
      <p:sp>
        <p:nvSpPr>
          <p:cNvPr id="6893" name="TextBox 1161"/>
          <p:cNvSpPr txBox="1"/>
          <p:nvPr/>
        </p:nvSpPr>
        <p:spPr>
          <a:xfrm>
            <a:off x="640079" y="9646918"/>
            <a:ext cx="4572003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ROOT  ·  INTERCHANGE</a:t>
            </a:r>
          </a:p>
        </p:txBody>
      </p:sp>
      <p:sp>
        <p:nvSpPr>
          <p:cNvPr id="6894" name="Oval 1162"/>
          <p:cNvSpPr/>
          <p:nvPr/>
        </p:nvSpPr>
        <p:spPr>
          <a:xfrm>
            <a:off x="5646420" y="5646420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6895" name="TextBox 1163"/>
          <p:cNvSpPr txBox="1"/>
          <p:nvPr/>
        </p:nvSpPr>
        <p:spPr>
          <a:xfrm>
            <a:off x="36576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6896" name="TextBox 1164"/>
          <p:cNvSpPr txBox="1"/>
          <p:nvPr/>
        </p:nvSpPr>
        <p:spPr>
          <a:xfrm>
            <a:off x="3657600" y="521207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Search</a:t>
            </a:r>
          </a:p>
        </p:txBody>
      </p:sp>
      <p:sp>
        <p:nvSpPr>
          <p:cNvPr id="6897" name="Oval 1165"/>
          <p:cNvSpPr/>
          <p:nvPr/>
        </p:nvSpPr>
        <p:spPr>
          <a:xfrm>
            <a:off x="11818618" y="5646420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6898" name="TextBox 1166"/>
          <p:cNvSpPr txBox="1"/>
          <p:nvPr/>
        </p:nvSpPr>
        <p:spPr>
          <a:xfrm>
            <a:off x="98298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6899" name="TextBox 1167"/>
          <p:cNvSpPr txBox="1"/>
          <p:nvPr/>
        </p:nvSpPr>
        <p:spPr>
          <a:xfrm>
            <a:off x="9829800" y="521207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Discover</a:t>
            </a:r>
          </a:p>
        </p:txBody>
      </p:sp>
      <p:sp>
        <p:nvSpPr>
          <p:cNvPr id="6900" name="Oval 1168"/>
          <p:cNvSpPr/>
          <p:nvPr/>
        </p:nvSpPr>
        <p:spPr>
          <a:xfrm>
            <a:off x="17990819" y="5646420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6901" name="TextBox 1169"/>
          <p:cNvSpPr txBox="1"/>
          <p:nvPr/>
        </p:nvSpPr>
        <p:spPr>
          <a:xfrm>
            <a:off x="160020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6902" name="TextBox 1170"/>
          <p:cNvSpPr txBox="1"/>
          <p:nvPr/>
        </p:nvSpPr>
        <p:spPr>
          <a:xfrm>
            <a:off x="16002000" y="521207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IPO Services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6905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095/ 111</a:t>
            </a:r>
          </a:p>
        </p:txBody>
      </p:sp>
      <p:sp>
        <p:nvSpPr>
          <p:cNvPr id="6906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IPO  ·  CAPABILITY ASSESSMENT</a:t>
            </a:r>
          </a:p>
        </p:txBody>
      </p:sp>
      <p:sp>
        <p:nvSpPr>
          <p:cNvPr id="6907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IPO Services Structure &amp; Subscription</a:t>
            </a:r>
          </a:p>
        </p:txBody>
      </p:sp>
      <p:sp>
        <p:nvSpPr>
          <p:cNvPr id="6908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6909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6910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6911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6912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6913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6914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6915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6916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17" name="TextBox 14"/>
          <p:cNvSpPr txBox="1"/>
          <p:nvPr/>
        </p:nvSpPr>
        <p:spPr>
          <a:xfrm>
            <a:off x="1517902" y="561498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918" name="TextBox 15"/>
          <p:cNvSpPr txBox="1"/>
          <p:nvPr/>
        </p:nvSpPr>
        <p:spPr>
          <a:xfrm>
            <a:off x="2600094" y="561498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Tab Navigation (Listing / Listed / History)</a:t>
            </a:r>
          </a:p>
        </p:txBody>
      </p:sp>
      <p:sp>
        <p:nvSpPr>
          <p:cNvPr id="6919" name="TextBox 16"/>
          <p:cNvSpPr txBox="1"/>
          <p:nvPr/>
        </p:nvSpPr>
        <p:spPr>
          <a:xfrm>
            <a:off x="9093250" y="56149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920" name="Picture 17" descr="Picture 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565156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921" name="Picture 18" descr="Picture 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565156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922" name="Connector 19"/>
          <p:cNvSpPr/>
          <p:nvPr/>
        </p:nvSpPr>
        <p:spPr>
          <a:xfrm>
            <a:off x="1371600" y="601789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23" name="TextBox 20"/>
          <p:cNvSpPr txBox="1"/>
          <p:nvPr/>
        </p:nvSpPr>
        <p:spPr>
          <a:xfrm>
            <a:off x="1517902" y="605504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924" name="TextBox 21"/>
          <p:cNvSpPr txBox="1"/>
          <p:nvPr/>
        </p:nvSpPr>
        <p:spPr>
          <a:xfrm>
            <a:off x="2600094" y="605504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IPO type segmentation (Sukuk / TASI / Nomu)</a:t>
            </a:r>
          </a:p>
        </p:txBody>
      </p:sp>
      <p:sp>
        <p:nvSpPr>
          <p:cNvPr id="6925" name="TextBox 22"/>
          <p:cNvSpPr txBox="1"/>
          <p:nvPr/>
        </p:nvSpPr>
        <p:spPr>
          <a:xfrm>
            <a:off x="9093250" y="605504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926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09161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927" name="Picture 24" descr="Picture 2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09161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928" name="Connector 25"/>
          <p:cNvSpPr/>
          <p:nvPr/>
        </p:nvSpPr>
        <p:spPr>
          <a:xfrm>
            <a:off x="1371600" y="645795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29" name="TextBox 26"/>
          <p:cNvSpPr txBox="1"/>
          <p:nvPr/>
        </p:nvSpPr>
        <p:spPr>
          <a:xfrm>
            <a:off x="1517902" y="649509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930" name="TextBox 27"/>
          <p:cNvSpPr txBox="1"/>
          <p:nvPr/>
        </p:nvSpPr>
        <p:spPr>
          <a:xfrm>
            <a:off x="2600094" y="649509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IPO status visibility (Upcoming / Open / Closed)</a:t>
            </a:r>
          </a:p>
        </p:txBody>
      </p:sp>
      <p:sp>
        <p:nvSpPr>
          <p:cNvPr id="6931" name="TextBox 28"/>
          <p:cNvSpPr txBox="1"/>
          <p:nvPr/>
        </p:nvSpPr>
        <p:spPr>
          <a:xfrm>
            <a:off x="9093250" y="649509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932" name="Picture 29" descr="Picture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53167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933" name="Picture 30" descr="Picture 3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53167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934" name="Connector 31"/>
          <p:cNvSpPr/>
          <p:nvPr/>
        </p:nvSpPr>
        <p:spPr>
          <a:xfrm>
            <a:off x="1371600" y="689800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35" name="TextBox 32"/>
          <p:cNvSpPr txBox="1"/>
          <p:nvPr/>
        </p:nvSpPr>
        <p:spPr>
          <a:xfrm>
            <a:off x="1517902" y="693515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936" name="TextBox 33"/>
          <p:cNvSpPr txBox="1"/>
          <p:nvPr/>
        </p:nvSpPr>
        <p:spPr>
          <a:xfrm>
            <a:off x="2600094" y="693515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Add IPO to calendar</a:t>
            </a:r>
          </a:p>
        </p:txBody>
      </p:sp>
      <p:sp>
        <p:nvSpPr>
          <p:cNvPr id="6937" name="TextBox 34"/>
          <p:cNvSpPr txBox="1"/>
          <p:nvPr/>
        </p:nvSpPr>
        <p:spPr>
          <a:xfrm>
            <a:off x="9093250" y="693515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938" name="Picture 35" descr="Picture 3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697172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939" name="Picture 36" descr="Picture 3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6971727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940" name="Connector 37"/>
          <p:cNvSpPr/>
          <p:nvPr/>
        </p:nvSpPr>
        <p:spPr>
          <a:xfrm>
            <a:off x="1371600" y="73380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41" name="TextBox 38"/>
          <p:cNvSpPr txBox="1"/>
          <p:nvPr/>
        </p:nvSpPr>
        <p:spPr>
          <a:xfrm>
            <a:off x="1517902" y="737520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6942" name="TextBox 39"/>
          <p:cNvSpPr txBox="1"/>
          <p:nvPr/>
        </p:nvSpPr>
        <p:spPr>
          <a:xfrm>
            <a:off x="2600094" y="737520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IPO card summary</a:t>
            </a:r>
          </a:p>
        </p:txBody>
      </p:sp>
      <p:sp>
        <p:nvSpPr>
          <p:cNvPr id="6943" name="TextBox 40"/>
          <p:cNvSpPr txBox="1"/>
          <p:nvPr/>
        </p:nvSpPr>
        <p:spPr>
          <a:xfrm>
            <a:off x="9093250" y="737520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944" name="Picture 41" descr="Picture 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41178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945" name="Picture 42" descr="Picture 4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41178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946" name="Connector 43"/>
          <p:cNvSpPr/>
          <p:nvPr/>
        </p:nvSpPr>
        <p:spPr>
          <a:xfrm>
            <a:off x="1371600" y="777811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47" name="TextBox 44"/>
          <p:cNvSpPr txBox="1"/>
          <p:nvPr/>
        </p:nvSpPr>
        <p:spPr>
          <a:xfrm>
            <a:off x="1517902" y="781526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6948" name="TextBox 45"/>
          <p:cNvSpPr txBox="1"/>
          <p:nvPr/>
        </p:nvSpPr>
        <p:spPr>
          <a:xfrm>
            <a:off x="2600094" y="781526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Live subscription countdown</a:t>
            </a:r>
          </a:p>
        </p:txBody>
      </p:sp>
      <p:sp>
        <p:nvSpPr>
          <p:cNvPr id="6949" name="TextBox 46"/>
          <p:cNvSpPr txBox="1"/>
          <p:nvPr/>
        </p:nvSpPr>
        <p:spPr>
          <a:xfrm>
            <a:off x="9093250" y="7815260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950" name="Picture 47" descr="Picture 4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785183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951" name="Picture 48" descr="Picture 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7851837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952" name="Connector 49"/>
          <p:cNvSpPr/>
          <p:nvPr/>
        </p:nvSpPr>
        <p:spPr>
          <a:xfrm>
            <a:off x="1371600" y="821816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53" name="TextBox 50"/>
          <p:cNvSpPr txBox="1"/>
          <p:nvPr/>
        </p:nvSpPr>
        <p:spPr>
          <a:xfrm>
            <a:off x="1517902" y="825531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6954" name="TextBox 51"/>
          <p:cNvSpPr txBox="1"/>
          <p:nvPr/>
        </p:nvSpPr>
        <p:spPr>
          <a:xfrm>
            <a:off x="2600094" y="825531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IPO overview</a:t>
            </a:r>
          </a:p>
        </p:txBody>
      </p:sp>
      <p:sp>
        <p:nvSpPr>
          <p:cNvPr id="6955" name="TextBox 52"/>
          <p:cNvSpPr txBox="1"/>
          <p:nvPr/>
        </p:nvSpPr>
        <p:spPr>
          <a:xfrm>
            <a:off x="9093250" y="82553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956" name="Picture 53" descr="Picture 5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29189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957" name="Picture 54" descr="Picture 5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29189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958" name="Connector 55"/>
          <p:cNvSpPr/>
          <p:nvPr/>
        </p:nvSpPr>
        <p:spPr>
          <a:xfrm>
            <a:off x="1371600" y="8658225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59" name="TextBox 56"/>
          <p:cNvSpPr txBox="1"/>
          <p:nvPr/>
        </p:nvSpPr>
        <p:spPr>
          <a:xfrm>
            <a:off x="1517902" y="8695372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6960" name="TextBox 57"/>
          <p:cNvSpPr txBox="1"/>
          <p:nvPr/>
        </p:nvSpPr>
        <p:spPr>
          <a:xfrm>
            <a:off x="2600094" y="8695372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Offering company overview</a:t>
            </a:r>
          </a:p>
        </p:txBody>
      </p:sp>
      <p:sp>
        <p:nvSpPr>
          <p:cNvPr id="6961" name="TextBox 58"/>
          <p:cNvSpPr txBox="1"/>
          <p:nvPr/>
        </p:nvSpPr>
        <p:spPr>
          <a:xfrm>
            <a:off x="9093250" y="869537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pic>
        <p:nvPicPr>
          <p:cNvPr id="6962" name="Picture 59" descr="Picture 5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8731946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963" name="Picture 60" descr="Picture 6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8731946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964" name="Connector 61"/>
          <p:cNvSpPr/>
          <p:nvPr/>
        </p:nvSpPr>
        <p:spPr>
          <a:xfrm>
            <a:off x="1371600" y="90982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65" name="TextBox 62"/>
          <p:cNvSpPr txBox="1"/>
          <p:nvPr/>
        </p:nvSpPr>
        <p:spPr>
          <a:xfrm>
            <a:off x="1517902" y="913542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6966" name="TextBox 63"/>
          <p:cNvSpPr txBox="1"/>
          <p:nvPr/>
        </p:nvSpPr>
        <p:spPr>
          <a:xfrm>
            <a:off x="2600094" y="913542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Subscribe to IPO</a:t>
            </a:r>
          </a:p>
        </p:txBody>
      </p:sp>
      <p:sp>
        <p:nvSpPr>
          <p:cNvPr id="6967" name="TextBox 64"/>
          <p:cNvSpPr txBox="1"/>
          <p:nvPr/>
        </p:nvSpPr>
        <p:spPr>
          <a:xfrm>
            <a:off x="9093250" y="913542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6968" name="Picture 65" descr="Picture 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9172002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969" name="Picture 66" descr="Picture 6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9172002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970" name="Connector 67"/>
          <p:cNvSpPr/>
          <p:nvPr/>
        </p:nvSpPr>
        <p:spPr>
          <a:xfrm>
            <a:off x="1371600" y="9538334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71" name="TextBox 68"/>
          <p:cNvSpPr txBox="1"/>
          <p:nvPr/>
        </p:nvSpPr>
        <p:spPr>
          <a:xfrm>
            <a:off x="1517902" y="957548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6972" name="TextBox 69"/>
          <p:cNvSpPr txBox="1"/>
          <p:nvPr/>
        </p:nvSpPr>
        <p:spPr>
          <a:xfrm>
            <a:off x="2600094" y="957548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Subscribe to Sukuk Saah</a:t>
            </a:r>
          </a:p>
        </p:txBody>
      </p:sp>
      <p:sp>
        <p:nvSpPr>
          <p:cNvPr id="6973" name="TextBox 70"/>
          <p:cNvSpPr txBox="1"/>
          <p:nvPr/>
        </p:nvSpPr>
        <p:spPr>
          <a:xfrm>
            <a:off x="9093250" y="957548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974" name="TextBox 71"/>
          <p:cNvSpPr txBox="1"/>
          <p:nvPr/>
        </p:nvSpPr>
        <p:spPr>
          <a:xfrm>
            <a:off x="18832982" y="9575482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ARCD-72385</a:t>
            </a:r>
          </a:p>
        </p:txBody>
      </p:sp>
      <p:sp>
        <p:nvSpPr>
          <p:cNvPr id="6975" name="Connector 72"/>
          <p:cNvSpPr/>
          <p:nvPr/>
        </p:nvSpPr>
        <p:spPr>
          <a:xfrm>
            <a:off x="1371600" y="997839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76" name="TextBox 73"/>
          <p:cNvSpPr txBox="1"/>
          <p:nvPr/>
        </p:nvSpPr>
        <p:spPr>
          <a:xfrm>
            <a:off x="1517902" y="10015535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6977" name="TextBox 74"/>
          <p:cNvSpPr txBox="1"/>
          <p:nvPr/>
        </p:nvSpPr>
        <p:spPr>
          <a:xfrm>
            <a:off x="2600094" y="10015535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destination routing</a:t>
            </a:r>
          </a:p>
        </p:txBody>
      </p:sp>
      <p:sp>
        <p:nvSpPr>
          <p:cNvPr id="6978" name="TextBox 75"/>
          <p:cNvSpPr txBox="1"/>
          <p:nvPr/>
        </p:nvSpPr>
        <p:spPr>
          <a:xfrm>
            <a:off x="9093250" y="100155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6979" name="TextBox 76"/>
          <p:cNvSpPr txBox="1"/>
          <p:nvPr/>
        </p:nvSpPr>
        <p:spPr>
          <a:xfrm>
            <a:off x="14504212" y="10015535"/>
            <a:ext cx="4036163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 make it easier</a:t>
            </a:r>
          </a:p>
        </p:txBody>
      </p:sp>
      <p:sp>
        <p:nvSpPr>
          <p:cNvPr id="6980" name="Connector 77"/>
          <p:cNvSpPr/>
          <p:nvPr/>
        </p:nvSpPr>
        <p:spPr>
          <a:xfrm>
            <a:off x="1371600" y="1041844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81" name="TextBox 78"/>
          <p:cNvSpPr txBox="1"/>
          <p:nvPr/>
        </p:nvSpPr>
        <p:spPr>
          <a:xfrm>
            <a:off x="1517902" y="1045559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6982" name="TextBox 79"/>
          <p:cNvSpPr txBox="1"/>
          <p:nvPr/>
        </p:nvSpPr>
        <p:spPr>
          <a:xfrm>
            <a:off x="2600094" y="1045559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Dynamic order input logic (based on IPO type)</a:t>
            </a:r>
          </a:p>
        </p:txBody>
      </p:sp>
      <p:sp>
        <p:nvSpPr>
          <p:cNvPr id="6983" name="TextBox 80"/>
          <p:cNvSpPr txBox="1"/>
          <p:nvPr/>
        </p:nvSpPr>
        <p:spPr>
          <a:xfrm>
            <a:off x="9093250" y="1045559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6984" name="Picture 81" descr="Picture 8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492168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985" name="Picture 82" descr="Picture 8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492168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986" name="Connector 83"/>
          <p:cNvSpPr/>
          <p:nvPr/>
        </p:nvSpPr>
        <p:spPr>
          <a:xfrm>
            <a:off x="1371600" y="108585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87" name="TextBox 84"/>
          <p:cNvSpPr txBox="1"/>
          <p:nvPr/>
        </p:nvSpPr>
        <p:spPr>
          <a:xfrm>
            <a:off x="1517902" y="10895647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6988" name="TextBox 85"/>
          <p:cNvSpPr txBox="1"/>
          <p:nvPr/>
        </p:nvSpPr>
        <p:spPr>
          <a:xfrm>
            <a:off x="2600094" y="10895647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Dependent allocation support</a:t>
            </a:r>
          </a:p>
        </p:txBody>
      </p:sp>
      <p:sp>
        <p:nvSpPr>
          <p:cNvPr id="6989" name="TextBox 86"/>
          <p:cNvSpPr txBox="1"/>
          <p:nvPr/>
        </p:nvSpPr>
        <p:spPr>
          <a:xfrm>
            <a:off x="9093250" y="1089564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6990" name="Picture 87" descr="Picture 8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0932221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991" name="Picture 88" descr="Picture 8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0932221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992" name="Connector 89"/>
          <p:cNvSpPr/>
          <p:nvPr/>
        </p:nvSpPr>
        <p:spPr>
          <a:xfrm>
            <a:off x="1371600" y="1129855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93" name="TextBox 90"/>
          <p:cNvSpPr txBox="1"/>
          <p:nvPr/>
        </p:nvSpPr>
        <p:spPr>
          <a:xfrm>
            <a:off x="1517902" y="1133570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6994" name="TextBox 91"/>
          <p:cNvSpPr txBox="1"/>
          <p:nvPr/>
        </p:nvSpPr>
        <p:spPr>
          <a:xfrm>
            <a:off x="2600094" y="1133570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Dependent registry (ID-based)</a:t>
            </a:r>
          </a:p>
        </p:txBody>
      </p:sp>
      <p:sp>
        <p:nvSpPr>
          <p:cNvPr id="6995" name="TextBox 92"/>
          <p:cNvSpPr txBox="1"/>
          <p:nvPr/>
        </p:nvSpPr>
        <p:spPr>
          <a:xfrm>
            <a:off x="9093250" y="1133570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6996" name="Picture 93" descr="Picture 9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372277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6997" name="Picture 94" descr="Picture 9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372277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998" name="Connector 95"/>
          <p:cNvSpPr/>
          <p:nvPr/>
        </p:nvSpPr>
        <p:spPr>
          <a:xfrm>
            <a:off x="1371600" y="1173860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99" name="TextBox 96"/>
          <p:cNvSpPr txBox="1"/>
          <p:nvPr/>
        </p:nvSpPr>
        <p:spPr>
          <a:xfrm>
            <a:off x="1517902" y="1177575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7000" name="TextBox 97"/>
          <p:cNvSpPr txBox="1"/>
          <p:nvPr/>
        </p:nvSpPr>
        <p:spPr>
          <a:xfrm>
            <a:off x="2600094" y="1177575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Dependent editing &amp; management</a:t>
            </a:r>
          </a:p>
        </p:txBody>
      </p:sp>
      <p:sp>
        <p:nvSpPr>
          <p:cNvPr id="7001" name="TextBox 98"/>
          <p:cNvSpPr txBox="1"/>
          <p:nvPr/>
        </p:nvSpPr>
        <p:spPr>
          <a:xfrm>
            <a:off x="9093250" y="1177575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pic>
        <p:nvPicPr>
          <p:cNvPr id="7002" name="Picture 99" descr="Picture 9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14343" y="11812333"/>
            <a:ext cx="292610" cy="292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7003" name="Picture 100" descr="Picture 10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45850" y="11812333"/>
            <a:ext cx="292610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7004" name="Connector 101"/>
          <p:cNvSpPr/>
          <p:nvPr/>
        </p:nvSpPr>
        <p:spPr>
          <a:xfrm>
            <a:off x="1371600" y="1217866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05" name="TextBox 102"/>
          <p:cNvSpPr txBox="1"/>
          <p:nvPr/>
        </p:nvSpPr>
        <p:spPr>
          <a:xfrm>
            <a:off x="1517902" y="1221581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7006" name="TextBox 103"/>
          <p:cNvSpPr txBox="1"/>
          <p:nvPr/>
        </p:nvSpPr>
        <p:spPr>
          <a:xfrm>
            <a:off x="2600094" y="1221581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US IPO</a:t>
            </a:r>
          </a:p>
        </p:txBody>
      </p:sp>
      <p:sp>
        <p:nvSpPr>
          <p:cNvPr id="7007" name="TextBox 104"/>
          <p:cNvSpPr txBox="1"/>
          <p:nvPr/>
        </p:nvSpPr>
        <p:spPr>
          <a:xfrm>
            <a:off x="9093250" y="12215810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008" name="Connector 105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0" name="TextBox 3"/>
          <p:cNvSpPr txBox="1"/>
          <p:nvPr/>
        </p:nvSpPr>
        <p:spPr>
          <a:xfrm>
            <a:off x="18900646" y="1097280"/>
            <a:ext cx="4114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300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APRIL 2026</a:t>
            </a:r>
          </a:p>
        </p:txBody>
      </p:sp>
      <p:sp>
        <p:nvSpPr>
          <p:cNvPr id="7011" name="Rectangle 4"/>
          <p:cNvSpPr/>
          <p:nvPr/>
        </p:nvSpPr>
        <p:spPr>
          <a:xfrm>
            <a:off x="1371600" y="4114799"/>
            <a:ext cx="1371600" cy="36579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7012" name="TextBox 5"/>
          <p:cNvSpPr txBox="1"/>
          <p:nvPr/>
        </p:nvSpPr>
        <p:spPr>
          <a:xfrm>
            <a:off x="1371600" y="4389120"/>
            <a:ext cx="20116800" cy="1719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ARC </a:t>
            </a:r>
            <a:r>
              <a:rPr>
                <a:solidFill>
                  <a:srgbClr val="0333E8"/>
                </a:solidFill>
              </a:rPr>
              <a:t>LMS</a:t>
            </a:r>
          </a:p>
        </p:txBody>
      </p:sp>
      <p:sp>
        <p:nvSpPr>
          <p:cNvPr id="7013" name="TextBox 6"/>
          <p:cNvSpPr txBox="1"/>
          <p:nvPr/>
        </p:nvSpPr>
        <p:spPr>
          <a:xfrm>
            <a:off x="1371600" y="7863840"/>
            <a:ext cx="20116800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Lending and financing services</a:t>
            </a:r>
          </a:p>
        </p:txBody>
      </p:sp>
      <p:sp>
        <p:nvSpPr>
          <p:cNvPr id="7014" name="TextBox 7"/>
          <p:cNvSpPr txBox="1"/>
          <p:nvPr/>
        </p:nvSpPr>
        <p:spPr>
          <a:xfrm>
            <a:off x="1371600" y="9143999"/>
            <a:ext cx="20116800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 LIVE STATUS  ·  JIRA COVERAGE</a:t>
            </a:r>
          </a:p>
        </p:txBody>
      </p:sp>
      <p:sp>
        <p:nvSpPr>
          <p:cNvPr id="7015" name="TextBox 8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096/ 111</a:t>
            </a:r>
          </a:p>
        </p:txBody>
      </p:sp>
      <p:pic>
        <p:nvPicPr>
          <p:cNvPr id="701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2200" cy="8220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7019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097/ 111</a:t>
            </a:r>
          </a:p>
        </p:txBody>
      </p:sp>
      <p:sp>
        <p:nvSpPr>
          <p:cNvPr id="7020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LMS  ·  SECTION SUMMARY</a:t>
            </a:r>
          </a:p>
        </p:txBody>
      </p:sp>
      <p:sp>
        <p:nvSpPr>
          <p:cNvPr id="7021" name="TextBox 4"/>
          <p:cNvSpPr txBox="1"/>
          <p:nvPr/>
        </p:nvSpPr>
        <p:spPr>
          <a:xfrm>
            <a:off x="1371600" y="2834638"/>
            <a:ext cx="20116800" cy="769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4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27 capabilities assessed. 15 already live.</a:t>
            </a:r>
          </a:p>
        </p:txBody>
      </p:sp>
      <p:sp>
        <p:nvSpPr>
          <p:cNvPr id="7022" name="TextBox 5"/>
          <p:cNvSpPr txBox="1"/>
          <p:nvPr/>
        </p:nvSpPr>
        <p:spPr>
          <a:xfrm>
            <a:off x="1371600" y="5760720"/>
            <a:ext cx="6400800" cy="3200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8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27</a:t>
            </a:r>
          </a:p>
        </p:txBody>
      </p:sp>
      <p:sp>
        <p:nvSpPr>
          <p:cNvPr id="7023" name="TextBox 6"/>
          <p:cNvSpPr txBox="1"/>
          <p:nvPr/>
        </p:nvSpPr>
        <p:spPr>
          <a:xfrm>
            <a:off x="1371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TOTAL CAPABILITIES</a:t>
            </a:r>
          </a:p>
        </p:txBody>
      </p:sp>
      <p:sp>
        <p:nvSpPr>
          <p:cNvPr id="7024" name="Rectangle 7"/>
          <p:cNvSpPr/>
          <p:nvPr/>
        </p:nvSpPr>
        <p:spPr>
          <a:xfrm>
            <a:off x="1371600" y="9098280"/>
            <a:ext cx="1371600" cy="36578"/>
          </a:xfrm>
          <a:prstGeom prst="rect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7025" name="TextBox 8"/>
          <p:cNvSpPr txBox="1"/>
          <p:nvPr/>
        </p:nvSpPr>
        <p:spPr>
          <a:xfrm>
            <a:off x="8229600" y="5760720"/>
            <a:ext cx="6400800" cy="3200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8000">
                <a:solidFill>
                  <a:srgbClr val="059669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7026" name="TextBox 9"/>
          <p:cNvSpPr txBox="1"/>
          <p:nvPr/>
        </p:nvSpPr>
        <p:spPr>
          <a:xfrm>
            <a:off x="8229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LIVE ON APP   (56% OF 27)</a:t>
            </a:r>
          </a:p>
        </p:txBody>
      </p:sp>
      <p:sp>
        <p:nvSpPr>
          <p:cNvPr id="7027" name="Rectangle 10"/>
          <p:cNvSpPr/>
          <p:nvPr/>
        </p:nvSpPr>
        <p:spPr>
          <a:xfrm>
            <a:off x="8229600" y="9098280"/>
            <a:ext cx="1371600" cy="36578"/>
          </a:xfrm>
          <a:prstGeom prst="rect">
            <a:avLst/>
          </a:prstGeom>
          <a:solidFill>
            <a:srgbClr val="05966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7028" name="TextBox 11"/>
          <p:cNvSpPr txBox="1"/>
          <p:nvPr/>
        </p:nvSpPr>
        <p:spPr>
          <a:xfrm>
            <a:off x="15087600" y="5760720"/>
            <a:ext cx="6400800" cy="3200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8000">
                <a:solidFill>
                  <a:srgbClr val="0333E8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029" name="TextBox 12"/>
          <p:cNvSpPr txBox="1"/>
          <p:nvPr/>
        </p:nvSpPr>
        <p:spPr>
          <a:xfrm>
            <a:off x="15087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TRACKED IN JIRA   (15% OF 27)</a:t>
            </a:r>
          </a:p>
        </p:txBody>
      </p:sp>
      <p:sp>
        <p:nvSpPr>
          <p:cNvPr id="7030" name="Rectangle 13"/>
          <p:cNvSpPr/>
          <p:nvPr/>
        </p:nvSpPr>
        <p:spPr>
          <a:xfrm>
            <a:off x="15087600" y="9098280"/>
            <a:ext cx="1371600" cy="36578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7031" name="Connector 14"/>
          <p:cNvSpPr/>
          <p:nvPr/>
        </p:nvSpPr>
        <p:spPr>
          <a:xfrm>
            <a:off x="1371600" y="10789918"/>
            <a:ext cx="21643849" cy="2"/>
          </a:xfrm>
          <a:prstGeom prst="line">
            <a:avLst/>
          </a:prstGeom>
          <a:ln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32" name="TextBox 15"/>
          <p:cNvSpPr txBox="1"/>
          <p:nvPr/>
        </p:nvSpPr>
        <p:spPr>
          <a:xfrm>
            <a:off x="1371600" y="11109959"/>
            <a:ext cx="1828800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TWO HEADLINES</a:t>
            </a:r>
          </a:p>
        </p:txBody>
      </p:sp>
      <p:sp>
        <p:nvSpPr>
          <p:cNvPr id="7033" name="TextBox 16"/>
          <p:cNvSpPr txBox="1"/>
          <p:nvPr/>
        </p:nvSpPr>
        <p:spPr>
          <a:xfrm>
            <a:off x="1371600" y="11612880"/>
            <a:ext cx="10058400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12 capabilities still in delivery — 44% of the stack.</a:t>
            </a:r>
          </a:p>
        </p:txBody>
      </p:sp>
      <p:sp>
        <p:nvSpPr>
          <p:cNvPr id="7034" name="TextBox 17"/>
          <p:cNvSpPr txBox="1"/>
          <p:nvPr/>
        </p:nvSpPr>
        <p:spPr>
          <a:xfrm>
            <a:off x="11978640" y="11612880"/>
            <a:ext cx="10058402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15% Jira coverage — healthy for a half-built product.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3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858554" y="-118831"/>
            <a:ext cx="8882655" cy="14425960"/>
          </a:xfrm>
          <a:prstGeom prst="rect">
            <a:avLst/>
          </a:prstGeom>
          <a:ln w="12700">
            <a:miter lim="400000"/>
          </a:ln>
        </p:spPr>
      </p:pic>
      <p:sp>
        <p:nvSpPr>
          <p:cNvPr id="7037" name="Rectangle 6"/>
          <p:cNvSpPr/>
          <p:nvPr/>
        </p:nvSpPr>
        <p:spPr>
          <a:xfrm>
            <a:off x="117674" y="14407852"/>
            <a:ext cx="4450085" cy="50800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7040" name="Rectangle 7"/>
          <p:cNvGrpSpPr/>
          <p:nvPr/>
        </p:nvGrpSpPr>
        <p:grpSpPr>
          <a:xfrm>
            <a:off x="117674" y="14475113"/>
            <a:ext cx="6478783" cy="440743"/>
            <a:chOff x="0" y="0"/>
            <a:chExt cx="6478782" cy="440741"/>
          </a:xfrm>
        </p:grpSpPr>
        <p:sp>
          <p:nvSpPr>
            <p:cNvPr id="7038" name="Rectangle"/>
            <p:cNvSpPr/>
            <p:nvPr/>
          </p:nvSpPr>
          <p:spPr>
            <a:xfrm>
              <a:off x="-1" y="-1"/>
              <a:ext cx="6478783" cy="4407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039" name="* Last numbers for International, ROBO are at Q3, Q4 2025"/>
            <p:cNvSpPr txBox="1"/>
            <p:nvPr/>
          </p:nvSpPr>
          <p:spPr>
            <a:xfrm>
              <a:off x="45720" y="53823"/>
              <a:ext cx="6387340" cy="3330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i="1" sz="180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* Last numbers for International, ROBO are at Q3, Q4 2025</a:t>
              </a:r>
            </a:p>
          </p:txBody>
        </p:sp>
      </p:grpSp>
      <p:pic>
        <p:nvPicPr>
          <p:cNvPr id="7041" name="Frame 1.png" descr="Frame 1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144"/>
          <a:stretch>
            <a:fillRect/>
          </a:stretch>
        </p:blipFill>
        <p:spPr>
          <a:xfrm>
            <a:off x="25426263" y="2703744"/>
            <a:ext cx="9069094" cy="8780690"/>
          </a:xfrm>
          <a:prstGeom prst="rect">
            <a:avLst/>
          </a:prstGeom>
          <a:ln w="12700">
            <a:miter lim="400000"/>
          </a:ln>
        </p:spPr>
      </p:pic>
      <p:pic>
        <p:nvPicPr>
          <p:cNvPr id="7042" name="Picture 1215" descr="Picture 121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7043" name="TextBox 1216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098/ 111</a:t>
            </a:r>
          </a:p>
        </p:txBody>
      </p:sp>
      <p:sp>
        <p:nvSpPr>
          <p:cNvPr id="7044" name="TextBox 1217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LMS</a:t>
            </a:r>
          </a:p>
        </p:txBody>
      </p:sp>
      <p:sp>
        <p:nvSpPr>
          <p:cNvPr id="7045" name="TextBox 1218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Sitemap</a:t>
            </a:r>
          </a:p>
        </p:txBody>
      </p:sp>
      <p:sp>
        <p:nvSpPr>
          <p:cNvPr id="7046" name="Connector 1219"/>
          <p:cNvSpPr/>
          <p:nvPr/>
        </p:nvSpPr>
        <p:spPr>
          <a:xfrm flipV="1">
            <a:off x="2926079" y="8415911"/>
            <a:ext cx="227235" cy="8801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47" name="Connector 1220"/>
          <p:cNvSpPr/>
          <p:nvPr/>
        </p:nvSpPr>
        <p:spPr>
          <a:xfrm flipV="1">
            <a:off x="3153312" y="8275718"/>
            <a:ext cx="213438" cy="14019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48" name="Connector 1221"/>
          <p:cNvSpPr/>
          <p:nvPr/>
        </p:nvSpPr>
        <p:spPr>
          <a:xfrm flipV="1">
            <a:off x="3366749" y="8092739"/>
            <a:ext cx="202643" cy="182982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49" name="Connector 1222"/>
          <p:cNvSpPr/>
          <p:nvPr/>
        </p:nvSpPr>
        <p:spPr>
          <a:xfrm flipV="1">
            <a:off x="3569391" y="7876368"/>
            <a:ext cx="194845" cy="216372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50" name="Connector 1223"/>
          <p:cNvSpPr/>
          <p:nvPr/>
        </p:nvSpPr>
        <p:spPr>
          <a:xfrm flipV="1">
            <a:off x="3764234" y="7636006"/>
            <a:ext cx="190047" cy="24036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51" name="Connector 1224"/>
          <p:cNvSpPr/>
          <p:nvPr/>
        </p:nvSpPr>
        <p:spPr>
          <a:xfrm flipV="1">
            <a:off x="3954279" y="7381047"/>
            <a:ext cx="188247" cy="25496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52" name="Connector 1225"/>
          <p:cNvSpPr/>
          <p:nvPr/>
        </p:nvSpPr>
        <p:spPr>
          <a:xfrm flipV="1">
            <a:off x="4142525" y="7120891"/>
            <a:ext cx="189447" cy="260157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53" name="Connector 1226"/>
          <p:cNvSpPr/>
          <p:nvPr/>
        </p:nvSpPr>
        <p:spPr>
          <a:xfrm flipV="1">
            <a:off x="4331968" y="6864933"/>
            <a:ext cx="193645" cy="255959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54" name="Connector 1227"/>
          <p:cNvSpPr/>
          <p:nvPr/>
        </p:nvSpPr>
        <p:spPr>
          <a:xfrm flipV="1">
            <a:off x="4525612" y="6622567"/>
            <a:ext cx="200843" cy="24236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55" name="Connector 1228"/>
          <p:cNvSpPr/>
          <p:nvPr/>
        </p:nvSpPr>
        <p:spPr>
          <a:xfrm flipV="1">
            <a:off x="4726454" y="6403200"/>
            <a:ext cx="211041" cy="21937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56" name="Connector 1229"/>
          <p:cNvSpPr/>
          <p:nvPr/>
        </p:nvSpPr>
        <p:spPr>
          <a:xfrm flipV="1">
            <a:off x="4937492" y="6216220"/>
            <a:ext cx="224237" cy="18698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57" name="Connector 1230"/>
          <p:cNvSpPr/>
          <p:nvPr/>
        </p:nvSpPr>
        <p:spPr>
          <a:xfrm flipV="1">
            <a:off x="5161727" y="6071029"/>
            <a:ext cx="240431" cy="145193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58" name="Connector 1231"/>
          <p:cNvSpPr/>
          <p:nvPr/>
        </p:nvSpPr>
        <p:spPr>
          <a:xfrm flipV="1">
            <a:off x="5402157" y="5977023"/>
            <a:ext cx="259626" cy="94008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59" name="Connector 1232"/>
          <p:cNvSpPr/>
          <p:nvPr/>
        </p:nvSpPr>
        <p:spPr>
          <a:xfrm flipV="1">
            <a:off x="5661781" y="5943598"/>
            <a:ext cx="281820" cy="3342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60" name="Connector 1233"/>
          <p:cNvSpPr/>
          <p:nvPr/>
        </p:nvSpPr>
        <p:spPr>
          <a:xfrm>
            <a:off x="5943600" y="5943600"/>
            <a:ext cx="12344401" cy="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61" name="Connector 1234"/>
          <p:cNvSpPr/>
          <p:nvPr/>
        </p:nvSpPr>
        <p:spPr>
          <a:xfrm>
            <a:off x="2926078" y="8503918"/>
            <a:ext cx="227235" cy="86676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62" name="Connector 1235"/>
          <p:cNvSpPr/>
          <p:nvPr/>
        </p:nvSpPr>
        <p:spPr>
          <a:xfrm>
            <a:off x="3153311" y="8590594"/>
            <a:ext cx="213440" cy="136462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63" name="Connector 1236"/>
          <p:cNvSpPr/>
          <p:nvPr/>
        </p:nvSpPr>
        <p:spPr>
          <a:xfrm>
            <a:off x="3366751" y="8727054"/>
            <a:ext cx="202643" cy="17725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64" name="Connector 1237"/>
          <p:cNvSpPr/>
          <p:nvPr/>
        </p:nvSpPr>
        <p:spPr>
          <a:xfrm>
            <a:off x="3569391" y="8904302"/>
            <a:ext cx="194845" cy="20904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65" name="Connector 1238"/>
          <p:cNvSpPr/>
          <p:nvPr/>
        </p:nvSpPr>
        <p:spPr>
          <a:xfrm>
            <a:off x="3764234" y="9113342"/>
            <a:ext cx="190047" cy="23183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66" name="Connector 1239"/>
          <p:cNvSpPr/>
          <p:nvPr/>
        </p:nvSpPr>
        <p:spPr>
          <a:xfrm>
            <a:off x="3954279" y="9345172"/>
            <a:ext cx="188247" cy="24563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67" name="Connector 1240"/>
          <p:cNvSpPr/>
          <p:nvPr/>
        </p:nvSpPr>
        <p:spPr>
          <a:xfrm>
            <a:off x="4142525" y="9590802"/>
            <a:ext cx="189447" cy="250429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68" name="Connector 1241"/>
          <p:cNvSpPr/>
          <p:nvPr/>
        </p:nvSpPr>
        <p:spPr>
          <a:xfrm>
            <a:off x="4331970" y="9841230"/>
            <a:ext cx="193645" cy="24623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69" name="Connector 1242"/>
          <p:cNvSpPr/>
          <p:nvPr/>
        </p:nvSpPr>
        <p:spPr>
          <a:xfrm>
            <a:off x="4525612" y="10087457"/>
            <a:ext cx="200843" cy="23303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0" name="Connector 1243"/>
          <p:cNvSpPr/>
          <p:nvPr/>
        </p:nvSpPr>
        <p:spPr>
          <a:xfrm>
            <a:off x="4726454" y="10320490"/>
            <a:ext cx="211041" cy="21084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1" name="Connector 1244"/>
          <p:cNvSpPr/>
          <p:nvPr/>
        </p:nvSpPr>
        <p:spPr>
          <a:xfrm>
            <a:off x="4937492" y="10531326"/>
            <a:ext cx="224237" cy="17965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2" name="Connector 1245"/>
          <p:cNvSpPr/>
          <p:nvPr/>
        </p:nvSpPr>
        <p:spPr>
          <a:xfrm>
            <a:off x="5161727" y="10710975"/>
            <a:ext cx="240431" cy="13946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3" name="Connector 1246"/>
          <p:cNvSpPr/>
          <p:nvPr/>
        </p:nvSpPr>
        <p:spPr>
          <a:xfrm>
            <a:off x="5402155" y="10850435"/>
            <a:ext cx="259626" cy="90276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4" name="Connector 1247"/>
          <p:cNvSpPr/>
          <p:nvPr/>
        </p:nvSpPr>
        <p:spPr>
          <a:xfrm>
            <a:off x="5661781" y="10940708"/>
            <a:ext cx="281820" cy="3209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5" name="Connector 1248"/>
          <p:cNvSpPr/>
          <p:nvPr/>
        </p:nvSpPr>
        <p:spPr>
          <a:xfrm>
            <a:off x="5943600" y="10972800"/>
            <a:ext cx="12344401" cy="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6" name="Oval 1249"/>
          <p:cNvSpPr/>
          <p:nvPr/>
        </p:nvSpPr>
        <p:spPr>
          <a:xfrm>
            <a:off x="2148838" y="7726680"/>
            <a:ext cx="1554484" cy="1554483"/>
          </a:xfrm>
          <a:prstGeom prst="ellipse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7077" name="Oval 1250"/>
          <p:cNvSpPr/>
          <p:nvPr/>
        </p:nvSpPr>
        <p:spPr>
          <a:xfrm>
            <a:off x="2286000" y="7863840"/>
            <a:ext cx="1280162" cy="1280163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7078" name="TextBox 1251"/>
          <p:cNvSpPr txBox="1"/>
          <p:nvPr/>
        </p:nvSpPr>
        <p:spPr>
          <a:xfrm>
            <a:off x="640079" y="9281159"/>
            <a:ext cx="4572003" cy="248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HOME</a:t>
            </a:r>
          </a:p>
        </p:txBody>
      </p:sp>
      <p:sp>
        <p:nvSpPr>
          <p:cNvPr id="7079" name="TextBox 1252"/>
          <p:cNvSpPr txBox="1"/>
          <p:nvPr/>
        </p:nvSpPr>
        <p:spPr>
          <a:xfrm>
            <a:off x="640079" y="9646918"/>
            <a:ext cx="4572003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ROOT  ·  INTERCHANGE</a:t>
            </a:r>
          </a:p>
        </p:txBody>
      </p:sp>
      <p:sp>
        <p:nvSpPr>
          <p:cNvPr id="7080" name="Oval 1253"/>
          <p:cNvSpPr/>
          <p:nvPr/>
        </p:nvSpPr>
        <p:spPr>
          <a:xfrm>
            <a:off x="5646420" y="5646420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7081" name="TextBox 1254"/>
          <p:cNvSpPr txBox="1"/>
          <p:nvPr/>
        </p:nvSpPr>
        <p:spPr>
          <a:xfrm>
            <a:off x="36576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7082" name="TextBox 1255"/>
          <p:cNvSpPr txBox="1"/>
          <p:nvPr/>
        </p:nvSpPr>
        <p:spPr>
          <a:xfrm>
            <a:off x="3657600" y="521207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Discover</a:t>
            </a:r>
          </a:p>
        </p:txBody>
      </p:sp>
      <p:sp>
        <p:nvSpPr>
          <p:cNvPr id="7083" name="Oval 1256"/>
          <p:cNvSpPr/>
          <p:nvPr/>
        </p:nvSpPr>
        <p:spPr>
          <a:xfrm>
            <a:off x="9761218" y="5646420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7084" name="TextBox 1257"/>
          <p:cNvSpPr txBox="1"/>
          <p:nvPr/>
        </p:nvSpPr>
        <p:spPr>
          <a:xfrm>
            <a:off x="77724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7085" name="TextBox 1258"/>
          <p:cNvSpPr txBox="1"/>
          <p:nvPr/>
        </p:nvSpPr>
        <p:spPr>
          <a:xfrm>
            <a:off x="7772400" y="521207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Financing</a:t>
            </a:r>
          </a:p>
        </p:txBody>
      </p:sp>
      <p:sp>
        <p:nvSpPr>
          <p:cNvPr id="7086" name="Oval 1259"/>
          <p:cNvSpPr/>
          <p:nvPr/>
        </p:nvSpPr>
        <p:spPr>
          <a:xfrm>
            <a:off x="13876019" y="5646420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7087" name="TextBox 1260"/>
          <p:cNvSpPr txBox="1"/>
          <p:nvPr/>
        </p:nvSpPr>
        <p:spPr>
          <a:xfrm>
            <a:off x="118872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7088" name="TextBox 1261"/>
          <p:cNvSpPr txBox="1"/>
          <p:nvPr/>
        </p:nvSpPr>
        <p:spPr>
          <a:xfrm>
            <a:off x="11887200" y="521207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Apply Finance</a:t>
            </a:r>
          </a:p>
        </p:txBody>
      </p:sp>
      <p:sp>
        <p:nvSpPr>
          <p:cNvPr id="7089" name="Oval 1262"/>
          <p:cNvSpPr/>
          <p:nvPr/>
        </p:nvSpPr>
        <p:spPr>
          <a:xfrm>
            <a:off x="17990819" y="5646420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7090" name="TextBox 1263"/>
          <p:cNvSpPr txBox="1"/>
          <p:nvPr/>
        </p:nvSpPr>
        <p:spPr>
          <a:xfrm>
            <a:off x="160020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091" name="TextBox 1264"/>
          <p:cNvSpPr txBox="1"/>
          <p:nvPr/>
        </p:nvSpPr>
        <p:spPr>
          <a:xfrm>
            <a:off x="16002000" y="521207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Requests</a:t>
            </a:r>
          </a:p>
        </p:txBody>
      </p:sp>
      <p:sp>
        <p:nvSpPr>
          <p:cNvPr id="7092" name="Oval 1265"/>
          <p:cNvSpPr/>
          <p:nvPr/>
        </p:nvSpPr>
        <p:spPr>
          <a:xfrm>
            <a:off x="5646420" y="10675618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7093" name="TextBox 1266"/>
          <p:cNvSpPr txBox="1"/>
          <p:nvPr/>
        </p:nvSpPr>
        <p:spPr>
          <a:xfrm>
            <a:off x="3657600" y="11475718"/>
            <a:ext cx="4572000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7094" name="TextBox 1267"/>
          <p:cNvSpPr txBox="1"/>
          <p:nvPr/>
        </p:nvSpPr>
        <p:spPr>
          <a:xfrm>
            <a:off x="3657600" y="1179575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Portfolios</a:t>
            </a:r>
          </a:p>
        </p:txBody>
      </p:sp>
      <p:sp>
        <p:nvSpPr>
          <p:cNvPr id="7095" name="Oval 1268"/>
          <p:cNvSpPr/>
          <p:nvPr/>
        </p:nvSpPr>
        <p:spPr>
          <a:xfrm>
            <a:off x="17990819" y="10675618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7096" name="TextBox 1269"/>
          <p:cNvSpPr txBox="1"/>
          <p:nvPr/>
        </p:nvSpPr>
        <p:spPr>
          <a:xfrm>
            <a:off x="16002000" y="11475718"/>
            <a:ext cx="4572000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7097" name="TextBox 1270"/>
          <p:cNvSpPr txBox="1"/>
          <p:nvPr/>
        </p:nvSpPr>
        <p:spPr>
          <a:xfrm>
            <a:off x="16002000" y="1179575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Murabaha Portfolio</a:t>
            </a:r>
          </a:p>
        </p:txBody>
      </p:sp>
      <p:sp>
        <p:nvSpPr>
          <p:cNvPr id="7098" name="Rounded Rectangle 1271"/>
          <p:cNvSpPr/>
          <p:nvPr/>
        </p:nvSpPr>
        <p:spPr>
          <a:xfrm>
            <a:off x="19659600" y="4389120"/>
            <a:ext cx="3474721" cy="146304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7099" name="Connector 1272"/>
          <p:cNvSpPr/>
          <p:nvPr/>
        </p:nvSpPr>
        <p:spPr>
          <a:xfrm>
            <a:off x="19933919" y="4800600"/>
            <a:ext cx="640082" cy="0"/>
          </a:xfrm>
          <a:prstGeom prst="line">
            <a:avLst/>
          </a:prstGeom>
          <a:ln w="889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00" name="TextBox 1273"/>
          <p:cNvSpPr txBox="1"/>
          <p:nvPr/>
        </p:nvSpPr>
        <p:spPr>
          <a:xfrm>
            <a:off x="20756880" y="4663440"/>
            <a:ext cx="274320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PRIMARY LINE</a:t>
            </a:r>
          </a:p>
        </p:txBody>
      </p:sp>
      <p:sp>
        <p:nvSpPr>
          <p:cNvPr id="7101" name="Connector 1274"/>
          <p:cNvSpPr/>
          <p:nvPr/>
        </p:nvSpPr>
        <p:spPr>
          <a:xfrm>
            <a:off x="19933919" y="5486400"/>
            <a:ext cx="640082" cy="0"/>
          </a:xfrm>
          <a:prstGeom prst="line">
            <a:avLst/>
          </a:prstGeom>
          <a:ln w="889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02" name="TextBox 1275"/>
          <p:cNvSpPr txBox="1"/>
          <p:nvPr/>
        </p:nvSpPr>
        <p:spPr>
          <a:xfrm>
            <a:off x="20756880" y="5349240"/>
            <a:ext cx="274320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PORTFOLIO 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7105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099 / 111</a:t>
            </a:r>
          </a:p>
        </p:txBody>
      </p:sp>
      <p:sp>
        <p:nvSpPr>
          <p:cNvPr id="7106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LMS  ·  CAPABILITY ASSESSMENT</a:t>
            </a:r>
          </a:p>
        </p:txBody>
      </p:sp>
      <p:sp>
        <p:nvSpPr>
          <p:cNvPr id="7107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LMS Creation</a:t>
            </a:r>
          </a:p>
        </p:txBody>
      </p:sp>
      <p:sp>
        <p:nvSpPr>
          <p:cNvPr id="7108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7109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7110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7111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7112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7113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7114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7115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7116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17" name="TextBox 14"/>
          <p:cNvSpPr txBox="1"/>
          <p:nvPr/>
        </p:nvSpPr>
        <p:spPr>
          <a:xfrm>
            <a:off x="1517902" y="568832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118" name="TextBox 15"/>
          <p:cNvSpPr txBox="1"/>
          <p:nvPr/>
        </p:nvSpPr>
        <p:spPr>
          <a:xfrm>
            <a:off x="2600094" y="568832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Select Murabaha</a:t>
            </a:r>
          </a:p>
        </p:txBody>
      </p:sp>
      <p:sp>
        <p:nvSpPr>
          <p:cNvPr id="7119" name="TextBox 16"/>
          <p:cNvSpPr txBox="1"/>
          <p:nvPr/>
        </p:nvSpPr>
        <p:spPr>
          <a:xfrm>
            <a:off x="9093250" y="568832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120" name="Connector 17"/>
          <p:cNvSpPr/>
          <p:nvPr/>
        </p:nvSpPr>
        <p:spPr>
          <a:xfrm>
            <a:off x="1371600" y="616457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21" name="TextBox 18"/>
          <p:cNvSpPr txBox="1"/>
          <p:nvPr/>
        </p:nvSpPr>
        <p:spPr>
          <a:xfrm>
            <a:off x="1517902" y="627507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122" name="TextBox 19"/>
          <p:cNvSpPr txBox="1"/>
          <p:nvPr/>
        </p:nvSpPr>
        <p:spPr>
          <a:xfrm>
            <a:off x="2600094" y="627507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Requested Amount</a:t>
            </a:r>
          </a:p>
        </p:txBody>
      </p:sp>
      <p:sp>
        <p:nvSpPr>
          <p:cNvPr id="7123" name="TextBox 20"/>
          <p:cNvSpPr txBox="1"/>
          <p:nvPr/>
        </p:nvSpPr>
        <p:spPr>
          <a:xfrm>
            <a:off x="9093250" y="627507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124" name="Connector 21"/>
          <p:cNvSpPr/>
          <p:nvPr/>
        </p:nvSpPr>
        <p:spPr>
          <a:xfrm>
            <a:off x="1371600" y="67513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25" name="TextBox 22"/>
          <p:cNvSpPr txBox="1"/>
          <p:nvPr/>
        </p:nvSpPr>
        <p:spPr>
          <a:xfrm>
            <a:off x="1517902" y="686180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126" name="TextBox 23"/>
          <p:cNvSpPr txBox="1"/>
          <p:nvPr/>
        </p:nvSpPr>
        <p:spPr>
          <a:xfrm>
            <a:off x="2600094" y="686180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Select Portfolio</a:t>
            </a:r>
          </a:p>
        </p:txBody>
      </p:sp>
      <p:sp>
        <p:nvSpPr>
          <p:cNvPr id="7127" name="TextBox 24"/>
          <p:cNvSpPr txBox="1"/>
          <p:nvPr/>
        </p:nvSpPr>
        <p:spPr>
          <a:xfrm>
            <a:off x="9093250" y="686180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128" name="Connector 25"/>
          <p:cNvSpPr/>
          <p:nvPr/>
        </p:nvSpPr>
        <p:spPr>
          <a:xfrm>
            <a:off x="1371600" y="73380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29" name="TextBox 26"/>
          <p:cNvSpPr txBox="1"/>
          <p:nvPr/>
        </p:nvSpPr>
        <p:spPr>
          <a:xfrm>
            <a:off x="1517902" y="744855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130" name="TextBox 27"/>
          <p:cNvSpPr txBox="1"/>
          <p:nvPr/>
        </p:nvSpPr>
        <p:spPr>
          <a:xfrm>
            <a:off x="2600094" y="744855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Suitability</a:t>
            </a:r>
          </a:p>
        </p:txBody>
      </p:sp>
      <p:sp>
        <p:nvSpPr>
          <p:cNvPr id="7131" name="TextBox 28"/>
          <p:cNvSpPr txBox="1"/>
          <p:nvPr/>
        </p:nvSpPr>
        <p:spPr>
          <a:xfrm>
            <a:off x="9093250" y="744854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132" name="Connector 29"/>
          <p:cNvSpPr/>
          <p:nvPr/>
        </p:nvSpPr>
        <p:spPr>
          <a:xfrm>
            <a:off x="1371600" y="79248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33" name="TextBox 30"/>
          <p:cNvSpPr txBox="1"/>
          <p:nvPr/>
        </p:nvSpPr>
        <p:spPr>
          <a:xfrm>
            <a:off x="1517902" y="803529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134" name="TextBox 31"/>
          <p:cNvSpPr txBox="1"/>
          <p:nvPr/>
        </p:nvSpPr>
        <p:spPr>
          <a:xfrm>
            <a:off x="2600094" y="803529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Murabaha Requests</a:t>
            </a:r>
          </a:p>
        </p:txBody>
      </p:sp>
      <p:sp>
        <p:nvSpPr>
          <p:cNvPr id="7135" name="TextBox 32"/>
          <p:cNvSpPr txBox="1"/>
          <p:nvPr/>
        </p:nvSpPr>
        <p:spPr>
          <a:xfrm>
            <a:off x="9093250" y="803529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136" name="Connector 33"/>
          <p:cNvSpPr/>
          <p:nvPr/>
        </p:nvSpPr>
        <p:spPr>
          <a:xfrm>
            <a:off x="1371600" y="85115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37" name="TextBox 34"/>
          <p:cNvSpPr txBox="1"/>
          <p:nvPr/>
        </p:nvSpPr>
        <p:spPr>
          <a:xfrm>
            <a:off x="1517902" y="862203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138" name="TextBox 35"/>
          <p:cNvSpPr txBox="1"/>
          <p:nvPr/>
        </p:nvSpPr>
        <p:spPr>
          <a:xfrm>
            <a:off x="2600094" y="862203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Get New Finance</a:t>
            </a:r>
          </a:p>
        </p:txBody>
      </p:sp>
      <p:sp>
        <p:nvSpPr>
          <p:cNvPr id="7139" name="TextBox 36"/>
          <p:cNvSpPr txBox="1"/>
          <p:nvPr/>
        </p:nvSpPr>
        <p:spPr>
          <a:xfrm>
            <a:off x="9093250" y="86220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140" name="Connector 37"/>
          <p:cNvSpPr/>
          <p:nvPr/>
        </p:nvSpPr>
        <p:spPr>
          <a:xfrm>
            <a:off x="1371600" y="90982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41" name="TextBox 38"/>
          <p:cNvSpPr txBox="1"/>
          <p:nvPr/>
        </p:nvSpPr>
        <p:spPr>
          <a:xfrm>
            <a:off x="1517902" y="920876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142" name="TextBox 39"/>
          <p:cNvSpPr txBox="1"/>
          <p:nvPr/>
        </p:nvSpPr>
        <p:spPr>
          <a:xfrm>
            <a:off x="2600094" y="920876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Collaterals Submission</a:t>
            </a:r>
          </a:p>
        </p:txBody>
      </p:sp>
      <p:sp>
        <p:nvSpPr>
          <p:cNvPr id="7143" name="TextBox 40"/>
          <p:cNvSpPr txBox="1"/>
          <p:nvPr/>
        </p:nvSpPr>
        <p:spPr>
          <a:xfrm>
            <a:off x="9093250" y="920876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144" name="Connector 41"/>
          <p:cNvSpPr/>
          <p:nvPr/>
        </p:nvSpPr>
        <p:spPr>
          <a:xfrm>
            <a:off x="1371600" y="96850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45" name="TextBox 42"/>
          <p:cNvSpPr txBox="1"/>
          <p:nvPr/>
        </p:nvSpPr>
        <p:spPr>
          <a:xfrm>
            <a:off x="1517902" y="979550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7146" name="TextBox 43"/>
          <p:cNvSpPr txBox="1"/>
          <p:nvPr/>
        </p:nvSpPr>
        <p:spPr>
          <a:xfrm>
            <a:off x="2600094" y="979550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Finance Allocation</a:t>
            </a:r>
          </a:p>
        </p:txBody>
      </p:sp>
      <p:sp>
        <p:nvSpPr>
          <p:cNvPr id="7147" name="TextBox 44"/>
          <p:cNvSpPr txBox="1"/>
          <p:nvPr/>
        </p:nvSpPr>
        <p:spPr>
          <a:xfrm>
            <a:off x="9093250" y="979550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148" name="Connector 45"/>
          <p:cNvSpPr/>
          <p:nvPr/>
        </p:nvSpPr>
        <p:spPr>
          <a:xfrm>
            <a:off x="1371600" y="102717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49" name="TextBox 46"/>
          <p:cNvSpPr txBox="1"/>
          <p:nvPr/>
        </p:nvSpPr>
        <p:spPr>
          <a:xfrm>
            <a:off x="1517902" y="1038225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7150" name="TextBox 47"/>
          <p:cNvSpPr txBox="1"/>
          <p:nvPr/>
        </p:nvSpPr>
        <p:spPr>
          <a:xfrm>
            <a:off x="2600094" y="1038225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Opening Portfolio</a:t>
            </a:r>
          </a:p>
        </p:txBody>
      </p:sp>
      <p:sp>
        <p:nvSpPr>
          <p:cNvPr id="7151" name="TextBox 48"/>
          <p:cNvSpPr txBox="1"/>
          <p:nvPr/>
        </p:nvSpPr>
        <p:spPr>
          <a:xfrm>
            <a:off x="9093250" y="1038224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152" name="Connector 49"/>
          <p:cNvSpPr/>
          <p:nvPr/>
        </p:nvSpPr>
        <p:spPr>
          <a:xfrm>
            <a:off x="1371600" y="108585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53" name="TextBox 50"/>
          <p:cNvSpPr txBox="1"/>
          <p:nvPr/>
        </p:nvSpPr>
        <p:spPr>
          <a:xfrm>
            <a:off x="1517902" y="1096899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7154" name="TextBox 51"/>
          <p:cNvSpPr txBox="1"/>
          <p:nvPr/>
        </p:nvSpPr>
        <p:spPr>
          <a:xfrm>
            <a:off x="2600094" y="1096899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Submit PO</a:t>
            </a:r>
          </a:p>
        </p:txBody>
      </p:sp>
      <p:sp>
        <p:nvSpPr>
          <p:cNvPr id="7155" name="TextBox 52"/>
          <p:cNvSpPr txBox="1"/>
          <p:nvPr/>
        </p:nvSpPr>
        <p:spPr>
          <a:xfrm>
            <a:off x="9093250" y="1096899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156" name="Connector 53"/>
          <p:cNvSpPr/>
          <p:nvPr/>
        </p:nvSpPr>
        <p:spPr>
          <a:xfrm>
            <a:off x="1371600" y="1144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57" name="TextBox 54"/>
          <p:cNvSpPr txBox="1"/>
          <p:nvPr/>
        </p:nvSpPr>
        <p:spPr>
          <a:xfrm>
            <a:off x="1517902" y="1155573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7158" name="TextBox 55"/>
          <p:cNvSpPr txBox="1"/>
          <p:nvPr/>
        </p:nvSpPr>
        <p:spPr>
          <a:xfrm>
            <a:off x="2600094" y="1155573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Purchasing Stocks</a:t>
            </a:r>
          </a:p>
        </p:txBody>
      </p:sp>
      <p:sp>
        <p:nvSpPr>
          <p:cNvPr id="7159" name="TextBox 56"/>
          <p:cNvSpPr txBox="1"/>
          <p:nvPr/>
        </p:nvSpPr>
        <p:spPr>
          <a:xfrm>
            <a:off x="9093250" y="115557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160" name="Connector 57"/>
          <p:cNvSpPr/>
          <p:nvPr/>
        </p:nvSpPr>
        <p:spPr>
          <a:xfrm>
            <a:off x="1371600" y="120319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61" name="TextBox 58"/>
          <p:cNvSpPr txBox="1"/>
          <p:nvPr/>
        </p:nvSpPr>
        <p:spPr>
          <a:xfrm>
            <a:off x="1517902" y="1214246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7162" name="TextBox 59"/>
          <p:cNvSpPr txBox="1"/>
          <p:nvPr/>
        </p:nvSpPr>
        <p:spPr>
          <a:xfrm>
            <a:off x="2600094" y="1214246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Accept Contract</a:t>
            </a:r>
          </a:p>
        </p:txBody>
      </p:sp>
      <p:sp>
        <p:nvSpPr>
          <p:cNvPr id="7163" name="TextBox 60"/>
          <p:cNvSpPr txBox="1"/>
          <p:nvPr/>
        </p:nvSpPr>
        <p:spPr>
          <a:xfrm>
            <a:off x="9093250" y="1214246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164" name="Connector 61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7167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100 / 111</a:t>
            </a:r>
          </a:p>
        </p:txBody>
      </p:sp>
      <p:sp>
        <p:nvSpPr>
          <p:cNvPr id="7168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LMS  ·  CAPABILITY ASSESSMENT</a:t>
            </a:r>
          </a:p>
        </p:txBody>
      </p:sp>
      <p:sp>
        <p:nvSpPr>
          <p:cNvPr id="7169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LMS capability</a:t>
            </a:r>
          </a:p>
        </p:txBody>
      </p:sp>
      <p:sp>
        <p:nvSpPr>
          <p:cNvPr id="7170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7171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7172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7173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7174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7175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7176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7177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7178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79" name="TextBox 14"/>
          <p:cNvSpPr txBox="1"/>
          <p:nvPr/>
        </p:nvSpPr>
        <p:spPr>
          <a:xfrm>
            <a:off x="1517902" y="562965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180" name="TextBox 15"/>
          <p:cNvSpPr txBox="1"/>
          <p:nvPr/>
        </p:nvSpPr>
        <p:spPr>
          <a:xfrm>
            <a:off x="2600094" y="562965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Saudi Market</a:t>
            </a:r>
          </a:p>
        </p:txBody>
      </p:sp>
      <p:sp>
        <p:nvSpPr>
          <p:cNvPr id="7181" name="TextBox 16"/>
          <p:cNvSpPr txBox="1"/>
          <p:nvPr/>
        </p:nvSpPr>
        <p:spPr>
          <a:xfrm>
            <a:off x="9093250" y="562965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182" name="Connector 17"/>
          <p:cNvSpPr/>
          <p:nvPr/>
        </p:nvSpPr>
        <p:spPr>
          <a:xfrm>
            <a:off x="1371600" y="604723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83" name="TextBox 18"/>
          <p:cNvSpPr txBox="1"/>
          <p:nvPr/>
        </p:nvSpPr>
        <p:spPr>
          <a:xfrm>
            <a:off x="1517902" y="609904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184" name="TextBox 19"/>
          <p:cNvSpPr txBox="1"/>
          <p:nvPr/>
        </p:nvSpPr>
        <p:spPr>
          <a:xfrm>
            <a:off x="2600094" y="609904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US Market</a:t>
            </a:r>
          </a:p>
        </p:txBody>
      </p:sp>
      <p:sp>
        <p:nvSpPr>
          <p:cNvPr id="7185" name="TextBox 20"/>
          <p:cNvSpPr txBox="1"/>
          <p:nvPr/>
        </p:nvSpPr>
        <p:spPr>
          <a:xfrm>
            <a:off x="9093250" y="609904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186" name="Connector 21"/>
          <p:cNvSpPr/>
          <p:nvPr/>
        </p:nvSpPr>
        <p:spPr>
          <a:xfrm>
            <a:off x="1371600" y="651662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87" name="TextBox 22"/>
          <p:cNvSpPr txBox="1"/>
          <p:nvPr/>
        </p:nvSpPr>
        <p:spPr>
          <a:xfrm>
            <a:off x="1517902" y="65684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188" name="TextBox 23"/>
          <p:cNvSpPr txBox="1"/>
          <p:nvPr/>
        </p:nvSpPr>
        <p:spPr>
          <a:xfrm>
            <a:off x="2600094" y="65684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Mutual Fund</a:t>
            </a:r>
          </a:p>
        </p:txBody>
      </p:sp>
      <p:sp>
        <p:nvSpPr>
          <p:cNvPr id="7189" name="TextBox 24"/>
          <p:cNvSpPr txBox="1"/>
          <p:nvPr/>
        </p:nvSpPr>
        <p:spPr>
          <a:xfrm>
            <a:off x="9093250" y="65684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190" name="Connector 25"/>
          <p:cNvSpPr/>
          <p:nvPr/>
        </p:nvSpPr>
        <p:spPr>
          <a:xfrm>
            <a:off x="1371600" y="698601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91" name="TextBox 26"/>
          <p:cNvSpPr txBox="1"/>
          <p:nvPr/>
        </p:nvSpPr>
        <p:spPr>
          <a:xfrm>
            <a:off x="1517902" y="703783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192" name="TextBox 27"/>
          <p:cNvSpPr txBox="1"/>
          <p:nvPr/>
        </p:nvSpPr>
        <p:spPr>
          <a:xfrm>
            <a:off x="2600094" y="703783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Crowed Fund</a:t>
            </a:r>
          </a:p>
        </p:txBody>
      </p:sp>
      <p:sp>
        <p:nvSpPr>
          <p:cNvPr id="7193" name="TextBox 28"/>
          <p:cNvSpPr txBox="1"/>
          <p:nvPr/>
        </p:nvSpPr>
        <p:spPr>
          <a:xfrm>
            <a:off x="9093250" y="7037830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194" name="Connector 29"/>
          <p:cNvSpPr/>
          <p:nvPr/>
        </p:nvSpPr>
        <p:spPr>
          <a:xfrm>
            <a:off x="1371600" y="745540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95" name="TextBox 30"/>
          <p:cNvSpPr txBox="1"/>
          <p:nvPr/>
        </p:nvSpPr>
        <p:spPr>
          <a:xfrm>
            <a:off x="1517902" y="750722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196" name="TextBox 31"/>
          <p:cNvSpPr txBox="1"/>
          <p:nvPr/>
        </p:nvSpPr>
        <p:spPr>
          <a:xfrm>
            <a:off x="2600094" y="750722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ROBO</a:t>
            </a:r>
          </a:p>
        </p:txBody>
      </p:sp>
      <p:sp>
        <p:nvSpPr>
          <p:cNvPr id="7197" name="TextBox 32"/>
          <p:cNvSpPr txBox="1"/>
          <p:nvPr/>
        </p:nvSpPr>
        <p:spPr>
          <a:xfrm>
            <a:off x="9093250" y="750722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198" name="Connector 33"/>
          <p:cNvSpPr/>
          <p:nvPr/>
        </p:nvSpPr>
        <p:spPr>
          <a:xfrm>
            <a:off x="1371600" y="79248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99" name="TextBox 34"/>
          <p:cNvSpPr txBox="1"/>
          <p:nvPr/>
        </p:nvSpPr>
        <p:spPr>
          <a:xfrm>
            <a:off x="1517902" y="797661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200" name="TextBox 35"/>
          <p:cNvSpPr txBox="1"/>
          <p:nvPr/>
        </p:nvSpPr>
        <p:spPr>
          <a:xfrm>
            <a:off x="2600094" y="797661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Early settlement</a:t>
            </a:r>
          </a:p>
        </p:txBody>
      </p:sp>
      <p:sp>
        <p:nvSpPr>
          <p:cNvPr id="7201" name="TextBox 36"/>
          <p:cNvSpPr txBox="1"/>
          <p:nvPr/>
        </p:nvSpPr>
        <p:spPr>
          <a:xfrm>
            <a:off x="9093250" y="797661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202" name="Connector 37"/>
          <p:cNvSpPr/>
          <p:nvPr/>
        </p:nvSpPr>
        <p:spPr>
          <a:xfrm>
            <a:off x="1371600" y="839419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03" name="TextBox 38"/>
          <p:cNvSpPr txBox="1"/>
          <p:nvPr/>
        </p:nvSpPr>
        <p:spPr>
          <a:xfrm>
            <a:off x="1517902" y="8446006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204" name="TextBox 39"/>
          <p:cNvSpPr txBox="1"/>
          <p:nvPr/>
        </p:nvSpPr>
        <p:spPr>
          <a:xfrm>
            <a:off x="2600094" y="8446006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Renwal</a:t>
            </a:r>
          </a:p>
        </p:txBody>
      </p:sp>
      <p:sp>
        <p:nvSpPr>
          <p:cNvPr id="7205" name="TextBox 40"/>
          <p:cNvSpPr txBox="1"/>
          <p:nvPr/>
        </p:nvSpPr>
        <p:spPr>
          <a:xfrm>
            <a:off x="9093250" y="8446006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206" name="Connector 41"/>
          <p:cNvSpPr/>
          <p:nvPr/>
        </p:nvSpPr>
        <p:spPr>
          <a:xfrm>
            <a:off x="1371600" y="88635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07" name="TextBox 42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7208" name="TextBox 43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Request expiation rate</a:t>
            </a:r>
          </a:p>
        </p:txBody>
      </p:sp>
      <p:sp>
        <p:nvSpPr>
          <p:cNvPr id="7209" name="TextBox 44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210" name="Connector 45"/>
          <p:cNvSpPr/>
          <p:nvPr/>
        </p:nvSpPr>
        <p:spPr>
          <a:xfrm>
            <a:off x="1371600" y="9332976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11" name="TextBox 46"/>
          <p:cNvSpPr txBox="1"/>
          <p:nvPr/>
        </p:nvSpPr>
        <p:spPr>
          <a:xfrm>
            <a:off x="1517902" y="9384792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7212" name="TextBox 47"/>
          <p:cNvSpPr txBox="1"/>
          <p:nvPr/>
        </p:nvSpPr>
        <p:spPr>
          <a:xfrm>
            <a:off x="2600094" y="9384792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Pre approval</a:t>
            </a:r>
          </a:p>
        </p:txBody>
      </p:sp>
      <p:sp>
        <p:nvSpPr>
          <p:cNvPr id="7213" name="TextBox 48"/>
          <p:cNvSpPr txBox="1"/>
          <p:nvPr/>
        </p:nvSpPr>
        <p:spPr>
          <a:xfrm>
            <a:off x="9093250" y="938479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214" name="Connector 49"/>
          <p:cNvSpPr/>
          <p:nvPr/>
        </p:nvSpPr>
        <p:spPr>
          <a:xfrm>
            <a:off x="1371600" y="980236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15" name="TextBox 50"/>
          <p:cNvSpPr txBox="1"/>
          <p:nvPr/>
        </p:nvSpPr>
        <p:spPr>
          <a:xfrm>
            <a:off x="1517902" y="985418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7216" name="TextBox 51"/>
          <p:cNvSpPr txBox="1"/>
          <p:nvPr/>
        </p:nvSpPr>
        <p:spPr>
          <a:xfrm>
            <a:off x="2600094" y="985418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Collrotal form other product</a:t>
            </a:r>
          </a:p>
        </p:txBody>
      </p:sp>
      <p:sp>
        <p:nvSpPr>
          <p:cNvPr id="7217" name="TextBox 52"/>
          <p:cNvSpPr txBox="1"/>
          <p:nvPr/>
        </p:nvSpPr>
        <p:spPr>
          <a:xfrm>
            <a:off x="9093250" y="985418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218" name="Connector 53"/>
          <p:cNvSpPr/>
          <p:nvPr/>
        </p:nvSpPr>
        <p:spPr>
          <a:xfrm>
            <a:off x="1371600" y="102717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19" name="TextBox 54"/>
          <p:cNvSpPr txBox="1"/>
          <p:nvPr/>
        </p:nvSpPr>
        <p:spPr>
          <a:xfrm>
            <a:off x="1517902" y="1032357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7220" name="TextBox 55"/>
          <p:cNvSpPr txBox="1"/>
          <p:nvPr/>
        </p:nvSpPr>
        <p:spPr>
          <a:xfrm>
            <a:off x="2600094" y="1032357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Leverage instantly</a:t>
            </a:r>
          </a:p>
        </p:txBody>
      </p:sp>
      <p:sp>
        <p:nvSpPr>
          <p:cNvPr id="7221" name="TextBox 56"/>
          <p:cNvSpPr txBox="1"/>
          <p:nvPr/>
        </p:nvSpPr>
        <p:spPr>
          <a:xfrm>
            <a:off x="9093250" y="1032357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222" name="Connector 57"/>
          <p:cNvSpPr/>
          <p:nvPr/>
        </p:nvSpPr>
        <p:spPr>
          <a:xfrm>
            <a:off x="1371600" y="107411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23" name="TextBox 58"/>
          <p:cNvSpPr txBox="1"/>
          <p:nvPr/>
        </p:nvSpPr>
        <p:spPr>
          <a:xfrm>
            <a:off x="1517902" y="1079296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7224" name="TextBox 59"/>
          <p:cNvSpPr txBox="1"/>
          <p:nvPr/>
        </p:nvSpPr>
        <p:spPr>
          <a:xfrm>
            <a:off x="2600094" y="1079296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Pre approved</a:t>
            </a:r>
          </a:p>
        </p:txBody>
      </p:sp>
      <p:sp>
        <p:nvSpPr>
          <p:cNvPr id="7225" name="TextBox 60"/>
          <p:cNvSpPr txBox="1"/>
          <p:nvPr/>
        </p:nvSpPr>
        <p:spPr>
          <a:xfrm>
            <a:off x="9093250" y="10792968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226" name="TextBox 61"/>
          <p:cNvSpPr txBox="1"/>
          <p:nvPr/>
        </p:nvSpPr>
        <p:spPr>
          <a:xfrm>
            <a:off x="18832982" y="10792968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ARCD-86236</a:t>
            </a:r>
          </a:p>
        </p:txBody>
      </p:sp>
      <p:sp>
        <p:nvSpPr>
          <p:cNvPr id="7227" name="Connector 62"/>
          <p:cNvSpPr/>
          <p:nvPr/>
        </p:nvSpPr>
        <p:spPr>
          <a:xfrm>
            <a:off x="1371600" y="1121054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28" name="TextBox 63"/>
          <p:cNvSpPr txBox="1"/>
          <p:nvPr/>
        </p:nvSpPr>
        <p:spPr>
          <a:xfrm>
            <a:off x="1517902" y="112623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7229" name="TextBox 64"/>
          <p:cNvSpPr txBox="1"/>
          <p:nvPr/>
        </p:nvSpPr>
        <p:spPr>
          <a:xfrm>
            <a:off x="2600094" y="112623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Instant opening OD margin lending for all clients</a:t>
            </a:r>
          </a:p>
        </p:txBody>
      </p:sp>
      <p:sp>
        <p:nvSpPr>
          <p:cNvPr id="7230" name="TextBox 65"/>
          <p:cNvSpPr txBox="1"/>
          <p:nvPr/>
        </p:nvSpPr>
        <p:spPr>
          <a:xfrm>
            <a:off x="9093250" y="112623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231" name="TextBox 66"/>
          <p:cNvSpPr txBox="1"/>
          <p:nvPr/>
        </p:nvSpPr>
        <p:spPr>
          <a:xfrm>
            <a:off x="18832982" y="11262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ARCD-85843</a:t>
            </a:r>
          </a:p>
        </p:txBody>
      </p:sp>
      <p:sp>
        <p:nvSpPr>
          <p:cNvPr id="7232" name="Connector 67"/>
          <p:cNvSpPr/>
          <p:nvPr/>
        </p:nvSpPr>
        <p:spPr>
          <a:xfrm>
            <a:off x="1371600" y="1167993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33" name="TextBox 68"/>
          <p:cNvSpPr txBox="1"/>
          <p:nvPr/>
        </p:nvSpPr>
        <p:spPr>
          <a:xfrm>
            <a:off x="1517902" y="1173175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7234" name="TextBox 69"/>
          <p:cNvSpPr txBox="1"/>
          <p:nvPr/>
        </p:nvSpPr>
        <p:spPr>
          <a:xfrm>
            <a:off x="2600094" y="1173175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Audit trail</a:t>
            </a:r>
          </a:p>
        </p:txBody>
      </p:sp>
      <p:sp>
        <p:nvSpPr>
          <p:cNvPr id="7235" name="TextBox 70"/>
          <p:cNvSpPr txBox="1"/>
          <p:nvPr/>
        </p:nvSpPr>
        <p:spPr>
          <a:xfrm>
            <a:off x="9093250" y="1173175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236" name="TextBox 71"/>
          <p:cNvSpPr txBox="1"/>
          <p:nvPr/>
        </p:nvSpPr>
        <p:spPr>
          <a:xfrm>
            <a:off x="18832982" y="11731752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ARCD-2639</a:t>
            </a:r>
          </a:p>
        </p:txBody>
      </p:sp>
      <p:sp>
        <p:nvSpPr>
          <p:cNvPr id="7237" name="Connector 72"/>
          <p:cNvSpPr/>
          <p:nvPr/>
        </p:nvSpPr>
        <p:spPr>
          <a:xfrm>
            <a:off x="1371600" y="1214932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38" name="TextBox 73"/>
          <p:cNvSpPr txBox="1"/>
          <p:nvPr/>
        </p:nvSpPr>
        <p:spPr>
          <a:xfrm>
            <a:off x="1517902" y="12201142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7239" name="TextBox 74"/>
          <p:cNvSpPr txBox="1"/>
          <p:nvPr/>
        </p:nvSpPr>
        <p:spPr>
          <a:xfrm>
            <a:off x="2600094" y="12201142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Purchase order automation</a:t>
            </a:r>
          </a:p>
        </p:txBody>
      </p:sp>
      <p:sp>
        <p:nvSpPr>
          <p:cNvPr id="7240" name="TextBox 75"/>
          <p:cNvSpPr txBox="1"/>
          <p:nvPr/>
        </p:nvSpPr>
        <p:spPr>
          <a:xfrm>
            <a:off x="9093250" y="12201142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241" name="TextBox 76"/>
          <p:cNvSpPr txBox="1"/>
          <p:nvPr/>
        </p:nvSpPr>
        <p:spPr>
          <a:xfrm>
            <a:off x="18832982" y="12201142"/>
            <a:ext cx="2304655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ARCD-2638</a:t>
            </a:r>
          </a:p>
        </p:txBody>
      </p:sp>
      <p:sp>
        <p:nvSpPr>
          <p:cNvPr id="7242" name="Connector 77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0B1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4" name="TextBox 3"/>
          <p:cNvSpPr txBox="1"/>
          <p:nvPr/>
        </p:nvSpPr>
        <p:spPr>
          <a:xfrm>
            <a:off x="18900646" y="1097280"/>
            <a:ext cx="4114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300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APRIL 2026</a:t>
            </a:r>
          </a:p>
        </p:txBody>
      </p:sp>
      <p:sp>
        <p:nvSpPr>
          <p:cNvPr id="7245" name="Rectangle 4"/>
          <p:cNvSpPr/>
          <p:nvPr/>
        </p:nvSpPr>
        <p:spPr>
          <a:xfrm>
            <a:off x="1371600" y="4114799"/>
            <a:ext cx="1371600" cy="36579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7246" name="TextBox 5"/>
          <p:cNvSpPr txBox="1"/>
          <p:nvPr/>
        </p:nvSpPr>
        <p:spPr>
          <a:xfrm>
            <a:off x="1371600" y="4389120"/>
            <a:ext cx="20116800" cy="1719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Crowd </a:t>
            </a:r>
            <a:r>
              <a:rPr>
                <a:solidFill>
                  <a:srgbClr val="0333E8"/>
                </a:solidFill>
              </a:rPr>
              <a:t>Fund</a:t>
            </a:r>
          </a:p>
        </p:txBody>
      </p:sp>
      <p:sp>
        <p:nvSpPr>
          <p:cNvPr id="7247" name="TextBox 6"/>
          <p:cNvSpPr txBox="1"/>
          <p:nvPr/>
        </p:nvSpPr>
        <p:spPr>
          <a:xfrm>
            <a:off x="1371600" y="7863840"/>
            <a:ext cx="20116800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/>
            <a:r>
              <a:t>Alternative investments and crowdfunding</a:t>
            </a:r>
          </a:p>
        </p:txBody>
      </p:sp>
      <p:sp>
        <p:nvSpPr>
          <p:cNvPr id="7248" name="TextBox 7"/>
          <p:cNvSpPr txBox="1"/>
          <p:nvPr/>
        </p:nvSpPr>
        <p:spPr>
          <a:xfrm>
            <a:off x="1371600" y="9143999"/>
            <a:ext cx="20116800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 LIVE STATUS  ·  JIRA COVERAGE</a:t>
            </a:r>
          </a:p>
        </p:txBody>
      </p:sp>
      <p:sp>
        <p:nvSpPr>
          <p:cNvPr id="7249" name="TextBox 8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088 / 111</a:t>
            </a:r>
          </a:p>
        </p:txBody>
      </p:sp>
      <p:pic>
        <p:nvPicPr>
          <p:cNvPr id="725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2200" cy="8220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7253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089 / 111</a:t>
            </a:r>
          </a:p>
        </p:txBody>
      </p:sp>
      <p:sp>
        <p:nvSpPr>
          <p:cNvPr id="7254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CROWD FUND  ·  SECTION SUMMARY</a:t>
            </a:r>
          </a:p>
        </p:txBody>
      </p:sp>
      <p:sp>
        <p:nvSpPr>
          <p:cNvPr id="7255" name="TextBox 4"/>
          <p:cNvSpPr txBox="1"/>
          <p:nvPr/>
        </p:nvSpPr>
        <p:spPr>
          <a:xfrm>
            <a:off x="1371600" y="2834638"/>
            <a:ext cx="20116800" cy="769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4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112 capabilities assessed. 86 already live.</a:t>
            </a:r>
          </a:p>
        </p:txBody>
      </p:sp>
      <p:sp>
        <p:nvSpPr>
          <p:cNvPr id="7256" name="TextBox 5"/>
          <p:cNvSpPr txBox="1"/>
          <p:nvPr/>
        </p:nvSpPr>
        <p:spPr>
          <a:xfrm>
            <a:off x="1371600" y="5760720"/>
            <a:ext cx="6400800" cy="3200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8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112</a:t>
            </a:r>
          </a:p>
        </p:txBody>
      </p:sp>
      <p:sp>
        <p:nvSpPr>
          <p:cNvPr id="7257" name="TextBox 6"/>
          <p:cNvSpPr txBox="1"/>
          <p:nvPr/>
        </p:nvSpPr>
        <p:spPr>
          <a:xfrm>
            <a:off x="1371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TOTAL CAPABILITIES</a:t>
            </a:r>
          </a:p>
        </p:txBody>
      </p:sp>
      <p:sp>
        <p:nvSpPr>
          <p:cNvPr id="7258" name="Rectangle 7"/>
          <p:cNvSpPr/>
          <p:nvPr/>
        </p:nvSpPr>
        <p:spPr>
          <a:xfrm>
            <a:off x="1371600" y="9098280"/>
            <a:ext cx="1371600" cy="36578"/>
          </a:xfrm>
          <a:prstGeom prst="rect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7259" name="TextBox 8"/>
          <p:cNvSpPr txBox="1"/>
          <p:nvPr/>
        </p:nvSpPr>
        <p:spPr>
          <a:xfrm>
            <a:off x="8229600" y="5760720"/>
            <a:ext cx="6400800" cy="3200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8000">
                <a:solidFill>
                  <a:srgbClr val="059669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86</a:t>
            </a:r>
          </a:p>
        </p:txBody>
      </p:sp>
      <p:sp>
        <p:nvSpPr>
          <p:cNvPr id="7260" name="TextBox 9"/>
          <p:cNvSpPr txBox="1"/>
          <p:nvPr/>
        </p:nvSpPr>
        <p:spPr>
          <a:xfrm>
            <a:off x="8229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LIVE ON APP   (77% OF 112)</a:t>
            </a:r>
          </a:p>
        </p:txBody>
      </p:sp>
      <p:sp>
        <p:nvSpPr>
          <p:cNvPr id="7261" name="Rectangle 10"/>
          <p:cNvSpPr/>
          <p:nvPr/>
        </p:nvSpPr>
        <p:spPr>
          <a:xfrm>
            <a:off x="8229600" y="9098280"/>
            <a:ext cx="1371600" cy="36578"/>
          </a:xfrm>
          <a:prstGeom prst="rect">
            <a:avLst/>
          </a:prstGeom>
          <a:solidFill>
            <a:srgbClr val="05966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7262" name="TextBox 11"/>
          <p:cNvSpPr txBox="1"/>
          <p:nvPr/>
        </p:nvSpPr>
        <p:spPr>
          <a:xfrm>
            <a:off x="15087600" y="5760720"/>
            <a:ext cx="6400800" cy="3200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8000">
                <a:solidFill>
                  <a:srgbClr val="0333E8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7263" name="TextBox 12"/>
          <p:cNvSpPr txBox="1"/>
          <p:nvPr/>
        </p:nvSpPr>
        <p:spPr>
          <a:xfrm>
            <a:off x="15087600" y="8686800"/>
            <a:ext cx="6400800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3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TRACKED IN JIRA   (0% OF 112)</a:t>
            </a:r>
          </a:p>
        </p:txBody>
      </p:sp>
      <p:sp>
        <p:nvSpPr>
          <p:cNvPr id="7264" name="Rectangle 13"/>
          <p:cNvSpPr/>
          <p:nvPr/>
        </p:nvSpPr>
        <p:spPr>
          <a:xfrm>
            <a:off x="15087600" y="9098280"/>
            <a:ext cx="1371600" cy="36578"/>
          </a:xfrm>
          <a:prstGeom prst="rect">
            <a:avLst/>
          </a:prstGeom>
          <a:solidFill>
            <a:srgbClr val="0333E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7265" name="Connector 14"/>
          <p:cNvSpPr/>
          <p:nvPr/>
        </p:nvSpPr>
        <p:spPr>
          <a:xfrm>
            <a:off x="1371600" y="10789918"/>
            <a:ext cx="21643849" cy="2"/>
          </a:xfrm>
          <a:prstGeom prst="line">
            <a:avLst/>
          </a:prstGeom>
          <a:ln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66" name="TextBox 15"/>
          <p:cNvSpPr txBox="1"/>
          <p:nvPr/>
        </p:nvSpPr>
        <p:spPr>
          <a:xfrm>
            <a:off x="1371600" y="11109959"/>
            <a:ext cx="1828800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TWO HEADLINES</a:t>
            </a:r>
          </a:p>
        </p:txBody>
      </p:sp>
      <p:sp>
        <p:nvSpPr>
          <p:cNvPr id="7267" name="TextBox 16"/>
          <p:cNvSpPr txBox="1"/>
          <p:nvPr/>
        </p:nvSpPr>
        <p:spPr>
          <a:xfrm>
            <a:off x="1371600" y="11612880"/>
            <a:ext cx="10058400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77% live on app — strong foundation.</a:t>
            </a:r>
          </a:p>
        </p:txBody>
      </p:sp>
      <p:sp>
        <p:nvSpPr>
          <p:cNvPr id="7268" name="TextBox 17"/>
          <p:cNvSpPr txBox="1"/>
          <p:nvPr/>
        </p:nvSpPr>
        <p:spPr>
          <a:xfrm>
            <a:off x="11978640" y="11612880"/>
            <a:ext cx="10058402" cy="35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Zero Jira coverage across all planned work.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858554" y="-118831"/>
            <a:ext cx="8882655" cy="14425960"/>
          </a:xfrm>
          <a:prstGeom prst="rect">
            <a:avLst/>
          </a:prstGeom>
          <a:ln w="12700">
            <a:miter lim="400000"/>
          </a:ln>
        </p:spPr>
      </p:pic>
      <p:sp>
        <p:nvSpPr>
          <p:cNvPr id="7271" name="Rectangle 6"/>
          <p:cNvSpPr/>
          <p:nvPr/>
        </p:nvSpPr>
        <p:spPr>
          <a:xfrm>
            <a:off x="117674" y="14407852"/>
            <a:ext cx="4450085" cy="50800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8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7274" name="Rectangle 7"/>
          <p:cNvGrpSpPr/>
          <p:nvPr/>
        </p:nvGrpSpPr>
        <p:grpSpPr>
          <a:xfrm>
            <a:off x="117674" y="14475113"/>
            <a:ext cx="6478783" cy="440743"/>
            <a:chOff x="0" y="0"/>
            <a:chExt cx="6478782" cy="440741"/>
          </a:xfrm>
        </p:grpSpPr>
        <p:sp>
          <p:nvSpPr>
            <p:cNvPr id="7272" name="Rectangle"/>
            <p:cNvSpPr/>
            <p:nvPr/>
          </p:nvSpPr>
          <p:spPr>
            <a:xfrm>
              <a:off x="-1" y="-1"/>
              <a:ext cx="6478783" cy="44074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 defTabSz="1828800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273" name="* Last numbers for International, ROBO are at Q3, Q4 2025"/>
            <p:cNvSpPr txBox="1"/>
            <p:nvPr/>
          </p:nvSpPr>
          <p:spPr>
            <a:xfrm>
              <a:off x="45720" y="53823"/>
              <a:ext cx="6387340" cy="3330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 defTabSz="1828800">
                <a:lnSpc>
                  <a:spcPct val="100000"/>
                </a:lnSpc>
                <a:spcBef>
                  <a:spcPts val="0"/>
                </a:spcBef>
                <a:defRPr i="1" sz="1800">
                  <a:solidFill>
                    <a:srgbClr val="002060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* Last numbers for International, ROBO are at Q3, Q4 2025</a:t>
              </a:r>
            </a:p>
          </p:txBody>
        </p:sp>
      </p:grpSp>
      <p:pic>
        <p:nvPicPr>
          <p:cNvPr id="7275" name="Frame 1.png" descr="Frame 1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144"/>
          <a:stretch>
            <a:fillRect/>
          </a:stretch>
        </p:blipFill>
        <p:spPr>
          <a:xfrm>
            <a:off x="25426263" y="2703744"/>
            <a:ext cx="9069094" cy="8780690"/>
          </a:xfrm>
          <a:prstGeom prst="rect">
            <a:avLst/>
          </a:prstGeom>
          <a:ln w="12700">
            <a:miter lim="400000"/>
          </a:ln>
        </p:spPr>
      </p:pic>
      <p:pic>
        <p:nvPicPr>
          <p:cNvPr id="7276" name="Picture 1043" descr="Picture 10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7277" name="TextBox 1044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090 / 111</a:t>
            </a:r>
          </a:p>
        </p:txBody>
      </p:sp>
      <p:sp>
        <p:nvSpPr>
          <p:cNvPr id="7278" name="TextBox 1045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CROWD FUND</a:t>
            </a:r>
          </a:p>
        </p:txBody>
      </p:sp>
      <p:sp>
        <p:nvSpPr>
          <p:cNvPr id="7279" name="TextBox 1046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Sitemap</a:t>
            </a:r>
          </a:p>
        </p:txBody>
      </p:sp>
      <p:sp>
        <p:nvSpPr>
          <p:cNvPr id="7280" name="Connector 1047"/>
          <p:cNvSpPr/>
          <p:nvPr/>
        </p:nvSpPr>
        <p:spPr>
          <a:xfrm flipV="1">
            <a:off x="2926079" y="8415911"/>
            <a:ext cx="227235" cy="8801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81" name="Connector 1048"/>
          <p:cNvSpPr/>
          <p:nvPr/>
        </p:nvSpPr>
        <p:spPr>
          <a:xfrm flipV="1">
            <a:off x="3153312" y="8275718"/>
            <a:ext cx="213438" cy="14019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82" name="Connector 1049"/>
          <p:cNvSpPr/>
          <p:nvPr/>
        </p:nvSpPr>
        <p:spPr>
          <a:xfrm flipV="1">
            <a:off x="3366749" y="8092739"/>
            <a:ext cx="202643" cy="182982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83" name="Connector 1050"/>
          <p:cNvSpPr/>
          <p:nvPr/>
        </p:nvSpPr>
        <p:spPr>
          <a:xfrm flipV="1">
            <a:off x="3569391" y="7876368"/>
            <a:ext cx="194845" cy="216372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84" name="Connector 1051"/>
          <p:cNvSpPr/>
          <p:nvPr/>
        </p:nvSpPr>
        <p:spPr>
          <a:xfrm flipV="1">
            <a:off x="3764234" y="7636006"/>
            <a:ext cx="190047" cy="24036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85" name="Connector 1052"/>
          <p:cNvSpPr/>
          <p:nvPr/>
        </p:nvSpPr>
        <p:spPr>
          <a:xfrm flipV="1">
            <a:off x="3954279" y="7381047"/>
            <a:ext cx="188247" cy="25496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86" name="Connector 1053"/>
          <p:cNvSpPr/>
          <p:nvPr/>
        </p:nvSpPr>
        <p:spPr>
          <a:xfrm flipV="1">
            <a:off x="4142525" y="7120891"/>
            <a:ext cx="189447" cy="260157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87" name="Connector 1054"/>
          <p:cNvSpPr/>
          <p:nvPr/>
        </p:nvSpPr>
        <p:spPr>
          <a:xfrm flipV="1">
            <a:off x="4331968" y="6864933"/>
            <a:ext cx="193645" cy="255959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88" name="Connector 1055"/>
          <p:cNvSpPr/>
          <p:nvPr/>
        </p:nvSpPr>
        <p:spPr>
          <a:xfrm flipV="1">
            <a:off x="4525612" y="6622567"/>
            <a:ext cx="200843" cy="24236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89" name="Connector 1056"/>
          <p:cNvSpPr/>
          <p:nvPr/>
        </p:nvSpPr>
        <p:spPr>
          <a:xfrm flipV="1">
            <a:off x="4726454" y="6403200"/>
            <a:ext cx="211041" cy="21937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0" name="Connector 1057"/>
          <p:cNvSpPr/>
          <p:nvPr/>
        </p:nvSpPr>
        <p:spPr>
          <a:xfrm flipV="1">
            <a:off x="4937492" y="6216220"/>
            <a:ext cx="224237" cy="186981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1" name="Connector 1058"/>
          <p:cNvSpPr/>
          <p:nvPr/>
        </p:nvSpPr>
        <p:spPr>
          <a:xfrm flipV="1">
            <a:off x="5161727" y="6071029"/>
            <a:ext cx="240431" cy="145193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2" name="Connector 1059"/>
          <p:cNvSpPr/>
          <p:nvPr/>
        </p:nvSpPr>
        <p:spPr>
          <a:xfrm flipV="1">
            <a:off x="5402157" y="5977023"/>
            <a:ext cx="259626" cy="94008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3" name="Connector 1060"/>
          <p:cNvSpPr/>
          <p:nvPr/>
        </p:nvSpPr>
        <p:spPr>
          <a:xfrm flipV="1">
            <a:off x="5661781" y="5943598"/>
            <a:ext cx="281820" cy="33425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4" name="Connector 1061"/>
          <p:cNvSpPr/>
          <p:nvPr/>
        </p:nvSpPr>
        <p:spPr>
          <a:xfrm>
            <a:off x="5943600" y="5943600"/>
            <a:ext cx="12344401" cy="0"/>
          </a:xfrm>
          <a:prstGeom prst="line">
            <a:avLst/>
          </a:prstGeom>
          <a:ln w="1270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5" name="Connector 1062"/>
          <p:cNvSpPr/>
          <p:nvPr/>
        </p:nvSpPr>
        <p:spPr>
          <a:xfrm>
            <a:off x="2926078" y="8503918"/>
            <a:ext cx="227235" cy="86676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6" name="Connector 1063"/>
          <p:cNvSpPr/>
          <p:nvPr/>
        </p:nvSpPr>
        <p:spPr>
          <a:xfrm>
            <a:off x="3153311" y="8590594"/>
            <a:ext cx="213440" cy="136462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7" name="Connector 1064"/>
          <p:cNvSpPr/>
          <p:nvPr/>
        </p:nvSpPr>
        <p:spPr>
          <a:xfrm>
            <a:off x="3366751" y="8727054"/>
            <a:ext cx="202643" cy="17725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8" name="Connector 1065"/>
          <p:cNvSpPr/>
          <p:nvPr/>
        </p:nvSpPr>
        <p:spPr>
          <a:xfrm>
            <a:off x="3569391" y="8904302"/>
            <a:ext cx="194845" cy="20904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9" name="Connector 1066"/>
          <p:cNvSpPr/>
          <p:nvPr/>
        </p:nvSpPr>
        <p:spPr>
          <a:xfrm>
            <a:off x="3764234" y="9113342"/>
            <a:ext cx="190047" cy="23183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00" name="Connector 1067"/>
          <p:cNvSpPr/>
          <p:nvPr/>
        </p:nvSpPr>
        <p:spPr>
          <a:xfrm>
            <a:off x="3954279" y="9345172"/>
            <a:ext cx="188247" cy="24563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01" name="Connector 1068"/>
          <p:cNvSpPr/>
          <p:nvPr/>
        </p:nvSpPr>
        <p:spPr>
          <a:xfrm>
            <a:off x="4142525" y="9590802"/>
            <a:ext cx="189447" cy="250429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02" name="Connector 1069"/>
          <p:cNvSpPr/>
          <p:nvPr/>
        </p:nvSpPr>
        <p:spPr>
          <a:xfrm>
            <a:off x="4331970" y="9841230"/>
            <a:ext cx="193645" cy="24623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03" name="Connector 1070"/>
          <p:cNvSpPr/>
          <p:nvPr/>
        </p:nvSpPr>
        <p:spPr>
          <a:xfrm>
            <a:off x="4525612" y="10087457"/>
            <a:ext cx="200843" cy="23303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04" name="Connector 1071"/>
          <p:cNvSpPr/>
          <p:nvPr/>
        </p:nvSpPr>
        <p:spPr>
          <a:xfrm>
            <a:off x="4726454" y="10320490"/>
            <a:ext cx="211041" cy="21084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05" name="Connector 1072"/>
          <p:cNvSpPr/>
          <p:nvPr/>
        </p:nvSpPr>
        <p:spPr>
          <a:xfrm>
            <a:off x="4937492" y="10531326"/>
            <a:ext cx="224237" cy="17965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06" name="Connector 1073"/>
          <p:cNvSpPr/>
          <p:nvPr/>
        </p:nvSpPr>
        <p:spPr>
          <a:xfrm>
            <a:off x="5161727" y="10710975"/>
            <a:ext cx="240431" cy="139461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07" name="Connector 1074"/>
          <p:cNvSpPr/>
          <p:nvPr/>
        </p:nvSpPr>
        <p:spPr>
          <a:xfrm>
            <a:off x="5402155" y="10850435"/>
            <a:ext cx="259626" cy="90276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08" name="Connector 1075"/>
          <p:cNvSpPr/>
          <p:nvPr/>
        </p:nvSpPr>
        <p:spPr>
          <a:xfrm>
            <a:off x="5661781" y="10940708"/>
            <a:ext cx="281820" cy="32093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09" name="Connector 1076"/>
          <p:cNvSpPr/>
          <p:nvPr/>
        </p:nvSpPr>
        <p:spPr>
          <a:xfrm>
            <a:off x="5943600" y="10972800"/>
            <a:ext cx="12344401" cy="0"/>
          </a:xfrm>
          <a:prstGeom prst="line">
            <a:avLst/>
          </a:prstGeom>
          <a:ln w="1270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10" name="Oval 1077"/>
          <p:cNvSpPr/>
          <p:nvPr/>
        </p:nvSpPr>
        <p:spPr>
          <a:xfrm>
            <a:off x="2148838" y="7726680"/>
            <a:ext cx="1554484" cy="1554483"/>
          </a:xfrm>
          <a:prstGeom prst="ellipse">
            <a:avLst/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7311" name="Oval 1078"/>
          <p:cNvSpPr/>
          <p:nvPr/>
        </p:nvSpPr>
        <p:spPr>
          <a:xfrm>
            <a:off x="2286000" y="7863840"/>
            <a:ext cx="1280162" cy="1280163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827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7312" name="TextBox 1079"/>
          <p:cNvSpPr txBox="1"/>
          <p:nvPr/>
        </p:nvSpPr>
        <p:spPr>
          <a:xfrm>
            <a:off x="640079" y="9281159"/>
            <a:ext cx="4572003" cy="248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HOME</a:t>
            </a:r>
          </a:p>
        </p:txBody>
      </p:sp>
      <p:sp>
        <p:nvSpPr>
          <p:cNvPr id="7313" name="TextBox 1080"/>
          <p:cNvSpPr txBox="1"/>
          <p:nvPr/>
        </p:nvSpPr>
        <p:spPr>
          <a:xfrm>
            <a:off x="640079" y="9646918"/>
            <a:ext cx="4572003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ROOT  ·  INTERCHANGE</a:t>
            </a:r>
          </a:p>
        </p:txBody>
      </p:sp>
      <p:sp>
        <p:nvSpPr>
          <p:cNvPr id="7314" name="Oval 1081"/>
          <p:cNvSpPr/>
          <p:nvPr/>
        </p:nvSpPr>
        <p:spPr>
          <a:xfrm>
            <a:off x="5646420" y="5646420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7315" name="TextBox 1082"/>
          <p:cNvSpPr txBox="1"/>
          <p:nvPr/>
        </p:nvSpPr>
        <p:spPr>
          <a:xfrm>
            <a:off x="36576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7316" name="TextBox 1083"/>
          <p:cNvSpPr txBox="1"/>
          <p:nvPr/>
        </p:nvSpPr>
        <p:spPr>
          <a:xfrm>
            <a:off x="3657600" y="521207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Crowd Market</a:t>
            </a:r>
          </a:p>
        </p:txBody>
      </p:sp>
      <p:sp>
        <p:nvSpPr>
          <p:cNvPr id="7317" name="Oval 1084"/>
          <p:cNvSpPr/>
          <p:nvPr/>
        </p:nvSpPr>
        <p:spPr>
          <a:xfrm>
            <a:off x="11818618" y="5646420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7318" name="TextBox 1085"/>
          <p:cNvSpPr txBox="1"/>
          <p:nvPr/>
        </p:nvSpPr>
        <p:spPr>
          <a:xfrm>
            <a:off x="98298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7319" name="TextBox 1086"/>
          <p:cNvSpPr txBox="1"/>
          <p:nvPr/>
        </p:nvSpPr>
        <p:spPr>
          <a:xfrm>
            <a:off x="9829800" y="521207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Fund Details</a:t>
            </a:r>
          </a:p>
        </p:txBody>
      </p:sp>
      <p:sp>
        <p:nvSpPr>
          <p:cNvPr id="7320" name="Oval 1087"/>
          <p:cNvSpPr/>
          <p:nvPr/>
        </p:nvSpPr>
        <p:spPr>
          <a:xfrm>
            <a:off x="17990819" y="5646420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333E8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7321" name="TextBox 1088"/>
          <p:cNvSpPr txBox="1"/>
          <p:nvPr/>
        </p:nvSpPr>
        <p:spPr>
          <a:xfrm>
            <a:off x="16002000" y="4892040"/>
            <a:ext cx="457200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7322" name="TextBox 1089"/>
          <p:cNvSpPr txBox="1"/>
          <p:nvPr/>
        </p:nvSpPr>
        <p:spPr>
          <a:xfrm>
            <a:off x="16002000" y="521207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Invest</a:t>
            </a:r>
          </a:p>
        </p:txBody>
      </p:sp>
      <p:sp>
        <p:nvSpPr>
          <p:cNvPr id="7323" name="Oval 1090"/>
          <p:cNvSpPr/>
          <p:nvPr/>
        </p:nvSpPr>
        <p:spPr>
          <a:xfrm>
            <a:off x="5646420" y="10675618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7324" name="TextBox 1091"/>
          <p:cNvSpPr txBox="1"/>
          <p:nvPr/>
        </p:nvSpPr>
        <p:spPr>
          <a:xfrm>
            <a:off x="3657600" y="11475718"/>
            <a:ext cx="4572000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7325" name="TextBox 1092"/>
          <p:cNvSpPr txBox="1"/>
          <p:nvPr/>
        </p:nvSpPr>
        <p:spPr>
          <a:xfrm>
            <a:off x="3657600" y="1179575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Portfolios</a:t>
            </a:r>
          </a:p>
        </p:txBody>
      </p:sp>
      <p:sp>
        <p:nvSpPr>
          <p:cNvPr id="7326" name="Oval 1093"/>
          <p:cNvSpPr/>
          <p:nvPr/>
        </p:nvSpPr>
        <p:spPr>
          <a:xfrm>
            <a:off x="17990819" y="10675618"/>
            <a:ext cx="594363" cy="594363"/>
          </a:xfrm>
          <a:prstGeom prst="ellipse">
            <a:avLst/>
          </a:prstGeom>
          <a:solidFill>
            <a:srgbClr val="FFFFFF"/>
          </a:solidFill>
          <a:ln w="44450">
            <a:solidFill>
              <a:srgbClr val="A5B4FC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7327" name="TextBox 1094"/>
          <p:cNvSpPr txBox="1"/>
          <p:nvPr/>
        </p:nvSpPr>
        <p:spPr>
          <a:xfrm>
            <a:off x="16002000" y="11475718"/>
            <a:ext cx="4572000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7328" name="TextBox 1095"/>
          <p:cNvSpPr txBox="1"/>
          <p:nvPr/>
        </p:nvSpPr>
        <p:spPr>
          <a:xfrm>
            <a:off x="16002000" y="11795759"/>
            <a:ext cx="4572000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Crowd Portfolios</a:t>
            </a:r>
          </a:p>
        </p:txBody>
      </p:sp>
      <p:sp>
        <p:nvSpPr>
          <p:cNvPr id="7329" name="Rounded Rectangle 1096"/>
          <p:cNvSpPr/>
          <p:nvPr/>
        </p:nvSpPr>
        <p:spPr>
          <a:xfrm>
            <a:off x="19659600" y="4389120"/>
            <a:ext cx="3474721" cy="146304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Lucida Grande"/>
              </a:defRPr>
            </a:pPr>
          </a:p>
        </p:txBody>
      </p:sp>
      <p:sp>
        <p:nvSpPr>
          <p:cNvPr id="7330" name="Connector 1097"/>
          <p:cNvSpPr/>
          <p:nvPr/>
        </p:nvSpPr>
        <p:spPr>
          <a:xfrm>
            <a:off x="19933919" y="4800600"/>
            <a:ext cx="640082" cy="0"/>
          </a:xfrm>
          <a:prstGeom prst="line">
            <a:avLst/>
          </a:prstGeom>
          <a:ln w="88900">
            <a:solidFill>
              <a:srgbClr val="0333E8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31" name="TextBox 1098"/>
          <p:cNvSpPr txBox="1"/>
          <p:nvPr/>
        </p:nvSpPr>
        <p:spPr>
          <a:xfrm>
            <a:off x="20756880" y="4663440"/>
            <a:ext cx="274320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PRIMARY LINE</a:t>
            </a:r>
          </a:p>
        </p:txBody>
      </p:sp>
      <p:sp>
        <p:nvSpPr>
          <p:cNvPr id="7332" name="Connector 1099"/>
          <p:cNvSpPr/>
          <p:nvPr/>
        </p:nvSpPr>
        <p:spPr>
          <a:xfrm>
            <a:off x="19933919" y="5486400"/>
            <a:ext cx="640082" cy="0"/>
          </a:xfrm>
          <a:prstGeom prst="line">
            <a:avLst/>
          </a:prstGeom>
          <a:ln w="88900">
            <a:solidFill>
              <a:srgbClr val="A5B4F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33" name="TextBox 1100"/>
          <p:cNvSpPr txBox="1"/>
          <p:nvPr/>
        </p:nvSpPr>
        <p:spPr>
          <a:xfrm>
            <a:off x="20756880" y="5349240"/>
            <a:ext cx="274320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0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PORTFOLIO 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7336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091 / 111</a:t>
            </a:r>
          </a:p>
        </p:txBody>
      </p:sp>
      <p:sp>
        <p:nvSpPr>
          <p:cNvPr id="7337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CROWD FUND  ·  CAPABILITY ASSESSMENT</a:t>
            </a:r>
          </a:p>
        </p:txBody>
      </p:sp>
      <p:sp>
        <p:nvSpPr>
          <p:cNvPr id="7338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Portfolio Valuation &amp; Performance</a:t>
            </a:r>
          </a:p>
        </p:txBody>
      </p:sp>
      <p:sp>
        <p:nvSpPr>
          <p:cNvPr id="7339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7340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7341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7342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7343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7344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7345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7346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7347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48" name="TextBox 14"/>
          <p:cNvSpPr txBox="1"/>
          <p:nvPr/>
        </p:nvSpPr>
        <p:spPr>
          <a:xfrm>
            <a:off x="1517902" y="568832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349" name="TextBox 15"/>
          <p:cNvSpPr txBox="1"/>
          <p:nvPr/>
        </p:nvSpPr>
        <p:spPr>
          <a:xfrm>
            <a:off x="2600094" y="568832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portfolio value</a:t>
            </a:r>
          </a:p>
        </p:txBody>
      </p:sp>
      <p:sp>
        <p:nvSpPr>
          <p:cNvPr id="7350" name="TextBox 16"/>
          <p:cNvSpPr txBox="1"/>
          <p:nvPr/>
        </p:nvSpPr>
        <p:spPr>
          <a:xfrm>
            <a:off x="9093250" y="568832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351" name="Connector 17"/>
          <p:cNvSpPr/>
          <p:nvPr/>
        </p:nvSpPr>
        <p:spPr>
          <a:xfrm>
            <a:off x="1371600" y="616457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52" name="TextBox 18"/>
          <p:cNvSpPr txBox="1"/>
          <p:nvPr/>
        </p:nvSpPr>
        <p:spPr>
          <a:xfrm>
            <a:off x="1517902" y="627507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353" name="TextBox 19"/>
          <p:cNvSpPr txBox="1"/>
          <p:nvPr/>
        </p:nvSpPr>
        <p:spPr>
          <a:xfrm>
            <a:off x="2600094" y="627507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value</a:t>
            </a:r>
          </a:p>
        </p:txBody>
      </p:sp>
      <p:sp>
        <p:nvSpPr>
          <p:cNvPr id="7354" name="TextBox 20"/>
          <p:cNvSpPr txBox="1"/>
          <p:nvPr/>
        </p:nvSpPr>
        <p:spPr>
          <a:xfrm>
            <a:off x="9093250" y="627507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355" name="TextBox 21"/>
          <p:cNvSpPr txBox="1"/>
          <p:nvPr/>
        </p:nvSpPr>
        <p:spPr>
          <a:xfrm>
            <a:off x="14504212" y="6275070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Asset allocation breakdown</a:t>
            </a:r>
          </a:p>
        </p:txBody>
      </p:sp>
      <p:sp>
        <p:nvSpPr>
          <p:cNvPr id="7356" name="Connector 22"/>
          <p:cNvSpPr/>
          <p:nvPr/>
        </p:nvSpPr>
        <p:spPr>
          <a:xfrm>
            <a:off x="1371600" y="67513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57" name="TextBox 23"/>
          <p:cNvSpPr txBox="1"/>
          <p:nvPr/>
        </p:nvSpPr>
        <p:spPr>
          <a:xfrm>
            <a:off x="1517902" y="686180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358" name="TextBox 24"/>
          <p:cNvSpPr txBox="1"/>
          <p:nvPr/>
        </p:nvSpPr>
        <p:spPr>
          <a:xfrm>
            <a:off x="2600094" y="686180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 / loss value</a:t>
            </a:r>
          </a:p>
        </p:txBody>
      </p:sp>
      <p:sp>
        <p:nvSpPr>
          <p:cNvPr id="7359" name="TextBox 25"/>
          <p:cNvSpPr txBox="1"/>
          <p:nvPr/>
        </p:nvSpPr>
        <p:spPr>
          <a:xfrm>
            <a:off x="9093250" y="686180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360" name="Connector 26"/>
          <p:cNvSpPr/>
          <p:nvPr/>
        </p:nvSpPr>
        <p:spPr>
          <a:xfrm>
            <a:off x="1371600" y="73380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61" name="TextBox 27"/>
          <p:cNvSpPr txBox="1"/>
          <p:nvPr/>
        </p:nvSpPr>
        <p:spPr>
          <a:xfrm>
            <a:off x="1517902" y="744855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362" name="TextBox 28"/>
          <p:cNvSpPr txBox="1"/>
          <p:nvPr/>
        </p:nvSpPr>
        <p:spPr>
          <a:xfrm>
            <a:off x="2600094" y="744855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Today gain / loss %</a:t>
            </a:r>
          </a:p>
        </p:txBody>
      </p:sp>
      <p:sp>
        <p:nvSpPr>
          <p:cNvPr id="7363" name="TextBox 29"/>
          <p:cNvSpPr txBox="1"/>
          <p:nvPr/>
        </p:nvSpPr>
        <p:spPr>
          <a:xfrm>
            <a:off x="9093250" y="744854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364" name="Connector 30"/>
          <p:cNvSpPr/>
          <p:nvPr/>
        </p:nvSpPr>
        <p:spPr>
          <a:xfrm>
            <a:off x="1371600" y="79248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65" name="TextBox 31"/>
          <p:cNvSpPr txBox="1"/>
          <p:nvPr/>
        </p:nvSpPr>
        <p:spPr>
          <a:xfrm>
            <a:off x="1517902" y="803529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366" name="TextBox 32"/>
          <p:cNvSpPr txBox="1"/>
          <p:nvPr/>
        </p:nvSpPr>
        <p:spPr>
          <a:xfrm>
            <a:off x="2600094" y="803529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gain / loss</a:t>
            </a:r>
          </a:p>
        </p:txBody>
      </p:sp>
      <p:sp>
        <p:nvSpPr>
          <p:cNvPr id="7367" name="TextBox 33"/>
          <p:cNvSpPr txBox="1"/>
          <p:nvPr/>
        </p:nvSpPr>
        <p:spPr>
          <a:xfrm>
            <a:off x="9093250" y="803529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368" name="Connector 34"/>
          <p:cNvSpPr/>
          <p:nvPr/>
        </p:nvSpPr>
        <p:spPr>
          <a:xfrm>
            <a:off x="1371600" y="85115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69" name="TextBox 35"/>
          <p:cNvSpPr txBox="1"/>
          <p:nvPr/>
        </p:nvSpPr>
        <p:spPr>
          <a:xfrm>
            <a:off x="1517902" y="862203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370" name="TextBox 36"/>
          <p:cNvSpPr txBox="1"/>
          <p:nvPr/>
        </p:nvSpPr>
        <p:spPr>
          <a:xfrm>
            <a:off x="2600094" y="862203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cash</a:t>
            </a:r>
          </a:p>
        </p:txBody>
      </p:sp>
      <p:sp>
        <p:nvSpPr>
          <p:cNvPr id="7371" name="TextBox 37"/>
          <p:cNvSpPr txBox="1"/>
          <p:nvPr/>
        </p:nvSpPr>
        <p:spPr>
          <a:xfrm>
            <a:off x="9093250" y="86220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372" name="Connector 38"/>
          <p:cNvSpPr/>
          <p:nvPr/>
        </p:nvSpPr>
        <p:spPr>
          <a:xfrm>
            <a:off x="1371600" y="90982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73" name="TextBox 39"/>
          <p:cNvSpPr txBox="1"/>
          <p:nvPr/>
        </p:nvSpPr>
        <p:spPr>
          <a:xfrm>
            <a:off x="1517902" y="920876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374" name="TextBox 40"/>
          <p:cNvSpPr txBox="1"/>
          <p:nvPr/>
        </p:nvSpPr>
        <p:spPr>
          <a:xfrm>
            <a:off x="2600094" y="920876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Buying power</a:t>
            </a:r>
          </a:p>
        </p:txBody>
      </p:sp>
      <p:sp>
        <p:nvSpPr>
          <p:cNvPr id="7375" name="TextBox 41"/>
          <p:cNvSpPr txBox="1"/>
          <p:nvPr/>
        </p:nvSpPr>
        <p:spPr>
          <a:xfrm>
            <a:off x="9093250" y="920876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376" name="Connector 42"/>
          <p:cNvSpPr/>
          <p:nvPr/>
        </p:nvSpPr>
        <p:spPr>
          <a:xfrm>
            <a:off x="1371600" y="96850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77" name="TextBox 43"/>
          <p:cNvSpPr txBox="1"/>
          <p:nvPr/>
        </p:nvSpPr>
        <p:spPr>
          <a:xfrm>
            <a:off x="1517902" y="979550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7378" name="TextBox 44"/>
          <p:cNvSpPr txBox="1"/>
          <p:nvPr/>
        </p:nvSpPr>
        <p:spPr>
          <a:xfrm>
            <a:off x="2600094" y="979550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cost</a:t>
            </a:r>
          </a:p>
        </p:txBody>
      </p:sp>
      <p:sp>
        <p:nvSpPr>
          <p:cNvPr id="7379" name="TextBox 45"/>
          <p:cNvSpPr txBox="1"/>
          <p:nvPr/>
        </p:nvSpPr>
        <p:spPr>
          <a:xfrm>
            <a:off x="9093250" y="979550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380" name="Connector 46"/>
          <p:cNvSpPr/>
          <p:nvPr/>
        </p:nvSpPr>
        <p:spPr>
          <a:xfrm>
            <a:off x="1371600" y="102717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81" name="TextBox 47"/>
          <p:cNvSpPr txBox="1"/>
          <p:nvPr/>
        </p:nvSpPr>
        <p:spPr>
          <a:xfrm>
            <a:off x="1517902" y="1038225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7382" name="TextBox 48"/>
          <p:cNvSpPr txBox="1"/>
          <p:nvPr/>
        </p:nvSpPr>
        <p:spPr>
          <a:xfrm>
            <a:off x="2600094" y="1038225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Cost value Gain/loss after sell</a:t>
            </a:r>
          </a:p>
        </p:txBody>
      </p:sp>
      <p:sp>
        <p:nvSpPr>
          <p:cNvPr id="7383" name="TextBox 49"/>
          <p:cNvSpPr txBox="1"/>
          <p:nvPr/>
        </p:nvSpPr>
        <p:spPr>
          <a:xfrm>
            <a:off x="9093250" y="1038224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384" name="Connector 50"/>
          <p:cNvSpPr/>
          <p:nvPr/>
        </p:nvSpPr>
        <p:spPr>
          <a:xfrm>
            <a:off x="1371600" y="108585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85" name="TextBox 51"/>
          <p:cNvSpPr txBox="1"/>
          <p:nvPr/>
        </p:nvSpPr>
        <p:spPr>
          <a:xfrm>
            <a:off x="1517902" y="1096899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7386" name="TextBox 52"/>
          <p:cNvSpPr txBox="1"/>
          <p:nvPr/>
        </p:nvSpPr>
        <p:spPr>
          <a:xfrm>
            <a:off x="2600094" y="1096899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performance chart</a:t>
            </a:r>
          </a:p>
        </p:txBody>
      </p:sp>
      <p:sp>
        <p:nvSpPr>
          <p:cNvPr id="7387" name="TextBox 53"/>
          <p:cNvSpPr txBox="1"/>
          <p:nvPr/>
        </p:nvSpPr>
        <p:spPr>
          <a:xfrm>
            <a:off x="9093250" y="1096899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388" name="Connector 54"/>
          <p:cNvSpPr/>
          <p:nvPr/>
        </p:nvSpPr>
        <p:spPr>
          <a:xfrm>
            <a:off x="1371600" y="1144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89" name="TextBox 55"/>
          <p:cNvSpPr txBox="1"/>
          <p:nvPr/>
        </p:nvSpPr>
        <p:spPr>
          <a:xfrm>
            <a:off x="1517902" y="1155573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7390" name="TextBox 56"/>
          <p:cNvSpPr txBox="1"/>
          <p:nvPr/>
        </p:nvSpPr>
        <p:spPr>
          <a:xfrm>
            <a:off x="2600094" y="1155573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Performance period selector (1W / 1M / 2M / 3M)</a:t>
            </a:r>
          </a:p>
        </p:txBody>
      </p:sp>
      <p:sp>
        <p:nvSpPr>
          <p:cNvPr id="7391" name="TextBox 57"/>
          <p:cNvSpPr txBox="1"/>
          <p:nvPr/>
        </p:nvSpPr>
        <p:spPr>
          <a:xfrm>
            <a:off x="9093250" y="115557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392" name="Connector 58"/>
          <p:cNvSpPr/>
          <p:nvPr/>
        </p:nvSpPr>
        <p:spPr>
          <a:xfrm>
            <a:off x="1371600" y="120319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93" name="TextBox 59"/>
          <p:cNvSpPr txBox="1"/>
          <p:nvPr/>
        </p:nvSpPr>
        <p:spPr>
          <a:xfrm>
            <a:off x="1517902" y="1214246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7394" name="TextBox 60"/>
          <p:cNvSpPr txBox="1"/>
          <p:nvPr/>
        </p:nvSpPr>
        <p:spPr>
          <a:xfrm>
            <a:off x="2600094" y="1214246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Change performance period</a:t>
            </a:r>
          </a:p>
        </p:txBody>
      </p:sp>
      <p:sp>
        <p:nvSpPr>
          <p:cNvPr id="7395" name="TextBox 61"/>
          <p:cNvSpPr txBox="1"/>
          <p:nvPr/>
        </p:nvSpPr>
        <p:spPr>
          <a:xfrm>
            <a:off x="9093250" y="1214246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396" name="Connector 62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7399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092 / 111</a:t>
            </a:r>
          </a:p>
        </p:txBody>
      </p:sp>
      <p:sp>
        <p:nvSpPr>
          <p:cNvPr id="7400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CROWD FUND  ·  CAPABILITY ASSESSMENT</a:t>
            </a:r>
          </a:p>
        </p:txBody>
      </p:sp>
      <p:sp>
        <p:nvSpPr>
          <p:cNvPr id="7401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Holdings Management</a:t>
            </a:r>
          </a:p>
        </p:txBody>
      </p:sp>
      <p:sp>
        <p:nvSpPr>
          <p:cNvPr id="7402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7403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7404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7405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7406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7407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7408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7409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7410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11" name="TextBox 14"/>
          <p:cNvSpPr txBox="1"/>
          <p:nvPr/>
        </p:nvSpPr>
        <p:spPr>
          <a:xfrm>
            <a:off x="1517902" y="5737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412" name="TextBox 15"/>
          <p:cNvSpPr txBox="1"/>
          <p:nvPr/>
        </p:nvSpPr>
        <p:spPr>
          <a:xfrm>
            <a:off x="2600094" y="5737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Holdings list view</a:t>
            </a:r>
          </a:p>
        </p:txBody>
      </p:sp>
      <p:sp>
        <p:nvSpPr>
          <p:cNvPr id="7413" name="TextBox 16"/>
          <p:cNvSpPr txBox="1"/>
          <p:nvPr/>
        </p:nvSpPr>
        <p:spPr>
          <a:xfrm>
            <a:off x="9093250" y="5737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414" name="Connector 17"/>
          <p:cNvSpPr/>
          <p:nvPr/>
        </p:nvSpPr>
        <p:spPr>
          <a:xfrm>
            <a:off x="1371600" y="6263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15" name="TextBox 18"/>
          <p:cNvSpPr txBox="1"/>
          <p:nvPr/>
        </p:nvSpPr>
        <p:spPr>
          <a:xfrm>
            <a:off x="1517902" y="6423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416" name="TextBox 19"/>
          <p:cNvSpPr txBox="1"/>
          <p:nvPr/>
        </p:nvSpPr>
        <p:spPr>
          <a:xfrm>
            <a:off x="2600094" y="6423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type/name</a:t>
            </a:r>
          </a:p>
        </p:txBody>
      </p:sp>
      <p:sp>
        <p:nvSpPr>
          <p:cNvPr id="7417" name="TextBox 20"/>
          <p:cNvSpPr txBox="1"/>
          <p:nvPr/>
        </p:nvSpPr>
        <p:spPr>
          <a:xfrm>
            <a:off x="9093250" y="6423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418" name="Connector 21"/>
          <p:cNvSpPr/>
          <p:nvPr/>
        </p:nvSpPr>
        <p:spPr>
          <a:xfrm>
            <a:off x="1371600" y="6949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19" name="TextBox 22"/>
          <p:cNvSpPr txBox="1"/>
          <p:nvPr/>
        </p:nvSpPr>
        <p:spPr>
          <a:xfrm>
            <a:off x="1517902" y="7109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420" name="TextBox 23"/>
          <p:cNvSpPr txBox="1"/>
          <p:nvPr/>
        </p:nvSpPr>
        <p:spPr>
          <a:xfrm>
            <a:off x="2600094" y="7109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Market value per fund</a:t>
            </a:r>
          </a:p>
        </p:txBody>
      </p:sp>
      <p:sp>
        <p:nvSpPr>
          <p:cNvPr id="7421" name="TextBox 24"/>
          <p:cNvSpPr txBox="1"/>
          <p:nvPr/>
        </p:nvSpPr>
        <p:spPr>
          <a:xfrm>
            <a:off x="9093250" y="7109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422" name="Connector 25"/>
          <p:cNvSpPr/>
          <p:nvPr/>
        </p:nvSpPr>
        <p:spPr>
          <a:xfrm>
            <a:off x="1371600" y="763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23" name="TextBox 26"/>
          <p:cNvSpPr txBox="1"/>
          <p:nvPr/>
        </p:nvSpPr>
        <p:spPr>
          <a:xfrm>
            <a:off x="1517902" y="7795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424" name="TextBox 27"/>
          <p:cNvSpPr txBox="1"/>
          <p:nvPr/>
        </p:nvSpPr>
        <p:spPr>
          <a:xfrm>
            <a:off x="2600094" y="7795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Quantity held</a:t>
            </a:r>
          </a:p>
        </p:txBody>
      </p:sp>
      <p:sp>
        <p:nvSpPr>
          <p:cNvPr id="7425" name="TextBox 28"/>
          <p:cNvSpPr txBox="1"/>
          <p:nvPr/>
        </p:nvSpPr>
        <p:spPr>
          <a:xfrm>
            <a:off x="9093250" y="7795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426" name="Connector 29"/>
          <p:cNvSpPr/>
          <p:nvPr/>
        </p:nvSpPr>
        <p:spPr>
          <a:xfrm>
            <a:off x="1371600" y="8321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27" name="TextBox 30"/>
          <p:cNvSpPr txBox="1"/>
          <p:nvPr/>
        </p:nvSpPr>
        <p:spPr>
          <a:xfrm>
            <a:off x="1517902" y="84810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428" name="TextBox 31"/>
          <p:cNvSpPr txBox="1"/>
          <p:nvPr/>
        </p:nvSpPr>
        <p:spPr>
          <a:xfrm>
            <a:off x="2600094" y="84810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Position gain/loss</a:t>
            </a:r>
          </a:p>
        </p:txBody>
      </p:sp>
      <p:sp>
        <p:nvSpPr>
          <p:cNvPr id="7429" name="TextBox 32"/>
          <p:cNvSpPr txBox="1"/>
          <p:nvPr/>
        </p:nvSpPr>
        <p:spPr>
          <a:xfrm>
            <a:off x="9093250" y="84810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430" name="Connector 33"/>
          <p:cNvSpPr/>
          <p:nvPr/>
        </p:nvSpPr>
        <p:spPr>
          <a:xfrm>
            <a:off x="1371600" y="90068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31" name="TextBox 34"/>
          <p:cNvSpPr txBox="1"/>
          <p:nvPr/>
        </p:nvSpPr>
        <p:spPr>
          <a:xfrm>
            <a:off x="1517902" y="9166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432" name="TextBox 35"/>
          <p:cNvSpPr txBox="1"/>
          <p:nvPr/>
        </p:nvSpPr>
        <p:spPr>
          <a:xfrm>
            <a:off x="2600094" y="9166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Dividend</a:t>
            </a:r>
          </a:p>
        </p:txBody>
      </p:sp>
      <p:sp>
        <p:nvSpPr>
          <p:cNvPr id="7433" name="TextBox 36"/>
          <p:cNvSpPr txBox="1"/>
          <p:nvPr/>
        </p:nvSpPr>
        <p:spPr>
          <a:xfrm>
            <a:off x="9093250" y="9166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434" name="Connector 37"/>
          <p:cNvSpPr/>
          <p:nvPr/>
        </p:nvSpPr>
        <p:spPr>
          <a:xfrm>
            <a:off x="1371600" y="9692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35" name="TextBox 38"/>
          <p:cNvSpPr txBox="1"/>
          <p:nvPr/>
        </p:nvSpPr>
        <p:spPr>
          <a:xfrm>
            <a:off x="1517902" y="9852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436" name="TextBox 39"/>
          <p:cNvSpPr txBox="1"/>
          <p:nvPr/>
        </p:nvSpPr>
        <p:spPr>
          <a:xfrm>
            <a:off x="2600094" y="9852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Position gain / loss %</a:t>
            </a:r>
          </a:p>
        </p:txBody>
      </p:sp>
      <p:sp>
        <p:nvSpPr>
          <p:cNvPr id="7437" name="TextBox 40"/>
          <p:cNvSpPr txBox="1"/>
          <p:nvPr/>
        </p:nvSpPr>
        <p:spPr>
          <a:xfrm>
            <a:off x="9093250" y="9852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438" name="Connector 41"/>
          <p:cNvSpPr/>
          <p:nvPr/>
        </p:nvSpPr>
        <p:spPr>
          <a:xfrm>
            <a:off x="1371600" y="10378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39" name="TextBox 42"/>
          <p:cNvSpPr txBox="1"/>
          <p:nvPr/>
        </p:nvSpPr>
        <p:spPr>
          <a:xfrm>
            <a:off x="1517902" y="10538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7440" name="TextBox 43"/>
          <p:cNvSpPr txBox="1"/>
          <p:nvPr/>
        </p:nvSpPr>
        <p:spPr>
          <a:xfrm>
            <a:off x="2600094" y="10538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Navigate to position details</a:t>
            </a:r>
          </a:p>
        </p:txBody>
      </p:sp>
      <p:sp>
        <p:nvSpPr>
          <p:cNvPr id="7441" name="TextBox 44"/>
          <p:cNvSpPr txBox="1"/>
          <p:nvPr/>
        </p:nvSpPr>
        <p:spPr>
          <a:xfrm>
            <a:off x="9093250" y="10538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442" name="Connector 45"/>
          <p:cNvSpPr/>
          <p:nvPr/>
        </p:nvSpPr>
        <p:spPr>
          <a:xfrm>
            <a:off x="1371600" y="11064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7445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093 / 111</a:t>
            </a:r>
          </a:p>
        </p:txBody>
      </p:sp>
      <p:sp>
        <p:nvSpPr>
          <p:cNvPr id="7446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CROWD FUND  ·  CAPABILITY ASSESSMENT</a:t>
            </a:r>
          </a:p>
        </p:txBody>
      </p:sp>
      <p:sp>
        <p:nvSpPr>
          <p:cNvPr id="7447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Holding Details</a:t>
            </a:r>
          </a:p>
        </p:txBody>
      </p:sp>
      <p:sp>
        <p:nvSpPr>
          <p:cNvPr id="7448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7449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7450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7451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7452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7453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7454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7455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7456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57" name="TextBox 14"/>
          <p:cNvSpPr txBox="1"/>
          <p:nvPr/>
        </p:nvSpPr>
        <p:spPr>
          <a:xfrm>
            <a:off x="1517902" y="57150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458" name="TextBox 15"/>
          <p:cNvSpPr txBox="1"/>
          <p:nvPr/>
        </p:nvSpPr>
        <p:spPr>
          <a:xfrm>
            <a:off x="2600094" y="57150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name/ Type</a:t>
            </a:r>
          </a:p>
        </p:txBody>
      </p:sp>
      <p:sp>
        <p:nvSpPr>
          <p:cNvPr id="7459" name="TextBox 16"/>
          <p:cNvSpPr txBox="1"/>
          <p:nvPr/>
        </p:nvSpPr>
        <p:spPr>
          <a:xfrm>
            <a:off x="9093250" y="57149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460" name="Connector 17"/>
          <p:cNvSpPr/>
          <p:nvPr/>
        </p:nvSpPr>
        <p:spPr>
          <a:xfrm>
            <a:off x="1371600" y="621792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1" name="TextBox 18"/>
          <p:cNvSpPr txBox="1"/>
          <p:nvPr/>
        </p:nvSpPr>
        <p:spPr>
          <a:xfrm>
            <a:off x="1517902" y="635507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462" name="TextBox 19"/>
          <p:cNvSpPr txBox="1"/>
          <p:nvPr/>
        </p:nvSpPr>
        <p:spPr>
          <a:xfrm>
            <a:off x="2600094" y="635507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Deal Size</a:t>
            </a:r>
          </a:p>
        </p:txBody>
      </p:sp>
      <p:sp>
        <p:nvSpPr>
          <p:cNvPr id="7463" name="TextBox 20"/>
          <p:cNvSpPr txBox="1"/>
          <p:nvPr/>
        </p:nvSpPr>
        <p:spPr>
          <a:xfrm>
            <a:off x="9093250" y="635507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464" name="Connector 21"/>
          <p:cNvSpPr/>
          <p:nvPr/>
        </p:nvSpPr>
        <p:spPr>
          <a:xfrm>
            <a:off x="1371600" y="68580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5" name="TextBox 22"/>
          <p:cNvSpPr txBox="1"/>
          <p:nvPr/>
        </p:nvSpPr>
        <p:spPr>
          <a:xfrm>
            <a:off x="1517902" y="69951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466" name="TextBox 23"/>
          <p:cNvSpPr txBox="1"/>
          <p:nvPr/>
        </p:nvSpPr>
        <p:spPr>
          <a:xfrm>
            <a:off x="2600094" y="69951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quantity</a:t>
            </a:r>
          </a:p>
        </p:txBody>
      </p:sp>
      <p:sp>
        <p:nvSpPr>
          <p:cNvPr id="7467" name="TextBox 24"/>
          <p:cNvSpPr txBox="1"/>
          <p:nvPr/>
        </p:nvSpPr>
        <p:spPr>
          <a:xfrm>
            <a:off x="9093250" y="69951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468" name="Connector 25"/>
          <p:cNvSpPr/>
          <p:nvPr/>
        </p:nvSpPr>
        <p:spPr>
          <a:xfrm>
            <a:off x="1371600" y="74980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9" name="TextBox 26"/>
          <p:cNvSpPr txBox="1"/>
          <p:nvPr/>
        </p:nvSpPr>
        <p:spPr>
          <a:xfrm>
            <a:off x="1517902" y="76352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470" name="TextBox 27"/>
          <p:cNvSpPr txBox="1"/>
          <p:nvPr/>
        </p:nvSpPr>
        <p:spPr>
          <a:xfrm>
            <a:off x="2600094" y="76352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Exp ROI</a:t>
            </a:r>
          </a:p>
        </p:txBody>
      </p:sp>
      <p:sp>
        <p:nvSpPr>
          <p:cNvPr id="7471" name="TextBox 28"/>
          <p:cNvSpPr txBox="1"/>
          <p:nvPr/>
        </p:nvSpPr>
        <p:spPr>
          <a:xfrm>
            <a:off x="9093250" y="76352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472" name="Connector 29"/>
          <p:cNvSpPr/>
          <p:nvPr/>
        </p:nvSpPr>
        <p:spPr>
          <a:xfrm>
            <a:off x="1371600" y="81381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73" name="TextBox 30"/>
          <p:cNvSpPr txBox="1"/>
          <p:nvPr/>
        </p:nvSpPr>
        <p:spPr>
          <a:xfrm>
            <a:off x="1517902" y="827531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474" name="TextBox 31"/>
          <p:cNvSpPr txBox="1"/>
          <p:nvPr/>
        </p:nvSpPr>
        <p:spPr>
          <a:xfrm>
            <a:off x="2600094" y="827531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Unit price</a:t>
            </a:r>
          </a:p>
        </p:txBody>
      </p:sp>
      <p:sp>
        <p:nvSpPr>
          <p:cNvPr id="7475" name="TextBox 32"/>
          <p:cNvSpPr txBox="1"/>
          <p:nvPr/>
        </p:nvSpPr>
        <p:spPr>
          <a:xfrm>
            <a:off x="9093250" y="827531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476" name="Connector 33"/>
          <p:cNvSpPr/>
          <p:nvPr/>
        </p:nvSpPr>
        <p:spPr>
          <a:xfrm>
            <a:off x="1371600" y="8778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77" name="TextBox 34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478" name="TextBox 35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Investment Amount</a:t>
            </a:r>
          </a:p>
        </p:txBody>
      </p:sp>
      <p:sp>
        <p:nvSpPr>
          <p:cNvPr id="7479" name="TextBox 36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480" name="Connector 37"/>
          <p:cNvSpPr/>
          <p:nvPr/>
        </p:nvSpPr>
        <p:spPr>
          <a:xfrm>
            <a:off x="1371600" y="94183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81" name="TextBox 38"/>
          <p:cNvSpPr txBox="1"/>
          <p:nvPr/>
        </p:nvSpPr>
        <p:spPr>
          <a:xfrm>
            <a:off x="1517902" y="955548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482" name="TextBox 39"/>
          <p:cNvSpPr txBox="1"/>
          <p:nvPr/>
        </p:nvSpPr>
        <p:spPr>
          <a:xfrm>
            <a:off x="2600094" y="955548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Durations</a:t>
            </a:r>
          </a:p>
        </p:txBody>
      </p:sp>
      <p:sp>
        <p:nvSpPr>
          <p:cNvPr id="7483" name="TextBox 40"/>
          <p:cNvSpPr txBox="1"/>
          <p:nvPr/>
        </p:nvSpPr>
        <p:spPr>
          <a:xfrm>
            <a:off x="9093250" y="955548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484" name="Connector 41"/>
          <p:cNvSpPr/>
          <p:nvPr/>
        </p:nvSpPr>
        <p:spPr>
          <a:xfrm>
            <a:off x="1371600" y="100584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85" name="TextBox 42"/>
          <p:cNvSpPr txBox="1"/>
          <p:nvPr/>
        </p:nvSpPr>
        <p:spPr>
          <a:xfrm>
            <a:off x="1517902" y="101955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7486" name="TextBox 43"/>
          <p:cNvSpPr txBox="1"/>
          <p:nvPr/>
        </p:nvSpPr>
        <p:spPr>
          <a:xfrm>
            <a:off x="2600094" y="101955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</a:t>
            </a:r>
          </a:p>
        </p:txBody>
      </p:sp>
      <p:sp>
        <p:nvSpPr>
          <p:cNvPr id="7487" name="TextBox 44"/>
          <p:cNvSpPr txBox="1"/>
          <p:nvPr/>
        </p:nvSpPr>
        <p:spPr>
          <a:xfrm>
            <a:off x="9093250" y="101955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488" name="Connector 45"/>
          <p:cNvSpPr/>
          <p:nvPr/>
        </p:nvSpPr>
        <p:spPr>
          <a:xfrm>
            <a:off x="1371600" y="106984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89" name="TextBox 46"/>
          <p:cNvSpPr txBox="1"/>
          <p:nvPr/>
        </p:nvSpPr>
        <p:spPr>
          <a:xfrm>
            <a:off x="1517902" y="1083564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7490" name="TextBox 47"/>
          <p:cNvSpPr txBox="1"/>
          <p:nvPr/>
        </p:nvSpPr>
        <p:spPr>
          <a:xfrm>
            <a:off x="2600094" y="1083564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Start Date</a:t>
            </a:r>
          </a:p>
        </p:txBody>
      </p:sp>
      <p:sp>
        <p:nvSpPr>
          <p:cNvPr id="7491" name="TextBox 48"/>
          <p:cNvSpPr txBox="1"/>
          <p:nvPr/>
        </p:nvSpPr>
        <p:spPr>
          <a:xfrm>
            <a:off x="9093250" y="1083564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492" name="Connector 49"/>
          <p:cNvSpPr/>
          <p:nvPr/>
        </p:nvSpPr>
        <p:spPr>
          <a:xfrm>
            <a:off x="1371600" y="113385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93" name="TextBox 50"/>
          <p:cNvSpPr txBox="1"/>
          <p:nvPr/>
        </p:nvSpPr>
        <p:spPr>
          <a:xfrm>
            <a:off x="1517902" y="11475718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7494" name="TextBox 51"/>
          <p:cNvSpPr txBox="1"/>
          <p:nvPr/>
        </p:nvSpPr>
        <p:spPr>
          <a:xfrm>
            <a:off x="2600094" y="11475718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End Date</a:t>
            </a:r>
          </a:p>
        </p:txBody>
      </p:sp>
      <p:sp>
        <p:nvSpPr>
          <p:cNvPr id="7495" name="TextBox 52"/>
          <p:cNvSpPr txBox="1"/>
          <p:nvPr/>
        </p:nvSpPr>
        <p:spPr>
          <a:xfrm>
            <a:off x="9093250" y="11475718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496" name="Connector 53"/>
          <p:cNvSpPr/>
          <p:nvPr/>
        </p:nvSpPr>
        <p:spPr>
          <a:xfrm>
            <a:off x="1371600" y="11978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97" name="TextBox 54"/>
          <p:cNvSpPr txBox="1"/>
          <p:nvPr/>
        </p:nvSpPr>
        <p:spPr>
          <a:xfrm>
            <a:off x="1517902" y="121158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7498" name="TextBox 55"/>
          <p:cNvSpPr txBox="1"/>
          <p:nvPr/>
        </p:nvSpPr>
        <p:spPr>
          <a:xfrm>
            <a:off x="2600094" y="121158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Buy/Sell</a:t>
            </a:r>
          </a:p>
        </p:txBody>
      </p:sp>
      <p:sp>
        <p:nvSpPr>
          <p:cNvPr id="7499" name="TextBox 56"/>
          <p:cNvSpPr txBox="1"/>
          <p:nvPr/>
        </p:nvSpPr>
        <p:spPr>
          <a:xfrm>
            <a:off x="9093250" y="121157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500" name="Connector 57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02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7503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094 / 111</a:t>
            </a:r>
          </a:p>
        </p:txBody>
      </p:sp>
      <p:sp>
        <p:nvSpPr>
          <p:cNvPr id="7504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CROWD FUND  ·  CAPABILITY ASSESSMENT</a:t>
            </a:r>
          </a:p>
        </p:txBody>
      </p:sp>
      <p:sp>
        <p:nvSpPr>
          <p:cNvPr id="7505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Cash &amp; Liquidity Management</a:t>
            </a:r>
          </a:p>
        </p:txBody>
      </p:sp>
      <p:sp>
        <p:nvSpPr>
          <p:cNvPr id="7506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7507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7508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7509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7510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7511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7512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7513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7514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15" name="TextBox 14"/>
          <p:cNvSpPr txBox="1"/>
          <p:nvPr/>
        </p:nvSpPr>
        <p:spPr>
          <a:xfrm>
            <a:off x="1517902" y="5737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516" name="TextBox 15"/>
          <p:cNvSpPr txBox="1"/>
          <p:nvPr/>
        </p:nvSpPr>
        <p:spPr>
          <a:xfrm>
            <a:off x="2600094" y="5737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Total cash</a:t>
            </a:r>
          </a:p>
        </p:txBody>
      </p:sp>
      <p:sp>
        <p:nvSpPr>
          <p:cNvPr id="7517" name="TextBox 16"/>
          <p:cNvSpPr txBox="1"/>
          <p:nvPr/>
        </p:nvSpPr>
        <p:spPr>
          <a:xfrm>
            <a:off x="9093250" y="5737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518" name="Connector 17"/>
          <p:cNvSpPr/>
          <p:nvPr/>
        </p:nvSpPr>
        <p:spPr>
          <a:xfrm>
            <a:off x="1371600" y="6263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19" name="TextBox 18"/>
          <p:cNvSpPr txBox="1"/>
          <p:nvPr/>
        </p:nvSpPr>
        <p:spPr>
          <a:xfrm>
            <a:off x="1517902" y="6423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520" name="TextBox 19"/>
          <p:cNvSpPr txBox="1"/>
          <p:nvPr/>
        </p:nvSpPr>
        <p:spPr>
          <a:xfrm>
            <a:off x="2600094" y="6423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Available cash for withdraw</a:t>
            </a:r>
          </a:p>
        </p:txBody>
      </p:sp>
      <p:sp>
        <p:nvSpPr>
          <p:cNvPr id="7521" name="TextBox 20"/>
          <p:cNvSpPr txBox="1"/>
          <p:nvPr/>
        </p:nvSpPr>
        <p:spPr>
          <a:xfrm>
            <a:off x="9093250" y="6423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522" name="TextBox 21"/>
          <p:cNvSpPr txBox="1"/>
          <p:nvPr/>
        </p:nvSpPr>
        <p:spPr>
          <a:xfrm>
            <a:off x="14504212" y="64236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Withdrawal eligibility rules visibility</a:t>
            </a:r>
          </a:p>
        </p:txBody>
      </p:sp>
      <p:sp>
        <p:nvSpPr>
          <p:cNvPr id="7523" name="Connector 22"/>
          <p:cNvSpPr/>
          <p:nvPr/>
        </p:nvSpPr>
        <p:spPr>
          <a:xfrm>
            <a:off x="1371600" y="6949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24" name="TextBox 23"/>
          <p:cNvSpPr txBox="1"/>
          <p:nvPr/>
        </p:nvSpPr>
        <p:spPr>
          <a:xfrm>
            <a:off x="1517902" y="7109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525" name="TextBox 24"/>
          <p:cNvSpPr txBox="1"/>
          <p:nvPr/>
        </p:nvSpPr>
        <p:spPr>
          <a:xfrm>
            <a:off x="2600094" y="7109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Buying power</a:t>
            </a:r>
          </a:p>
        </p:txBody>
      </p:sp>
      <p:sp>
        <p:nvSpPr>
          <p:cNvPr id="7526" name="TextBox 25"/>
          <p:cNvSpPr txBox="1"/>
          <p:nvPr/>
        </p:nvSpPr>
        <p:spPr>
          <a:xfrm>
            <a:off x="9093250" y="7109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527" name="Connector 26"/>
          <p:cNvSpPr/>
          <p:nvPr/>
        </p:nvSpPr>
        <p:spPr>
          <a:xfrm>
            <a:off x="1371600" y="763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28" name="TextBox 27"/>
          <p:cNvSpPr txBox="1"/>
          <p:nvPr/>
        </p:nvSpPr>
        <p:spPr>
          <a:xfrm>
            <a:off x="1517902" y="7795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529" name="TextBox 28"/>
          <p:cNvSpPr txBox="1"/>
          <p:nvPr/>
        </p:nvSpPr>
        <p:spPr>
          <a:xfrm>
            <a:off x="2600094" y="7795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under processing</a:t>
            </a:r>
          </a:p>
        </p:txBody>
      </p:sp>
      <p:sp>
        <p:nvSpPr>
          <p:cNvPr id="7530" name="TextBox 29"/>
          <p:cNvSpPr txBox="1"/>
          <p:nvPr/>
        </p:nvSpPr>
        <p:spPr>
          <a:xfrm>
            <a:off x="9093250" y="7795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531" name="TextBox 30"/>
          <p:cNvSpPr txBox="1"/>
          <p:nvPr/>
        </p:nvSpPr>
        <p:spPr>
          <a:xfrm>
            <a:off x="14504212" y="77952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Processing status tracking</a:t>
            </a:r>
          </a:p>
        </p:txBody>
      </p:sp>
      <p:sp>
        <p:nvSpPr>
          <p:cNvPr id="7532" name="Connector 31"/>
          <p:cNvSpPr/>
          <p:nvPr/>
        </p:nvSpPr>
        <p:spPr>
          <a:xfrm>
            <a:off x="1371600" y="8321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33" name="TextBox 32"/>
          <p:cNvSpPr txBox="1"/>
          <p:nvPr/>
        </p:nvSpPr>
        <p:spPr>
          <a:xfrm>
            <a:off x="1517902" y="84810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534" name="TextBox 33"/>
          <p:cNvSpPr txBox="1"/>
          <p:nvPr/>
        </p:nvSpPr>
        <p:spPr>
          <a:xfrm>
            <a:off x="2600094" y="84810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breakdown details</a:t>
            </a:r>
          </a:p>
        </p:txBody>
      </p:sp>
      <p:sp>
        <p:nvSpPr>
          <p:cNvPr id="7535" name="TextBox 34"/>
          <p:cNvSpPr txBox="1"/>
          <p:nvPr/>
        </p:nvSpPr>
        <p:spPr>
          <a:xfrm>
            <a:off x="9093250" y="84810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536" name="Connector 35"/>
          <p:cNvSpPr/>
          <p:nvPr/>
        </p:nvSpPr>
        <p:spPr>
          <a:xfrm>
            <a:off x="1371600" y="90068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37" name="TextBox 36"/>
          <p:cNvSpPr txBox="1"/>
          <p:nvPr/>
        </p:nvSpPr>
        <p:spPr>
          <a:xfrm>
            <a:off x="1517902" y="9166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538" name="TextBox 37"/>
          <p:cNvSpPr txBox="1"/>
          <p:nvPr/>
        </p:nvSpPr>
        <p:spPr>
          <a:xfrm>
            <a:off x="2600094" y="9166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Liquidity visibility</a:t>
            </a:r>
          </a:p>
        </p:txBody>
      </p:sp>
      <p:sp>
        <p:nvSpPr>
          <p:cNvPr id="7539" name="TextBox 38"/>
          <p:cNvSpPr txBox="1"/>
          <p:nvPr/>
        </p:nvSpPr>
        <p:spPr>
          <a:xfrm>
            <a:off x="9093250" y="9166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540" name="Connector 39"/>
          <p:cNvSpPr/>
          <p:nvPr/>
        </p:nvSpPr>
        <p:spPr>
          <a:xfrm>
            <a:off x="1371600" y="9692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41" name="TextBox 40"/>
          <p:cNvSpPr txBox="1"/>
          <p:nvPr/>
        </p:nvSpPr>
        <p:spPr>
          <a:xfrm>
            <a:off x="1517902" y="9852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542" name="TextBox 41"/>
          <p:cNvSpPr txBox="1"/>
          <p:nvPr/>
        </p:nvSpPr>
        <p:spPr>
          <a:xfrm>
            <a:off x="2600094" y="9852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cash navigation</a:t>
            </a:r>
          </a:p>
        </p:txBody>
      </p:sp>
      <p:sp>
        <p:nvSpPr>
          <p:cNvPr id="7543" name="TextBox 42"/>
          <p:cNvSpPr txBox="1"/>
          <p:nvPr/>
        </p:nvSpPr>
        <p:spPr>
          <a:xfrm>
            <a:off x="9093250" y="9852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544" name="Connector 43"/>
          <p:cNvSpPr/>
          <p:nvPr/>
        </p:nvSpPr>
        <p:spPr>
          <a:xfrm>
            <a:off x="1371600" y="10378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7547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095 / 111</a:t>
            </a:r>
          </a:p>
        </p:txBody>
      </p:sp>
      <p:sp>
        <p:nvSpPr>
          <p:cNvPr id="7548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CROWD FUND  ·  CAPABILITY ASSESSMENT</a:t>
            </a:r>
          </a:p>
        </p:txBody>
      </p:sp>
      <p:sp>
        <p:nvSpPr>
          <p:cNvPr id="7549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Orders &amp; Execution Management</a:t>
            </a:r>
          </a:p>
        </p:txBody>
      </p:sp>
      <p:sp>
        <p:nvSpPr>
          <p:cNvPr id="7550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7551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7552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7553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7554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7555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7556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7557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7558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59" name="TextBox 14"/>
          <p:cNvSpPr txBox="1"/>
          <p:nvPr/>
        </p:nvSpPr>
        <p:spPr>
          <a:xfrm>
            <a:off x="1517902" y="5737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560" name="TextBox 15"/>
          <p:cNvSpPr txBox="1"/>
          <p:nvPr/>
        </p:nvSpPr>
        <p:spPr>
          <a:xfrm>
            <a:off x="2600094" y="5737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Orders list view</a:t>
            </a:r>
          </a:p>
        </p:txBody>
      </p:sp>
      <p:sp>
        <p:nvSpPr>
          <p:cNvPr id="7561" name="TextBox 16"/>
          <p:cNvSpPr txBox="1"/>
          <p:nvPr/>
        </p:nvSpPr>
        <p:spPr>
          <a:xfrm>
            <a:off x="9093250" y="5737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562" name="Connector 17"/>
          <p:cNvSpPr/>
          <p:nvPr/>
        </p:nvSpPr>
        <p:spPr>
          <a:xfrm>
            <a:off x="1371600" y="6263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63" name="TextBox 18"/>
          <p:cNvSpPr txBox="1"/>
          <p:nvPr/>
        </p:nvSpPr>
        <p:spPr>
          <a:xfrm>
            <a:off x="1517902" y="6423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564" name="TextBox 19"/>
          <p:cNvSpPr txBox="1"/>
          <p:nvPr/>
        </p:nvSpPr>
        <p:spPr>
          <a:xfrm>
            <a:off x="2600094" y="6423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status visibility</a:t>
            </a:r>
          </a:p>
        </p:txBody>
      </p:sp>
      <p:sp>
        <p:nvSpPr>
          <p:cNvPr id="7565" name="TextBox 20"/>
          <p:cNvSpPr txBox="1"/>
          <p:nvPr/>
        </p:nvSpPr>
        <p:spPr>
          <a:xfrm>
            <a:off x="9093250" y="6423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566" name="Connector 21"/>
          <p:cNvSpPr/>
          <p:nvPr/>
        </p:nvSpPr>
        <p:spPr>
          <a:xfrm>
            <a:off x="1371600" y="6949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67" name="TextBox 22"/>
          <p:cNvSpPr txBox="1"/>
          <p:nvPr/>
        </p:nvSpPr>
        <p:spPr>
          <a:xfrm>
            <a:off x="1517902" y="7109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568" name="TextBox 23"/>
          <p:cNvSpPr txBox="1"/>
          <p:nvPr/>
        </p:nvSpPr>
        <p:spPr>
          <a:xfrm>
            <a:off x="2600094" y="7109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details view</a:t>
            </a:r>
          </a:p>
        </p:txBody>
      </p:sp>
      <p:sp>
        <p:nvSpPr>
          <p:cNvPr id="7569" name="TextBox 24"/>
          <p:cNvSpPr txBox="1"/>
          <p:nvPr/>
        </p:nvSpPr>
        <p:spPr>
          <a:xfrm>
            <a:off x="9093250" y="7109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570" name="Connector 25"/>
          <p:cNvSpPr/>
          <p:nvPr/>
        </p:nvSpPr>
        <p:spPr>
          <a:xfrm>
            <a:off x="1371600" y="763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71" name="TextBox 26"/>
          <p:cNvSpPr txBox="1"/>
          <p:nvPr/>
        </p:nvSpPr>
        <p:spPr>
          <a:xfrm>
            <a:off x="1517902" y="7795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572" name="TextBox 27"/>
          <p:cNvSpPr txBox="1"/>
          <p:nvPr/>
        </p:nvSpPr>
        <p:spPr>
          <a:xfrm>
            <a:off x="2600094" y="7795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Transaction history</a:t>
            </a:r>
          </a:p>
        </p:txBody>
      </p:sp>
      <p:sp>
        <p:nvSpPr>
          <p:cNvPr id="7573" name="TextBox 28"/>
          <p:cNvSpPr txBox="1"/>
          <p:nvPr/>
        </p:nvSpPr>
        <p:spPr>
          <a:xfrm>
            <a:off x="9093250" y="7795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574" name="TextBox 29"/>
          <p:cNvSpPr txBox="1"/>
          <p:nvPr/>
        </p:nvSpPr>
        <p:spPr>
          <a:xfrm>
            <a:off x="14504212" y="77952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history</a:t>
            </a:r>
          </a:p>
        </p:txBody>
      </p:sp>
      <p:sp>
        <p:nvSpPr>
          <p:cNvPr id="7575" name="Connector 30"/>
          <p:cNvSpPr/>
          <p:nvPr/>
        </p:nvSpPr>
        <p:spPr>
          <a:xfrm>
            <a:off x="1371600" y="8321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76" name="TextBox 31"/>
          <p:cNvSpPr txBox="1"/>
          <p:nvPr/>
        </p:nvSpPr>
        <p:spPr>
          <a:xfrm>
            <a:off x="1517902" y="84810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577" name="TextBox 32"/>
          <p:cNvSpPr txBox="1"/>
          <p:nvPr/>
        </p:nvSpPr>
        <p:spPr>
          <a:xfrm>
            <a:off x="2600094" y="84810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Execution price/amount visibility</a:t>
            </a:r>
          </a:p>
        </p:txBody>
      </p:sp>
      <p:sp>
        <p:nvSpPr>
          <p:cNvPr id="7578" name="TextBox 33"/>
          <p:cNvSpPr txBox="1"/>
          <p:nvPr/>
        </p:nvSpPr>
        <p:spPr>
          <a:xfrm>
            <a:off x="9093250" y="84810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579" name="Connector 34"/>
          <p:cNvSpPr/>
          <p:nvPr/>
        </p:nvSpPr>
        <p:spPr>
          <a:xfrm>
            <a:off x="1371600" y="90068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80" name="TextBox 35"/>
          <p:cNvSpPr txBox="1"/>
          <p:nvPr/>
        </p:nvSpPr>
        <p:spPr>
          <a:xfrm>
            <a:off x="1517902" y="9166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581" name="TextBox 36"/>
          <p:cNvSpPr txBox="1"/>
          <p:nvPr/>
        </p:nvSpPr>
        <p:spPr>
          <a:xfrm>
            <a:off x="2600094" y="9166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Place/Modify order</a:t>
            </a:r>
          </a:p>
        </p:txBody>
      </p:sp>
      <p:sp>
        <p:nvSpPr>
          <p:cNvPr id="7582" name="TextBox 37"/>
          <p:cNvSpPr txBox="1"/>
          <p:nvPr/>
        </p:nvSpPr>
        <p:spPr>
          <a:xfrm>
            <a:off x="9093250" y="9166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583" name="Connector 38"/>
          <p:cNvSpPr/>
          <p:nvPr/>
        </p:nvSpPr>
        <p:spPr>
          <a:xfrm>
            <a:off x="1371600" y="9692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84" name="TextBox 39"/>
          <p:cNvSpPr txBox="1"/>
          <p:nvPr/>
        </p:nvSpPr>
        <p:spPr>
          <a:xfrm>
            <a:off x="1517902" y="9852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585" name="TextBox 40"/>
          <p:cNvSpPr txBox="1"/>
          <p:nvPr/>
        </p:nvSpPr>
        <p:spPr>
          <a:xfrm>
            <a:off x="2600094" y="9852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/Reorder order</a:t>
            </a:r>
          </a:p>
        </p:txBody>
      </p:sp>
      <p:sp>
        <p:nvSpPr>
          <p:cNvPr id="7586" name="TextBox 41"/>
          <p:cNvSpPr txBox="1"/>
          <p:nvPr/>
        </p:nvSpPr>
        <p:spPr>
          <a:xfrm>
            <a:off x="9093250" y="9852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587" name="Connector 42"/>
          <p:cNvSpPr/>
          <p:nvPr/>
        </p:nvSpPr>
        <p:spPr>
          <a:xfrm>
            <a:off x="1371600" y="10378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88" name="TextBox 43"/>
          <p:cNvSpPr txBox="1"/>
          <p:nvPr/>
        </p:nvSpPr>
        <p:spPr>
          <a:xfrm>
            <a:off x="1517902" y="10538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7589" name="TextBox 44"/>
          <p:cNvSpPr txBox="1"/>
          <p:nvPr/>
        </p:nvSpPr>
        <p:spPr>
          <a:xfrm>
            <a:off x="2600094" y="10538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Customize order view (card/table)</a:t>
            </a:r>
          </a:p>
        </p:txBody>
      </p:sp>
      <p:sp>
        <p:nvSpPr>
          <p:cNvPr id="7590" name="TextBox 45"/>
          <p:cNvSpPr txBox="1"/>
          <p:nvPr/>
        </p:nvSpPr>
        <p:spPr>
          <a:xfrm>
            <a:off x="9093250" y="10538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sp>
        <p:nvSpPr>
          <p:cNvPr id="7591" name="Connector 46"/>
          <p:cNvSpPr/>
          <p:nvPr/>
        </p:nvSpPr>
        <p:spPr>
          <a:xfrm>
            <a:off x="1371600" y="11064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92" name="TextBox 47"/>
          <p:cNvSpPr txBox="1"/>
          <p:nvPr/>
        </p:nvSpPr>
        <p:spPr>
          <a:xfrm>
            <a:off x="1517902" y="11224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7593" name="TextBox 48"/>
          <p:cNvSpPr txBox="1"/>
          <p:nvPr/>
        </p:nvSpPr>
        <p:spPr>
          <a:xfrm>
            <a:off x="2600094" y="11224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 filtering</a:t>
            </a:r>
          </a:p>
        </p:txBody>
      </p:sp>
      <p:sp>
        <p:nvSpPr>
          <p:cNvPr id="7594" name="TextBox 49"/>
          <p:cNvSpPr txBox="1"/>
          <p:nvPr/>
        </p:nvSpPr>
        <p:spPr>
          <a:xfrm>
            <a:off x="9093250" y="11224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sp>
        <p:nvSpPr>
          <p:cNvPr id="7595" name="Connector 50"/>
          <p:cNvSpPr/>
          <p:nvPr/>
        </p:nvSpPr>
        <p:spPr>
          <a:xfrm>
            <a:off x="1371600" y="11750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97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7598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096 / 111</a:t>
            </a:r>
          </a:p>
        </p:txBody>
      </p:sp>
      <p:sp>
        <p:nvSpPr>
          <p:cNvPr id="7599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CROWD FUND  ·  CAPABILITY ASSESSMENT</a:t>
            </a:r>
          </a:p>
        </p:txBody>
      </p:sp>
      <p:sp>
        <p:nvSpPr>
          <p:cNvPr id="7600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Transfer &amp; Funding</a:t>
            </a:r>
          </a:p>
        </p:txBody>
      </p:sp>
      <p:sp>
        <p:nvSpPr>
          <p:cNvPr id="7601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7602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7603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7604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7605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7606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7607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7608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7609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10" name="TextBox 14"/>
          <p:cNvSpPr txBox="1"/>
          <p:nvPr/>
        </p:nvSpPr>
        <p:spPr>
          <a:xfrm>
            <a:off x="1517902" y="5737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611" name="TextBox 15"/>
          <p:cNvSpPr txBox="1"/>
          <p:nvPr/>
        </p:nvSpPr>
        <p:spPr>
          <a:xfrm>
            <a:off x="2600094" y="5737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transfer options visibility</a:t>
            </a:r>
          </a:p>
        </p:txBody>
      </p:sp>
      <p:sp>
        <p:nvSpPr>
          <p:cNvPr id="7612" name="TextBox 16"/>
          <p:cNvSpPr txBox="1"/>
          <p:nvPr/>
        </p:nvSpPr>
        <p:spPr>
          <a:xfrm>
            <a:off x="9093250" y="5737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613" name="Connector 17"/>
          <p:cNvSpPr/>
          <p:nvPr/>
        </p:nvSpPr>
        <p:spPr>
          <a:xfrm>
            <a:off x="1371600" y="6263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14" name="TextBox 18"/>
          <p:cNvSpPr txBox="1"/>
          <p:nvPr/>
        </p:nvSpPr>
        <p:spPr>
          <a:xfrm>
            <a:off x="1517902" y="6423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615" name="TextBox 19"/>
          <p:cNvSpPr txBox="1"/>
          <p:nvPr/>
        </p:nvSpPr>
        <p:spPr>
          <a:xfrm>
            <a:off x="2600094" y="6423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status visibility</a:t>
            </a:r>
          </a:p>
        </p:txBody>
      </p:sp>
      <p:sp>
        <p:nvSpPr>
          <p:cNvPr id="7616" name="TextBox 20"/>
          <p:cNvSpPr txBox="1"/>
          <p:nvPr/>
        </p:nvSpPr>
        <p:spPr>
          <a:xfrm>
            <a:off x="9093250" y="6423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617" name="Connector 21"/>
          <p:cNvSpPr/>
          <p:nvPr/>
        </p:nvSpPr>
        <p:spPr>
          <a:xfrm>
            <a:off x="1371600" y="6949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18" name="TextBox 22"/>
          <p:cNvSpPr txBox="1"/>
          <p:nvPr/>
        </p:nvSpPr>
        <p:spPr>
          <a:xfrm>
            <a:off x="1517902" y="7109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619" name="TextBox 23"/>
          <p:cNvSpPr txBox="1"/>
          <p:nvPr/>
        </p:nvSpPr>
        <p:spPr>
          <a:xfrm>
            <a:off x="2600094" y="7109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history</a:t>
            </a:r>
          </a:p>
        </p:txBody>
      </p:sp>
      <p:sp>
        <p:nvSpPr>
          <p:cNvPr id="7620" name="TextBox 24"/>
          <p:cNvSpPr txBox="1"/>
          <p:nvPr/>
        </p:nvSpPr>
        <p:spPr>
          <a:xfrm>
            <a:off x="9093250" y="7109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621" name="TextBox 25"/>
          <p:cNvSpPr txBox="1"/>
          <p:nvPr/>
        </p:nvSpPr>
        <p:spPr>
          <a:xfrm>
            <a:off x="14504212" y="71094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history</a:t>
            </a:r>
          </a:p>
        </p:txBody>
      </p:sp>
      <p:sp>
        <p:nvSpPr>
          <p:cNvPr id="7622" name="Connector 26"/>
          <p:cNvSpPr/>
          <p:nvPr/>
        </p:nvSpPr>
        <p:spPr>
          <a:xfrm>
            <a:off x="1371600" y="763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23" name="TextBox 27"/>
          <p:cNvSpPr txBox="1"/>
          <p:nvPr/>
        </p:nvSpPr>
        <p:spPr>
          <a:xfrm>
            <a:off x="1517902" y="7795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624" name="TextBox 28"/>
          <p:cNvSpPr txBox="1"/>
          <p:nvPr/>
        </p:nvSpPr>
        <p:spPr>
          <a:xfrm>
            <a:off x="2600094" y="7795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source visibility</a:t>
            </a:r>
          </a:p>
        </p:txBody>
      </p:sp>
      <p:sp>
        <p:nvSpPr>
          <p:cNvPr id="7625" name="TextBox 29"/>
          <p:cNvSpPr txBox="1"/>
          <p:nvPr/>
        </p:nvSpPr>
        <p:spPr>
          <a:xfrm>
            <a:off x="9093250" y="7795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626" name="Connector 30"/>
          <p:cNvSpPr/>
          <p:nvPr/>
        </p:nvSpPr>
        <p:spPr>
          <a:xfrm>
            <a:off x="1371600" y="8321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27" name="TextBox 31"/>
          <p:cNvSpPr txBox="1"/>
          <p:nvPr/>
        </p:nvSpPr>
        <p:spPr>
          <a:xfrm>
            <a:off x="1517902" y="84810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628" name="TextBox 32"/>
          <p:cNvSpPr txBox="1"/>
          <p:nvPr/>
        </p:nvSpPr>
        <p:spPr>
          <a:xfrm>
            <a:off x="2600094" y="84810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Transfer eligibility visibility</a:t>
            </a:r>
          </a:p>
        </p:txBody>
      </p:sp>
      <p:sp>
        <p:nvSpPr>
          <p:cNvPr id="7629" name="TextBox 33"/>
          <p:cNvSpPr txBox="1"/>
          <p:nvPr/>
        </p:nvSpPr>
        <p:spPr>
          <a:xfrm>
            <a:off x="9093250" y="84810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630" name="Connector 34"/>
          <p:cNvSpPr/>
          <p:nvPr/>
        </p:nvSpPr>
        <p:spPr>
          <a:xfrm>
            <a:off x="1371600" y="90068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31" name="TextBox 35"/>
          <p:cNvSpPr txBox="1"/>
          <p:nvPr/>
        </p:nvSpPr>
        <p:spPr>
          <a:xfrm>
            <a:off x="1517902" y="9166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632" name="TextBox 36"/>
          <p:cNvSpPr txBox="1"/>
          <p:nvPr/>
        </p:nvSpPr>
        <p:spPr>
          <a:xfrm>
            <a:off x="2600094" y="9166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Deposit cash (cash in)</a:t>
            </a:r>
          </a:p>
        </p:txBody>
      </p:sp>
      <p:sp>
        <p:nvSpPr>
          <p:cNvPr id="7633" name="TextBox 37"/>
          <p:cNvSpPr txBox="1"/>
          <p:nvPr/>
        </p:nvSpPr>
        <p:spPr>
          <a:xfrm>
            <a:off x="9093250" y="9166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634" name="Connector 38"/>
          <p:cNvSpPr/>
          <p:nvPr/>
        </p:nvSpPr>
        <p:spPr>
          <a:xfrm>
            <a:off x="1371600" y="9692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35" name="TextBox 39"/>
          <p:cNvSpPr txBox="1"/>
          <p:nvPr/>
        </p:nvSpPr>
        <p:spPr>
          <a:xfrm>
            <a:off x="1517902" y="9852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636" name="TextBox 40"/>
          <p:cNvSpPr txBox="1"/>
          <p:nvPr/>
        </p:nvSpPr>
        <p:spPr>
          <a:xfrm>
            <a:off x="2600094" y="9852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Withdraw (cash out)</a:t>
            </a:r>
          </a:p>
        </p:txBody>
      </p:sp>
      <p:sp>
        <p:nvSpPr>
          <p:cNvPr id="7637" name="TextBox 41"/>
          <p:cNvSpPr txBox="1"/>
          <p:nvPr/>
        </p:nvSpPr>
        <p:spPr>
          <a:xfrm>
            <a:off x="9093250" y="9852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638" name="Connector 42"/>
          <p:cNvSpPr/>
          <p:nvPr/>
        </p:nvSpPr>
        <p:spPr>
          <a:xfrm>
            <a:off x="1371600" y="10378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7641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097 / 111</a:t>
            </a:r>
          </a:p>
        </p:txBody>
      </p:sp>
      <p:sp>
        <p:nvSpPr>
          <p:cNvPr id="7642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CROWD FUND  ·  CAPABILITY ASSESSMENT</a:t>
            </a:r>
          </a:p>
        </p:txBody>
      </p:sp>
      <p:sp>
        <p:nvSpPr>
          <p:cNvPr id="7643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Reporting &amp; Statements</a:t>
            </a:r>
          </a:p>
        </p:txBody>
      </p:sp>
      <p:sp>
        <p:nvSpPr>
          <p:cNvPr id="7644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7645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7646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7647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7648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7649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7650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7651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7652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53" name="TextBox 14"/>
          <p:cNvSpPr txBox="1"/>
          <p:nvPr/>
        </p:nvSpPr>
        <p:spPr>
          <a:xfrm>
            <a:off x="1517902" y="5737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654" name="TextBox 15"/>
          <p:cNvSpPr txBox="1"/>
          <p:nvPr/>
        </p:nvSpPr>
        <p:spPr>
          <a:xfrm>
            <a:off x="2600094" y="5737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overall report</a:t>
            </a:r>
          </a:p>
        </p:txBody>
      </p:sp>
      <p:sp>
        <p:nvSpPr>
          <p:cNvPr id="7655" name="TextBox 16"/>
          <p:cNvSpPr txBox="1"/>
          <p:nvPr/>
        </p:nvSpPr>
        <p:spPr>
          <a:xfrm>
            <a:off x="9093250" y="5737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656" name="Connector 17"/>
          <p:cNvSpPr/>
          <p:nvPr/>
        </p:nvSpPr>
        <p:spPr>
          <a:xfrm>
            <a:off x="1371600" y="6263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57" name="TextBox 18"/>
          <p:cNvSpPr txBox="1"/>
          <p:nvPr/>
        </p:nvSpPr>
        <p:spPr>
          <a:xfrm>
            <a:off x="1517902" y="6423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658" name="TextBox 19"/>
          <p:cNvSpPr txBox="1"/>
          <p:nvPr/>
        </p:nvSpPr>
        <p:spPr>
          <a:xfrm>
            <a:off x="2600094" y="6423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Profit / loss report</a:t>
            </a:r>
          </a:p>
        </p:txBody>
      </p:sp>
      <p:sp>
        <p:nvSpPr>
          <p:cNvPr id="7659" name="TextBox 20"/>
          <p:cNvSpPr txBox="1"/>
          <p:nvPr/>
        </p:nvSpPr>
        <p:spPr>
          <a:xfrm>
            <a:off x="9093250" y="6423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660" name="Connector 21"/>
          <p:cNvSpPr/>
          <p:nvPr/>
        </p:nvSpPr>
        <p:spPr>
          <a:xfrm>
            <a:off x="1371600" y="6949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61" name="TextBox 22"/>
          <p:cNvSpPr txBox="1"/>
          <p:nvPr/>
        </p:nvSpPr>
        <p:spPr>
          <a:xfrm>
            <a:off x="1517902" y="7109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662" name="TextBox 23"/>
          <p:cNvSpPr txBox="1"/>
          <p:nvPr/>
        </p:nvSpPr>
        <p:spPr>
          <a:xfrm>
            <a:off x="2600094" y="7109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Account statement</a:t>
            </a:r>
          </a:p>
        </p:txBody>
      </p:sp>
      <p:sp>
        <p:nvSpPr>
          <p:cNvPr id="7663" name="TextBox 24"/>
          <p:cNvSpPr txBox="1"/>
          <p:nvPr/>
        </p:nvSpPr>
        <p:spPr>
          <a:xfrm>
            <a:off x="9093250" y="7109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664" name="Connector 25"/>
          <p:cNvSpPr/>
          <p:nvPr/>
        </p:nvSpPr>
        <p:spPr>
          <a:xfrm>
            <a:off x="1371600" y="763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65" name="TextBox 26"/>
          <p:cNvSpPr txBox="1"/>
          <p:nvPr/>
        </p:nvSpPr>
        <p:spPr>
          <a:xfrm>
            <a:off x="1517902" y="7795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666" name="TextBox 27"/>
          <p:cNvSpPr txBox="1"/>
          <p:nvPr/>
        </p:nvSpPr>
        <p:spPr>
          <a:xfrm>
            <a:off x="2600094" y="7795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Orders report (3 months in a year)</a:t>
            </a:r>
          </a:p>
        </p:txBody>
      </p:sp>
      <p:sp>
        <p:nvSpPr>
          <p:cNvPr id="7667" name="TextBox 28"/>
          <p:cNvSpPr txBox="1"/>
          <p:nvPr/>
        </p:nvSpPr>
        <p:spPr>
          <a:xfrm>
            <a:off x="9093250" y="7795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668" name="Connector 29"/>
          <p:cNvSpPr/>
          <p:nvPr/>
        </p:nvSpPr>
        <p:spPr>
          <a:xfrm>
            <a:off x="1371600" y="8321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69" name="TextBox 30"/>
          <p:cNvSpPr txBox="1"/>
          <p:nvPr/>
        </p:nvSpPr>
        <p:spPr>
          <a:xfrm>
            <a:off x="1517902" y="84810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7670" name="TextBox 31"/>
          <p:cNvSpPr txBox="1"/>
          <p:nvPr/>
        </p:nvSpPr>
        <p:spPr>
          <a:xfrm>
            <a:off x="2600094" y="84810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 Report</a:t>
            </a:r>
          </a:p>
        </p:txBody>
      </p:sp>
      <p:sp>
        <p:nvSpPr>
          <p:cNvPr id="7671" name="TextBox 32"/>
          <p:cNvSpPr txBox="1"/>
          <p:nvPr/>
        </p:nvSpPr>
        <p:spPr>
          <a:xfrm>
            <a:off x="9093250" y="84810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672" name="Connector 33"/>
          <p:cNvSpPr/>
          <p:nvPr/>
        </p:nvSpPr>
        <p:spPr>
          <a:xfrm>
            <a:off x="1371600" y="90068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73" name="TextBox 34"/>
          <p:cNvSpPr txBox="1"/>
          <p:nvPr/>
        </p:nvSpPr>
        <p:spPr>
          <a:xfrm>
            <a:off x="1517902" y="9166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674" name="TextBox 35"/>
          <p:cNvSpPr txBox="1"/>
          <p:nvPr/>
        </p:nvSpPr>
        <p:spPr>
          <a:xfrm>
            <a:off x="2600094" y="9166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Transaction report (1 year)</a:t>
            </a:r>
          </a:p>
        </p:txBody>
      </p:sp>
      <p:sp>
        <p:nvSpPr>
          <p:cNvPr id="7675" name="TextBox 36"/>
          <p:cNvSpPr txBox="1"/>
          <p:nvPr/>
        </p:nvSpPr>
        <p:spPr>
          <a:xfrm>
            <a:off x="9093250" y="9166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676" name="TextBox 37"/>
          <p:cNvSpPr txBox="1"/>
          <p:nvPr/>
        </p:nvSpPr>
        <p:spPr>
          <a:xfrm>
            <a:off x="14504212" y="91668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timeline</a:t>
            </a:r>
          </a:p>
        </p:txBody>
      </p:sp>
      <p:sp>
        <p:nvSpPr>
          <p:cNvPr id="7677" name="Connector 38"/>
          <p:cNvSpPr/>
          <p:nvPr/>
        </p:nvSpPr>
        <p:spPr>
          <a:xfrm>
            <a:off x="1371600" y="9692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78" name="TextBox 39"/>
          <p:cNvSpPr txBox="1"/>
          <p:nvPr/>
        </p:nvSpPr>
        <p:spPr>
          <a:xfrm>
            <a:off x="1517902" y="9852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679" name="TextBox 40"/>
          <p:cNvSpPr txBox="1"/>
          <p:nvPr/>
        </p:nvSpPr>
        <p:spPr>
          <a:xfrm>
            <a:off x="2600094" y="9852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Generate portfolio report</a:t>
            </a:r>
          </a:p>
        </p:txBody>
      </p:sp>
      <p:sp>
        <p:nvSpPr>
          <p:cNvPr id="7680" name="TextBox 41"/>
          <p:cNvSpPr txBox="1"/>
          <p:nvPr/>
        </p:nvSpPr>
        <p:spPr>
          <a:xfrm>
            <a:off x="9093250" y="9852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681" name="Connector 42"/>
          <p:cNvSpPr/>
          <p:nvPr/>
        </p:nvSpPr>
        <p:spPr>
          <a:xfrm>
            <a:off x="1371600" y="10378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82" name="TextBox 43"/>
          <p:cNvSpPr txBox="1"/>
          <p:nvPr/>
        </p:nvSpPr>
        <p:spPr>
          <a:xfrm>
            <a:off x="1517902" y="10538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683" name="TextBox 44"/>
          <p:cNvSpPr txBox="1"/>
          <p:nvPr/>
        </p:nvSpPr>
        <p:spPr>
          <a:xfrm>
            <a:off x="2600094" y="10538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Export report (PDF/Excel)</a:t>
            </a:r>
          </a:p>
        </p:txBody>
      </p:sp>
      <p:sp>
        <p:nvSpPr>
          <p:cNvPr id="7684" name="TextBox 45"/>
          <p:cNvSpPr txBox="1"/>
          <p:nvPr/>
        </p:nvSpPr>
        <p:spPr>
          <a:xfrm>
            <a:off x="9093250" y="10538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685" name="Connector 46"/>
          <p:cNvSpPr/>
          <p:nvPr/>
        </p:nvSpPr>
        <p:spPr>
          <a:xfrm>
            <a:off x="1371600" y="11064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86" name="TextBox 47"/>
          <p:cNvSpPr txBox="1"/>
          <p:nvPr/>
        </p:nvSpPr>
        <p:spPr>
          <a:xfrm>
            <a:off x="1517902" y="11224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7687" name="TextBox 48"/>
          <p:cNvSpPr txBox="1"/>
          <p:nvPr/>
        </p:nvSpPr>
        <p:spPr>
          <a:xfrm>
            <a:off x="2600094" y="11224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Download account statement</a:t>
            </a:r>
          </a:p>
        </p:txBody>
      </p:sp>
      <p:sp>
        <p:nvSpPr>
          <p:cNvPr id="7688" name="TextBox 49"/>
          <p:cNvSpPr txBox="1"/>
          <p:nvPr/>
        </p:nvSpPr>
        <p:spPr>
          <a:xfrm>
            <a:off x="9093250" y="11224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689" name="Connector 50"/>
          <p:cNvSpPr/>
          <p:nvPr/>
        </p:nvSpPr>
        <p:spPr>
          <a:xfrm>
            <a:off x="1371600" y="11750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90" name="TextBox 51"/>
          <p:cNvSpPr txBox="1"/>
          <p:nvPr/>
        </p:nvSpPr>
        <p:spPr>
          <a:xfrm>
            <a:off x="1517902" y="119100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7691" name="TextBox 52"/>
          <p:cNvSpPr txBox="1"/>
          <p:nvPr/>
        </p:nvSpPr>
        <p:spPr>
          <a:xfrm>
            <a:off x="2600094" y="119100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Report period selection</a:t>
            </a:r>
          </a:p>
        </p:txBody>
      </p:sp>
      <p:sp>
        <p:nvSpPr>
          <p:cNvPr id="7692" name="TextBox 53"/>
          <p:cNvSpPr txBox="1"/>
          <p:nvPr/>
        </p:nvSpPr>
        <p:spPr>
          <a:xfrm>
            <a:off x="9093250" y="119100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Config</a:t>
            </a:r>
          </a:p>
        </p:txBody>
      </p:sp>
      <p:sp>
        <p:nvSpPr>
          <p:cNvPr id="7693" name="TextBox 54"/>
          <p:cNvSpPr txBox="1"/>
          <p:nvPr/>
        </p:nvSpPr>
        <p:spPr>
          <a:xfrm>
            <a:off x="14504212" y="11910059"/>
            <a:ext cx="403616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Flexible custom period selection</a:t>
            </a:r>
          </a:p>
        </p:txBody>
      </p:sp>
      <p:sp>
        <p:nvSpPr>
          <p:cNvPr id="7694" name="Connector 55"/>
          <p:cNvSpPr/>
          <p:nvPr/>
        </p:nvSpPr>
        <p:spPr>
          <a:xfrm>
            <a:off x="1371600" y="124358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9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7697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098 / 111</a:t>
            </a:r>
          </a:p>
        </p:txBody>
      </p:sp>
      <p:sp>
        <p:nvSpPr>
          <p:cNvPr id="7698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CROWD FUND  ·  CAPABILITY ASSESSMENT</a:t>
            </a:r>
          </a:p>
        </p:txBody>
      </p:sp>
      <p:sp>
        <p:nvSpPr>
          <p:cNvPr id="7699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Market Intelligence &amp; Context</a:t>
            </a:r>
          </a:p>
        </p:txBody>
      </p:sp>
      <p:sp>
        <p:nvSpPr>
          <p:cNvPr id="7700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7701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7702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7703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7704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7705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7706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7707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7708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09" name="TextBox 14"/>
          <p:cNvSpPr txBox="1"/>
          <p:nvPr/>
        </p:nvSpPr>
        <p:spPr>
          <a:xfrm>
            <a:off x="1517902" y="561498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710" name="TextBox 15"/>
          <p:cNvSpPr txBox="1"/>
          <p:nvPr/>
        </p:nvSpPr>
        <p:spPr>
          <a:xfrm>
            <a:off x="2600094" y="561498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list view</a:t>
            </a:r>
          </a:p>
        </p:txBody>
      </p:sp>
      <p:sp>
        <p:nvSpPr>
          <p:cNvPr id="7711" name="TextBox 16"/>
          <p:cNvSpPr txBox="1"/>
          <p:nvPr/>
        </p:nvSpPr>
        <p:spPr>
          <a:xfrm>
            <a:off x="9093250" y="56149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712" name="Connector 17"/>
          <p:cNvSpPr/>
          <p:nvPr/>
        </p:nvSpPr>
        <p:spPr>
          <a:xfrm>
            <a:off x="1371600" y="601789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13" name="TextBox 18"/>
          <p:cNvSpPr txBox="1"/>
          <p:nvPr/>
        </p:nvSpPr>
        <p:spPr>
          <a:xfrm>
            <a:off x="1517902" y="605504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714" name="TextBox 19"/>
          <p:cNvSpPr txBox="1"/>
          <p:nvPr/>
        </p:nvSpPr>
        <p:spPr>
          <a:xfrm>
            <a:off x="2600094" y="605504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Filter fund by type</a:t>
            </a:r>
          </a:p>
        </p:txBody>
      </p:sp>
      <p:sp>
        <p:nvSpPr>
          <p:cNvPr id="7715" name="TextBox 20"/>
          <p:cNvSpPr txBox="1"/>
          <p:nvPr/>
        </p:nvSpPr>
        <p:spPr>
          <a:xfrm>
            <a:off x="9093250" y="605504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716" name="Connector 21"/>
          <p:cNvSpPr/>
          <p:nvPr/>
        </p:nvSpPr>
        <p:spPr>
          <a:xfrm>
            <a:off x="1371600" y="645795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17" name="TextBox 22"/>
          <p:cNvSpPr txBox="1"/>
          <p:nvPr/>
        </p:nvSpPr>
        <p:spPr>
          <a:xfrm>
            <a:off x="1517902" y="649509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718" name="TextBox 23"/>
          <p:cNvSpPr txBox="1"/>
          <p:nvPr/>
        </p:nvSpPr>
        <p:spPr>
          <a:xfrm>
            <a:off x="2600094" y="649509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Sort by performance/ price / risk</a:t>
            </a:r>
          </a:p>
        </p:txBody>
      </p:sp>
      <p:sp>
        <p:nvSpPr>
          <p:cNvPr id="7719" name="TextBox 24"/>
          <p:cNvSpPr txBox="1"/>
          <p:nvPr/>
        </p:nvSpPr>
        <p:spPr>
          <a:xfrm>
            <a:off x="9093250" y="649509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720" name="Connector 25"/>
          <p:cNvSpPr/>
          <p:nvPr/>
        </p:nvSpPr>
        <p:spPr>
          <a:xfrm>
            <a:off x="1371600" y="689800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21" name="TextBox 26"/>
          <p:cNvSpPr txBox="1"/>
          <p:nvPr/>
        </p:nvSpPr>
        <p:spPr>
          <a:xfrm>
            <a:off x="1517902" y="693515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722" name="TextBox 27"/>
          <p:cNvSpPr txBox="1"/>
          <p:nvPr/>
        </p:nvSpPr>
        <p:spPr>
          <a:xfrm>
            <a:off x="2600094" y="693515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Unit price</a:t>
            </a:r>
          </a:p>
        </p:txBody>
      </p:sp>
      <p:sp>
        <p:nvSpPr>
          <p:cNvPr id="7723" name="TextBox 28"/>
          <p:cNvSpPr txBox="1"/>
          <p:nvPr/>
        </p:nvSpPr>
        <p:spPr>
          <a:xfrm>
            <a:off x="9093250" y="693515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724" name="Connector 29"/>
          <p:cNvSpPr/>
          <p:nvPr/>
        </p:nvSpPr>
        <p:spPr>
          <a:xfrm>
            <a:off x="1371600" y="733805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25" name="TextBox 30"/>
          <p:cNvSpPr txBox="1"/>
          <p:nvPr/>
        </p:nvSpPr>
        <p:spPr>
          <a:xfrm>
            <a:off x="1517902" y="737520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726" name="TextBox 31"/>
          <p:cNvSpPr txBox="1"/>
          <p:nvPr/>
        </p:nvSpPr>
        <p:spPr>
          <a:xfrm>
            <a:off x="2600094" y="737520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Expected ROI %</a:t>
            </a:r>
          </a:p>
        </p:txBody>
      </p:sp>
      <p:sp>
        <p:nvSpPr>
          <p:cNvPr id="7727" name="TextBox 32"/>
          <p:cNvSpPr txBox="1"/>
          <p:nvPr/>
        </p:nvSpPr>
        <p:spPr>
          <a:xfrm>
            <a:off x="9093250" y="737520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728" name="Connector 33"/>
          <p:cNvSpPr/>
          <p:nvPr/>
        </p:nvSpPr>
        <p:spPr>
          <a:xfrm>
            <a:off x="1371600" y="777811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29" name="TextBox 34"/>
          <p:cNvSpPr txBox="1"/>
          <p:nvPr/>
        </p:nvSpPr>
        <p:spPr>
          <a:xfrm>
            <a:off x="1517902" y="781526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730" name="TextBox 35"/>
          <p:cNvSpPr txBox="1"/>
          <p:nvPr/>
        </p:nvSpPr>
        <p:spPr>
          <a:xfrm>
            <a:off x="2600094" y="781526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Duration</a:t>
            </a:r>
          </a:p>
        </p:txBody>
      </p:sp>
      <p:sp>
        <p:nvSpPr>
          <p:cNvPr id="7731" name="TextBox 36"/>
          <p:cNvSpPr txBox="1"/>
          <p:nvPr/>
        </p:nvSpPr>
        <p:spPr>
          <a:xfrm>
            <a:off x="9093250" y="7815260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732" name="Connector 37"/>
          <p:cNvSpPr/>
          <p:nvPr/>
        </p:nvSpPr>
        <p:spPr>
          <a:xfrm>
            <a:off x="1371600" y="821816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33" name="TextBox 38"/>
          <p:cNvSpPr txBox="1"/>
          <p:nvPr/>
        </p:nvSpPr>
        <p:spPr>
          <a:xfrm>
            <a:off x="1517902" y="825531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734" name="TextBox 39"/>
          <p:cNvSpPr txBox="1"/>
          <p:nvPr/>
        </p:nvSpPr>
        <p:spPr>
          <a:xfrm>
            <a:off x="2600094" y="825531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Deal Size</a:t>
            </a:r>
          </a:p>
        </p:txBody>
      </p:sp>
      <p:sp>
        <p:nvSpPr>
          <p:cNvPr id="7735" name="TextBox 40"/>
          <p:cNvSpPr txBox="1"/>
          <p:nvPr/>
        </p:nvSpPr>
        <p:spPr>
          <a:xfrm>
            <a:off x="9093250" y="82553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736" name="Connector 41"/>
          <p:cNvSpPr/>
          <p:nvPr/>
        </p:nvSpPr>
        <p:spPr>
          <a:xfrm>
            <a:off x="1371600" y="8658225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37" name="TextBox 42"/>
          <p:cNvSpPr txBox="1"/>
          <p:nvPr/>
        </p:nvSpPr>
        <p:spPr>
          <a:xfrm>
            <a:off x="1517902" y="8695372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7738" name="TextBox 43"/>
          <p:cNvSpPr txBox="1"/>
          <p:nvPr/>
        </p:nvSpPr>
        <p:spPr>
          <a:xfrm>
            <a:off x="2600094" y="8695372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Start Date</a:t>
            </a:r>
          </a:p>
        </p:txBody>
      </p:sp>
      <p:sp>
        <p:nvSpPr>
          <p:cNvPr id="7739" name="TextBox 44"/>
          <p:cNvSpPr txBox="1"/>
          <p:nvPr/>
        </p:nvSpPr>
        <p:spPr>
          <a:xfrm>
            <a:off x="9093250" y="869537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740" name="Connector 45"/>
          <p:cNvSpPr/>
          <p:nvPr/>
        </p:nvSpPr>
        <p:spPr>
          <a:xfrm>
            <a:off x="1371600" y="909828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41" name="TextBox 46"/>
          <p:cNvSpPr txBox="1"/>
          <p:nvPr/>
        </p:nvSpPr>
        <p:spPr>
          <a:xfrm>
            <a:off x="1517902" y="9135426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7742" name="TextBox 47"/>
          <p:cNvSpPr txBox="1"/>
          <p:nvPr/>
        </p:nvSpPr>
        <p:spPr>
          <a:xfrm>
            <a:off x="2600094" y="9135426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End Date</a:t>
            </a:r>
          </a:p>
        </p:txBody>
      </p:sp>
      <p:sp>
        <p:nvSpPr>
          <p:cNvPr id="7743" name="TextBox 48"/>
          <p:cNvSpPr txBox="1"/>
          <p:nvPr/>
        </p:nvSpPr>
        <p:spPr>
          <a:xfrm>
            <a:off x="9093250" y="9135426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744" name="Connector 49"/>
          <p:cNvSpPr/>
          <p:nvPr/>
        </p:nvSpPr>
        <p:spPr>
          <a:xfrm>
            <a:off x="1371600" y="9538334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45" name="TextBox 50"/>
          <p:cNvSpPr txBox="1"/>
          <p:nvPr/>
        </p:nvSpPr>
        <p:spPr>
          <a:xfrm>
            <a:off x="1517902" y="957548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7746" name="TextBox 51"/>
          <p:cNvSpPr txBox="1"/>
          <p:nvPr/>
        </p:nvSpPr>
        <p:spPr>
          <a:xfrm>
            <a:off x="2600094" y="957548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Dividend Policy</a:t>
            </a:r>
          </a:p>
        </p:txBody>
      </p:sp>
      <p:sp>
        <p:nvSpPr>
          <p:cNvPr id="7747" name="TextBox 52"/>
          <p:cNvSpPr txBox="1"/>
          <p:nvPr/>
        </p:nvSpPr>
        <p:spPr>
          <a:xfrm>
            <a:off x="9093250" y="957548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748" name="Connector 53"/>
          <p:cNvSpPr/>
          <p:nvPr/>
        </p:nvSpPr>
        <p:spPr>
          <a:xfrm>
            <a:off x="1371600" y="997839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49" name="TextBox 54"/>
          <p:cNvSpPr txBox="1"/>
          <p:nvPr/>
        </p:nvSpPr>
        <p:spPr>
          <a:xfrm>
            <a:off x="1517902" y="10015535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7750" name="TextBox 55"/>
          <p:cNvSpPr txBox="1"/>
          <p:nvPr/>
        </p:nvSpPr>
        <p:spPr>
          <a:xfrm>
            <a:off x="2600094" y="10015535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Upcoming Crowd fund</a:t>
            </a:r>
          </a:p>
        </p:txBody>
      </p:sp>
      <p:sp>
        <p:nvSpPr>
          <p:cNvPr id="7751" name="TextBox 56"/>
          <p:cNvSpPr txBox="1"/>
          <p:nvPr/>
        </p:nvSpPr>
        <p:spPr>
          <a:xfrm>
            <a:off x="9093250" y="10015535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752" name="Connector 57"/>
          <p:cNvSpPr/>
          <p:nvPr/>
        </p:nvSpPr>
        <p:spPr>
          <a:xfrm>
            <a:off x="1371600" y="1041844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53" name="TextBox 58"/>
          <p:cNvSpPr txBox="1"/>
          <p:nvPr/>
        </p:nvSpPr>
        <p:spPr>
          <a:xfrm>
            <a:off x="1517902" y="1045559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7754" name="TextBox 59"/>
          <p:cNvSpPr txBox="1"/>
          <p:nvPr/>
        </p:nvSpPr>
        <p:spPr>
          <a:xfrm>
            <a:off x="2600094" y="1045559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Fund Objective</a:t>
            </a:r>
          </a:p>
        </p:txBody>
      </p:sp>
      <p:sp>
        <p:nvSpPr>
          <p:cNvPr id="7755" name="TextBox 60"/>
          <p:cNvSpPr txBox="1"/>
          <p:nvPr/>
        </p:nvSpPr>
        <p:spPr>
          <a:xfrm>
            <a:off x="9093250" y="1045559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756" name="Connector 61"/>
          <p:cNvSpPr/>
          <p:nvPr/>
        </p:nvSpPr>
        <p:spPr>
          <a:xfrm>
            <a:off x="1371600" y="10858500"/>
            <a:ext cx="21643849" cy="0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57" name="TextBox 62"/>
          <p:cNvSpPr txBox="1"/>
          <p:nvPr/>
        </p:nvSpPr>
        <p:spPr>
          <a:xfrm>
            <a:off x="1517902" y="10895647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7758" name="TextBox 63"/>
          <p:cNvSpPr txBox="1"/>
          <p:nvPr/>
        </p:nvSpPr>
        <p:spPr>
          <a:xfrm>
            <a:off x="2600094" y="10895647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Attachments</a:t>
            </a:r>
          </a:p>
        </p:txBody>
      </p:sp>
      <p:sp>
        <p:nvSpPr>
          <p:cNvPr id="7759" name="TextBox 64"/>
          <p:cNvSpPr txBox="1"/>
          <p:nvPr/>
        </p:nvSpPr>
        <p:spPr>
          <a:xfrm>
            <a:off x="9093250" y="1089564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760" name="Connector 65"/>
          <p:cNvSpPr/>
          <p:nvPr/>
        </p:nvSpPr>
        <p:spPr>
          <a:xfrm>
            <a:off x="1371600" y="1129855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61" name="TextBox 66"/>
          <p:cNvSpPr txBox="1"/>
          <p:nvPr/>
        </p:nvSpPr>
        <p:spPr>
          <a:xfrm>
            <a:off x="1517902" y="11335701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7762" name="TextBox 67"/>
          <p:cNvSpPr txBox="1"/>
          <p:nvPr/>
        </p:nvSpPr>
        <p:spPr>
          <a:xfrm>
            <a:off x="2600094" y="11335701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News</a:t>
            </a:r>
          </a:p>
        </p:txBody>
      </p:sp>
      <p:sp>
        <p:nvSpPr>
          <p:cNvPr id="7763" name="TextBox 68"/>
          <p:cNvSpPr txBox="1"/>
          <p:nvPr/>
        </p:nvSpPr>
        <p:spPr>
          <a:xfrm>
            <a:off x="9093250" y="1133570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764" name="Connector 69"/>
          <p:cNvSpPr/>
          <p:nvPr/>
        </p:nvSpPr>
        <p:spPr>
          <a:xfrm>
            <a:off x="1371600" y="11738609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65" name="TextBox 70"/>
          <p:cNvSpPr txBox="1"/>
          <p:nvPr/>
        </p:nvSpPr>
        <p:spPr>
          <a:xfrm>
            <a:off x="1517902" y="1177575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7766" name="TextBox 71"/>
          <p:cNvSpPr txBox="1"/>
          <p:nvPr/>
        </p:nvSpPr>
        <p:spPr>
          <a:xfrm>
            <a:off x="2600094" y="1177575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Place Buy/Sell order</a:t>
            </a:r>
          </a:p>
        </p:txBody>
      </p:sp>
      <p:sp>
        <p:nvSpPr>
          <p:cNvPr id="7767" name="TextBox 72"/>
          <p:cNvSpPr txBox="1"/>
          <p:nvPr/>
        </p:nvSpPr>
        <p:spPr>
          <a:xfrm>
            <a:off x="9093250" y="1177575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768" name="Connector 73"/>
          <p:cNvSpPr/>
          <p:nvPr/>
        </p:nvSpPr>
        <p:spPr>
          <a:xfrm>
            <a:off x="1371600" y="1217866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69" name="TextBox 74"/>
          <p:cNvSpPr txBox="1"/>
          <p:nvPr/>
        </p:nvSpPr>
        <p:spPr>
          <a:xfrm>
            <a:off x="1517902" y="12215810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7770" name="TextBox 75"/>
          <p:cNvSpPr txBox="1"/>
          <p:nvPr/>
        </p:nvSpPr>
        <p:spPr>
          <a:xfrm>
            <a:off x="2600094" y="12215810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Calculate investment</a:t>
            </a:r>
          </a:p>
        </p:txBody>
      </p:sp>
      <p:sp>
        <p:nvSpPr>
          <p:cNvPr id="7771" name="TextBox 76"/>
          <p:cNvSpPr txBox="1"/>
          <p:nvPr/>
        </p:nvSpPr>
        <p:spPr>
          <a:xfrm>
            <a:off x="9093250" y="12215810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772" name="Connector 77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7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7775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099 / 111</a:t>
            </a:r>
          </a:p>
        </p:txBody>
      </p:sp>
      <p:sp>
        <p:nvSpPr>
          <p:cNvPr id="7776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CROWD FUND  ·  CAPABILITY ASSESSMENT</a:t>
            </a:r>
          </a:p>
        </p:txBody>
      </p:sp>
      <p:sp>
        <p:nvSpPr>
          <p:cNvPr id="7777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Portfolio Identity &amp; Structure</a:t>
            </a:r>
          </a:p>
        </p:txBody>
      </p:sp>
      <p:sp>
        <p:nvSpPr>
          <p:cNvPr id="7778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7779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7780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7781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7782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7783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7784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7785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7786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87" name="TextBox 14"/>
          <p:cNvSpPr txBox="1"/>
          <p:nvPr/>
        </p:nvSpPr>
        <p:spPr>
          <a:xfrm>
            <a:off x="1517902" y="5737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788" name="TextBox 15"/>
          <p:cNvSpPr txBox="1"/>
          <p:nvPr/>
        </p:nvSpPr>
        <p:spPr>
          <a:xfrm>
            <a:off x="2600094" y="5737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name display</a:t>
            </a:r>
          </a:p>
        </p:txBody>
      </p:sp>
      <p:sp>
        <p:nvSpPr>
          <p:cNvPr id="7789" name="TextBox 16"/>
          <p:cNvSpPr txBox="1"/>
          <p:nvPr/>
        </p:nvSpPr>
        <p:spPr>
          <a:xfrm>
            <a:off x="9093250" y="5737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790" name="Connector 17"/>
          <p:cNvSpPr/>
          <p:nvPr/>
        </p:nvSpPr>
        <p:spPr>
          <a:xfrm>
            <a:off x="1371600" y="6263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91" name="TextBox 18"/>
          <p:cNvSpPr txBox="1"/>
          <p:nvPr/>
        </p:nvSpPr>
        <p:spPr>
          <a:xfrm>
            <a:off x="1517902" y="6423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792" name="TextBox 19"/>
          <p:cNvSpPr txBox="1"/>
          <p:nvPr/>
        </p:nvSpPr>
        <p:spPr>
          <a:xfrm>
            <a:off x="2600094" y="6423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identity visibility (Crowd Fund Portfolio)</a:t>
            </a:r>
          </a:p>
        </p:txBody>
      </p:sp>
      <p:sp>
        <p:nvSpPr>
          <p:cNvPr id="7793" name="TextBox 20"/>
          <p:cNvSpPr txBox="1"/>
          <p:nvPr/>
        </p:nvSpPr>
        <p:spPr>
          <a:xfrm>
            <a:off x="9093250" y="6423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794" name="Connector 21"/>
          <p:cNvSpPr/>
          <p:nvPr/>
        </p:nvSpPr>
        <p:spPr>
          <a:xfrm>
            <a:off x="1371600" y="6949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95" name="TextBox 22"/>
          <p:cNvSpPr txBox="1"/>
          <p:nvPr/>
        </p:nvSpPr>
        <p:spPr>
          <a:xfrm>
            <a:off x="1517902" y="7109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796" name="TextBox 23"/>
          <p:cNvSpPr txBox="1"/>
          <p:nvPr/>
        </p:nvSpPr>
        <p:spPr>
          <a:xfrm>
            <a:off x="2600094" y="7109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Portfolio balance</a:t>
            </a:r>
          </a:p>
        </p:txBody>
      </p:sp>
      <p:sp>
        <p:nvSpPr>
          <p:cNvPr id="7797" name="TextBox 24"/>
          <p:cNvSpPr txBox="1"/>
          <p:nvPr/>
        </p:nvSpPr>
        <p:spPr>
          <a:xfrm>
            <a:off x="9093250" y="7109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7798" name="Connector 25"/>
          <p:cNvSpPr/>
          <p:nvPr/>
        </p:nvSpPr>
        <p:spPr>
          <a:xfrm>
            <a:off x="1371600" y="7635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99" name="TextBox 26"/>
          <p:cNvSpPr txBox="1"/>
          <p:nvPr/>
        </p:nvSpPr>
        <p:spPr>
          <a:xfrm>
            <a:off x="1517902" y="7795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800" name="TextBox 27"/>
          <p:cNvSpPr txBox="1"/>
          <p:nvPr/>
        </p:nvSpPr>
        <p:spPr>
          <a:xfrm>
            <a:off x="2600094" y="7795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Rename portfolio</a:t>
            </a:r>
          </a:p>
        </p:txBody>
      </p:sp>
      <p:sp>
        <p:nvSpPr>
          <p:cNvPr id="7801" name="TextBox 28"/>
          <p:cNvSpPr txBox="1"/>
          <p:nvPr/>
        </p:nvSpPr>
        <p:spPr>
          <a:xfrm>
            <a:off x="9093250" y="7795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802" name="Connector 29"/>
          <p:cNvSpPr/>
          <p:nvPr/>
        </p:nvSpPr>
        <p:spPr>
          <a:xfrm>
            <a:off x="1371600" y="8321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03" name="TextBox 30"/>
          <p:cNvSpPr txBox="1"/>
          <p:nvPr/>
        </p:nvSpPr>
        <p:spPr>
          <a:xfrm>
            <a:off x="1517902" y="84810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804" name="TextBox 31"/>
          <p:cNvSpPr txBox="1"/>
          <p:nvPr/>
        </p:nvSpPr>
        <p:spPr>
          <a:xfrm>
            <a:off x="2600094" y="84810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Create portfolio instant (5 min)</a:t>
            </a:r>
          </a:p>
        </p:txBody>
      </p:sp>
      <p:sp>
        <p:nvSpPr>
          <p:cNvPr id="7805" name="TextBox 32"/>
          <p:cNvSpPr txBox="1"/>
          <p:nvPr/>
        </p:nvSpPr>
        <p:spPr>
          <a:xfrm>
            <a:off x="9093250" y="84810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806" name="Connector 33"/>
          <p:cNvSpPr/>
          <p:nvPr/>
        </p:nvSpPr>
        <p:spPr>
          <a:xfrm>
            <a:off x="1371600" y="90068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07" name="TextBox 34"/>
          <p:cNvSpPr txBox="1"/>
          <p:nvPr/>
        </p:nvSpPr>
        <p:spPr>
          <a:xfrm>
            <a:off x="1517902" y="91668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808" name="TextBox 35"/>
          <p:cNvSpPr txBox="1"/>
          <p:nvPr/>
        </p:nvSpPr>
        <p:spPr>
          <a:xfrm>
            <a:off x="2600094" y="91668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Multiple portfolios</a:t>
            </a:r>
          </a:p>
        </p:txBody>
      </p:sp>
      <p:sp>
        <p:nvSpPr>
          <p:cNvPr id="7809" name="TextBox 36"/>
          <p:cNvSpPr txBox="1"/>
          <p:nvPr/>
        </p:nvSpPr>
        <p:spPr>
          <a:xfrm>
            <a:off x="9093250" y="91668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810" name="Connector 37"/>
          <p:cNvSpPr/>
          <p:nvPr/>
        </p:nvSpPr>
        <p:spPr>
          <a:xfrm>
            <a:off x="1371600" y="96926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11" name="TextBox 38"/>
          <p:cNvSpPr txBox="1"/>
          <p:nvPr/>
        </p:nvSpPr>
        <p:spPr>
          <a:xfrm>
            <a:off x="1517902" y="98526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7812" name="TextBox 39"/>
          <p:cNvSpPr txBox="1"/>
          <p:nvPr/>
        </p:nvSpPr>
        <p:spPr>
          <a:xfrm>
            <a:off x="2600094" y="98526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Cash transfer/withdraw</a:t>
            </a:r>
          </a:p>
        </p:txBody>
      </p:sp>
      <p:sp>
        <p:nvSpPr>
          <p:cNvPr id="7813" name="TextBox 40"/>
          <p:cNvSpPr txBox="1"/>
          <p:nvPr/>
        </p:nvSpPr>
        <p:spPr>
          <a:xfrm>
            <a:off x="9093250" y="98526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814" name="Connector 41"/>
          <p:cNvSpPr/>
          <p:nvPr/>
        </p:nvSpPr>
        <p:spPr>
          <a:xfrm>
            <a:off x="1371600" y="103784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15" name="TextBox 42"/>
          <p:cNvSpPr txBox="1"/>
          <p:nvPr/>
        </p:nvSpPr>
        <p:spPr>
          <a:xfrm>
            <a:off x="1517902" y="105384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7816" name="TextBox 43"/>
          <p:cNvSpPr txBox="1"/>
          <p:nvPr/>
        </p:nvSpPr>
        <p:spPr>
          <a:xfrm>
            <a:off x="2600094" y="105384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Copy portfolio number</a:t>
            </a:r>
          </a:p>
        </p:txBody>
      </p:sp>
      <p:sp>
        <p:nvSpPr>
          <p:cNvPr id="7817" name="TextBox 44"/>
          <p:cNvSpPr txBox="1"/>
          <p:nvPr/>
        </p:nvSpPr>
        <p:spPr>
          <a:xfrm>
            <a:off x="9093250" y="105384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818" name="Connector 45"/>
          <p:cNvSpPr/>
          <p:nvPr/>
        </p:nvSpPr>
        <p:spPr>
          <a:xfrm>
            <a:off x="1371600" y="110642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19" name="TextBox 46"/>
          <p:cNvSpPr txBox="1"/>
          <p:nvPr/>
        </p:nvSpPr>
        <p:spPr>
          <a:xfrm>
            <a:off x="1517902" y="1122425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7820" name="TextBox 47"/>
          <p:cNvSpPr txBox="1"/>
          <p:nvPr/>
        </p:nvSpPr>
        <p:spPr>
          <a:xfrm>
            <a:off x="2600094" y="1122425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Delete portfolio</a:t>
            </a:r>
          </a:p>
        </p:txBody>
      </p:sp>
      <p:sp>
        <p:nvSpPr>
          <p:cNvPr id="7821" name="TextBox 48"/>
          <p:cNvSpPr txBox="1"/>
          <p:nvPr/>
        </p:nvSpPr>
        <p:spPr>
          <a:xfrm>
            <a:off x="9093250" y="1122425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822" name="Connector 49"/>
          <p:cNvSpPr/>
          <p:nvPr/>
        </p:nvSpPr>
        <p:spPr>
          <a:xfrm>
            <a:off x="1371600" y="1175004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2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7825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100 / 111</a:t>
            </a:r>
          </a:p>
        </p:txBody>
      </p:sp>
      <p:sp>
        <p:nvSpPr>
          <p:cNvPr id="7826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CROWD FUND  ·  CAPABILITY ASSESSMENT</a:t>
            </a:r>
          </a:p>
        </p:txBody>
      </p:sp>
      <p:sp>
        <p:nvSpPr>
          <p:cNvPr id="7827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Cash in to Crowd Fund portfolio</a:t>
            </a:r>
          </a:p>
        </p:txBody>
      </p:sp>
      <p:sp>
        <p:nvSpPr>
          <p:cNvPr id="7828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7829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7830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7831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7832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7833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7834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7835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7836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37" name="TextBox 14"/>
          <p:cNvSpPr txBox="1"/>
          <p:nvPr/>
        </p:nvSpPr>
        <p:spPr>
          <a:xfrm>
            <a:off x="1517902" y="566576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838" name="TextBox 15"/>
          <p:cNvSpPr txBox="1"/>
          <p:nvPr/>
        </p:nvSpPr>
        <p:spPr>
          <a:xfrm>
            <a:off x="2600094" y="566576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Linked account (if ARB)</a:t>
            </a:r>
          </a:p>
        </p:txBody>
      </p:sp>
      <p:sp>
        <p:nvSpPr>
          <p:cNvPr id="7839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840" name="Connector 17"/>
          <p:cNvSpPr/>
          <p:nvPr/>
        </p:nvSpPr>
        <p:spPr>
          <a:xfrm>
            <a:off x="1371600" y="611944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41" name="TextBox 18"/>
          <p:cNvSpPr txBox="1"/>
          <p:nvPr/>
        </p:nvSpPr>
        <p:spPr>
          <a:xfrm>
            <a:off x="1517902" y="620736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842" name="TextBox 19"/>
          <p:cNvSpPr txBox="1"/>
          <p:nvPr/>
        </p:nvSpPr>
        <p:spPr>
          <a:xfrm>
            <a:off x="2600094" y="620736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ARB account</a:t>
            </a:r>
          </a:p>
        </p:txBody>
      </p:sp>
      <p:sp>
        <p:nvSpPr>
          <p:cNvPr id="7843" name="TextBox 20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844" name="Connector 21"/>
          <p:cNvSpPr/>
          <p:nvPr/>
        </p:nvSpPr>
        <p:spPr>
          <a:xfrm>
            <a:off x="1371600" y="66610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45" name="TextBox 22"/>
          <p:cNvSpPr txBox="1"/>
          <p:nvPr/>
        </p:nvSpPr>
        <p:spPr>
          <a:xfrm>
            <a:off x="1517902" y="674897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846" name="TextBox 23"/>
          <p:cNvSpPr txBox="1"/>
          <p:nvPr/>
        </p:nvSpPr>
        <p:spPr>
          <a:xfrm>
            <a:off x="2600094" y="674897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banks</a:t>
            </a:r>
          </a:p>
        </p:txBody>
      </p:sp>
      <p:sp>
        <p:nvSpPr>
          <p:cNvPr id="7847" name="TextBox 24"/>
          <p:cNvSpPr txBox="1"/>
          <p:nvPr/>
        </p:nvSpPr>
        <p:spPr>
          <a:xfrm>
            <a:off x="9093250" y="674897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848" name="Connector 25"/>
          <p:cNvSpPr/>
          <p:nvPr/>
        </p:nvSpPr>
        <p:spPr>
          <a:xfrm>
            <a:off x="1371600" y="720265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49" name="TextBox 26"/>
          <p:cNvSpPr txBox="1"/>
          <p:nvPr/>
        </p:nvSpPr>
        <p:spPr>
          <a:xfrm>
            <a:off x="1517902" y="729058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850" name="TextBox 27"/>
          <p:cNvSpPr txBox="1"/>
          <p:nvPr/>
        </p:nvSpPr>
        <p:spPr>
          <a:xfrm>
            <a:off x="2600094" y="729058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Apply pay</a:t>
            </a:r>
          </a:p>
        </p:txBody>
      </p:sp>
      <p:sp>
        <p:nvSpPr>
          <p:cNvPr id="7851" name="TextBox 28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852" name="Connector 29"/>
          <p:cNvSpPr/>
          <p:nvPr/>
        </p:nvSpPr>
        <p:spPr>
          <a:xfrm>
            <a:off x="1371600" y="774426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53" name="TextBox 30"/>
          <p:cNvSpPr txBox="1"/>
          <p:nvPr/>
        </p:nvSpPr>
        <p:spPr>
          <a:xfrm>
            <a:off x="1517902" y="783218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854" name="TextBox 31"/>
          <p:cNvSpPr txBox="1"/>
          <p:nvPr/>
        </p:nvSpPr>
        <p:spPr>
          <a:xfrm>
            <a:off x="2600094" y="783218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Debit/Credit cards</a:t>
            </a:r>
          </a:p>
        </p:txBody>
      </p:sp>
      <p:sp>
        <p:nvSpPr>
          <p:cNvPr id="7855" name="TextBox 32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856" name="Connector 33"/>
          <p:cNvSpPr/>
          <p:nvPr/>
        </p:nvSpPr>
        <p:spPr>
          <a:xfrm>
            <a:off x="1371600" y="828587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57" name="TextBox 34"/>
          <p:cNvSpPr txBox="1"/>
          <p:nvPr/>
        </p:nvSpPr>
        <p:spPr>
          <a:xfrm>
            <a:off x="1517902" y="837379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858" name="TextBox 35"/>
          <p:cNvSpPr txBox="1"/>
          <p:nvPr/>
        </p:nvSpPr>
        <p:spPr>
          <a:xfrm>
            <a:off x="2600094" y="837379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Mokafaa</a:t>
            </a:r>
          </a:p>
        </p:txBody>
      </p:sp>
      <p:sp>
        <p:nvSpPr>
          <p:cNvPr id="7859" name="TextBox 36"/>
          <p:cNvSpPr txBox="1"/>
          <p:nvPr/>
        </p:nvSpPr>
        <p:spPr>
          <a:xfrm>
            <a:off x="9093250" y="837379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860" name="Connector 37"/>
          <p:cNvSpPr/>
          <p:nvPr/>
        </p:nvSpPr>
        <p:spPr>
          <a:xfrm>
            <a:off x="1371600" y="882747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61" name="TextBox 38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862" name="TextBox 39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ARC Account (UCM)</a:t>
            </a:r>
          </a:p>
        </p:txBody>
      </p:sp>
      <p:sp>
        <p:nvSpPr>
          <p:cNvPr id="7863" name="TextBox 40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864" name="Connector 41"/>
          <p:cNvSpPr/>
          <p:nvPr/>
        </p:nvSpPr>
        <p:spPr>
          <a:xfrm>
            <a:off x="1371600" y="93690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65" name="TextBox 42"/>
          <p:cNvSpPr txBox="1"/>
          <p:nvPr/>
        </p:nvSpPr>
        <p:spPr>
          <a:xfrm>
            <a:off x="1517902" y="945700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7866" name="TextBox 43"/>
          <p:cNvSpPr txBox="1"/>
          <p:nvPr/>
        </p:nvSpPr>
        <p:spPr>
          <a:xfrm>
            <a:off x="2600094" y="945700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portfolio</a:t>
            </a:r>
          </a:p>
        </p:txBody>
      </p:sp>
      <p:sp>
        <p:nvSpPr>
          <p:cNvPr id="7867" name="TextBox 44"/>
          <p:cNvSpPr txBox="1"/>
          <p:nvPr/>
        </p:nvSpPr>
        <p:spPr>
          <a:xfrm>
            <a:off x="9093250" y="945700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868" name="Connector 45"/>
          <p:cNvSpPr/>
          <p:nvPr/>
        </p:nvSpPr>
        <p:spPr>
          <a:xfrm>
            <a:off x="1371600" y="99106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69" name="TextBox 46"/>
          <p:cNvSpPr txBox="1"/>
          <p:nvPr/>
        </p:nvSpPr>
        <p:spPr>
          <a:xfrm>
            <a:off x="1517902" y="999861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7870" name="TextBox 47"/>
          <p:cNvSpPr txBox="1"/>
          <p:nvPr/>
        </p:nvSpPr>
        <p:spPr>
          <a:xfrm>
            <a:off x="2600094" y="999861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Fund portfolio</a:t>
            </a:r>
          </a:p>
        </p:txBody>
      </p:sp>
      <p:sp>
        <p:nvSpPr>
          <p:cNvPr id="7871" name="TextBox 48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872" name="Connector 49"/>
          <p:cNvSpPr/>
          <p:nvPr/>
        </p:nvSpPr>
        <p:spPr>
          <a:xfrm>
            <a:off x="1371600" y="1045229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73" name="TextBox 50"/>
          <p:cNvSpPr txBox="1"/>
          <p:nvPr/>
        </p:nvSpPr>
        <p:spPr>
          <a:xfrm>
            <a:off x="1517902" y="1054021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7874" name="TextBox 51"/>
          <p:cNvSpPr txBox="1"/>
          <p:nvPr/>
        </p:nvSpPr>
        <p:spPr>
          <a:xfrm>
            <a:off x="2600094" y="1054021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US portfolio</a:t>
            </a:r>
          </a:p>
        </p:txBody>
      </p:sp>
      <p:sp>
        <p:nvSpPr>
          <p:cNvPr id="7875" name="TextBox 52"/>
          <p:cNvSpPr txBox="1"/>
          <p:nvPr/>
        </p:nvSpPr>
        <p:spPr>
          <a:xfrm>
            <a:off x="9093250" y="105402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876" name="Connector 53"/>
          <p:cNvSpPr/>
          <p:nvPr/>
        </p:nvSpPr>
        <p:spPr>
          <a:xfrm>
            <a:off x="1371600" y="1099390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77" name="TextBox 54"/>
          <p:cNvSpPr txBox="1"/>
          <p:nvPr/>
        </p:nvSpPr>
        <p:spPr>
          <a:xfrm>
            <a:off x="1517902" y="1108182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7878" name="TextBox 55"/>
          <p:cNvSpPr txBox="1"/>
          <p:nvPr/>
        </p:nvSpPr>
        <p:spPr>
          <a:xfrm>
            <a:off x="2600094" y="1108182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international portfolio</a:t>
            </a:r>
          </a:p>
        </p:txBody>
      </p:sp>
      <p:sp>
        <p:nvSpPr>
          <p:cNvPr id="7879" name="TextBox 56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880" name="Connector 57"/>
          <p:cNvSpPr/>
          <p:nvPr/>
        </p:nvSpPr>
        <p:spPr>
          <a:xfrm>
            <a:off x="1371600" y="1153550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81" name="TextBox 58"/>
          <p:cNvSpPr txBox="1"/>
          <p:nvPr/>
        </p:nvSpPr>
        <p:spPr>
          <a:xfrm>
            <a:off x="1517902" y="1162343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7882" name="TextBox 59"/>
          <p:cNvSpPr txBox="1"/>
          <p:nvPr/>
        </p:nvSpPr>
        <p:spPr>
          <a:xfrm>
            <a:off x="2600094" y="1162343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Crowd fund portfolio</a:t>
            </a:r>
          </a:p>
        </p:txBody>
      </p:sp>
      <p:sp>
        <p:nvSpPr>
          <p:cNvPr id="7883" name="TextBox 60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884" name="Connector 61"/>
          <p:cNvSpPr/>
          <p:nvPr/>
        </p:nvSpPr>
        <p:spPr>
          <a:xfrm>
            <a:off x="1371600" y="1207711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85" name="TextBox 62"/>
          <p:cNvSpPr txBox="1"/>
          <p:nvPr/>
        </p:nvSpPr>
        <p:spPr>
          <a:xfrm>
            <a:off x="1517902" y="1216503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7886" name="TextBox 63"/>
          <p:cNvSpPr txBox="1"/>
          <p:nvPr/>
        </p:nvSpPr>
        <p:spPr>
          <a:xfrm>
            <a:off x="2600094" y="1216503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Robo portfolio</a:t>
            </a:r>
          </a:p>
        </p:txBody>
      </p:sp>
      <p:sp>
        <p:nvSpPr>
          <p:cNvPr id="7887" name="TextBox 64"/>
          <p:cNvSpPr txBox="1"/>
          <p:nvPr/>
        </p:nvSpPr>
        <p:spPr>
          <a:xfrm>
            <a:off x="9093250" y="1216503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888" name="Connector 65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9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822960"/>
            <a:ext cx="2364827" cy="822962"/>
          </a:xfrm>
          <a:prstGeom prst="rect">
            <a:avLst/>
          </a:prstGeom>
          <a:ln w="12700">
            <a:miter lim="400000"/>
          </a:ln>
        </p:spPr>
      </p:pic>
      <p:sp>
        <p:nvSpPr>
          <p:cNvPr id="7891" name="TextBox 2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101 / 111</a:t>
            </a:r>
          </a:p>
        </p:txBody>
      </p:sp>
      <p:sp>
        <p:nvSpPr>
          <p:cNvPr id="7892" name="TextBox 3"/>
          <p:cNvSpPr txBox="1"/>
          <p:nvPr/>
        </p:nvSpPr>
        <p:spPr>
          <a:xfrm>
            <a:off x="1371600" y="2377438"/>
            <a:ext cx="182880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0333E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CROWD FUND  ·  CAPABILITY ASSESSMENT</a:t>
            </a:r>
          </a:p>
        </p:txBody>
      </p:sp>
      <p:sp>
        <p:nvSpPr>
          <p:cNvPr id="7893" name="TextBox 4"/>
          <p:cNvSpPr txBox="1"/>
          <p:nvPr/>
        </p:nvSpPr>
        <p:spPr>
          <a:xfrm>
            <a:off x="1371600" y="2834638"/>
            <a:ext cx="20116800" cy="71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827"/>
                </a:solidFill>
                <a:latin typeface="Poppins Bold"/>
                <a:ea typeface="Poppins Bold"/>
                <a:cs typeface="Poppins Bold"/>
                <a:sym typeface="Poppins Bold"/>
              </a:defRPr>
            </a:lvl1pPr>
          </a:lstStyle>
          <a:p>
            <a:pPr/>
            <a:r>
              <a:t>Cash out from Crowd fund portfolio</a:t>
            </a:r>
          </a:p>
        </p:txBody>
      </p:sp>
      <p:sp>
        <p:nvSpPr>
          <p:cNvPr id="7894" name="TextBox 5"/>
          <p:cNvSpPr txBox="1"/>
          <p:nvPr/>
        </p:nvSpPr>
        <p:spPr>
          <a:xfrm>
            <a:off x="1517902" y="5166359"/>
            <a:ext cx="78958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</a:t>
            </a:r>
          </a:p>
        </p:txBody>
      </p:sp>
      <p:sp>
        <p:nvSpPr>
          <p:cNvPr id="7895" name="TextBox 6"/>
          <p:cNvSpPr txBox="1"/>
          <p:nvPr/>
        </p:nvSpPr>
        <p:spPr>
          <a:xfrm>
            <a:off x="2600094" y="5166359"/>
            <a:ext cx="6200549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</a:t>
            </a:r>
          </a:p>
        </p:txBody>
      </p:sp>
      <p:sp>
        <p:nvSpPr>
          <p:cNvPr id="7896" name="TextBox 7"/>
          <p:cNvSpPr txBox="1"/>
          <p:nvPr/>
        </p:nvSpPr>
        <p:spPr>
          <a:xfrm>
            <a:off x="9093250" y="5166359"/>
            <a:ext cx="1655338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TYPE</a:t>
            </a:r>
          </a:p>
        </p:txBody>
      </p:sp>
      <p:sp>
        <p:nvSpPr>
          <p:cNvPr id="7897" name="TextBox 8"/>
          <p:cNvSpPr txBox="1"/>
          <p:nvPr/>
        </p:nvSpPr>
        <p:spPr>
          <a:xfrm>
            <a:off x="11041197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</a:t>
            </a:r>
          </a:p>
        </p:txBody>
      </p:sp>
      <p:sp>
        <p:nvSpPr>
          <p:cNvPr id="7898" name="TextBox 9"/>
          <p:cNvSpPr txBox="1"/>
          <p:nvPr/>
        </p:nvSpPr>
        <p:spPr>
          <a:xfrm>
            <a:off x="12772704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WEB</a:t>
            </a:r>
          </a:p>
        </p:txBody>
      </p:sp>
      <p:sp>
        <p:nvSpPr>
          <p:cNvPr id="7899" name="TextBox 10"/>
          <p:cNvSpPr txBox="1"/>
          <p:nvPr/>
        </p:nvSpPr>
        <p:spPr>
          <a:xfrm>
            <a:off x="14504212" y="5166359"/>
            <a:ext cx="4036163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GAP</a:t>
            </a:r>
          </a:p>
        </p:txBody>
      </p:sp>
      <p:sp>
        <p:nvSpPr>
          <p:cNvPr id="7900" name="TextBox 11"/>
          <p:cNvSpPr txBox="1"/>
          <p:nvPr/>
        </p:nvSpPr>
        <p:spPr>
          <a:xfrm>
            <a:off x="18832982" y="5166359"/>
            <a:ext cx="2304655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JIRA</a:t>
            </a:r>
          </a:p>
        </p:txBody>
      </p:sp>
      <p:sp>
        <p:nvSpPr>
          <p:cNvPr id="7901" name="TextBox 12"/>
          <p:cNvSpPr txBox="1"/>
          <p:nvPr/>
        </p:nvSpPr>
        <p:spPr>
          <a:xfrm>
            <a:off x="21430242" y="5166359"/>
            <a:ext cx="14389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300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7902" name="Connector 13"/>
          <p:cNvSpPr/>
          <p:nvPr/>
        </p:nvSpPr>
        <p:spPr>
          <a:xfrm>
            <a:off x="1371600" y="5577840"/>
            <a:ext cx="21643849" cy="2"/>
          </a:xfrm>
          <a:prstGeom prst="line">
            <a:avLst/>
          </a:prstGeom>
          <a:ln w="19050">
            <a:solidFill>
              <a:srgbClr val="111827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03" name="TextBox 14"/>
          <p:cNvSpPr txBox="1"/>
          <p:nvPr/>
        </p:nvSpPr>
        <p:spPr>
          <a:xfrm>
            <a:off x="1517902" y="5665763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904" name="TextBox 15"/>
          <p:cNvSpPr txBox="1"/>
          <p:nvPr/>
        </p:nvSpPr>
        <p:spPr>
          <a:xfrm>
            <a:off x="2600094" y="5665763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Linked account (if ARB)</a:t>
            </a:r>
          </a:p>
        </p:txBody>
      </p:sp>
      <p:sp>
        <p:nvSpPr>
          <p:cNvPr id="7905" name="TextBox 16"/>
          <p:cNvSpPr txBox="1"/>
          <p:nvPr/>
        </p:nvSpPr>
        <p:spPr>
          <a:xfrm>
            <a:off x="9093250" y="5665763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906" name="Connector 17"/>
          <p:cNvSpPr/>
          <p:nvPr/>
        </p:nvSpPr>
        <p:spPr>
          <a:xfrm>
            <a:off x="1371600" y="611944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07" name="TextBox 18"/>
          <p:cNvSpPr txBox="1"/>
          <p:nvPr/>
        </p:nvSpPr>
        <p:spPr>
          <a:xfrm>
            <a:off x="1517902" y="6207369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908" name="TextBox 19"/>
          <p:cNvSpPr txBox="1"/>
          <p:nvPr/>
        </p:nvSpPr>
        <p:spPr>
          <a:xfrm>
            <a:off x="2600094" y="6207369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ARB account</a:t>
            </a:r>
          </a:p>
        </p:txBody>
      </p:sp>
      <p:sp>
        <p:nvSpPr>
          <p:cNvPr id="7909" name="TextBox 20"/>
          <p:cNvSpPr txBox="1"/>
          <p:nvPr/>
        </p:nvSpPr>
        <p:spPr>
          <a:xfrm>
            <a:off x="9093250" y="6207369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910" name="Connector 21"/>
          <p:cNvSpPr/>
          <p:nvPr/>
        </p:nvSpPr>
        <p:spPr>
          <a:xfrm>
            <a:off x="1371600" y="666105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11" name="TextBox 22"/>
          <p:cNvSpPr txBox="1"/>
          <p:nvPr/>
        </p:nvSpPr>
        <p:spPr>
          <a:xfrm>
            <a:off x="1517902" y="6748974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912" name="TextBox 23"/>
          <p:cNvSpPr txBox="1"/>
          <p:nvPr/>
        </p:nvSpPr>
        <p:spPr>
          <a:xfrm>
            <a:off x="2600094" y="6748974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banks</a:t>
            </a:r>
          </a:p>
        </p:txBody>
      </p:sp>
      <p:sp>
        <p:nvSpPr>
          <p:cNvPr id="7913" name="TextBox 24"/>
          <p:cNvSpPr txBox="1"/>
          <p:nvPr/>
        </p:nvSpPr>
        <p:spPr>
          <a:xfrm>
            <a:off x="9093250" y="674897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914" name="Connector 25"/>
          <p:cNvSpPr/>
          <p:nvPr/>
        </p:nvSpPr>
        <p:spPr>
          <a:xfrm>
            <a:off x="1371600" y="720265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15" name="TextBox 26"/>
          <p:cNvSpPr txBox="1"/>
          <p:nvPr/>
        </p:nvSpPr>
        <p:spPr>
          <a:xfrm>
            <a:off x="1517902" y="729058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916" name="TextBox 27"/>
          <p:cNvSpPr txBox="1"/>
          <p:nvPr/>
        </p:nvSpPr>
        <p:spPr>
          <a:xfrm>
            <a:off x="2600094" y="729058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Apply pay</a:t>
            </a:r>
          </a:p>
        </p:txBody>
      </p:sp>
      <p:sp>
        <p:nvSpPr>
          <p:cNvPr id="7917" name="TextBox 28"/>
          <p:cNvSpPr txBox="1"/>
          <p:nvPr/>
        </p:nvSpPr>
        <p:spPr>
          <a:xfrm>
            <a:off x="9093250" y="7290581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918" name="TextBox 29"/>
          <p:cNvSpPr txBox="1"/>
          <p:nvPr/>
        </p:nvSpPr>
        <p:spPr>
          <a:xfrm>
            <a:off x="10894893" y="7290581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7919" name="TextBox 30"/>
          <p:cNvSpPr txBox="1"/>
          <p:nvPr/>
        </p:nvSpPr>
        <p:spPr>
          <a:xfrm>
            <a:off x="12626399" y="7290581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7920" name="Connector 31"/>
          <p:cNvSpPr/>
          <p:nvPr/>
        </p:nvSpPr>
        <p:spPr>
          <a:xfrm>
            <a:off x="1371600" y="7744262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21" name="TextBox 32"/>
          <p:cNvSpPr txBox="1"/>
          <p:nvPr/>
        </p:nvSpPr>
        <p:spPr>
          <a:xfrm>
            <a:off x="1517902" y="783218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922" name="TextBox 33"/>
          <p:cNvSpPr txBox="1"/>
          <p:nvPr/>
        </p:nvSpPr>
        <p:spPr>
          <a:xfrm>
            <a:off x="2600094" y="783218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Debit/Credit cards</a:t>
            </a:r>
          </a:p>
        </p:txBody>
      </p:sp>
      <p:sp>
        <p:nvSpPr>
          <p:cNvPr id="7923" name="TextBox 34"/>
          <p:cNvSpPr txBox="1"/>
          <p:nvPr/>
        </p:nvSpPr>
        <p:spPr>
          <a:xfrm>
            <a:off x="9093250" y="783218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924" name="TextBox 35"/>
          <p:cNvSpPr txBox="1"/>
          <p:nvPr/>
        </p:nvSpPr>
        <p:spPr>
          <a:xfrm>
            <a:off x="10894893" y="7832187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7925" name="TextBox 36"/>
          <p:cNvSpPr txBox="1"/>
          <p:nvPr/>
        </p:nvSpPr>
        <p:spPr>
          <a:xfrm>
            <a:off x="12626399" y="7832187"/>
            <a:ext cx="173150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7926" name="Connector 37"/>
          <p:cNvSpPr/>
          <p:nvPr/>
        </p:nvSpPr>
        <p:spPr>
          <a:xfrm>
            <a:off x="1371600" y="8285870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27" name="TextBox 38"/>
          <p:cNvSpPr txBox="1"/>
          <p:nvPr/>
        </p:nvSpPr>
        <p:spPr>
          <a:xfrm>
            <a:off x="1517902" y="8373791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7928" name="TextBox 39"/>
          <p:cNvSpPr txBox="1"/>
          <p:nvPr/>
        </p:nvSpPr>
        <p:spPr>
          <a:xfrm>
            <a:off x="2600094" y="8373791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Mokafaa</a:t>
            </a:r>
          </a:p>
        </p:txBody>
      </p:sp>
      <p:sp>
        <p:nvSpPr>
          <p:cNvPr id="7929" name="TextBox 40"/>
          <p:cNvSpPr txBox="1"/>
          <p:nvPr/>
        </p:nvSpPr>
        <p:spPr>
          <a:xfrm>
            <a:off x="9093250" y="8373791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930" name="TextBox 41"/>
          <p:cNvSpPr txBox="1"/>
          <p:nvPr/>
        </p:nvSpPr>
        <p:spPr>
          <a:xfrm>
            <a:off x="10894893" y="8373791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7931" name="TextBox 42"/>
          <p:cNvSpPr txBox="1"/>
          <p:nvPr/>
        </p:nvSpPr>
        <p:spPr>
          <a:xfrm>
            <a:off x="12626399" y="8373791"/>
            <a:ext cx="173150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N/A</a:t>
            </a:r>
          </a:p>
        </p:txBody>
      </p:sp>
      <p:sp>
        <p:nvSpPr>
          <p:cNvPr id="7932" name="Connector 43"/>
          <p:cNvSpPr/>
          <p:nvPr/>
        </p:nvSpPr>
        <p:spPr>
          <a:xfrm>
            <a:off x="1371600" y="882747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33" name="TextBox 44"/>
          <p:cNvSpPr txBox="1"/>
          <p:nvPr/>
        </p:nvSpPr>
        <p:spPr>
          <a:xfrm>
            <a:off x="1517902" y="891540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7934" name="TextBox 45"/>
          <p:cNvSpPr txBox="1"/>
          <p:nvPr/>
        </p:nvSpPr>
        <p:spPr>
          <a:xfrm>
            <a:off x="2600094" y="891540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ARC Account (UCM)</a:t>
            </a:r>
          </a:p>
        </p:txBody>
      </p:sp>
      <p:sp>
        <p:nvSpPr>
          <p:cNvPr id="7935" name="TextBox 46"/>
          <p:cNvSpPr txBox="1"/>
          <p:nvPr/>
        </p:nvSpPr>
        <p:spPr>
          <a:xfrm>
            <a:off x="9093250" y="8915399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936" name="Connector 47"/>
          <p:cNvSpPr/>
          <p:nvPr/>
        </p:nvSpPr>
        <p:spPr>
          <a:xfrm>
            <a:off x="1371600" y="936908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37" name="TextBox 48"/>
          <p:cNvSpPr txBox="1"/>
          <p:nvPr/>
        </p:nvSpPr>
        <p:spPr>
          <a:xfrm>
            <a:off x="1517902" y="945700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7938" name="TextBox 49"/>
          <p:cNvSpPr txBox="1"/>
          <p:nvPr/>
        </p:nvSpPr>
        <p:spPr>
          <a:xfrm>
            <a:off x="2600094" y="945700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Local portfolio</a:t>
            </a:r>
          </a:p>
        </p:txBody>
      </p:sp>
      <p:sp>
        <p:nvSpPr>
          <p:cNvPr id="7939" name="TextBox 50"/>
          <p:cNvSpPr txBox="1"/>
          <p:nvPr/>
        </p:nvSpPr>
        <p:spPr>
          <a:xfrm>
            <a:off x="9093250" y="945700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940" name="Connector 51"/>
          <p:cNvSpPr/>
          <p:nvPr/>
        </p:nvSpPr>
        <p:spPr>
          <a:xfrm>
            <a:off x="1371600" y="991068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41" name="TextBox 52"/>
          <p:cNvSpPr txBox="1"/>
          <p:nvPr/>
        </p:nvSpPr>
        <p:spPr>
          <a:xfrm>
            <a:off x="1517902" y="9998612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7942" name="TextBox 53"/>
          <p:cNvSpPr txBox="1"/>
          <p:nvPr/>
        </p:nvSpPr>
        <p:spPr>
          <a:xfrm>
            <a:off x="2600094" y="9998612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Fund portfolio</a:t>
            </a:r>
          </a:p>
        </p:txBody>
      </p:sp>
      <p:sp>
        <p:nvSpPr>
          <p:cNvPr id="7943" name="TextBox 54"/>
          <p:cNvSpPr txBox="1"/>
          <p:nvPr/>
        </p:nvSpPr>
        <p:spPr>
          <a:xfrm>
            <a:off x="9093250" y="9998612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944" name="Connector 55"/>
          <p:cNvSpPr/>
          <p:nvPr/>
        </p:nvSpPr>
        <p:spPr>
          <a:xfrm>
            <a:off x="1371600" y="1045229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45" name="TextBox 56"/>
          <p:cNvSpPr txBox="1"/>
          <p:nvPr/>
        </p:nvSpPr>
        <p:spPr>
          <a:xfrm>
            <a:off x="1517902" y="10540217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7946" name="TextBox 57"/>
          <p:cNvSpPr txBox="1"/>
          <p:nvPr/>
        </p:nvSpPr>
        <p:spPr>
          <a:xfrm>
            <a:off x="2600094" y="10540217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US portfolio</a:t>
            </a:r>
          </a:p>
        </p:txBody>
      </p:sp>
      <p:sp>
        <p:nvSpPr>
          <p:cNvPr id="7947" name="TextBox 58"/>
          <p:cNvSpPr txBox="1"/>
          <p:nvPr/>
        </p:nvSpPr>
        <p:spPr>
          <a:xfrm>
            <a:off x="9093250" y="10540217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948" name="Connector 59"/>
          <p:cNvSpPr/>
          <p:nvPr/>
        </p:nvSpPr>
        <p:spPr>
          <a:xfrm>
            <a:off x="1371600" y="10993901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49" name="TextBox 60"/>
          <p:cNvSpPr txBox="1"/>
          <p:nvPr/>
        </p:nvSpPr>
        <p:spPr>
          <a:xfrm>
            <a:off x="1517902" y="1108182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7950" name="TextBox 61"/>
          <p:cNvSpPr txBox="1"/>
          <p:nvPr/>
        </p:nvSpPr>
        <p:spPr>
          <a:xfrm>
            <a:off x="2600094" y="1108182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Other international portfolio</a:t>
            </a:r>
          </a:p>
        </p:txBody>
      </p:sp>
      <p:sp>
        <p:nvSpPr>
          <p:cNvPr id="7951" name="TextBox 62"/>
          <p:cNvSpPr txBox="1"/>
          <p:nvPr/>
        </p:nvSpPr>
        <p:spPr>
          <a:xfrm>
            <a:off x="9093250" y="11081824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952" name="Connector 63"/>
          <p:cNvSpPr/>
          <p:nvPr/>
        </p:nvSpPr>
        <p:spPr>
          <a:xfrm>
            <a:off x="1371600" y="11535505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53" name="TextBox 64"/>
          <p:cNvSpPr txBox="1"/>
          <p:nvPr/>
        </p:nvSpPr>
        <p:spPr>
          <a:xfrm>
            <a:off x="1517902" y="11623430"/>
            <a:ext cx="78958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7954" name="TextBox 65"/>
          <p:cNvSpPr txBox="1"/>
          <p:nvPr/>
        </p:nvSpPr>
        <p:spPr>
          <a:xfrm>
            <a:off x="2600094" y="11623430"/>
            <a:ext cx="6200549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Crowd fund portfolio</a:t>
            </a:r>
          </a:p>
        </p:txBody>
      </p:sp>
      <p:sp>
        <p:nvSpPr>
          <p:cNvPr id="7955" name="TextBox 66"/>
          <p:cNvSpPr txBox="1"/>
          <p:nvPr/>
        </p:nvSpPr>
        <p:spPr>
          <a:xfrm>
            <a:off x="9093250" y="11623430"/>
            <a:ext cx="1655338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956" name="Connector 67"/>
          <p:cNvSpPr/>
          <p:nvPr/>
        </p:nvSpPr>
        <p:spPr>
          <a:xfrm>
            <a:off x="1371600" y="12077113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57" name="TextBox 68"/>
          <p:cNvSpPr txBox="1"/>
          <p:nvPr/>
        </p:nvSpPr>
        <p:spPr>
          <a:xfrm>
            <a:off x="1517902" y="12165034"/>
            <a:ext cx="78958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7958" name="TextBox 69"/>
          <p:cNvSpPr txBox="1"/>
          <p:nvPr/>
        </p:nvSpPr>
        <p:spPr>
          <a:xfrm>
            <a:off x="2600094" y="12165034"/>
            <a:ext cx="6200549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11827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</a:lstStyle>
          <a:p>
            <a:pPr/>
            <a:r>
              <a:t>Robo portfolio</a:t>
            </a:r>
          </a:p>
        </p:txBody>
      </p:sp>
      <p:sp>
        <p:nvSpPr>
          <p:cNvPr id="7959" name="TextBox 70"/>
          <p:cNvSpPr txBox="1"/>
          <p:nvPr/>
        </p:nvSpPr>
        <p:spPr>
          <a:xfrm>
            <a:off x="9093250" y="12165034"/>
            <a:ext cx="1655338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7960" name="Connector 71"/>
          <p:cNvSpPr/>
          <p:nvPr/>
        </p:nvSpPr>
        <p:spPr>
          <a:xfrm>
            <a:off x="1371600" y="12618718"/>
            <a:ext cx="21643849" cy="2"/>
          </a:xfrm>
          <a:prstGeom prst="line">
            <a:avLst/>
          </a:prstGeom>
          <a:ln w="6350">
            <a:solidFill>
              <a:srgbClr val="D1D5DB"/>
            </a:solidFill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2" name="TextBox 1"/>
          <p:cNvSpPr txBox="1"/>
          <p:nvPr/>
        </p:nvSpPr>
        <p:spPr>
          <a:xfrm>
            <a:off x="0" y="5943600"/>
            <a:ext cx="24387048" cy="2844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16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defRPr>
            </a:pPr>
            <a:r>
              <a:t>Thank </a:t>
            </a:r>
            <a:r>
              <a:rPr>
                <a:solidFill>
                  <a:srgbClr val="0333E8"/>
                </a:solidFill>
              </a:rPr>
              <a:t>You</a:t>
            </a:r>
          </a:p>
        </p:txBody>
      </p:sp>
      <p:pic>
        <p:nvPicPr>
          <p:cNvPr id="796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16972" y="9601200"/>
            <a:ext cx="3153105" cy="1097281"/>
          </a:xfrm>
          <a:prstGeom prst="rect">
            <a:avLst/>
          </a:prstGeom>
          <a:ln w="12700">
            <a:miter lim="400000"/>
          </a:ln>
        </p:spPr>
      </p:pic>
      <p:sp>
        <p:nvSpPr>
          <p:cNvPr id="7964" name="TextBox 3"/>
          <p:cNvSpPr txBox="1"/>
          <p:nvPr/>
        </p:nvSpPr>
        <p:spPr>
          <a:xfrm>
            <a:off x="22101046" y="13167360"/>
            <a:ext cx="182880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200" sz="1200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111 / 111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Lucida Grande"/>
        <a:ea typeface="Lucida Grande"/>
        <a:cs typeface="Lucida Grand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Lucida Grande"/>
        <a:ea typeface="Lucida Grande"/>
        <a:cs typeface="Lucida Grand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