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1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29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alrajhi capital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Features Map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Platform Feature Inventory, Competitive Gaps &amp; Differentiators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329184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0D1B3C"/>
          </a:solidFill>
          <a:ln w="6350">
            <a:solidFill>
              <a:srgbClr val="1A2D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3832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164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3931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926080" y="329184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0D1B3C"/>
          </a:solidFill>
          <a:ln w="6350">
            <a:solidFill>
              <a:srgbClr val="1A2D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0" y="33832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926080" y="3931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120640" y="329184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0D1B3C"/>
          </a:solidFill>
          <a:ln w="6350">
            <a:solidFill>
              <a:srgbClr val="1A2D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0" y="33832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120640" y="3931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DIFFERENTIATORS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315200" y="329184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0D1B3C"/>
          </a:solidFill>
          <a:ln w="6350">
            <a:solidFill>
              <a:srgbClr val="1A2D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0" y="33832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7315200" y="3931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SQUADS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9509760" y="329184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0D1B3C"/>
          </a:solidFill>
          <a:ln w="6350">
            <a:solidFill>
              <a:srgbClr val="1A2D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09760" y="33832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9509760" y="3931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FILES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31520" y="484632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100+ BRDs  ·  8 Figma files (unreleased revamp)  ·  10+ competitor benchmarks  ·  App Store data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31520" y="594360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Experience Department  ·  Al Rajhi Capital  ·  2026-04-22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alrajhi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508760" y="347472"/>
            <a:ext cx="0" cy="384048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MAP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64592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Snapshot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62895" y="3840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16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868680"/>
            <a:ext cx="1127729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097280"/>
            <a:ext cx="1737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11887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164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48640" y="1691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Features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331720" y="1097280"/>
            <a:ext cx="1737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331720" y="11887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423160" y="1691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Production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206240" y="1097280"/>
            <a:ext cx="1737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206240" y="11887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129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297680" y="1691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080760" y="1097280"/>
            <a:ext cx="1737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080760" y="11887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172200" y="1691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Figma-Only (No BRD)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955280" y="1097280"/>
            <a:ext cx="1737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955280" y="11887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8046720" y="1691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BRD-Only (No Figma)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9829800" y="1097280"/>
            <a:ext cx="1737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829800" y="11887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9921240" y="1691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 + Figma Confirmed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57200" y="2468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Health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28803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 + Figma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057400" y="2926080"/>
            <a:ext cx="3657600" cy="201168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057400" y="2926080"/>
            <a:ext cx="981307" cy="201168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52160" y="2880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 (27%)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" y="33375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 Only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057400" y="3383280"/>
            <a:ext cx="3657600" cy="201168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057400" y="3383280"/>
            <a:ext cx="1516566" cy="201168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52160" y="33375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  (41%)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" y="37947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Only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057400" y="3840480"/>
            <a:ext cx="3657600" cy="201168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057400" y="3840480"/>
            <a:ext cx="936702" cy="201168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52160" y="3794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 (26%)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57200" y="4251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Extraction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057400" y="4297680"/>
            <a:ext cx="3657600" cy="201168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057400" y="4297680"/>
            <a:ext cx="223024" cy="201168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52160" y="4251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(6%)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132320" y="2468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Position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7132320" y="2880360"/>
            <a:ext cx="43891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7269480" y="292608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7955280" y="292608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Gaps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955280" y="313639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competitors have that ARC lacks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7132320" y="3474720"/>
            <a:ext cx="43891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7269480" y="352044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2000" dirty="0"/>
          </a:p>
        </p:txBody>
      </p:sp>
      <p:sp>
        <p:nvSpPr>
          <p:cNvPr id="51" name="Text 49"/>
          <p:cNvSpPr/>
          <p:nvPr/>
        </p:nvSpPr>
        <p:spPr>
          <a:xfrm>
            <a:off x="7955280" y="35204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Differentiators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955280" y="373075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unique to ARC or notably stronger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7132320" y="4069080"/>
            <a:ext cx="43891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7269480" y="411480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2000" dirty="0"/>
          </a:p>
        </p:txBody>
      </p:sp>
      <p:sp>
        <p:nvSpPr>
          <p:cNvPr id="55" name="Text 53"/>
          <p:cNvSpPr/>
          <p:nvPr/>
        </p:nvSpPr>
        <p:spPr>
          <a:xfrm>
            <a:off x="7955280" y="411480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Parity Features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7955280" y="432511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at comparable level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57200" y="4480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Readiness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457200" y="477316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16% of mapped features are live. 84% remain in planning or design.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57200" y="5120640"/>
            <a:ext cx="11277295" cy="320040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57200" y="5120640"/>
            <a:ext cx="1650336" cy="32004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94360" y="51206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Live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2381856" y="5120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 Planned / Designed / Unknown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457200" y="5394960"/>
            <a:ext cx="11277295" cy="822960"/>
          </a:xfrm>
          <a:prstGeom prst="roundRect">
            <a:avLst>
              <a:gd name="adj" fmla="val 8889"/>
            </a:avLst>
          </a:prstGeom>
          <a:solidFill>
            <a:srgbClr val="EEF2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640080" y="5486400"/>
            <a:ext cx="1005840" cy="237744"/>
          </a:xfrm>
          <a:prstGeom prst="roundRect">
            <a:avLst>
              <a:gd name="adj" fmla="val 11538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48640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1828800" y="5468112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features exist in Figma with no BRD — these represent design intent without product commitment. 68 features have BRDs but no Figma screens yet. Closing this documentation gap is the #1 prerequisite for accurate roadmap planning.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57200" y="660196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 ·  DIGITAL EXPERIENCE  ·  2026-04-22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5333695" y="66019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Features Inventory (164 features) · BRDs + Figma API + Deep Extraction · 2026-04-22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alrajhi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508760" y="347472"/>
            <a:ext cx="0" cy="384048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MAP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64592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Coverage by Squad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62895" y="3840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16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868680"/>
            <a:ext cx="1127729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097280"/>
            <a:ext cx="2194560" cy="384048"/>
          </a:xfrm>
          <a:prstGeom prst="rect">
            <a:avLst/>
          </a:prstGeom>
          <a:solidFill>
            <a:srgbClr val="0A1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1097280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651760" y="1097280"/>
            <a:ext cx="640080" cy="384048"/>
          </a:xfrm>
          <a:prstGeom prst="rect">
            <a:avLst/>
          </a:prstGeom>
          <a:solidFill>
            <a:srgbClr val="0A1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24912" y="1097280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91840" y="1097280"/>
            <a:ext cx="640080" cy="384048"/>
          </a:xfrm>
          <a:prstGeom prst="rect">
            <a:avLst/>
          </a:prstGeom>
          <a:solidFill>
            <a:srgbClr val="0A1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64992" y="1097280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931920" y="1097280"/>
            <a:ext cx="822960" cy="384048"/>
          </a:xfrm>
          <a:prstGeom prst="rect">
            <a:avLst/>
          </a:prstGeom>
          <a:solidFill>
            <a:srgbClr val="0A1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05072" y="1097280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754880" y="1097280"/>
            <a:ext cx="914400" cy="384048"/>
          </a:xfrm>
          <a:prstGeom prst="rect">
            <a:avLst/>
          </a:prstGeom>
          <a:solidFill>
            <a:srgbClr val="0A1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28032" y="1097280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Figma-Only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669280" y="1097280"/>
            <a:ext cx="914400" cy="384048"/>
          </a:xfrm>
          <a:prstGeom prst="rect">
            <a:avLst/>
          </a:prstGeom>
          <a:solidFill>
            <a:srgbClr val="0A1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42432" y="1097280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BRD-Only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583680" y="1097280"/>
            <a:ext cx="5120640" cy="384048"/>
          </a:xfrm>
          <a:prstGeom prst="rect">
            <a:avLst/>
          </a:prstGeom>
          <a:solidFill>
            <a:srgbClr val="0A1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56832" y="1097280"/>
            <a:ext cx="4974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1481328"/>
            <a:ext cx="219456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" y="1481328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651760" y="1481328"/>
            <a:ext cx="64008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24912" y="1481328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91840" y="1481328"/>
            <a:ext cx="64008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64992" y="1481328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931920" y="1481328"/>
            <a:ext cx="82296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005072" y="1481328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1481328"/>
            <a:ext cx="91440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28032" y="1481328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669280" y="1481328"/>
            <a:ext cx="91440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42432" y="1481328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583680" y="1481328"/>
            <a:ext cx="512064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720840" y="1581912"/>
            <a:ext cx="807720" cy="182880"/>
          </a:xfrm>
          <a:prstGeom prst="rect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528560" y="1581912"/>
            <a:ext cx="1615440" cy="182880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144000" y="1581912"/>
            <a:ext cx="201930" cy="182880"/>
          </a:xfrm>
          <a:prstGeom prst="rect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345930" y="1581912"/>
            <a:ext cx="2221230" cy="18288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7200" y="1865376"/>
            <a:ext cx="219456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0352" y="1865376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Trading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651760" y="1865376"/>
            <a:ext cx="64008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24912" y="1865376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291840" y="1865376"/>
            <a:ext cx="64008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364992" y="1865376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931920" y="1865376"/>
            <a:ext cx="82296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005072" y="1865376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754880" y="1865376"/>
            <a:ext cx="91440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28032" y="1865376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669280" y="1865376"/>
            <a:ext cx="91440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742432" y="1865376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583680" y="1865376"/>
            <a:ext cx="512064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20840" y="1965960"/>
            <a:ext cx="745588" cy="182880"/>
          </a:xfrm>
          <a:prstGeom prst="rect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466428" y="1965960"/>
            <a:ext cx="124265" cy="182880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590692" y="1965960"/>
            <a:ext cx="2361028" cy="182880"/>
          </a:xfrm>
          <a:prstGeom prst="rect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951720" y="1965960"/>
            <a:ext cx="1739705" cy="18288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57200" y="2249424"/>
            <a:ext cx="219456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30352" y="2249424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Trading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2651760" y="2249424"/>
            <a:ext cx="64008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724912" y="2249424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3291840" y="2249424"/>
            <a:ext cx="64008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364992" y="2249424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3931920" y="2249424"/>
            <a:ext cx="82296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005072" y="2249424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4754880" y="2249424"/>
            <a:ext cx="91440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828032" y="2249424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5669280" y="2249424"/>
            <a:ext cx="91440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742432" y="2249424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6583680" y="2249424"/>
            <a:ext cx="512064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720840" y="2350008"/>
            <a:ext cx="1453896" cy="182880"/>
          </a:xfrm>
          <a:prstGeom prst="rect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174736" y="2350008"/>
            <a:ext cx="2907792" cy="182880"/>
          </a:xfrm>
          <a:prstGeom prst="rect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1082528" y="2350008"/>
            <a:ext cx="484632" cy="18288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57200" y="2633472"/>
            <a:ext cx="219456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30352" y="2633472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Monitoring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2651760" y="2633472"/>
            <a:ext cx="64008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724912" y="2633472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3291840" y="2633472"/>
            <a:ext cx="64008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364992" y="2633472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3931920" y="2633472"/>
            <a:ext cx="82296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005072" y="2633472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4754880" y="2633472"/>
            <a:ext cx="91440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828032" y="2633472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5669280" y="2633472"/>
            <a:ext cx="91440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742432" y="2633472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6583680" y="2633472"/>
            <a:ext cx="512064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720840" y="2734056"/>
            <a:ext cx="440575" cy="182880"/>
          </a:xfrm>
          <a:prstGeom prst="rect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7161415" y="2734056"/>
            <a:ext cx="1101436" cy="182880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8262851" y="2734056"/>
            <a:ext cx="881149" cy="182880"/>
          </a:xfrm>
          <a:prstGeom prst="rect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9144000" y="2734056"/>
            <a:ext cx="2423160" cy="18288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1567160" y="2734056"/>
            <a:ext cx="0" cy="182880"/>
          </a:xfrm>
          <a:prstGeom prst="rect">
            <a:avLst/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457200" y="3017520"/>
            <a:ext cx="219456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530352" y="3017520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 Visibility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2651760" y="3017520"/>
            <a:ext cx="64008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2724912" y="3017520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95" name="Shape 93"/>
          <p:cNvSpPr/>
          <p:nvPr/>
        </p:nvSpPr>
        <p:spPr>
          <a:xfrm>
            <a:off x="3291840" y="3017520"/>
            <a:ext cx="64008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3364992" y="3017520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97" name="Shape 95"/>
          <p:cNvSpPr/>
          <p:nvPr/>
        </p:nvSpPr>
        <p:spPr>
          <a:xfrm>
            <a:off x="3931920" y="3017520"/>
            <a:ext cx="82296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4005072" y="3017520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99" name="Shape 97"/>
          <p:cNvSpPr/>
          <p:nvPr/>
        </p:nvSpPr>
        <p:spPr>
          <a:xfrm>
            <a:off x="4754880" y="3017520"/>
            <a:ext cx="91440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4828032" y="3017520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101" name="Shape 99"/>
          <p:cNvSpPr/>
          <p:nvPr/>
        </p:nvSpPr>
        <p:spPr>
          <a:xfrm>
            <a:off x="5669280" y="3017520"/>
            <a:ext cx="91440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5742432" y="3017520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03" name="Shape 101"/>
          <p:cNvSpPr/>
          <p:nvPr/>
        </p:nvSpPr>
        <p:spPr>
          <a:xfrm>
            <a:off x="6583680" y="3017520"/>
            <a:ext cx="512064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6720840" y="3118104"/>
            <a:ext cx="969264" cy="182880"/>
          </a:xfrm>
          <a:prstGeom prst="rect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7690104" y="3118104"/>
            <a:ext cx="3877056" cy="182880"/>
          </a:xfrm>
          <a:prstGeom prst="rect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457200" y="3401568"/>
            <a:ext cx="219456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530352" y="3401568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Funds</a:t>
            </a:r>
            <a:endParaRPr lang="en-US" sz="900" dirty="0"/>
          </a:p>
        </p:txBody>
      </p:sp>
      <p:sp>
        <p:nvSpPr>
          <p:cNvPr id="108" name="Shape 106"/>
          <p:cNvSpPr/>
          <p:nvPr/>
        </p:nvSpPr>
        <p:spPr>
          <a:xfrm>
            <a:off x="2651760" y="3401568"/>
            <a:ext cx="64008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2724912" y="3401568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110" name="Shape 108"/>
          <p:cNvSpPr/>
          <p:nvPr/>
        </p:nvSpPr>
        <p:spPr>
          <a:xfrm>
            <a:off x="3291840" y="3401568"/>
            <a:ext cx="64008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3364992" y="3401568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12" name="Shape 110"/>
          <p:cNvSpPr/>
          <p:nvPr/>
        </p:nvSpPr>
        <p:spPr>
          <a:xfrm>
            <a:off x="3931920" y="3401568"/>
            <a:ext cx="82296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4005072" y="3401568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114" name="Shape 112"/>
          <p:cNvSpPr/>
          <p:nvPr/>
        </p:nvSpPr>
        <p:spPr>
          <a:xfrm>
            <a:off x="4754880" y="3401568"/>
            <a:ext cx="91440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4828032" y="3401568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16" name="Shape 114"/>
          <p:cNvSpPr/>
          <p:nvPr/>
        </p:nvSpPr>
        <p:spPr>
          <a:xfrm>
            <a:off x="5669280" y="3401568"/>
            <a:ext cx="91440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5742432" y="3401568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118" name="Shape 116"/>
          <p:cNvSpPr/>
          <p:nvPr/>
        </p:nvSpPr>
        <p:spPr>
          <a:xfrm>
            <a:off x="6583680" y="3401568"/>
            <a:ext cx="512064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6720840" y="3502152"/>
            <a:ext cx="440575" cy="182880"/>
          </a:xfrm>
          <a:prstGeom prst="rect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7161415" y="3502152"/>
            <a:ext cx="1321724" cy="182880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8483138" y="3502152"/>
            <a:ext cx="2643447" cy="182880"/>
          </a:xfrm>
          <a:prstGeom prst="rect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11126585" y="3502152"/>
            <a:ext cx="440575" cy="18288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57200" y="3785616"/>
            <a:ext cx="219456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530352" y="3785616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 Advisory</a:t>
            </a:r>
            <a:endParaRPr lang="en-US" sz="900" dirty="0"/>
          </a:p>
        </p:txBody>
      </p:sp>
      <p:sp>
        <p:nvSpPr>
          <p:cNvPr id="125" name="Shape 123"/>
          <p:cNvSpPr/>
          <p:nvPr/>
        </p:nvSpPr>
        <p:spPr>
          <a:xfrm>
            <a:off x="2651760" y="3785616"/>
            <a:ext cx="64008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2724912" y="3785616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27" name="Shape 125"/>
          <p:cNvSpPr/>
          <p:nvPr/>
        </p:nvSpPr>
        <p:spPr>
          <a:xfrm>
            <a:off x="3291840" y="3785616"/>
            <a:ext cx="64008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3364992" y="3785616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29" name="Shape 127"/>
          <p:cNvSpPr/>
          <p:nvPr/>
        </p:nvSpPr>
        <p:spPr>
          <a:xfrm>
            <a:off x="3931920" y="3785616"/>
            <a:ext cx="82296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4005072" y="3785616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1" name="Shape 129"/>
          <p:cNvSpPr/>
          <p:nvPr/>
        </p:nvSpPr>
        <p:spPr>
          <a:xfrm>
            <a:off x="4754880" y="3785616"/>
            <a:ext cx="91440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4828032" y="3785616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33" name="Shape 131"/>
          <p:cNvSpPr/>
          <p:nvPr/>
        </p:nvSpPr>
        <p:spPr>
          <a:xfrm>
            <a:off x="5669280" y="3785616"/>
            <a:ext cx="91440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5742432" y="3785616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135" name="Shape 133"/>
          <p:cNvSpPr/>
          <p:nvPr/>
        </p:nvSpPr>
        <p:spPr>
          <a:xfrm>
            <a:off x="6583680" y="3785616"/>
            <a:ext cx="512064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6720840" y="3886200"/>
            <a:ext cx="1211580" cy="182880"/>
          </a:xfrm>
          <a:prstGeom prst="rect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7932420" y="3886200"/>
            <a:ext cx="2423160" cy="182880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10355580" y="3886200"/>
            <a:ext cx="1211580" cy="18288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457200" y="4169664"/>
            <a:ext cx="219456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530352" y="4169664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IPOs</a:t>
            </a:r>
            <a:endParaRPr lang="en-US" sz="900" dirty="0"/>
          </a:p>
        </p:txBody>
      </p:sp>
      <p:sp>
        <p:nvSpPr>
          <p:cNvPr id="141" name="Shape 139"/>
          <p:cNvSpPr/>
          <p:nvPr/>
        </p:nvSpPr>
        <p:spPr>
          <a:xfrm>
            <a:off x="2651760" y="4169664"/>
            <a:ext cx="64008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2724912" y="4169664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143" name="Shape 141"/>
          <p:cNvSpPr/>
          <p:nvPr/>
        </p:nvSpPr>
        <p:spPr>
          <a:xfrm>
            <a:off x="3291840" y="4169664"/>
            <a:ext cx="64008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3364992" y="4169664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45" name="Shape 143"/>
          <p:cNvSpPr/>
          <p:nvPr/>
        </p:nvSpPr>
        <p:spPr>
          <a:xfrm>
            <a:off x="3931920" y="4169664"/>
            <a:ext cx="82296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4005072" y="4169664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47" name="Shape 145"/>
          <p:cNvSpPr/>
          <p:nvPr/>
        </p:nvSpPr>
        <p:spPr>
          <a:xfrm>
            <a:off x="4754880" y="4169664"/>
            <a:ext cx="91440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4828032" y="4169664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49" name="Shape 147"/>
          <p:cNvSpPr/>
          <p:nvPr/>
        </p:nvSpPr>
        <p:spPr>
          <a:xfrm>
            <a:off x="5669280" y="4169664"/>
            <a:ext cx="91440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5742432" y="4169664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51" name="Shape 149"/>
          <p:cNvSpPr/>
          <p:nvPr/>
        </p:nvSpPr>
        <p:spPr>
          <a:xfrm>
            <a:off x="6583680" y="4169664"/>
            <a:ext cx="512064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6720840" y="4270248"/>
            <a:ext cx="1384663" cy="182880"/>
          </a:xfrm>
          <a:prstGeom prst="rect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8105503" y="4270248"/>
            <a:ext cx="692331" cy="182880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8797834" y="4270248"/>
            <a:ext cx="2076994" cy="182880"/>
          </a:xfrm>
          <a:prstGeom prst="rect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10874829" y="4270248"/>
            <a:ext cx="692331" cy="18288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457200" y="4553712"/>
            <a:ext cx="219456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530352" y="4553712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Actions</a:t>
            </a:r>
            <a:endParaRPr lang="en-US" sz="900" dirty="0"/>
          </a:p>
        </p:txBody>
      </p:sp>
      <p:sp>
        <p:nvSpPr>
          <p:cNvPr id="158" name="Shape 156"/>
          <p:cNvSpPr/>
          <p:nvPr/>
        </p:nvSpPr>
        <p:spPr>
          <a:xfrm>
            <a:off x="2651760" y="4553712"/>
            <a:ext cx="64008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2724912" y="4553712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60" name="Shape 158"/>
          <p:cNvSpPr/>
          <p:nvPr/>
        </p:nvSpPr>
        <p:spPr>
          <a:xfrm>
            <a:off x="3291840" y="4553712"/>
            <a:ext cx="64008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3364992" y="4553712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162" name="Shape 160"/>
          <p:cNvSpPr/>
          <p:nvPr/>
        </p:nvSpPr>
        <p:spPr>
          <a:xfrm>
            <a:off x="3931920" y="4553712"/>
            <a:ext cx="82296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63" name="Text 161"/>
          <p:cNvSpPr/>
          <p:nvPr/>
        </p:nvSpPr>
        <p:spPr>
          <a:xfrm>
            <a:off x="4005072" y="4553712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64" name="Shape 162"/>
          <p:cNvSpPr/>
          <p:nvPr/>
        </p:nvSpPr>
        <p:spPr>
          <a:xfrm>
            <a:off x="4754880" y="4553712"/>
            <a:ext cx="91440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4828032" y="4553712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66" name="Shape 164"/>
          <p:cNvSpPr/>
          <p:nvPr/>
        </p:nvSpPr>
        <p:spPr>
          <a:xfrm>
            <a:off x="5669280" y="4553712"/>
            <a:ext cx="91440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5742432" y="4553712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68" name="Shape 166"/>
          <p:cNvSpPr/>
          <p:nvPr/>
        </p:nvSpPr>
        <p:spPr>
          <a:xfrm>
            <a:off x="6583680" y="4553712"/>
            <a:ext cx="512064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6720840" y="4654296"/>
            <a:ext cx="1211580" cy="182880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7932420" y="4654296"/>
            <a:ext cx="2423160" cy="182880"/>
          </a:xfrm>
          <a:prstGeom prst="rect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10355580" y="4654296"/>
            <a:ext cx="1211580" cy="18288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457200" y="4937760"/>
            <a:ext cx="219456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530352" y="4937760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Engagement</a:t>
            </a:r>
            <a:endParaRPr lang="en-US" sz="900" dirty="0"/>
          </a:p>
        </p:txBody>
      </p:sp>
      <p:sp>
        <p:nvSpPr>
          <p:cNvPr id="174" name="Shape 172"/>
          <p:cNvSpPr/>
          <p:nvPr/>
        </p:nvSpPr>
        <p:spPr>
          <a:xfrm>
            <a:off x="2651760" y="4937760"/>
            <a:ext cx="64008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2724912" y="4937760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176" name="Shape 174"/>
          <p:cNvSpPr/>
          <p:nvPr/>
        </p:nvSpPr>
        <p:spPr>
          <a:xfrm>
            <a:off x="3291840" y="4937760"/>
            <a:ext cx="64008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77" name="Text 175"/>
          <p:cNvSpPr/>
          <p:nvPr/>
        </p:nvSpPr>
        <p:spPr>
          <a:xfrm>
            <a:off x="3364992" y="4937760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78" name="Shape 176"/>
          <p:cNvSpPr/>
          <p:nvPr/>
        </p:nvSpPr>
        <p:spPr>
          <a:xfrm>
            <a:off x="3931920" y="4937760"/>
            <a:ext cx="82296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79" name="Text 177"/>
          <p:cNvSpPr/>
          <p:nvPr/>
        </p:nvSpPr>
        <p:spPr>
          <a:xfrm>
            <a:off x="4005072" y="4937760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180" name="Shape 178"/>
          <p:cNvSpPr/>
          <p:nvPr/>
        </p:nvSpPr>
        <p:spPr>
          <a:xfrm>
            <a:off x="4754880" y="4937760"/>
            <a:ext cx="91440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81" name="Text 179"/>
          <p:cNvSpPr/>
          <p:nvPr/>
        </p:nvSpPr>
        <p:spPr>
          <a:xfrm>
            <a:off x="4828032" y="4937760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82" name="Shape 180"/>
          <p:cNvSpPr/>
          <p:nvPr/>
        </p:nvSpPr>
        <p:spPr>
          <a:xfrm>
            <a:off x="5669280" y="4937760"/>
            <a:ext cx="91440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5742432" y="4937760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184" name="Shape 182"/>
          <p:cNvSpPr/>
          <p:nvPr/>
        </p:nvSpPr>
        <p:spPr>
          <a:xfrm>
            <a:off x="6583680" y="4937760"/>
            <a:ext cx="5120640" cy="384048"/>
          </a:xfrm>
          <a:prstGeom prst="rect">
            <a:avLst/>
          </a:prstGeom>
          <a:solidFill>
            <a:srgbClr val="F1F4F9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6720840" y="5038344"/>
            <a:ext cx="605790" cy="182880"/>
          </a:xfrm>
          <a:prstGeom prst="rect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7326630" y="5038344"/>
            <a:ext cx="3331845" cy="182880"/>
          </a:xfrm>
          <a:prstGeom prst="rect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10658475" y="5038344"/>
            <a:ext cx="1211580" cy="18288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457200" y="5321808"/>
            <a:ext cx="219456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89" name="Text 187"/>
          <p:cNvSpPr/>
          <p:nvPr/>
        </p:nvSpPr>
        <p:spPr>
          <a:xfrm>
            <a:off x="530352" y="5321808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Cross-Journey</a:t>
            </a:r>
            <a:endParaRPr lang="en-US" sz="900" dirty="0"/>
          </a:p>
        </p:txBody>
      </p:sp>
      <p:sp>
        <p:nvSpPr>
          <p:cNvPr id="190" name="Shape 188"/>
          <p:cNvSpPr/>
          <p:nvPr/>
        </p:nvSpPr>
        <p:spPr>
          <a:xfrm>
            <a:off x="2651760" y="5321808"/>
            <a:ext cx="64008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2724912" y="5321808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192" name="Shape 190"/>
          <p:cNvSpPr/>
          <p:nvPr/>
        </p:nvSpPr>
        <p:spPr>
          <a:xfrm>
            <a:off x="3291840" y="5321808"/>
            <a:ext cx="64008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93" name="Text 191"/>
          <p:cNvSpPr/>
          <p:nvPr/>
        </p:nvSpPr>
        <p:spPr>
          <a:xfrm>
            <a:off x="3364992" y="5321808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94" name="Shape 192"/>
          <p:cNvSpPr/>
          <p:nvPr/>
        </p:nvSpPr>
        <p:spPr>
          <a:xfrm>
            <a:off x="3931920" y="5321808"/>
            <a:ext cx="82296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95" name="Text 193"/>
          <p:cNvSpPr/>
          <p:nvPr/>
        </p:nvSpPr>
        <p:spPr>
          <a:xfrm>
            <a:off x="4005072" y="5321808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196" name="Shape 194"/>
          <p:cNvSpPr/>
          <p:nvPr/>
        </p:nvSpPr>
        <p:spPr>
          <a:xfrm>
            <a:off x="4754880" y="5321808"/>
            <a:ext cx="91440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97" name="Text 195"/>
          <p:cNvSpPr/>
          <p:nvPr/>
        </p:nvSpPr>
        <p:spPr>
          <a:xfrm>
            <a:off x="4828032" y="5321808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198" name="Shape 196"/>
          <p:cNvSpPr/>
          <p:nvPr/>
        </p:nvSpPr>
        <p:spPr>
          <a:xfrm>
            <a:off x="5669280" y="5321808"/>
            <a:ext cx="91440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99" name="Text 197"/>
          <p:cNvSpPr/>
          <p:nvPr/>
        </p:nvSpPr>
        <p:spPr>
          <a:xfrm>
            <a:off x="5742432" y="5321808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200" name="Shape 198"/>
          <p:cNvSpPr/>
          <p:nvPr/>
        </p:nvSpPr>
        <p:spPr>
          <a:xfrm>
            <a:off x="6583680" y="5321808"/>
            <a:ext cx="512064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6720840" y="5422392"/>
            <a:ext cx="440575" cy="182880"/>
          </a:xfrm>
          <a:prstGeom prst="rect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7161415" y="5422392"/>
            <a:ext cx="2863735" cy="182880"/>
          </a:xfrm>
          <a:prstGeom prst="rect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10025149" y="5422392"/>
            <a:ext cx="1542011" cy="18288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457200" y="6025896"/>
            <a:ext cx="182880" cy="182880"/>
          </a:xfrm>
          <a:prstGeom prst="rect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5" name="Text 203"/>
          <p:cNvSpPr/>
          <p:nvPr/>
        </p:nvSpPr>
        <p:spPr>
          <a:xfrm>
            <a:off x="713232" y="59801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50" dirty="0"/>
          </a:p>
        </p:txBody>
      </p:sp>
      <p:sp>
        <p:nvSpPr>
          <p:cNvPr id="206" name="Shape 204"/>
          <p:cNvSpPr/>
          <p:nvPr/>
        </p:nvSpPr>
        <p:spPr>
          <a:xfrm>
            <a:off x="2743200" y="6025896"/>
            <a:ext cx="182880" cy="182880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7" name="Text 205"/>
          <p:cNvSpPr/>
          <p:nvPr/>
        </p:nvSpPr>
        <p:spPr>
          <a:xfrm>
            <a:off x="2999232" y="59801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 + Figma</a:t>
            </a:r>
            <a:endParaRPr lang="en-US" sz="850" dirty="0"/>
          </a:p>
        </p:txBody>
      </p:sp>
      <p:sp>
        <p:nvSpPr>
          <p:cNvPr id="208" name="Shape 206"/>
          <p:cNvSpPr/>
          <p:nvPr/>
        </p:nvSpPr>
        <p:spPr>
          <a:xfrm>
            <a:off x="5029200" y="6025896"/>
            <a:ext cx="182880" cy="182880"/>
          </a:xfrm>
          <a:prstGeom prst="rect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9" name="Text 207"/>
          <p:cNvSpPr/>
          <p:nvPr/>
        </p:nvSpPr>
        <p:spPr>
          <a:xfrm>
            <a:off x="5285232" y="59801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 Only</a:t>
            </a:r>
            <a:endParaRPr lang="en-US" sz="850" dirty="0"/>
          </a:p>
        </p:txBody>
      </p:sp>
      <p:sp>
        <p:nvSpPr>
          <p:cNvPr id="210" name="Shape 208"/>
          <p:cNvSpPr/>
          <p:nvPr/>
        </p:nvSpPr>
        <p:spPr>
          <a:xfrm>
            <a:off x="7315200" y="6025896"/>
            <a:ext cx="182880" cy="18288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1" name="Text 209"/>
          <p:cNvSpPr/>
          <p:nvPr/>
        </p:nvSpPr>
        <p:spPr>
          <a:xfrm>
            <a:off x="7571232" y="59801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Only</a:t>
            </a:r>
            <a:endParaRPr lang="en-US" sz="850" dirty="0"/>
          </a:p>
        </p:txBody>
      </p:sp>
      <p:sp>
        <p:nvSpPr>
          <p:cNvPr id="212" name="Shape 210"/>
          <p:cNvSpPr/>
          <p:nvPr/>
        </p:nvSpPr>
        <p:spPr>
          <a:xfrm>
            <a:off x="457200" y="6483096"/>
            <a:ext cx="11277295" cy="640080"/>
          </a:xfrm>
          <a:prstGeom prst="roundRect">
            <a:avLst>
              <a:gd name="adj" fmla="val 11429"/>
            </a:avLst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213" name="Shape 211"/>
          <p:cNvSpPr/>
          <p:nvPr/>
        </p:nvSpPr>
        <p:spPr>
          <a:xfrm>
            <a:off x="640080" y="6547104"/>
            <a:ext cx="1097280" cy="237744"/>
          </a:xfrm>
          <a:prstGeom prst="roundRect">
            <a:avLst>
              <a:gd name="adj" fmla="val 11538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14" name="Text 212"/>
          <p:cNvSpPr/>
          <p:nvPr/>
        </p:nvSpPr>
        <p:spPr>
          <a:xfrm>
            <a:off x="640080" y="654710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800" dirty="0"/>
          </a:p>
        </p:txBody>
      </p:sp>
      <p:sp>
        <p:nvSpPr>
          <p:cNvPr id="215" name="Text 213"/>
          <p:cNvSpPr/>
          <p:nvPr/>
        </p:nvSpPr>
        <p:spPr>
          <a:xfrm>
            <a:off x="1920240" y="6528816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Trading (37) and Portfolio Monitoring (21) are the largest modules. Corporate Actions (4) and Robo Advisory (4) are the leanest — high expansion potential. 0 features live in Corporate Actions.</a:t>
            </a:r>
            <a:endParaRPr lang="en-US" sz="900" dirty="0"/>
          </a:p>
        </p:txBody>
      </p:sp>
      <p:sp>
        <p:nvSpPr>
          <p:cNvPr id="216" name="Shape 214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17" name="Text 215"/>
          <p:cNvSpPr/>
          <p:nvPr/>
        </p:nvSpPr>
        <p:spPr>
          <a:xfrm>
            <a:off x="457200" y="660196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 ·  DIGITAL EXPERIENCE  ·  2026-04-22</a:t>
            </a:r>
            <a:endParaRPr lang="en-US" sz="800" dirty="0"/>
          </a:p>
        </p:txBody>
      </p:sp>
      <p:sp>
        <p:nvSpPr>
          <p:cNvPr id="218" name="Text 216"/>
          <p:cNvSpPr/>
          <p:nvPr/>
        </p:nvSpPr>
        <p:spPr>
          <a:xfrm>
            <a:off x="5333695" y="66019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Features Inventory · 164 features across 12 squads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alrajhi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508760" y="347472"/>
            <a:ext cx="0" cy="384048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INTELLIGENCE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64592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15 Priority Gaps — Ranked by Impact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62895" y="3840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16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868680"/>
            <a:ext cx="1127729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051560"/>
            <a:ext cx="320040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" y="1051560"/>
            <a:ext cx="210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777240" y="1051560"/>
            <a:ext cx="3200400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2104" y="1051560"/>
            <a:ext cx="3090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Feature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977640" y="1051560"/>
            <a:ext cx="594360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32504" y="1051560"/>
            <a:ext cx="484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572000" y="1051560"/>
            <a:ext cx="2011680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26864" y="1051560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583680" y="1051560"/>
            <a:ext cx="5120640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38544" y="1051560"/>
            <a:ext cx="5010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Competitors With It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7200" y="1380744"/>
            <a:ext cx="320040" cy="329184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" y="1380744"/>
            <a:ext cx="210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77240" y="1380744"/>
            <a:ext cx="3200400" cy="329184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2104" y="1380744"/>
            <a:ext cx="3090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 Market Depth / Order Book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977640" y="1380744"/>
            <a:ext cx="594360" cy="329184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32504" y="1380744"/>
            <a:ext cx="484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25/25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0" y="1380744"/>
            <a:ext cx="2011680" cy="329184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26864" y="1380744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/ US Trading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583680" y="1380744"/>
            <a:ext cx="5120640" cy="329184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38544" y="1380744"/>
            <a:ext cx="5010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Moomoo, Derayah, Alinma, IBKR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57200" y="1709928"/>
            <a:ext cx="320040" cy="329184"/>
          </a:xfrm>
          <a:prstGeom prst="rect">
            <a:avLst/>
          </a:prstGeom>
          <a:solidFill>
            <a:srgbClr val="FEE2E2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" y="1709928"/>
            <a:ext cx="210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777240" y="1709928"/>
            <a:ext cx="3200400" cy="329184"/>
          </a:xfrm>
          <a:prstGeom prst="rect">
            <a:avLst/>
          </a:prstGeom>
          <a:solidFill>
            <a:srgbClr val="FEE2E2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2104" y="1709928"/>
            <a:ext cx="3090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Screener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977640" y="1709928"/>
            <a:ext cx="594360" cy="329184"/>
          </a:xfrm>
          <a:prstGeom prst="rect">
            <a:avLst/>
          </a:prstGeom>
          <a:solidFill>
            <a:srgbClr val="FEE2E2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032504" y="1709928"/>
            <a:ext cx="484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25/25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0" y="1709928"/>
            <a:ext cx="2011680" cy="329184"/>
          </a:xfrm>
          <a:prstGeom prst="rect">
            <a:avLst/>
          </a:prstGeom>
          <a:solidFill>
            <a:srgbClr val="FEE2E2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26864" y="1709928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/ US Trading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583680" y="1709928"/>
            <a:ext cx="5120640" cy="329184"/>
          </a:xfrm>
          <a:prstGeom prst="rect">
            <a:avLst/>
          </a:prstGeom>
          <a:solidFill>
            <a:srgbClr val="FEE2E2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38544" y="1709928"/>
            <a:ext cx="5010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Moomoo, Investing.com, Derayah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57200" y="2039112"/>
            <a:ext cx="320040" cy="329184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2064" y="2039112"/>
            <a:ext cx="210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777240" y="2039112"/>
            <a:ext cx="3200400" cy="329184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32104" y="2039112"/>
            <a:ext cx="3090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Pre/Post-Market Trading (US)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977640" y="2039112"/>
            <a:ext cx="594360" cy="329184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032504" y="2039112"/>
            <a:ext cx="484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25/25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572000" y="2039112"/>
            <a:ext cx="2011680" cy="329184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626864" y="2039112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Trading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583680" y="2039112"/>
            <a:ext cx="5120640" cy="329184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638544" y="2039112"/>
            <a:ext cx="5010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Moomoo, Robinhood, IBKR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57200" y="2368296"/>
            <a:ext cx="320040" cy="329184"/>
          </a:xfrm>
          <a:prstGeom prst="rect">
            <a:avLst/>
          </a:prstGeom>
          <a:solidFill>
            <a:srgbClr val="FEE2E2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12064" y="2368296"/>
            <a:ext cx="210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777240" y="2368296"/>
            <a:ext cx="3200400" cy="329184"/>
          </a:xfrm>
          <a:prstGeom prst="rect">
            <a:avLst/>
          </a:prstGeom>
          <a:solidFill>
            <a:srgbClr val="FEE2E2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32104" y="2368296"/>
            <a:ext cx="3090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Technical Analysis Suite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3977640" y="2368296"/>
            <a:ext cx="594360" cy="329184"/>
          </a:xfrm>
          <a:prstGeom prst="rect">
            <a:avLst/>
          </a:prstGeom>
          <a:solidFill>
            <a:srgbClr val="FEE2E2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032504" y="2368296"/>
            <a:ext cx="484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25/25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572000" y="2368296"/>
            <a:ext cx="2011680" cy="329184"/>
          </a:xfrm>
          <a:prstGeom prst="rect">
            <a:avLst/>
          </a:prstGeom>
          <a:solidFill>
            <a:srgbClr val="FEE2E2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626864" y="2368296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/ US Trading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6583680" y="2368296"/>
            <a:ext cx="5120640" cy="329184"/>
          </a:xfrm>
          <a:prstGeom prst="rect">
            <a:avLst/>
          </a:prstGeom>
          <a:solidFill>
            <a:srgbClr val="FEE2E2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638544" y="2368296"/>
            <a:ext cx="5010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Moomoo, TradingView, thinkorswim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457200" y="2697480"/>
            <a:ext cx="320040" cy="329184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12064" y="2697480"/>
            <a:ext cx="210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777240" y="2697480"/>
            <a:ext cx="3200400" cy="329184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32104" y="2697480"/>
            <a:ext cx="3090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Comparison Tool (Multi-Stock)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3977640" y="2697480"/>
            <a:ext cx="594360" cy="329184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032504" y="2697480"/>
            <a:ext cx="484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20/25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572000" y="2697480"/>
            <a:ext cx="2011680" cy="329184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626864" y="2697480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/ US Trading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6583680" y="2697480"/>
            <a:ext cx="5120640" cy="329184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638544" y="2697480"/>
            <a:ext cx="5010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Moomoo (6), Derayah (2)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457200" y="3026664"/>
            <a:ext cx="320040" cy="329184"/>
          </a:xfrm>
          <a:prstGeom prst="rect">
            <a:avLst/>
          </a:prstGeom>
          <a:solidFill>
            <a:srgbClr val="FEE2E2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12064" y="3026664"/>
            <a:ext cx="210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777240" y="3026664"/>
            <a:ext cx="3200400" cy="329184"/>
          </a:xfrm>
          <a:prstGeom prst="rect">
            <a:avLst/>
          </a:prstGeom>
          <a:solidFill>
            <a:srgbClr val="FEE2E2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32104" y="3026664"/>
            <a:ext cx="3090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Assistant / AI Chat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3977640" y="3026664"/>
            <a:ext cx="594360" cy="329184"/>
          </a:xfrm>
          <a:prstGeom prst="rect">
            <a:avLst/>
          </a:prstGeom>
          <a:solidFill>
            <a:srgbClr val="FEE2E2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032504" y="3026664"/>
            <a:ext cx="484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20/25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4572000" y="3026664"/>
            <a:ext cx="2011680" cy="329184"/>
          </a:xfrm>
          <a:prstGeom prst="rect">
            <a:avLst/>
          </a:prstGeom>
          <a:solidFill>
            <a:srgbClr val="FEE2E2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626864" y="3026664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Trading / Cross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6583680" y="3026664"/>
            <a:ext cx="5120640" cy="329184"/>
          </a:xfrm>
          <a:prstGeom prst="rect">
            <a:avLst/>
          </a:prstGeom>
          <a:solidFill>
            <a:srgbClr val="FEE2E2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638544" y="3026664"/>
            <a:ext cx="5010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Moomoo AI, US competitors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457200" y="3355848"/>
            <a:ext cx="320040" cy="329184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12064" y="3355848"/>
            <a:ext cx="210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777240" y="3355848"/>
            <a:ext cx="3200400" cy="329184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832104" y="3355848"/>
            <a:ext cx="3090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Trading / Simulated Mode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3977640" y="3355848"/>
            <a:ext cx="594360" cy="329184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032504" y="3355848"/>
            <a:ext cx="484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20/25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4572000" y="3355848"/>
            <a:ext cx="2011680" cy="329184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626864" y="3355848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Cross-Journey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6583680" y="3355848"/>
            <a:ext cx="5120640" cy="329184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638544" y="3355848"/>
            <a:ext cx="5010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Moomoo, Derayah Smart, Sahm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457200" y="3685032"/>
            <a:ext cx="320040" cy="329184"/>
          </a:xfrm>
          <a:prstGeom prst="rect">
            <a:avLst/>
          </a:prstGeom>
          <a:solidFill>
            <a:srgbClr val="FEE2E2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12064" y="3685032"/>
            <a:ext cx="210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777240" y="3685032"/>
            <a:ext cx="3200400" cy="329184"/>
          </a:xfrm>
          <a:prstGeom prst="rect">
            <a:avLst/>
          </a:prstGeom>
          <a:solidFill>
            <a:srgbClr val="FEE2E2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832104" y="3685032"/>
            <a:ext cx="3090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Fractional Shares (US)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3977640" y="3685032"/>
            <a:ext cx="594360" cy="329184"/>
          </a:xfrm>
          <a:prstGeom prst="rect">
            <a:avLst/>
          </a:prstGeom>
          <a:solidFill>
            <a:srgbClr val="FEE2E2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032504" y="3685032"/>
            <a:ext cx="484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20/25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4572000" y="3685032"/>
            <a:ext cx="2011680" cy="329184"/>
          </a:xfrm>
          <a:prstGeom prst="rect">
            <a:avLst/>
          </a:prstGeom>
          <a:solidFill>
            <a:srgbClr val="FEE2E2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626864" y="3685032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Trading</a:t>
            </a:r>
            <a:endParaRPr lang="en-US" sz="850" dirty="0"/>
          </a:p>
        </p:txBody>
      </p:sp>
      <p:sp>
        <p:nvSpPr>
          <p:cNvPr id="97" name="Shape 95"/>
          <p:cNvSpPr/>
          <p:nvPr/>
        </p:nvSpPr>
        <p:spPr>
          <a:xfrm>
            <a:off x="6583680" y="3685032"/>
            <a:ext cx="5120640" cy="329184"/>
          </a:xfrm>
          <a:prstGeom prst="rect">
            <a:avLst/>
          </a:prstGeom>
          <a:solidFill>
            <a:srgbClr val="FEE2E2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6638544" y="3685032"/>
            <a:ext cx="5010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Moomoo, Robinhood, IBKR</a:t>
            </a:r>
            <a:endParaRPr lang="en-US" sz="850" dirty="0"/>
          </a:p>
        </p:txBody>
      </p:sp>
      <p:sp>
        <p:nvSpPr>
          <p:cNvPr id="99" name="Shape 97"/>
          <p:cNvSpPr/>
          <p:nvPr/>
        </p:nvSpPr>
        <p:spPr>
          <a:xfrm>
            <a:off x="457200" y="4014216"/>
            <a:ext cx="320040" cy="329184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512064" y="4014216"/>
            <a:ext cx="210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  <p:sp>
        <p:nvSpPr>
          <p:cNvPr id="101" name="Shape 99"/>
          <p:cNvSpPr/>
          <p:nvPr/>
        </p:nvSpPr>
        <p:spPr>
          <a:xfrm>
            <a:off x="777240" y="4014216"/>
            <a:ext cx="3200400" cy="329184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832104" y="4014216"/>
            <a:ext cx="3090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/ Community Feed</a:t>
            </a:r>
            <a:endParaRPr lang="en-US" sz="850" dirty="0"/>
          </a:p>
        </p:txBody>
      </p:sp>
      <p:sp>
        <p:nvSpPr>
          <p:cNvPr id="103" name="Shape 101"/>
          <p:cNvSpPr/>
          <p:nvPr/>
        </p:nvSpPr>
        <p:spPr>
          <a:xfrm>
            <a:off x="3977640" y="4014216"/>
            <a:ext cx="594360" cy="329184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4032504" y="4014216"/>
            <a:ext cx="484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20/25</a:t>
            </a:r>
            <a:endParaRPr lang="en-US" sz="900" dirty="0"/>
          </a:p>
        </p:txBody>
      </p:sp>
      <p:sp>
        <p:nvSpPr>
          <p:cNvPr id="105" name="Shape 103"/>
          <p:cNvSpPr/>
          <p:nvPr/>
        </p:nvSpPr>
        <p:spPr>
          <a:xfrm>
            <a:off x="4572000" y="4014216"/>
            <a:ext cx="2011680" cy="329184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4626864" y="4014216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Engagement</a:t>
            </a:r>
            <a:endParaRPr lang="en-US" sz="850" dirty="0"/>
          </a:p>
        </p:txBody>
      </p:sp>
      <p:sp>
        <p:nvSpPr>
          <p:cNvPr id="107" name="Shape 105"/>
          <p:cNvSpPr/>
          <p:nvPr/>
        </p:nvSpPr>
        <p:spPr>
          <a:xfrm>
            <a:off x="6583680" y="4014216"/>
            <a:ext cx="5120640" cy="329184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6638544" y="4014216"/>
            <a:ext cx="5010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Moomoo, Sahm</a:t>
            </a:r>
            <a:endParaRPr lang="en-US" sz="850" dirty="0"/>
          </a:p>
        </p:txBody>
      </p:sp>
      <p:sp>
        <p:nvSpPr>
          <p:cNvPr id="109" name="Shape 107"/>
          <p:cNvSpPr/>
          <p:nvPr/>
        </p:nvSpPr>
        <p:spPr>
          <a:xfrm>
            <a:off x="457200" y="4343400"/>
            <a:ext cx="320040" cy="329184"/>
          </a:xfrm>
          <a:prstGeom prst="rect">
            <a:avLst/>
          </a:prstGeom>
          <a:solidFill>
            <a:srgbClr val="FEE2E2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512064" y="4343400"/>
            <a:ext cx="210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  <p:sp>
        <p:nvSpPr>
          <p:cNvPr id="111" name="Shape 109"/>
          <p:cNvSpPr/>
          <p:nvPr/>
        </p:nvSpPr>
        <p:spPr>
          <a:xfrm>
            <a:off x="777240" y="4343400"/>
            <a:ext cx="3200400" cy="329184"/>
          </a:xfrm>
          <a:prstGeom prst="rect">
            <a:avLst/>
          </a:prstGeom>
          <a:solidFill>
            <a:srgbClr val="FEE2E2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832104" y="4343400"/>
            <a:ext cx="3090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Orders — Full BRD (Saudi)</a:t>
            </a:r>
            <a:endParaRPr lang="en-US" sz="850" dirty="0"/>
          </a:p>
        </p:txBody>
      </p:sp>
      <p:sp>
        <p:nvSpPr>
          <p:cNvPr id="113" name="Shape 111"/>
          <p:cNvSpPr/>
          <p:nvPr/>
        </p:nvSpPr>
        <p:spPr>
          <a:xfrm>
            <a:off x="3977640" y="4343400"/>
            <a:ext cx="594360" cy="329184"/>
          </a:xfrm>
          <a:prstGeom prst="rect">
            <a:avLst/>
          </a:prstGeom>
          <a:solidFill>
            <a:srgbClr val="FEE2E2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4032504" y="4343400"/>
            <a:ext cx="484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20/25</a:t>
            </a:r>
            <a:endParaRPr lang="en-US" sz="900" dirty="0"/>
          </a:p>
        </p:txBody>
      </p:sp>
      <p:sp>
        <p:nvSpPr>
          <p:cNvPr id="115" name="Shape 113"/>
          <p:cNvSpPr/>
          <p:nvPr/>
        </p:nvSpPr>
        <p:spPr>
          <a:xfrm>
            <a:off x="4572000" y="4343400"/>
            <a:ext cx="2011680" cy="329184"/>
          </a:xfrm>
          <a:prstGeom prst="rect">
            <a:avLst/>
          </a:prstGeom>
          <a:solidFill>
            <a:srgbClr val="FEE2E2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4626864" y="4343400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Trading</a:t>
            </a:r>
            <a:endParaRPr lang="en-US" sz="850" dirty="0"/>
          </a:p>
        </p:txBody>
      </p:sp>
      <p:sp>
        <p:nvSpPr>
          <p:cNvPr id="117" name="Shape 115"/>
          <p:cNvSpPr/>
          <p:nvPr/>
        </p:nvSpPr>
        <p:spPr>
          <a:xfrm>
            <a:off x="6583680" y="4343400"/>
            <a:ext cx="5120640" cy="329184"/>
          </a:xfrm>
          <a:prstGeom prst="rect">
            <a:avLst/>
          </a:prstGeom>
          <a:solidFill>
            <a:srgbClr val="FEE2E2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6638544" y="4343400"/>
            <a:ext cx="5010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Derayah, AlJazira, Sahm</a:t>
            </a:r>
            <a:endParaRPr lang="en-US" sz="850" dirty="0"/>
          </a:p>
        </p:txBody>
      </p:sp>
      <p:sp>
        <p:nvSpPr>
          <p:cNvPr id="119" name="Shape 117"/>
          <p:cNvSpPr/>
          <p:nvPr/>
        </p:nvSpPr>
        <p:spPr>
          <a:xfrm>
            <a:off x="457200" y="4672584"/>
            <a:ext cx="320040" cy="329184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512064" y="4672584"/>
            <a:ext cx="210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  <p:sp>
        <p:nvSpPr>
          <p:cNvPr id="121" name="Shape 119"/>
          <p:cNvSpPr/>
          <p:nvPr/>
        </p:nvSpPr>
        <p:spPr>
          <a:xfrm>
            <a:off x="777240" y="4672584"/>
            <a:ext cx="3200400" cy="329184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832104" y="4672584"/>
            <a:ext cx="3090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Events Calendar</a:t>
            </a:r>
            <a:endParaRPr lang="en-US" sz="850" dirty="0"/>
          </a:p>
        </p:txBody>
      </p:sp>
      <p:sp>
        <p:nvSpPr>
          <p:cNvPr id="123" name="Shape 121"/>
          <p:cNvSpPr/>
          <p:nvPr/>
        </p:nvSpPr>
        <p:spPr>
          <a:xfrm>
            <a:off x="3977640" y="4672584"/>
            <a:ext cx="594360" cy="329184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4032504" y="4672584"/>
            <a:ext cx="484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20/25</a:t>
            </a:r>
            <a:endParaRPr lang="en-US" sz="900" dirty="0"/>
          </a:p>
        </p:txBody>
      </p:sp>
      <p:sp>
        <p:nvSpPr>
          <p:cNvPr id="125" name="Shape 123"/>
          <p:cNvSpPr/>
          <p:nvPr/>
        </p:nvSpPr>
        <p:spPr>
          <a:xfrm>
            <a:off x="4572000" y="4672584"/>
            <a:ext cx="2011680" cy="329184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4626864" y="4672584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/ US Trading</a:t>
            </a:r>
            <a:endParaRPr lang="en-US" sz="850" dirty="0"/>
          </a:p>
        </p:txBody>
      </p:sp>
      <p:sp>
        <p:nvSpPr>
          <p:cNvPr id="127" name="Shape 125"/>
          <p:cNvSpPr/>
          <p:nvPr/>
        </p:nvSpPr>
        <p:spPr>
          <a:xfrm>
            <a:off x="6583680" y="4672584"/>
            <a:ext cx="5120640" cy="329184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6638544" y="4672584"/>
            <a:ext cx="5010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Sahm</a:t>
            </a:r>
            <a:endParaRPr lang="en-US" sz="850" dirty="0"/>
          </a:p>
        </p:txBody>
      </p:sp>
      <p:sp>
        <p:nvSpPr>
          <p:cNvPr id="129" name="Shape 127"/>
          <p:cNvSpPr/>
          <p:nvPr/>
        </p:nvSpPr>
        <p:spPr>
          <a:xfrm>
            <a:off x="457200" y="5001768"/>
            <a:ext cx="320040" cy="329184"/>
          </a:xfrm>
          <a:prstGeom prst="rect">
            <a:avLst/>
          </a:prstGeom>
          <a:solidFill>
            <a:srgbClr val="FEE2E2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512064" y="5001768"/>
            <a:ext cx="210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  <p:sp>
        <p:nvSpPr>
          <p:cNvPr id="131" name="Shape 129"/>
          <p:cNvSpPr/>
          <p:nvPr/>
        </p:nvSpPr>
        <p:spPr>
          <a:xfrm>
            <a:off x="777240" y="5001768"/>
            <a:ext cx="3200400" cy="329184"/>
          </a:xfrm>
          <a:prstGeom prst="rect">
            <a:avLst/>
          </a:prstGeom>
          <a:solidFill>
            <a:srgbClr val="FEE2E2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832104" y="5001768"/>
            <a:ext cx="3090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Funds / PE Access</a:t>
            </a:r>
            <a:endParaRPr lang="en-US" sz="850" dirty="0"/>
          </a:p>
        </p:txBody>
      </p:sp>
      <p:sp>
        <p:nvSpPr>
          <p:cNvPr id="133" name="Shape 131"/>
          <p:cNvSpPr/>
          <p:nvPr/>
        </p:nvSpPr>
        <p:spPr>
          <a:xfrm>
            <a:off x="3977640" y="5001768"/>
            <a:ext cx="594360" cy="329184"/>
          </a:xfrm>
          <a:prstGeom prst="rect">
            <a:avLst/>
          </a:prstGeom>
          <a:solidFill>
            <a:srgbClr val="FEE2E2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4032504" y="5001768"/>
            <a:ext cx="484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20/25</a:t>
            </a:r>
            <a:endParaRPr lang="en-US" sz="900" dirty="0"/>
          </a:p>
        </p:txBody>
      </p:sp>
      <p:sp>
        <p:nvSpPr>
          <p:cNvPr id="135" name="Shape 133"/>
          <p:cNvSpPr/>
          <p:nvPr/>
        </p:nvSpPr>
        <p:spPr>
          <a:xfrm>
            <a:off x="4572000" y="5001768"/>
            <a:ext cx="2011680" cy="329184"/>
          </a:xfrm>
          <a:prstGeom prst="rect">
            <a:avLst/>
          </a:prstGeom>
          <a:solidFill>
            <a:srgbClr val="FEE2E2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4626864" y="5001768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Funds</a:t>
            </a:r>
            <a:endParaRPr lang="en-US" sz="850" dirty="0"/>
          </a:p>
        </p:txBody>
      </p:sp>
      <p:sp>
        <p:nvSpPr>
          <p:cNvPr id="137" name="Shape 135"/>
          <p:cNvSpPr/>
          <p:nvPr/>
        </p:nvSpPr>
        <p:spPr>
          <a:xfrm>
            <a:off x="6583680" y="5001768"/>
            <a:ext cx="5120640" cy="329184"/>
          </a:xfrm>
          <a:prstGeom prst="rect">
            <a:avLst/>
          </a:prstGeom>
          <a:solidFill>
            <a:srgbClr val="FEE2E2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6638544" y="5001768"/>
            <a:ext cx="5010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AlJazira, Derayah</a:t>
            </a:r>
            <a:endParaRPr lang="en-US" sz="850" dirty="0"/>
          </a:p>
        </p:txBody>
      </p:sp>
      <p:sp>
        <p:nvSpPr>
          <p:cNvPr id="139" name="Shape 137"/>
          <p:cNvSpPr/>
          <p:nvPr/>
        </p:nvSpPr>
        <p:spPr>
          <a:xfrm>
            <a:off x="457200" y="5330952"/>
            <a:ext cx="320040" cy="329184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512064" y="5330952"/>
            <a:ext cx="210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  <p:sp>
        <p:nvSpPr>
          <p:cNvPr id="141" name="Shape 139"/>
          <p:cNvSpPr/>
          <p:nvPr/>
        </p:nvSpPr>
        <p:spPr>
          <a:xfrm>
            <a:off x="777240" y="5330952"/>
            <a:ext cx="3200400" cy="329184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832104" y="5330952"/>
            <a:ext cx="3090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Liquidity / Money Flow Tracking</a:t>
            </a:r>
            <a:endParaRPr lang="en-US" sz="850" dirty="0"/>
          </a:p>
        </p:txBody>
      </p:sp>
      <p:sp>
        <p:nvSpPr>
          <p:cNvPr id="143" name="Shape 141"/>
          <p:cNvSpPr/>
          <p:nvPr/>
        </p:nvSpPr>
        <p:spPr>
          <a:xfrm>
            <a:off x="3977640" y="5330952"/>
            <a:ext cx="594360" cy="329184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4032504" y="5330952"/>
            <a:ext cx="484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20/25</a:t>
            </a:r>
            <a:endParaRPr lang="en-US" sz="900" dirty="0"/>
          </a:p>
        </p:txBody>
      </p:sp>
      <p:sp>
        <p:nvSpPr>
          <p:cNvPr id="145" name="Shape 143"/>
          <p:cNvSpPr/>
          <p:nvPr/>
        </p:nvSpPr>
        <p:spPr>
          <a:xfrm>
            <a:off x="4572000" y="5330952"/>
            <a:ext cx="2011680" cy="329184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4626864" y="5330952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/ US Trading</a:t>
            </a:r>
            <a:endParaRPr lang="en-US" sz="850" dirty="0"/>
          </a:p>
        </p:txBody>
      </p:sp>
      <p:sp>
        <p:nvSpPr>
          <p:cNvPr id="147" name="Shape 145"/>
          <p:cNvSpPr/>
          <p:nvPr/>
        </p:nvSpPr>
        <p:spPr>
          <a:xfrm>
            <a:off x="6583680" y="5330952"/>
            <a:ext cx="5120640" cy="329184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6638544" y="5330952"/>
            <a:ext cx="5010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Moomoo, Sahm</a:t>
            </a:r>
            <a:endParaRPr lang="en-US" sz="850" dirty="0"/>
          </a:p>
        </p:txBody>
      </p:sp>
      <p:sp>
        <p:nvSpPr>
          <p:cNvPr id="149" name="Shape 147"/>
          <p:cNvSpPr/>
          <p:nvPr/>
        </p:nvSpPr>
        <p:spPr>
          <a:xfrm>
            <a:off x="457200" y="5660136"/>
            <a:ext cx="320040" cy="329184"/>
          </a:xfrm>
          <a:prstGeom prst="rect">
            <a:avLst/>
          </a:prstGeom>
          <a:solidFill>
            <a:srgbClr val="FEE2E2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512064" y="5660136"/>
            <a:ext cx="210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  <p:sp>
        <p:nvSpPr>
          <p:cNvPr id="151" name="Shape 149"/>
          <p:cNvSpPr/>
          <p:nvPr/>
        </p:nvSpPr>
        <p:spPr>
          <a:xfrm>
            <a:off x="777240" y="5660136"/>
            <a:ext cx="3200400" cy="329184"/>
          </a:xfrm>
          <a:prstGeom prst="rect">
            <a:avLst/>
          </a:prstGeom>
          <a:solidFill>
            <a:srgbClr val="FEE2E2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832104" y="5660136"/>
            <a:ext cx="3090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for Mutual Funds</a:t>
            </a:r>
            <a:endParaRPr lang="en-US" sz="850" dirty="0"/>
          </a:p>
        </p:txBody>
      </p:sp>
      <p:sp>
        <p:nvSpPr>
          <p:cNvPr id="153" name="Shape 151"/>
          <p:cNvSpPr/>
          <p:nvPr/>
        </p:nvSpPr>
        <p:spPr>
          <a:xfrm>
            <a:off x="3977640" y="5660136"/>
            <a:ext cx="594360" cy="329184"/>
          </a:xfrm>
          <a:prstGeom prst="rect">
            <a:avLst/>
          </a:prstGeom>
          <a:solidFill>
            <a:srgbClr val="FEE2E2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4032504" y="5660136"/>
            <a:ext cx="484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20/25</a:t>
            </a:r>
            <a:endParaRPr lang="en-US" sz="900" dirty="0"/>
          </a:p>
        </p:txBody>
      </p:sp>
      <p:sp>
        <p:nvSpPr>
          <p:cNvPr id="155" name="Shape 153"/>
          <p:cNvSpPr/>
          <p:nvPr/>
        </p:nvSpPr>
        <p:spPr>
          <a:xfrm>
            <a:off x="4572000" y="5660136"/>
            <a:ext cx="2011680" cy="329184"/>
          </a:xfrm>
          <a:prstGeom prst="rect">
            <a:avLst/>
          </a:prstGeom>
          <a:solidFill>
            <a:srgbClr val="FEE2E2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4626864" y="5660136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Funds / Robo</a:t>
            </a:r>
            <a:endParaRPr lang="en-US" sz="850" dirty="0"/>
          </a:p>
        </p:txBody>
      </p:sp>
      <p:sp>
        <p:nvSpPr>
          <p:cNvPr id="157" name="Shape 155"/>
          <p:cNvSpPr/>
          <p:nvPr/>
        </p:nvSpPr>
        <p:spPr>
          <a:xfrm>
            <a:off x="6583680" y="5660136"/>
            <a:ext cx="5120640" cy="329184"/>
          </a:xfrm>
          <a:prstGeom prst="rect">
            <a:avLst/>
          </a:prstGeom>
          <a:solidFill>
            <a:srgbClr val="FEE2E2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6638544" y="5660136"/>
            <a:ext cx="5010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AlJazira, Derayah Smart</a:t>
            </a:r>
            <a:endParaRPr lang="en-US" sz="850" dirty="0"/>
          </a:p>
        </p:txBody>
      </p:sp>
      <p:sp>
        <p:nvSpPr>
          <p:cNvPr id="159" name="Shape 157"/>
          <p:cNvSpPr/>
          <p:nvPr/>
        </p:nvSpPr>
        <p:spPr>
          <a:xfrm>
            <a:off x="457200" y="5989320"/>
            <a:ext cx="320040" cy="329184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512064" y="5989320"/>
            <a:ext cx="210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  <p:sp>
        <p:nvSpPr>
          <p:cNvPr id="161" name="Shape 159"/>
          <p:cNvSpPr/>
          <p:nvPr/>
        </p:nvSpPr>
        <p:spPr>
          <a:xfrm>
            <a:off x="777240" y="5989320"/>
            <a:ext cx="3200400" cy="329184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832104" y="5989320"/>
            <a:ext cx="3090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/ Loss Tax Report</a:t>
            </a:r>
            <a:endParaRPr lang="en-US" sz="850" dirty="0"/>
          </a:p>
        </p:txBody>
      </p:sp>
      <p:sp>
        <p:nvSpPr>
          <p:cNvPr id="163" name="Shape 161"/>
          <p:cNvSpPr/>
          <p:nvPr/>
        </p:nvSpPr>
        <p:spPr>
          <a:xfrm>
            <a:off x="3977640" y="5989320"/>
            <a:ext cx="594360" cy="329184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4032504" y="5989320"/>
            <a:ext cx="484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20/25</a:t>
            </a:r>
            <a:endParaRPr lang="en-US" sz="900" dirty="0"/>
          </a:p>
        </p:txBody>
      </p:sp>
      <p:sp>
        <p:nvSpPr>
          <p:cNvPr id="165" name="Shape 163"/>
          <p:cNvSpPr/>
          <p:nvPr/>
        </p:nvSpPr>
        <p:spPr>
          <a:xfrm>
            <a:off x="4572000" y="5989320"/>
            <a:ext cx="2011680" cy="329184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4626864" y="5989320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Monitoring</a:t>
            </a:r>
            <a:endParaRPr lang="en-US" sz="850" dirty="0"/>
          </a:p>
        </p:txBody>
      </p:sp>
      <p:sp>
        <p:nvSpPr>
          <p:cNvPr id="167" name="Shape 165"/>
          <p:cNvSpPr/>
          <p:nvPr/>
        </p:nvSpPr>
        <p:spPr>
          <a:xfrm>
            <a:off x="6583680" y="5989320"/>
            <a:ext cx="5120640" cy="329184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6638544" y="5989320"/>
            <a:ext cx="5010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Derayah, Saudi competitors</a:t>
            </a:r>
            <a:endParaRPr lang="en-US" sz="850" dirty="0"/>
          </a:p>
        </p:txBody>
      </p:sp>
      <p:sp>
        <p:nvSpPr>
          <p:cNvPr id="169" name="Text 167"/>
          <p:cNvSpPr/>
          <p:nvPr/>
        </p:nvSpPr>
        <p:spPr>
          <a:xfrm>
            <a:off x="457200" y="645566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Score = Competitive Pressure (1-5)  ×  Investor Demand (1-5)  ·  Max: 25</a:t>
            </a:r>
            <a:endParaRPr lang="en-US" sz="850" dirty="0"/>
          </a:p>
        </p:txBody>
      </p:sp>
      <p:sp>
        <p:nvSpPr>
          <p:cNvPr id="170" name="Shape 168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457200" y="660196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 ·  DIGITAL EXPERIENCE  ·  2026-04-22</a:t>
            </a:r>
            <a:endParaRPr lang="en-US" sz="800" dirty="0"/>
          </a:p>
        </p:txBody>
      </p:sp>
      <p:sp>
        <p:nvSpPr>
          <p:cNvPr id="172" name="Text 170"/>
          <p:cNvSpPr/>
          <p:nvPr/>
        </p:nvSpPr>
        <p:spPr>
          <a:xfrm>
            <a:off x="5333695" y="66019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Competitor Gap Matrix · 10+ benchmarks · Moomoo, Derayah, AlJazira, Sahm, Investing.com, IBKR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alrajhi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508760" y="347472"/>
            <a:ext cx="0" cy="384048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INTELLIGENCE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64592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Distribution by Squad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62895" y="3840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16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868680"/>
            <a:ext cx="1127729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1887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Trading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51760" y="1243584"/>
            <a:ext cx="5029200" cy="219456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51760" y="1243584"/>
            <a:ext cx="5029200" cy="21945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18120" y="11887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75320" y="11887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Top: 25/25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7200" y="162763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Trading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651760" y="1682496"/>
            <a:ext cx="5029200" cy="219456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51760" y="1682496"/>
            <a:ext cx="3688080" cy="21945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77000" y="162763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934200" y="162763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Top: 25/25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57200" y="206654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651760" y="2121408"/>
            <a:ext cx="5029200" cy="219456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51760" y="2121408"/>
            <a:ext cx="1676400" cy="219456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65320" y="206654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22520" y="206654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Top: 20/25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57200" y="250545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Monitoring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651760" y="2560320"/>
            <a:ext cx="5029200" cy="219456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51760" y="2560320"/>
            <a:ext cx="1341120" cy="219456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30040" y="250545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87240" y="250545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Top: 20/25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57200" y="294436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 Advisory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651760" y="2999232"/>
            <a:ext cx="5029200" cy="219456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651760" y="2999232"/>
            <a:ext cx="1341120" cy="219456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30040" y="294436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87240" y="294436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Top: 15/25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57200" y="33832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651760" y="3438144"/>
            <a:ext cx="5029200" cy="219456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651760" y="3438144"/>
            <a:ext cx="1005840" cy="219456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94760" y="33832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7200" y="382219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Engagement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651760" y="3877056"/>
            <a:ext cx="5029200" cy="219456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651760" y="3877056"/>
            <a:ext cx="1005840" cy="219456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794760" y="382219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251960" y="382219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Top: 20/25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57200" y="426110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IPOs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651760" y="4315968"/>
            <a:ext cx="5029200" cy="219456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651760" y="4315968"/>
            <a:ext cx="670560" cy="219456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59480" y="426110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57200" y="470001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Cross-Journey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651760" y="4754880"/>
            <a:ext cx="5029200" cy="219456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651760" y="4754880"/>
            <a:ext cx="335280" cy="219456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124200" y="470001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3581400" y="470001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Top: 16/25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57200" y="513892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 Visibility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2651760" y="5193792"/>
            <a:ext cx="5029200" cy="219456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651760" y="5193792"/>
            <a:ext cx="335280" cy="219456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124200" y="513892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57200" y="55778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Actions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2651760" y="5632704"/>
            <a:ext cx="5029200" cy="219456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651760" y="5632704"/>
            <a:ext cx="335280" cy="219456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124200" y="55778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8229600" y="1188720"/>
            <a:ext cx="3474720" cy="41148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8412480" y="1280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Gaps (Sahm Analysis)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8412480" y="15727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additional gaps identified from International Brokerage gap analysis (March 2026)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8412480" y="205740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G-52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8915400" y="20574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for Intra-Day Prices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10972800" y="20574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8412480" y="240487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G-54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8915400" y="24048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US Stock Inventory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10972800" y="240487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8412480" y="275234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G-56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8915400" y="275234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 Live Price View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10972800" y="275234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8412480" y="309981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G-57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8915400" y="30998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Live Index Prices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10972800" y="3099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8412480" y="344728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G-59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8915400" y="34472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Events Calendar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10972800" y="34472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8412480" y="379476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G-61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8915400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Trade Button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10972800" y="379476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8412480" y="414223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G-62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8915400" y="41422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Tab-Based Navigation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10972800" y="414223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457200" y="5577840"/>
            <a:ext cx="11277295" cy="640080"/>
          </a:xfrm>
          <a:prstGeom prst="roundRect">
            <a:avLst>
              <a:gd name="adj" fmla="val 11429"/>
            </a:avLst>
          </a:prstGeom>
          <a:solidFill>
            <a:srgbClr val="FEE2E2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85" name="Shape 83"/>
          <p:cNvSpPr/>
          <p:nvPr/>
        </p:nvSpPr>
        <p:spPr>
          <a:xfrm>
            <a:off x="640080" y="5650992"/>
            <a:ext cx="914400" cy="237744"/>
          </a:xfrm>
          <a:prstGeom prst="roundRect">
            <a:avLst>
              <a:gd name="adj" fmla="val 11538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40080" y="565099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1737360" y="5596128"/>
            <a:ext cx="9784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Trading and Saudi Trading account for 54% of all gaps (26 of 48 original + 14 of 15 Sahm gaps). These two squads face the highest competitive pressure and need the most feature investment.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57200" y="660196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 ·  DIGITAL EXPERIENCE  ·  2026-04-22</a:t>
            </a:r>
            <a:endParaRPr lang="en-US" sz="800" dirty="0"/>
          </a:p>
        </p:txBody>
      </p:sp>
      <p:sp>
        <p:nvSpPr>
          <p:cNvPr id="90" name="Text 88"/>
          <p:cNvSpPr/>
          <p:nvPr/>
        </p:nvSpPr>
        <p:spPr>
          <a:xfrm>
            <a:off x="5333695" y="66019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Competitor Gap Matrix + Sahm Int'l Brokerage Analysis · 2026-03-26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alrajhi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508760" y="347472"/>
            <a:ext cx="0" cy="384048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POSITION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64592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Differentiators — 14 Unique Advantages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62895" y="3840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16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868680"/>
            <a:ext cx="1127729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097280"/>
            <a:ext cx="3520440" cy="1097280"/>
          </a:xfrm>
          <a:prstGeom prst="roundRect">
            <a:avLst>
              <a:gd name="adj" fmla="val 6667"/>
            </a:avLst>
          </a:prstGeom>
          <a:solidFill>
            <a:srgbClr val="DCFCE7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66928" y="11887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D-01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66928" y="1371600"/>
            <a:ext cx="3300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Murabaha Margin Lending (Sharia)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66928" y="1691640"/>
            <a:ext cx="3300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Sharia-compliant digital margin — no comparable competitor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251960" y="1097280"/>
            <a:ext cx="3520440" cy="1097280"/>
          </a:xfrm>
          <a:prstGeom prst="roundRect">
            <a:avLst>
              <a:gd name="adj" fmla="val 6667"/>
            </a:avLst>
          </a:prstGeom>
          <a:solidFill>
            <a:srgbClr val="DCFCE7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361688" y="11887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D-02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361688" y="1371600"/>
            <a:ext cx="3300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Purification &amp; Zakat Calculators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361688" y="1691640"/>
            <a:ext cx="3300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religious compliance tools — no competitor offers natively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8046720" y="1097280"/>
            <a:ext cx="3520440" cy="1097280"/>
          </a:xfrm>
          <a:prstGeom prst="roundRect">
            <a:avLst>
              <a:gd name="adj" fmla="val 6667"/>
            </a:avLst>
          </a:prstGeom>
          <a:solidFill>
            <a:srgbClr val="DCFCE7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156448" y="11887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D-03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156448" y="1371600"/>
            <a:ext cx="3300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Account + Guardian Controls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156448" y="1691640"/>
            <a:ext cx="3300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 custodian controls unseen in Saudi retail competitors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57200" y="2423160"/>
            <a:ext cx="3520440" cy="1097280"/>
          </a:xfrm>
          <a:prstGeom prst="roundRect">
            <a:avLst>
              <a:gd name="adj" fmla="val 6667"/>
            </a:avLst>
          </a:prstGeom>
          <a:solidFill>
            <a:srgbClr val="DCFCE7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66928" y="2514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D-04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66928" y="2697480"/>
            <a:ext cx="3300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Mokafaa + ARG Group Bundle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66928" y="3017520"/>
            <a:ext cx="3300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Ecosystem-exclusive loyalty architecture — non-replicable by competitors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251960" y="2423160"/>
            <a:ext cx="3520440" cy="1097280"/>
          </a:xfrm>
          <a:prstGeom prst="roundRect">
            <a:avLst>
              <a:gd name="adj" fmla="val 6667"/>
            </a:avLst>
          </a:prstGeom>
          <a:solidFill>
            <a:srgbClr val="DCFCE7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361688" y="2514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D-05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361688" y="2697480"/>
            <a:ext cx="3300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Storyteller (Narrative Report)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361688" y="3017520"/>
            <a:ext cx="3300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quarterly narrative — no competitor produces this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8046720" y="2423160"/>
            <a:ext cx="3520440" cy="1097280"/>
          </a:xfrm>
          <a:prstGeom prst="roundRect">
            <a:avLst>
              <a:gd name="adj" fmla="val 6667"/>
            </a:avLst>
          </a:prstGeom>
          <a:solidFill>
            <a:srgbClr val="DCFCE7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156448" y="2514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D-06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156448" y="2697480"/>
            <a:ext cx="3300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Shariah Multi-List Selection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156448" y="3017520"/>
            <a:ext cx="3300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+ ARC-specific Shariah lists — more sophisticated than single filter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57200" y="3749040"/>
            <a:ext cx="3520440" cy="1097280"/>
          </a:xfrm>
          <a:prstGeom prst="roundRect">
            <a:avLst>
              <a:gd name="adj" fmla="val 6667"/>
            </a:avLst>
          </a:prstGeom>
          <a:solidFill>
            <a:srgbClr val="DCFCE7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66928" y="38404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D-07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66928" y="4023360"/>
            <a:ext cx="3300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Portfolio Comparison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66928" y="4343400"/>
            <a:ext cx="3300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Anonymized peer benchmarking — Moomoo has community, not peer P&amp;L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251960" y="3749040"/>
            <a:ext cx="3520440" cy="1097280"/>
          </a:xfrm>
          <a:prstGeom prst="roundRect">
            <a:avLst>
              <a:gd name="adj" fmla="val 6667"/>
            </a:avLst>
          </a:prstGeom>
          <a:solidFill>
            <a:srgbClr val="DCFCE7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361688" y="38404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D-08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361688" y="4023360"/>
            <a:ext cx="3300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Health Score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361688" y="4343400"/>
            <a:ext cx="3300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portfolio quality score — not observed in any benchmark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8046720" y="3749040"/>
            <a:ext cx="3520440" cy="1097280"/>
          </a:xfrm>
          <a:prstGeom prst="roundRect">
            <a:avLst>
              <a:gd name="adj" fmla="val 6667"/>
            </a:avLst>
          </a:prstGeom>
          <a:solidFill>
            <a:srgbClr val="DCFCE7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156448" y="38404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D-09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8156448" y="4023360"/>
            <a:ext cx="3300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SBL Program (Lending + Short Selling)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8156448" y="4343400"/>
            <a:ext cx="3300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SBL with Sharia margin integration — not offered by Saudi retail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57200" y="5074920"/>
            <a:ext cx="3520440" cy="1097280"/>
          </a:xfrm>
          <a:prstGeom prst="roundRect">
            <a:avLst>
              <a:gd name="adj" fmla="val 6667"/>
            </a:avLst>
          </a:prstGeom>
          <a:solidFill>
            <a:srgbClr val="DCFCE7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566928" y="51663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D-10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66928" y="5349240"/>
            <a:ext cx="3300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Referral / Gift Campaigns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66928" y="5669280"/>
            <a:ext cx="3300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Date-specific UCM gift campaigns + Mokafaa — unique rewards stack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4251960" y="5074920"/>
            <a:ext cx="3520440" cy="1097280"/>
          </a:xfrm>
          <a:prstGeom prst="roundRect">
            <a:avLst>
              <a:gd name="adj" fmla="val 6667"/>
            </a:avLst>
          </a:prstGeom>
          <a:solidFill>
            <a:srgbClr val="DCFCE7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4361688" y="51663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D-11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361688" y="5349240"/>
            <a:ext cx="3300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Tadawulaty Platform SSO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4361688" y="5669280"/>
            <a:ext cx="3300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Edaa SSO — regulatory infrastructure advantage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8046720" y="5074920"/>
            <a:ext cx="3520440" cy="1097280"/>
          </a:xfrm>
          <a:prstGeom prst="roundRect">
            <a:avLst>
              <a:gd name="adj" fmla="val 6667"/>
            </a:avLst>
          </a:prstGeom>
          <a:solidFill>
            <a:srgbClr val="DCFCE7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8156448" y="51663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D-12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8156448" y="5349240"/>
            <a:ext cx="3300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ZATCA-Compliant E-Invoices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8156448" y="5669280"/>
            <a:ext cx="3300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e-invoices for wallet + purification — regulatory compliance leader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457200" y="5669280"/>
            <a:ext cx="11277295" cy="594360"/>
          </a:xfrm>
          <a:prstGeom prst="roundRect">
            <a:avLst>
              <a:gd name="adj" fmla="val 12308"/>
            </a:avLst>
          </a:prstGeom>
          <a:solidFill>
            <a:srgbClr val="DCFCE7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640080" y="5742432"/>
            <a:ext cx="914400" cy="237744"/>
          </a:xfrm>
          <a:prstGeom prst="roundRect">
            <a:avLst>
              <a:gd name="adj" fmla="val 11538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40080" y="574243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1737360" y="5705856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ARC's moat is Sharia-first financial infrastructure (Murabaha, Purification, Zakat) + Al Rajhi ecosystem integration (Mokafaa, ARG bundles). These are non-replicable by standalone fintech competitors.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57200" y="660196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 ·  DIGITAL EXPERIENCE  ·  2026-04-22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5333695" y="66019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Competitor Gap Matrix · 10+ competitor benchmarks · 2026-03-26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alrajhi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508760" y="347472"/>
            <a:ext cx="0" cy="384048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 DETAIL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64592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 Detail — Trading &amp; Portfolio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62895" y="3840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16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868680"/>
            <a:ext cx="1127729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097280"/>
            <a:ext cx="550148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1207008"/>
            <a:ext cx="385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87088" y="117043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090008" y="12344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40080" y="16002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97280" y="16002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965960" y="16002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423160" y="16002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291840" y="16002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749040" y="16002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Figma-Only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617720" y="16002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74920" y="16002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BRD-Only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40080" y="1947672"/>
            <a:ext cx="5135728" cy="164592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1947672"/>
            <a:ext cx="855955" cy="164592"/>
          </a:xfrm>
          <a:prstGeom prst="rect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496035" y="1947672"/>
            <a:ext cx="1711909" cy="164592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7944" y="1947672"/>
            <a:ext cx="213989" cy="164592"/>
          </a:xfrm>
          <a:prstGeom prst="rect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21932" y="1947672"/>
            <a:ext cx="2353875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2267712"/>
            <a:ext cx="5135728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234086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Competitive Gaps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0080" y="2560320"/>
            <a:ext cx="513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Top: Onboarding checklist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40080" y="3063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17% live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233008" y="1097280"/>
            <a:ext cx="550148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415888" y="1207008"/>
            <a:ext cx="385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Trading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362895" y="117043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10865815" y="12344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415888" y="16002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873088" y="16002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741768" y="16002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198968" y="16002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067648" y="16002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524848" y="16002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Figma-Only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0393528" y="16002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0850728" y="16002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BRD-Only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415888" y="1947672"/>
            <a:ext cx="5135728" cy="164592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415888" y="1947672"/>
            <a:ext cx="790112" cy="164592"/>
          </a:xfrm>
          <a:prstGeom prst="rect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206000" y="1947672"/>
            <a:ext cx="131685" cy="164592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337685" y="1947672"/>
            <a:ext cx="2502021" cy="164592"/>
          </a:xfrm>
          <a:prstGeom prst="rect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839706" y="1947672"/>
            <a:ext cx="1843595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415888" y="2267712"/>
            <a:ext cx="5135728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15888" y="234086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Competitive Gaps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415888" y="2560320"/>
            <a:ext cx="513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Top: Level 2 Order Book (25/25)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415888" y="3063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live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57200" y="3703320"/>
            <a:ext cx="550148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640080" y="3813048"/>
            <a:ext cx="385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Trading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4587088" y="377647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000" dirty="0"/>
          </a:p>
        </p:txBody>
      </p:sp>
      <p:sp>
        <p:nvSpPr>
          <p:cNvPr id="54" name="Text 52"/>
          <p:cNvSpPr/>
          <p:nvPr/>
        </p:nvSpPr>
        <p:spPr>
          <a:xfrm>
            <a:off x="5090008" y="38404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40080" y="4206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1097280" y="42062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1965960" y="4206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2423160" y="42062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3291840" y="4206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3749040" y="42062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Figma-Only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4617720" y="4206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5074920" y="42062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BRD-Only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640080" y="4553712"/>
            <a:ext cx="5135728" cy="164592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40080" y="4553712"/>
            <a:ext cx="1540718" cy="164592"/>
          </a:xfrm>
          <a:prstGeom prst="rect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180798" y="4553712"/>
            <a:ext cx="3081437" cy="164592"/>
          </a:xfrm>
          <a:prstGeom prst="rect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262235" y="4553712"/>
            <a:ext cx="513573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40080" y="4873752"/>
            <a:ext cx="5135728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40080" y="494690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Competitive Gaps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640080" y="5166360"/>
            <a:ext cx="513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Top: Pre/Post-Market Trading (25/25)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640080" y="56692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live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6233008" y="3703320"/>
            <a:ext cx="550148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72" name="Text 70"/>
          <p:cNvSpPr/>
          <p:nvPr/>
        </p:nvSpPr>
        <p:spPr>
          <a:xfrm>
            <a:off x="6415888" y="3813048"/>
            <a:ext cx="385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Monitoring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10362895" y="377647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2000" dirty="0"/>
          </a:p>
        </p:txBody>
      </p:sp>
      <p:sp>
        <p:nvSpPr>
          <p:cNvPr id="74" name="Text 72"/>
          <p:cNvSpPr/>
          <p:nvPr/>
        </p:nvSpPr>
        <p:spPr>
          <a:xfrm>
            <a:off x="10865815" y="38404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6415888" y="4206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6873088" y="42062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7741768" y="4206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78" name="Text 76"/>
          <p:cNvSpPr/>
          <p:nvPr/>
        </p:nvSpPr>
        <p:spPr>
          <a:xfrm>
            <a:off x="8198968" y="42062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9067648" y="4206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80" name="Text 78"/>
          <p:cNvSpPr/>
          <p:nvPr/>
        </p:nvSpPr>
        <p:spPr>
          <a:xfrm>
            <a:off x="9524848" y="42062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Figma-Only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10393528" y="4206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82" name="Text 80"/>
          <p:cNvSpPr/>
          <p:nvPr/>
        </p:nvSpPr>
        <p:spPr>
          <a:xfrm>
            <a:off x="10850728" y="42062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BRD-Only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6415888" y="4553712"/>
            <a:ext cx="5135728" cy="164592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6415888" y="4553712"/>
            <a:ext cx="466884" cy="164592"/>
          </a:xfrm>
          <a:prstGeom prst="rect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6882772" y="4553712"/>
            <a:ext cx="1167211" cy="164592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8049983" y="4553712"/>
            <a:ext cx="933769" cy="164592"/>
          </a:xfrm>
          <a:prstGeom prst="rect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8983751" y="4553712"/>
            <a:ext cx="2567864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415888" y="4873752"/>
            <a:ext cx="5135728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415888" y="494690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Competitive Gaps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6415888" y="5166360"/>
            <a:ext cx="513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Top: Gain/Loss Tax Report (20/25)</a:t>
            </a:r>
            <a:endParaRPr lang="en-US" sz="850" dirty="0"/>
          </a:p>
        </p:txBody>
      </p:sp>
      <p:sp>
        <p:nvSpPr>
          <p:cNvPr id="91" name="Text 89"/>
          <p:cNvSpPr/>
          <p:nvPr/>
        </p:nvSpPr>
        <p:spPr>
          <a:xfrm>
            <a:off x="6415888" y="56692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9% live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57200" y="660196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 ·  DIGITAL EXPERIENCE  ·  2026-04-22</a:t>
            </a:r>
            <a:endParaRPr lang="en-US" sz="800" dirty="0"/>
          </a:p>
        </p:txBody>
      </p:sp>
      <p:sp>
        <p:nvSpPr>
          <p:cNvPr id="94" name="Text 92"/>
          <p:cNvSpPr/>
          <p:nvPr/>
        </p:nvSpPr>
        <p:spPr>
          <a:xfrm>
            <a:off x="5333695" y="66019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Features Inventory · BRDs + Figma API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alrajhi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508760" y="347472"/>
            <a:ext cx="0" cy="384048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 DETAIL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64592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 Detail — Wealth, Funds &amp; IPOs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62895" y="3840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16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868680"/>
            <a:ext cx="1127729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097280"/>
            <a:ext cx="550148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1207008"/>
            <a:ext cx="385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 Visibility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87088" y="117043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090008" y="12344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40080" y="16002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97280" y="16002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965960" y="16002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423160" y="16002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291840" y="16002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749040" y="16002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Figma-Only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617720" y="16002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74920" y="16002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BRD-Only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40080" y="1947672"/>
            <a:ext cx="5135728" cy="164592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1947672"/>
            <a:ext cx="1027146" cy="164592"/>
          </a:xfrm>
          <a:prstGeom prst="rect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67226" y="1947672"/>
            <a:ext cx="4108582" cy="164592"/>
          </a:xfrm>
          <a:prstGeom prst="rect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2267712"/>
            <a:ext cx="5135728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234086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Competitive Gap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0080" y="2560320"/>
            <a:ext cx="513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Top: Apple Pay Funding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40080" y="3063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live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233008" y="1097280"/>
            <a:ext cx="550148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415888" y="1207008"/>
            <a:ext cx="385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362895" y="117043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0865815" y="12344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415888" y="16002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873088" y="16002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741768" y="16002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198968" y="16002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9067648" y="16002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524848" y="16002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Figma-Only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0393528" y="16002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0850728" y="16002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BRD-Only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415888" y="1947672"/>
            <a:ext cx="5135728" cy="164592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415888" y="1947672"/>
            <a:ext cx="466884" cy="164592"/>
          </a:xfrm>
          <a:prstGeom prst="rect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882772" y="1947672"/>
            <a:ext cx="1400653" cy="164592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283425" y="1947672"/>
            <a:ext cx="2801306" cy="164592"/>
          </a:xfrm>
          <a:prstGeom prst="rect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1084731" y="1947672"/>
            <a:ext cx="466884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15888" y="2267712"/>
            <a:ext cx="5135728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15888" y="234086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Competitive Gaps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415888" y="2560320"/>
            <a:ext cx="513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Top: Private Funds Access (20/25)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415888" y="3063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9% live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57200" y="3703320"/>
            <a:ext cx="550148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640080" y="3813048"/>
            <a:ext cx="385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 Advisory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4587088" y="377647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52" name="Text 50"/>
          <p:cNvSpPr/>
          <p:nvPr/>
        </p:nvSpPr>
        <p:spPr>
          <a:xfrm>
            <a:off x="5090008" y="38404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40080" y="4206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1097280" y="42062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1965960" y="4206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2423160" y="42062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3291840" y="4206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3749040" y="42062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Figma-Only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4617720" y="4206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5074920" y="42062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BRD-Only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640080" y="4553712"/>
            <a:ext cx="5135728" cy="164592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40080" y="4553712"/>
            <a:ext cx="1283932" cy="164592"/>
          </a:xfrm>
          <a:prstGeom prst="rect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924012" y="4553712"/>
            <a:ext cx="2567864" cy="164592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491876" y="4553712"/>
            <a:ext cx="1283932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40080" y="4873752"/>
            <a:ext cx="5135728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40080" y="494690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Competitive Gaps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640080" y="5166360"/>
            <a:ext cx="513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Top: Goal-Based Portfolio (15/25)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640080" y="56692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live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6233008" y="3703320"/>
            <a:ext cx="550148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70" name="Text 68"/>
          <p:cNvSpPr/>
          <p:nvPr/>
        </p:nvSpPr>
        <p:spPr>
          <a:xfrm>
            <a:off x="6415888" y="3813048"/>
            <a:ext cx="385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IPOs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10362895" y="377647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72" name="Text 70"/>
          <p:cNvSpPr/>
          <p:nvPr/>
        </p:nvSpPr>
        <p:spPr>
          <a:xfrm>
            <a:off x="10865815" y="38404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6415888" y="4206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74" name="Text 72"/>
          <p:cNvSpPr/>
          <p:nvPr/>
        </p:nvSpPr>
        <p:spPr>
          <a:xfrm>
            <a:off x="6873088" y="42062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7741768" y="4206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8198968" y="42062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9067648" y="4206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8" name="Text 76"/>
          <p:cNvSpPr/>
          <p:nvPr/>
        </p:nvSpPr>
        <p:spPr>
          <a:xfrm>
            <a:off x="9524848" y="42062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Figma-Only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10393528" y="4206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80" name="Text 78"/>
          <p:cNvSpPr/>
          <p:nvPr/>
        </p:nvSpPr>
        <p:spPr>
          <a:xfrm>
            <a:off x="10850728" y="42062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BRD-Only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6415888" y="4553712"/>
            <a:ext cx="5135728" cy="164592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415888" y="4553712"/>
            <a:ext cx="1467351" cy="164592"/>
          </a:xfrm>
          <a:prstGeom prst="rect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883238" y="4553712"/>
            <a:ext cx="733675" cy="164592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8616914" y="4553712"/>
            <a:ext cx="2201026" cy="164592"/>
          </a:xfrm>
          <a:prstGeom prst="rect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0817940" y="4553712"/>
            <a:ext cx="733675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415888" y="4873752"/>
            <a:ext cx="5135728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415888" y="494690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Competitive Gaps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6415888" y="5166360"/>
            <a:ext cx="513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Top: US Market IPO</a:t>
            </a:r>
            <a:endParaRPr lang="en-US" sz="850" dirty="0"/>
          </a:p>
        </p:txBody>
      </p:sp>
      <p:sp>
        <p:nvSpPr>
          <p:cNvPr id="89" name="Text 87"/>
          <p:cNvSpPr/>
          <p:nvPr/>
        </p:nvSpPr>
        <p:spPr>
          <a:xfrm>
            <a:off x="6415888" y="56692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29% live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57200" y="660196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 ·  DIGITAL EXPERIENCE  ·  2026-04-22</a:t>
            </a:r>
            <a:endParaRPr lang="en-US" sz="800" dirty="0"/>
          </a:p>
        </p:txBody>
      </p:sp>
      <p:sp>
        <p:nvSpPr>
          <p:cNvPr id="92" name="Text 90"/>
          <p:cNvSpPr/>
          <p:nvPr/>
        </p:nvSpPr>
        <p:spPr>
          <a:xfrm>
            <a:off x="5333695" y="66019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Features Inventory · BRDs + Figma API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alrajhi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508760" y="347472"/>
            <a:ext cx="0" cy="384048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 DETAIL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64592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 Detail — Engagement &amp; Cross-Journey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62895" y="3840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16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868680"/>
            <a:ext cx="1127729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097280"/>
            <a:ext cx="550148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1207008"/>
            <a:ext cx="385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Actions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87088" y="117043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090008" y="12344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40080" y="16002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97280" y="16002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965960" y="16002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423160" y="16002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291840" y="16002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749040" y="16002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Figma-Only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617720" y="16002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74920" y="16002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BRD-Only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40080" y="1947672"/>
            <a:ext cx="5135728" cy="164592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1947672"/>
            <a:ext cx="1283932" cy="164592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24012" y="1947672"/>
            <a:ext cx="2567864" cy="164592"/>
          </a:xfrm>
          <a:prstGeom prst="rect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91876" y="1947672"/>
            <a:ext cx="1283932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2267712"/>
            <a:ext cx="5135728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234086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Competitive Gap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0080" y="2560320"/>
            <a:ext cx="513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Top: Rights Issue Digital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40080" y="3063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live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233008" y="1097280"/>
            <a:ext cx="550148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415888" y="1207008"/>
            <a:ext cx="385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Engagement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362895" y="117043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10865815" y="12344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415888" y="16002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873088" y="16002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741768" y="16002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198968" y="16002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9067648" y="16002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524848" y="16002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Figma-Only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0393528" y="16002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0850728" y="16002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BRD-Only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415888" y="1947672"/>
            <a:ext cx="5135728" cy="164592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415888" y="1947672"/>
            <a:ext cx="641966" cy="164592"/>
          </a:xfrm>
          <a:prstGeom prst="rect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057854" y="1947672"/>
            <a:ext cx="3530813" cy="164592"/>
          </a:xfrm>
          <a:prstGeom prst="rect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588666" y="1947672"/>
            <a:ext cx="1283932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15888" y="2267712"/>
            <a:ext cx="5135728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15888" y="234086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Competitive Gaps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415888" y="2560320"/>
            <a:ext cx="513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Top: Social Community Feed (20/25)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415888" y="3063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13% live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57200" y="3703320"/>
            <a:ext cx="550148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640080" y="3813048"/>
            <a:ext cx="385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Cross-Journey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4587088" y="377647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2000" dirty="0"/>
          </a:p>
        </p:txBody>
      </p:sp>
      <p:sp>
        <p:nvSpPr>
          <p:cNvPr id="52" name="Text 50"/>
          <p:cNvSpPr/>
          <p:nvPr/>
        </p:nvSpPr>
        <p:spPr>
          <a:xfrm>
            <a:off x="5090008" y="38404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40080" y="4206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1097280" y="42062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1965960" y="4206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2423160" y="42062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3291840" y="4206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3749040" y="42062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Figma-Only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4617720" y="4206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5074920" y="42062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BRD-Only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640080" y="4553712"/>
            <a:ext cx="5135728" cy="164592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40080" y="4553712"/>
            <a:ext cx="466884" cy="164592"/>
          </a:xfrm>
          <a:prstGeom prst="rect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106964" y="4553712"/>
            <a:ext cx="3034748" cy="164592"/>
          </a:xfrm>
          <a:prstGeom prst="rect">
            <a:avLst/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141712" y="4553712"/>
            <a:ext cx="1634095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40080" y="4873752"/>
            <a:ext cx="5135728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40080" y="494690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Competitive Gap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640080" y="5166360"/>
            <a:ext cx="513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Top: Price Alert System (16/25)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640080" y="56692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9% live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57200" y="660196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 ·  DIGITAL EXPERIENCE  ·  2026-04-22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5333695" y="66019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Features Inventory · BRDs + Figma API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alrajhi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508760" y="347472"/>
            <a:ext cx="0" cy="384048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READINESS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64592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Readiness Matrix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62895" y="3840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16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868680"/>
            <a:ext cx="1127729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0" y="1188720"/>
            <a:ext cx="2286000" cy="2286000"/>
          </a:xfrm>
          <a:prstGeom prst="rect">
            <a:avLst/>
          </a:prstGeom>
          <a:solidFill>
            <a:srgbClr val="EEF2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14630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4F46E5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1828800" y="20574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ONLY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(BRD, no design)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14800" y="1188720"/>
            <a:ext cx="2286000" cy="2286000"/>
          </a:xfrm>
          <a:prstGeom prst="rect">
            <a:avLst/>
          </a:prstGeom>
          <a:solidFill>
            <a:srgbClr val="DCFCE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0" y="14630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6A34A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4114800" y="20574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BUILD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(BRD + Figma)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828800" y="3474720"/>
            <a:ext cx="2286000" cy="2286000"/>
          </a:xfrm>
          <a:prstGeom prst="rect">
            <a:avLst/>
          </a:prstGeom>
          <a:solidFill>
            <a:srgbClr val="F1F4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28800" y="37490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475569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1828800" y="43434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DOCUMENTATION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(Unknown/Gap)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114800" y="3474720"/>
            <a:ext cx="2286000" cy="2286000"/>
          </a:xfrm>
          <a:prstGeom prst="rect">
            <a:avLst/>
          </a:prstGeom>
          <a:solidFill>
            <a:srgbClr val="FEE2E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0" y="37490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DC2626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4114800" y="43434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ONLY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(Figma, no BRD)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828800" y="9144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 EXISTS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114800" y="9144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 + FIGMA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31520" y="3474720"/>
            <a:ext cx="914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31520" y="1188720"/>
            <a:ext cx="914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858000" y="1188720"/>
            <a:ext cx="4846320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04088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132320" y="1691640"/>
            <a:ext cx="594360" cy="594360"/>
          </a:xfrm>
          <a:prstGeom prst="roundRect">
            <a:avLst>
              <a:gd name="adj" fmla="val 9231"/>
            </a:avLst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32320" y="1691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863840" y="170992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Build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863840" y="194767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BRD and Figma exist. These features can enter development sprint planning immediately. Only 24 of these are actually live.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7132320" y="2697480"/>
            <a:ext cx="594360" cy="594360"/>
          </a:xfrm>
          <a:prstGeom prst="roundRect">
            <a:avLst>
              <a:gd name="adj" fmla="val 9231"/>
            </a:avLst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32320" y="2697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863840" y="271576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Design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863840" y="295351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 approved but no Figma screens in the revamp. Design team must prioritize these to unblock development.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7132320" y="3703320"/>
            <a:ext cx="594360" cy="594360"/>
          </a:xfrm>
          <a:prstGeom prst="roundRect">
            <a:avLst>
              <a:gd name="adj" fmla="val 9231"/>
            </a:avLst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32320" y="3703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863840" y="372160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BRD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863840" y="395935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in Figma but no formal product requirements. Squad leads must write BRDs to formalize scope and acceptance criteria.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7132320" y="4709160"/>
            <a:ext cx="594360" cy="594360"/>
          </a:xfrm>
          <a:prstGeom prst="roundRect">
            <a:avLst>
              <a:gd name="adj" fmla="val 9231"/>
            </a:avLst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132320" y="4709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7863840" y="472744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Today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863840" y="496519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Actually in production. This is only 16% of total inventory — the platform has massive unrealized potential.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660196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 ·  DIGITAL EXPERIENCE  ·  2026-04-22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333695" y="66019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Features Inventory cross-reference · BRDs + Figma API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alrajhi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508760" y="347472"/>
            <a:ext cx="0" cy="384048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POSITION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64592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Parity Features — ARC Matches Market (33)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62895" y="3840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16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868680"/>
            <a:ext cx="1127729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097280"/>
            <a:ext cx="11277295" cy="822960"/>
          </a:xfrm>
          <a:prstGeom prst="roundRect">
            <a:avLst>
              <a:gd name="adj" fmla="val 6667"/>
            </a:avLst>
          </a:prstGeom>
          <a:solidFill>
            <a:srgbClr val="CFFA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1430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1417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checkMark" startAt="1"/>
            </a:pPr>
            <a:r>
              <a:rPr lang="en-US" sz="8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Market/Limit Orders (Saudi)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383280" y="1417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checkMark" startAt="1"/>
            </a:pPr>
            <a:r>
              <a:rPr lang="en-US" sz="8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US Market Orders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172200" y="1417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checkMark" startAt="1"/>
            </a:pPr>
            <a:r>
              <a:rPr lang="en-US" sz="8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Options Trading (Saudi + US)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961120" y="1417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checkMark" startAt="1"/>
            </a:pPr>
            <a:r>
              <a:rPr lang="en-US" sz="8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TradingView Charts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94360" y="16733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checkMark" startAt="1"/>
            </a:pPr>
            <a:r>
              <a:rPr lang="en-US" sz="8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Trending/Top Movers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83280" y="16733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checkMark" startAt="1"/>
            </a:pPr>
            <a:r>
              <a:rPr lang="en-US" sz="8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Commission-Free Bundles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" y="2103120"/>
            <a:ext cx="11277295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1488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&amp; Wealth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4360" y="2423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checkMark" startAt="1"/>
            </a:pPr>
            <a:r>
              <a:rPr lang="en-US" sz="8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P&amp;L Performance Chart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383280" y="2423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checkMark" startAt="1"/>
            </a:pPr>
            <a:r>
              <a:rPr lang="en-US" sz="8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Portfolio Insights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172200" y="2423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checkMark" startAt="1"/>
            </a:pPr>
            <a:r>
              <a:rPr lang="en-US" sz="8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Goal Tracker (Basic)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961120" y="2423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checkMark" startAt="1"/>
            </a:pPr>
            <a:r>
              <a:rPr lang="en-US" sz="8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Multi-Currency Wallet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94360" y="26791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checkMark" startAt="1"/>
            </a:pPr>
            <a:r>
              <a:rPr lang="en-US" sz="8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Asset Allocation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57200" y="3108960"/>
            <a:ext cx="11277295" cy="822960"/>
          </a:xfrm>
          <a:prstGeom prst="roundRect">
            <a:avLst>
              <a:gd name="adj" fmla="val 6667"/>
            </a:avLst>
          </a:prstGeom>
          <a:solidFill>
            <a:srgbClr val="CFFA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31546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 &amp; IPO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94360" y="34290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checkMark" startAt="1"/>
            </a:pPr>
            <a:r>
              <a:rPr lang="en-US" sz="8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Mutual Fund Subscribe/Redeem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383280" y="34290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checkMark" startAt="1"/>
            </a:pPr>
            <a:r>
              <a:rPr lang="en-US" sz="8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Robo Advisory (Basic)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172200" y="34290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checkMark" startAt="1"/>
            </a:pPr>
            <a:r>
              <a:rPr lang="en-US" sz="8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IPO Subscription (Main + Nomu)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961120" y="34290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checkMark" startAt="1"/>
            </a:pPr>
            <a:r>
              <a:rPr lang="en-US" sz="8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Auto-Subscribe Engine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57200" y="4114800"/>
            <a:ext cx="11277295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4160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Intelligence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94360" y="44348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checkMark" startAt="1"/>
            </a:pPr>
            <a:r>
              <a:rPr lang="en-US" sz="8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Economic Calendar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383280" y="44348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checkMark" startAt="1"/>
            </a:pPr>
            <a:r>
              <a:rPr lang="en-US" sz="8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Earnings Calendar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172200" y="44348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checkMark" startAt="1"/>
            </a:pPr>
            <a:r>
              <a:rPr lang="en-US" sz="8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Dividends Calendar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961120" y="44348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checkMark" startAt="1"/>
            </a:pPr>
            <a:r>
              <a:rPr lang="en-US" sz="8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Analyst Ratings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94360" y="46908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checkMark" startAt="1"/>
            </a:pPr>
            <a:r>
              <a:rPr lang="en-US" sz="8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Insider/Gov't Trades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383280" y="46908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checkMark" startAt="1"/>
            </a:pPr>
            <a:r>
              <a:rPr lang="en-US" sz="8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News Feed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172200" y="46908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checkMark" startAt="1"/>
            </a:pPr>
            <a:r>
              <a:rPr lang="en-US" sz="8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Bulls vs Bears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8961120" y="46908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checkMark" startAt="1"/>
            </a:pPr>
            <a:r>
              <a:rPr lang="en-US" sz="8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Why Is It Moving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57200" y="5120640"/>
            <a:ext cx="11277295" cy="822960"/>
          </a:xfrm>
          <a:prstGeom prst="roundRect">
            <a:avLst>
              <a:gd name="adj" fmla="val 6667"/>
            </a:avLst>
          </a:prstGeom>
          <a:solidFill>
            <a:srgbClr val="CFFA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4360" y="51663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94360" y="54406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checkMark" startAt="1"/>
            </a:pPr>
            <a:r>
              <a:rPr lang="en-US" sz="8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Face ID / Biometric Login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383280" y="54406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checkMark" startAt="1"/>
            </a:pPr>
            <a:r>
              <a:rPr lang="en-US" sz="8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Digital KYC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172200" y="54406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checkMark" startAt="1"/>
            </a:pPr>
            <a:r>
              <a:rPr lang="en-US" sz="8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Guest / Discovery Mode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8961120" y="54406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checkMark" startAt="1"/>
            </a:pPr>
            <a:r>
              <a:rPr lang="en-US" sz="8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Shariah Filter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94360" y="569671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checkMark" startAt="1"/>
            </a:pPr>
            <a:r>
              <a:rPr lang="en-US" sz="8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Social/Copy Trading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3383280" y="569671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checkMark" startAt="1"/>
            </a:pPr>
            <a:r>
              <a:rPr lang="en-US" sz="8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CRM Case Management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172200" y="569671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checkMark" startAt="1"/>
            </a:pPr>
            <a:r>
              <a:rPr lang="en-US" sz="8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Buy Round-Up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660196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 ·  DIGITAL EXPERIENCE  ·  2026-04-22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5333695" y="66019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Competitor Gap Matrix · Parity analysis across 10+ benchmarks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alrajhi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508760" y="347472"/>
            <a:ext cx="0" cy="384048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COVERAGE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64592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Screen Inventory — 157 Screens Across 8 Files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62895" y="3840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16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868680"/>
            <a:ext cx="1127729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188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KYC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017520" y="1261872"/>
            <a:ext cx="5486400" cy="256032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17520" y="1261872"/>
            <a:ext cx="2380891" cy="256032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35571" y="11887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84211" y="11887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page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7200" y="17556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017520" y="1828800"/>
            <a:ext cx="5486400" cy="256032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17520" y="1828800"/>
            <a:ext cx="310551" cy="256032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65231" y="1755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013871" y="17556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page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57200" y="232257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Tradepad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017520" y="2395728"/>
            <a:ext cx="5486400" cy="256032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017520" y="2395728"/>
            <a:ext cx="414068" cy="256032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68748" y="232257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17388" y="232257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page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57200" y="288950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017520" y="2962656"/>
            <a:ext cx="5486400" cy="256032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017520" y="2962656"/>
            <a:ext cx="414068" cy="256032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8748" y="288950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117388" y="288950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page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57200" y="34564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017520" y="3529584"/>
            <a:ext cx="5486400" cy="256032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017520" y="3529584"/>
            <a:ext cx="5486400" cy="256032"/>
          </a:xfrm>
          <a:prstGeom prst="roundRect">
            <a:avLst>
              <a:gd name="adj" fmla="val 50000"/>
            </a:avLst>
          </a:prstGeom>
          <a:solidFill>
            <a:srgbClr val="0029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41080" y="34564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189720" y="34564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pages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57200" y="4023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(IPO)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017520" y="4096512"/>
            <a:ext cx="5486400" cy="256032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017520" y="4096512"/>
            <a:ext cx="1242204" cy="256032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96884" y="40233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945524" y="40233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page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57200" y="459028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&amp; Setting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017520" y="4663440"/>
            <a:ext cx="5486400" cy="256032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017520" y="4663440"/>
            <a:ext cx="1035170" cy="256032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89850" y="459028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738490" y="459028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page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57200" y="515721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017520" y="5230368"/>
            <a:ext cx="5486400" cy="256032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017520" y="5230368"/>
            <a:ext cx="4968815" cy="256032"/>
          </a:xfrm>
          <a:prstGeom prst="roundRect">
            <a:avLst>
              <a:gd name="adj" fmla="val 50000"/>
            </a:avLst>
          </a:prstGeom>
          <a:solidFill>
            <a:srgbClr val="0029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123495" y="515721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8672135" y="515721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page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9144000" y="1188720"/>
            <a:ext cx="25603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9601200" y="13716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157</a:t>
            </a:r>
            <a:endParaRPr lang="en-US" sz="3200" dirty="0"/>
          </a:p>
        </p:txBody>
      </p:sp>
      <p:sp>
        <p:nvSpPr>
          <p:cNvPr id="51" name="Text 49"/>
          <p:cNvSpPr/>
          <p:nvPr/>
        </p:nvSpPr>
        <p:spPr>
          <a:xfrm>
            <a:off x="9601200" y="18288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Screens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9509760" y="2331720"/>
            <a:ext cx="18288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01200" y="24688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200" dirty="0"/>
          </a:p>
        </p:txBody>
      </p:sp>
      <p:sp>
        <p:nvSpPr>
          <p:cNvPr id="54" name="Text 52"/>
          <p:cNvSpPr/>
          <p:nvPr/>
        </p:nvSpPr>
        <p:spPr>
          <a:xfrm>
            <a:off x="9601200" y="29260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Files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57200" y="5486400"/>
            <a:ext cx="11277295" cy="777240"/>
          </a:xfrm>
          <a:prstGeom prst="roundRect">
            <a:avLst>
              <a:gd name="adj" fmla="val 9412"/>
            </a:avLst>
          </a:prstGeom>
          <a:solidFill>
            <a:srgbClr val="EEF2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640080" y="5559552"/>
            <a:ext cx="1188720" cy="237744"/>
          </a:xfrm>
          <a:prstGeom prst="roundRect">
            <a:avLst>
              <a:gd name="adj" fmla="val 11538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40080" y="555955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DENSITY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2011680" y="5504688"/>
            <a:ext cx="9601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Portfolios (53 screens) and Orders (48 screens) dominate design effort — together they hold 64% of all screens. Home has only 3 screens, suggesting the revamp home is minimalist or work-in-progress. Watchlist file is empty.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57200" y="660196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 ·  DIGITAL EXPERIENCE  ·  2026-04-22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5333695" y="66019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Figma REST API · depth-3 extraction · 8 design files · 2026-03-26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alrajhi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508760" y="347472"/>
            <a:ext cx="0" cy="384048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INTELLIGENCE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64592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 — Who Leads Where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62895" y="3840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16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868680"/>
            <a:ext cx="1127729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097280"/>
            <a:ext cx="5410048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1188720"/>
            <a:ext cx="403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Moomoo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69968" y="1207008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69968" y="12070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gaps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1536192"/>
            <a:ext cx="504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advantages over ARC: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40080" y="1737360"/>
            <a:ext cx="50442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 depth, AI assistant, stock comparison, community feed, money flow, paper trading, fractional shares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324448" y="1097280"/>
            <a:ext cx="5410048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07328" y="1188720"/>
            <a:ext cx="403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Derayah / Smart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637215" y="1207008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637215" y="12070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gaps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507328" y="1536192"/>
            <a:ext cx="504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advantages over ARC: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507328" y="1737360"/>
            <a:ext cx="50442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orders, Apple Pay, SIP, goal-based investing, pre-filled KYC, dividend reinvestment, progress indicator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7200" y="2788920"/>
            <a:ext cx="5410048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0080" y="2880360"/>
            <a:ext cx="403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AlJazira Capital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69968" y="2898648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69968" y="28986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gaps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0080" y="3227832"/>
            <a:ext cx="504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advantages over ARC: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40080" y="3429000"/>
            <a:ext cx="50442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funds (10+), SIP, Nomu institutional IPO, IPO popup banners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324448" y="2788920"/>
            <a:ext cx="5410048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507328" y="2880360"/>
            <a:ext cx="403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Sahm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0637215" y="2898648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637215" y="28986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gaps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507328" y="3227832"/>
            <a:ext cx="504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advantages over ARC: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507328" y="3429000"/>
            <a:ext cx="50442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navigation, live prices free, personalized calendar, social proof nudges, always-on price view, demo mode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57200" y="4480560"/>
            <a:ext cx="5410048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40080" y="4572000"/>
            <a:ext cx="403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Investing.com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769968" y="4590288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69968" y="45902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gaps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40080" y="4919472"/>
            <a:ext cx="504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advantages over ARC: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40080" y="5120640"/>
            <a:ext cx="50442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screener, multi-type alerts, fundamental data, ETF exposure, economic/earnings calendars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324448" y="4480560"/>
            <a:ext cx="5410048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507328" y="4572000"/>
            <a:ext cx="403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IBKR / Global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10637215" y="4590288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637215" y="45902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gaps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507328" y="4919472"/>
            <a:ext cx="504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advantages over ARC: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507328" y="5120640"/>
            <a:ext cx="50442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Pre/post market, fractional shares, L2 depth, bonds, futures, advanced order types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660196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 ·  DIGITAL EXPERIENCE  ·  2026-04-22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333695" y="66019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Benchmark reports: Moomoo, Derayah, AlJazira, Sahm, Investing.com, IBKR · 2024-2025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alrajhi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508760" y="347472"/>
            <a:ext cx="0" cy="384048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64592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Debt — Action Required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62895" y="3840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16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868680"/>
            <a:ext cx="1127729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097280"/>
            <a:ext cx="5303520" cy="5029200"/>
          </a:xfrm>
          <a:prstGeom prst="roundRect">
            <a:avLst>
              <a:gd name="adj" fmla="val 145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1188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Features Need BRDs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148132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in Figma but no formal requirements written. Squad leads must author BRDs.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31520" y="196596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017520" y="2020824"/>
            <a:ext cx="1828800" cy="182880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17520" y="2020824"/>
            <a:ext cx="1676400" cy="18288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196596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237744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Trading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017520" y="2432304"/>
            <a:ext cx="1828800" cy="182880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17520" y="2432304"/>
            <a:ext cx="2133600" cy="18288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237744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" y="27889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Trading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017520" y="2843784"/>
            <a:ext cx="1828800" cy="182880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017520" y="2843784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278892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31520" y="320040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Monitoring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017520" y="3255264"/>
            <a:ext cx="1828800" cy="182880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017520" y="3255264"/>
            <a:ext cx="1676400" cy="18288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0" y="320040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31520" y="361188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017520" y="3666744"/>
            <a:ext cx="1828800" cy="182880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017520" y="3666744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0" y="361188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31520" y="402336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 Advisory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017520" y="4078224"/>
            <a:ext cx="1828800" cy="182880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017520" y="4078224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0" y="402336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31520" y="443484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IPOs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017520" y="4489704"/>
            <a:ext cx="1828800" cy="182880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017520" y="4489704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0" y="443484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31520" y="48463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Actions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017520" y="4901184"/>
            <a:ext cx="1828800" cy="182880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017520" y="4901184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0" y="484632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31520" y="525780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Engagement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017520" y="5312664"/>
            <a:ext cx="1828800" cy="182880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017520" y="5312664"/>
            <a:ext cx="609600" cy="18288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29200" y="525780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31520" y="566928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Cross-Journey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017520" y="5724144"/>
            <a:ext cx="1828800" cy="182880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017520" y="5724144"/>
            <a:ext cx="1066800" cy="18288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029200" y="566928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217920" y="1097280"/>
            <a:ext cx="5486400" cy="5029200"/>
          </a:xfrm>
          <a:prstGeom prst="roundRect">
            <a:avLst>
              <a:gd name="adj" fmla="val 145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6400800" y="1188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 Features Need Figma Screens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400800" y="148132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 approved but not yet incorporated into the Figma revamp. Design team to prioritize.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6492240" y="196596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8778240" y="2020824"/>
            <a:ext cx="2011680" cy="182880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778240" y="2020824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0972800" y="196596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492240" y="237744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Trading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8778240" y="2432304"/>
            <a:ext cx="2011680" cy="182880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778240" y="2432304"/>
            <a:ext cx="2011680" cy="18288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0972800" y="237744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6492240" y="27889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Trading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8778240" y="2843784"/>
            <a:ext cx="2011680" cy="182880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778240" y="2843784"/>
            <a:ext cx="635267" cy="18288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0972800" y="278892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6492240" y="320040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Monitoring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8778240" y="3255264"/>
            <a:ext cx="2011680" cy="182880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778240" y="3255264"/>
            <a:ext cx="423512" cy="18288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0972800" y="320040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6492240" y="361188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 Visibility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8778240" y="3666744"/>
            <a:ext cx="2011680" cy="182880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778240" y="3666744"/>
            <a:ext cx="423512" cy="18288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0972800" y="361188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6492240" y="402336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Funds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8778240" y="4078224"/>
            <a:ext cx="2011680" cy="182880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8778240" y="4078224"/>
            <a:ext cx="635267" cy="18288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0972800" y="402336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6492240" y="443484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IPOs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8778240" y="4489704"/>
            <a:ext cx="2011680" cy="182880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778240" y="4489704"/>
            <a:ext cx="317634" cy="18288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10972800" y="443484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6492240" y="48463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Actions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8778240" y="4901184"/>
            <a:ext cx="2011680" cy="182880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778240" y="4901184"/>
            <a:ext cx="211756" cy="18288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0972800" y="484632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6492240" y="525780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Engagement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8778240" y="5312664"/>
            <a:ext cx="2011680" cy="182880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8778240" y="5312664"/>
            <a:ext cx="1164657" cy="18288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10972800" y="525780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91" name="Text 89"/>
          <p:cNvSpPr/>
          <p:nvPr/>
        </p:nvSpPr>
        <p:spPr>
          <a:xfrm>
            <a:off x="6492240" y="566928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Cross-Journey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8778240" y="5724144"/>
            <a:ext cx="2011680" cy="182880"/>
          </a:xfrm>
          <a:prstGeom prst="roundRect">
            <a:avLst>
              <a:gd name="adj" fmla="val 50000"/>
            </a:avLst>
          </a:prstGeom>
          <a:solidFill>
            <a:srgbClr val="F1F4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8778240" y="5724144"/>
            <a:ext cx="1376413" cy="18288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10972800" y="566928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95" name="Shape 93"/>
          <p:cNvSpPr/>
          <p:nvPr/>
        </p:nvSpPr>
        <p:spPr>
          <a:xfrm>
            <a:off x="457200" y="5486400"/>
            <a:ext cx="11277295" cy="777240"/>
          </a:xfrm>
          <a:prstGeom prst="roundRect">
            <a:avLst>
              <a:gd name="adj" fmla="val 9412"/>
            </a:avLst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96" name="Shape 94"/>
          <p:cNvSpPr/>
          <p:nvPr/>
        </p:nvSpPr>
        <p:spPr>
          <a:xfrm>
            <a:off x="640080" y="5559552"/>
            <a:ext cx="1280160" cy="237744"/>
          </a:xfrm>
          <a:prstGeom prst="roundRect">
            <a:avLst>
              <a:gd name="adj" fmla="val 11538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640080" y="555955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REQUIRED</a:t>
            </a:r>
            <a:endParaRPr lang="en-US" sz="800" dirty="0"/>
          </a:p>
        </p:txBody>
      </p:sp>
      <p:sp>
        <p:nvSpPr>
          <p:cNvPr id="98" name="Text 96"/>
          <p:cNvSpPr/>
          <p:nvPr/>
        </p:nvSpPr>
        <p:spPr>
          <a:xfrm>
            <a:off x="2103120" y="5504688"/>
            <a:ext cx="9509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 validation deadline was April 7, 2026 — now 14 days overdue. Ahmed must follow up with squad leads to confirm live status and ownership. Until validated, the features map cannot be used as roadmap input with confidence.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457200" y="660196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 ·  DIGITAL EXPERIENCE  ·  2026-04-22</a:t>
            </a:r>
            <a:endParaRPr lang="en-US" sz="800" dirty="0"/>
          </a:p>
        </p:txBody>
      </p:sp>
      <p:sp>
        <p:nvSpPr>
          <p:cNvPr id="101" name="Text 99"/>
          <p:cNvSpPr/>
          <p:nvPr/>
        </p:nvSpPr>
        <p:spPr>
          <a:xfrm>
            <a:off x="5333695" y="66019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Features Inventory · Squad Validation Checklist (deadline: 2026-04-07)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alrajhi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2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508760" y="347472"/>
            <a:ext cx="0" cy="384048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MAP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64592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62895" y="3840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16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868680"/>
            <a:ext cx="1127729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097280"/>
            <a:ext cx="11277295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94360" y="12344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A1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8720" y="11704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Documentation Gap — 42 BRDs + 68 Figma Screens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686800" y="1188720"/>
            <a:ext cx="822960" cy="237744"/>
          </a:xfrm>
          <a:prstGeom prst="roundRect">
            <a:avLst>
              <a:gd name="adj" fmla="val 11538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0" y="118872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188720" y="144475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features have Figma designs without BRDs (no requirements). 68 have BRDs without Figma screens (no design). Cross-reference and close both sides. Without this, roadmap accuracy is guesswork.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0058400" y="14447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Squad Leads + Design Team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57200" y="1965960"/>
            <a:ext cx="11277295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4360" y="21031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A1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88720" y="20391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Top 4 Score-25 Gaps Immediately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686800" y="2057400"/>
            <a:ext cx="822960" cy="237744"/>
          </a:xfrm>
          <a:prstGeom prst="roundRect">
            <a:avLst>
              <a:gd name="adj" fmla="val 11538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0" y="205740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188720" y="231343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 Order Book, Stock Screener, Pre/Post-Market Trading, and Advanced TA Suite all scored maximum 25/25. These are the features active traders expect — losing users to Moomoo and Derayah is a real risk.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0058400" y="23134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Saudi Trading + US Trading Squads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57200" y="2834640"/>
            <a:ext cx="11277295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94360" y="29718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A1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88720" y="29077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Squad Validation (14 Days Overdue)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686800" y="2926080"/>
            <a:ext cx="822960" cy="237744"/>
          </a:xfrm>
          <a:prstGeom prst="roundRect">
            <a:avLst>
              <a:gd name="adj" fmla="val 11538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86800" y="292608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188720" y="318211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April 7 deadline for squad leads to confirm feature live status has passed. Without validation, the 'Live' count of 24 is unverified and may be inaccurate. Send reminder and set new deadline.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0058400" y="318211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Ahmed Alghamdi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57200" y="3703320"/>
            <a:ext cx="11277295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94360" y="38404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A1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188720" y="37764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Trading Experience Competitiveness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686800" y="3794760"/>
            <a:ext cx="822960" cy="237744"/>
          </a:xfrm>
          <a:prstGeom prst="roundRect">
            <a:avLst>
              <a:gd name="adj" fmla="val 11538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686800" y="379476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188720" y="405079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Trading (15 gaps) and Saudi Trading (11 gaps) carry 54% of all competitive gaps. Allocate design and development resources proportionally. Trading is the core revenue driver.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0058400" y="40507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Strategy &amp; Intelligence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457200" y="4572000"/>
            <a:ext cx="11277295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94360" y="47091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A1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4360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188720" y="46451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Sharia-First Differentiators in Marketing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686800" y="4663440"/>
            <a:ext cx="822960" cy="237744"/>
          </a:xfrm>
          <a:prstGeom prst="roundRect">
            <a:avLst>
              <a:gd name="adj" fmla="val 11538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686800" y="466344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1188720" y="491947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ARC's 14 differentiators cluster around Sharia compliance (Murabaha, Purification, Zakat) and Al Rajhi ecosystem integration (Mokafaa, ARG bundles). These are non-replicable moats that should be front-and-center in positioning.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10058400" y="49194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Head of Digital Experience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457200" y="5440680"/>
            <a:ext cx="11277295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A1F4D">
                <a:alpha val="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594360" y="55778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A1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94360" y="5577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188720" y="55138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Underdeveloped Modules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8686800" y="5532120"/>
            <a:ext cx="822960" cy="237744"/>
          </a:xfrm>
          <a:prstGeom prst="roundRect">
            <a:avLst>
              <a:gd name="adj" fmla="val 11538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686800" y="553212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1188720" y="578815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Actions (0 live, 4 total), Robo Advisory (1 live, 4 total), and Wealth Visibility (1 live, 5 total) are significantly underbuilt. Prioritize based on investor segment demand data.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10058400" y="57881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Product Experience Design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457200" y="6537960"/>
            <a:ext cx="1127729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200" y="660196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 ·  DIGITAL EXPERIENCE  ·  2026-04-22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5333695" y="66019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Features Map synthesis · Competitor Gap Matrix · Squad Validation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51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29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Map Summary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05840" y="22860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164 features mapped across 12 squads — 24 live (15%), 140 in pipeline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05840" y="2697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 competitive gaps identified — 4 at maximum severity (25/25)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3108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ARC differentiators — Sharia-first financial infrastructure + Al Rajhi ecosystem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35204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Figma designs with no BRD — design intent without product commitment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3931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 BRDs with no Figma screens — requirements without design execution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43434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 validation 14 days overdue — follow up required immediately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5029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Refresh Figma token → Deep component extraction → Platform parity matrix → Depth analysis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594360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Experience Department  ·  Al Rajhi Capital  ·  2026-04-22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2026-04-22T17:44:22Z</dcterms:created>
  <dcterms:modified xsi:type="dcterms:W3CDTF">2026-04-22T17:44:22Z</dcterms:modified>
</cp:coreProperties>
</file>