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Lucida Grand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1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j-lt"/>
        <a:ea typeface="+mj-ea"/>
        <a:cs typeface="+mj-cs"/>
        <a:sym typeface="Lucida Grande"/>
      </a:defRPr>
    </a:lvl1pPr>
    <a:lvl2pPr indent="228600" defTabSz="457200" latinLnBrk="0">
      <a:defRPr sz="2200">
        <a:latin typeface="+mj-lt"/>
        <a:ea typeface="+mj-ea"/>
        <a:cs typeface="+mj-cs"/>
        <a:sym typeface="Lucida Grande"/>
      </a:defRPr>
    </a:lvl2pPr>
    <a:lvl3pPr indent="457200" defTabSz="457200" latinLnBrk="0">
      <a:defRPr sz="2200">
        <a:latin typeface="+mj-lt"/>
        <a:ea typeface="+mj-ea"/>
        <a:cs typeface="+mj-cs"/>
        <a:sym typeface="Lucida Grande"/>
      </a:defRPr>
    </a:lvl3pPr>
    <a:lvl4pPr indent="685800" defTabSz="457200" latinLnBrk="0">
      <a:defRPr sz="2200">
        <a:latin typeface="+mj-lt"/>
        <a:ea typeface="+mj-ea"/>
        <a:cs typeface="+mj-cs"/>
        <a:sym typeface="Lucida Grande"/>
      </a:defRPr>
    </a:lvl4pPr>
    <a:lvl5pPr indent="914400" defTabSz="457200" latinLnBrk="0">
      <a:defRPr sz="2200">
        <a:latin typeface="+mj-lt"/>
        <a:ea typeface="+mj-ea"/>
        <a:cs typeface="+mj-cs"/>
        <a:sym typeface="Lucida Grande"/>
      </a:defRPr>
    </a:lvl5pPr>
    <a:lvl6pPr indent="1143000" defTabSz="457200" latinLnBrk="0">
      <a:defRPr sz="2200">
        <a:latin typeface="+mj-lt"/>
        <a:ea typeface="+mj-ea"/>
        <a:cs typeface="+mj-cs"/>
        <a:sym typeface="Lucida Grande"/>
      </a:defRPr>
    </a:lvl6pPr>
    <a:lvl7pPr indent="1371600" defTabSz="457200" latinLnBrk="0">
      <a:defRPr sz="2200">
        <a:latin typeface="+mj-lt"/>
        <a:ea typeface="+mj-ea"/>
        <a:cs typeface="+mj-cs"/>
        <a:sym typeface="Lucida Grande"/>
      </a:defRPr>
    </a:lvl7pPr>
    <a:lvl8pPr indent="1600200" defTabSz="457200" latinLnBrk="0">
      <a:defRPr sz="2200">
        <a:latin typeface="+mj-lt"/>
        <a:ea typeface="+mj-ea"/>
        <a:cs typeface="+mj-cs"/>
        <a:sym typeface="Lucida Grande"/>
      </a:defRPr>
    </a:lvl8pPr>
    <a:lvl9pPr indent="1828800" defTabSz="457200" latinLnBrk="0">
      <a:defRPr sz="2200">
        <a:latin typeface="+mj-lt"/>
        <a:ea typeface="+mj-ea"/>
        <a:cs typeface="+mj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Title Text"/>
          <p:cNvSpPr txBox="1"/>
          <p:nvPr>
            <p:ph type="title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2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22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Title Text"/>
          <p:cNvSpPr txBox="1"/>
          <p:nvPr>
            <p:ph type="title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Image"/>
          <p:cNvSpPr/>
          <p:nvPr>
            <p:ph type="pic" idx="21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Body Level One…"/>
          <p:cNvSpPr txBox="1"/>
          <p:nvPr>
            <p:ph type="body" sz="half" idx="22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2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2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Title Text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quarter" idx="1"/>
          </p:nvPr>
        </p:nvSpPr>
        <p:spPr>
          <a:xfrm>
            <a:off x="1206500" y="826218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Body Level One…"/>
          <p:cNvSpPr txBox="1"/>
          <p:nvPr>
            <p:ph type="body" idx="2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/>
          <a:p>
            <a:pPr rtl="0">
              <a:defRPr/>
            </a:pP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" name="Body Level One…"/>
          <p:cNvSpPr txBox="1"/>
          <p:nvPr>
            <p:ph type="body" sz="half" idx="2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/>
          <a:p>
            <a:pPr rtl="0">
              <a:defRPr/>
            </a:pP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0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71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 rtl="0">
              <a:defRPr/>
            </a:pPr>
            <a:r>
              <a:t>Presentation Subtitle</a:t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257300" indent="-342900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2pPr>
            <a:lvl3pPr marL="2240277" indent="-411477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3pPr>
            <a:lvl4pPr marL="3200400" indent="-457200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4pPr>
            <a:lvl5pPr marL="4114800" indent="-457200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0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81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 rtl="0">
              <a:defRPr/>
            </a:pPr>
            <a:r>
              <a:t>Presentation Subtitle</a:t>
            </a:r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>
            <a:lvl1pPr rtl="1">
              <a:defRPr/>
            </a:lvl1pPr>
            <a:lvl2pPr rtl="1">
              <a:defRPr/>
            </a:lvl2pPr>
            <a:lvl3pPr rtl="1">
              <a:defRPr/>
            </a:lvl3pPr>
            <a:lvl4pPr rtl="1">
              <a:defRPr/>
            </a:lvl4pPr>
            <a:lvl5pPr rtl="1">
              <a:defRPr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rtl="1">
              <a:defRPr/>
            </a:lvl1pPr>
          </a:lstStyle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slide" Target="slide6.xml"/><Relationship Id="rId4" Type="http://schemas.openxmlformats.org/officeDocument/2006/relationships/slide" Target="slide11.xml"/><Relationship Id="rId5" Type="http://schemas.openxmlformats.org/officeDocument/2006/relationships/slide" Target="slide18.xml"/><Relationship Id="rId6" Type="http://schemas.openxmlformats.org/officeDocument/2006/relationships/slide" Target="slide43.xml"/><Relationship Id="rId7" Type="http://schemas.openxmlformats.org/officeDocument/2006/relationships/slide" Target="slide62.xml"/><Relationship Id="rId8" Type="http://schemas.openxmlformats.org/officeDocument/2006/relationships/slide" Target="slide85.xml"/><Relationship Id="rId9" Type="http://schemas.openxmlformats.org/officeDocument/2006/relationships/slide" Target="slide104.xml"/><Relationship Id="rId10" Type="http://schemas.openxmlformats.org/officeDocument/2006/relationships/slide" Target="slide10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47519" y="0"/>
            <a:ext cx="9966961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40" y="685800"/>
            <a:ext cx="3108961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Box 3"/>
          <p:cNvSpPr txBox="1"/>
          <p:nvPr/>
        </p:nvSpPr>
        <p:spPr>
          <a:xfrm>
            <a:off x="777240" y="4206240"/>
            <a:ext cx="128016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400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 ASSESSMENT  ·  DIGITAL EXPERIENCE</a:t>
            </a:r>
          </a:p>
        </p:txBody>
      </p:sp>
      <p:sp>
        <p:nvSpPr>
          <p:cNvPr id="194" name="TextBox 4"/>
          <p:cNvSpPr txBox="1"/>
          <p:nvPr/>
        </p:nvSpPr>
        <p:spPr>
          <a:xfrm>
            <a:off x="777240" y="4846320"/>
            <a:ext cx="13716001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ARC Digital Platform</a:t>
            </a:r>
          </a:p>
        </p:txBody>
      </p:sp>
      <p:sp>
        <p:nvSpPr>
          <p:cNvPr id="195" name="TextBox 5"/>
          <p:cNvSpPr txBox="1"/>
          <p:nvPr/>
        </p:nvSpPr>
        <p:spPr>
          <a:xfrm>
            <a:off x="777240" y="6263640"/>
            <a:ext cx="13716001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Capability Assessment</a:t>
            </a:r>
          </a:p>
        </p:txBody>
      </p:sp>
      <p:sp>
        <p:nvSpPr>
          <p:cNvPr id="196" name="TextBox 6"/>
          <p:cNvSpPr txBox="1"/>
          <p:nvPr/>
        </p:nvSpPr>
        <p:spPr>
          <a:xfrm>
            <a:off x="777240" y="7863840"/>
            <a:ext cx="731520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197" name="Connector 7"/>
          <p:cNvSpPr/>
          <p:nvPr/>
        </p:nvSpPr>
        <p:spPr>
          <a:xfrm>
            <a:off x="777240" y="8458200"/>
            <a:ext cx="5029201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8" name="TextBox 8"/>
          <p:cNvSpPr txBox="1"/>
          <p:nvPr/>
        </p:nvSpPr>
        <p:spPr>
          <a:xfrm>
            <a:off x="777239" y="8961119"/>
            <a:ext cx="292608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791</a:t>
            </a:r>
          </a:p>
        </p:txBody>
      </p:sp>
      <p:sp>
        <p:nvSpPr>
          <p:cNvPr id="199" name="TextBox 9"/>
          <p:cNvSpPr txBox="1"/>
          <p:nvPr/>
        </p:nvSpPr>
        <p:spPr>
          <a:xfrm>
            <a:off x="777239" y="9829800"/>
            <a:ext cx="292608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200" name="TextBox 10"/>
          <p:cNvSpPr txBox="1"/>
          <p:nvPr/>
        </p:nvSpPr>
        <p:spPr>
          <a:xfrm>
            <a:off x="3703320" y="8961119"/>
            <a:ext cx="292608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461</a:t>
            </a:r>
          </a:p>
        </p:txBody>
      </p:sp>
      <p:sp>
        <p:nvSpPr>
          <p:cNvPr id="201" name="TextBox 11"/>
          <p:cNvSpPr txBox="1"/>
          <p:nvPr/>
        </p:nvSpPr>
        <p:spPr>
          <a:xfrm>
            <a:off x="3703320" y="9829800"/>
            <a:ext cx="292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</a:t>
            </a:r>
          </a:p>
        </p:txBody>
      </p:sp>
      <p:sp>
        <p:nvSpPr>
          <p:cNvPr id="202" name="TextBox 12"/>
          <p:cNvSpPr txBox="1"/>
          <p:nvPr/>
        </p:nvSpPr>
        <p:spPr>
          <a:xfrm>
            <a:off x="6629400" y="8961119"/>
            <a:ext cx="292608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214</a:t>
            </a:r>
          </a:p>
        </p:txBody>
      </p:sp>
      <p:sp>
        <p:nvSpPr>
          <p:cNvPr id="203" name="TextBox 13"/>
          <p:cNvSpPr txBox="1"/>
          <p:nvPr/>
        </p:nvSpPr>
        <p:spPr>
          <a:xfrm>
            <a:off x="6629400" y="9829800"/>
            <a:ext cx="292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</a:t>
            </a:r>
          </a:p>
        </p:txBody>
      </p:sp>
      <p:sp>
        <p:nvSpPr>
          <p:cNvPr id="204" name="TextBox 14"/>
          <p:cNvSpPr txBox="1"/>
          <p:nvPr/>
        </p:nvSpPr>
        <p:spPr>
          <a:xfrm>
            <a:off x="777240" y="12893040"/>
            <a:ext cx="7315201" cy="20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 Rajhi Capital  ·  </a:t>
            </a:r>
            <a:r>
              <a:rPr>
                <a:latin typeface="Helvetica Neue Medium"/>
                <a:ea typeface="Helvetica Neue Medium"/>
                <a:cs typeface="Helvetica Neue Medium"/>
                <a:sym typeface="Helvetica Neue Medium"/>
              </a:rPr>
              <a:t>الراجحي المالية</a:t>
            </a:r>
          </a:p>
        </p:txBody>
      </p:sp>
      <p:sp>
        <p:nvSpPr>
          <p:cNvPr id="205" name="TextBox 15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001 / 111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208" descr="Picture 20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209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002 / 111</a:t>
            </a:r>
          </a:p>
        </p:txBody>
      </p:sp>
      <p:sp>
        <p:nvSpPr>
          <p:cNvPr id="209" name="TextBox 210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10" name="TextBox 211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Executive Summary</a:t>
            </a:r>
          </a:p>
        </p:txBody>
      </p:sp>
      <p:sp>
        <p:nvSpPr>
          <p:cNvPr id="211" name="TextBox 212"/>
          <p:cNvSpPr txBox="1"/>
          <p:nvPr/>
        </p:nvSpPr>
        <p:spPr>
          <a:xfrm>
            <a:off x="1371600" y="5029200"/>
            <a:ext cx="6858000" cy="2292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2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Evaluate ARC digital platform capabilities across all products to identify capability gaps and define investment priorities.</a:t>
            </a:r>
          </a:p>
        </p:txBody>
      </p:sp>
      <p:sp>
        <p:nvSpPr>
          <p:cNvPr id="212" name="TextBox 213"/>
          <p:cNvSpPr txBox="1"/>
          <p:nvPr/>
        </p:nvSpPr>
        <p:spPr>
          <a:xfrm>
            <a:off x="8869680" y="5029200"/>
            <a:ext cx="6858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SCOPE</a:t>
            </a:r>
          </a:p>
        </p:txBody>
      </p:sp>
      <p:sp>
        <p:nvSpPr>
          <p:cNvPr id="213" name="Connector 214"/>
          <p:cNvSpPr/>
          <p:nvPr/>
        </p:nvSpPr>
        <p:spPr>
          <a:xfrm>
            <a:off x="8869680" y="5532120"/>
            <a:ext cx="6858001" cy="1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TextBox 215"/>
          <p:cNvSpPr txBox="1"/>
          <p:nvPr/>
        </p:nvSpPr>
        <p:spPr>
          <a:xfrm>
            <a:off x="8869680" y="5806440"/>
            <a:ext cx="6858001" cy="1110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End-to-end ARC application capability assessment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Feature-level evaluation across all products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Investor journey–based capability model</a:t>
            </a:r>
          </a:p>
        </p:txBody>
      </p:sp>
      <p:sp>
        <p:nvSpPr>
          <p:cNvPr id="215" name="TextBox 216"/>
          <p:cNvSpPr txBox="1"/>
          <p:nvPr/>
        </p:nvSpPr>
        <p:spPr>
          <a:xfrm>
            <a:off x="16367760" y="5029200"/>
            <a:ext cx="6858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OUTCOME</a:t>
            </a:r>
          </a:p>
        </p:txBody>
      </p:sp>
      <p:sp>
        <p:nvSpPr>
          <p:cNvPr id="216" name="Connector 217"/>
          <p:cNvSpPr/>
          <p:nvPr/>
        </p:nvSpPr>
        <p:spPr>
          <a:xfrm>
            <a:off x="16367760" y="5532120"/>
            <a:ext cx="6858001" cy="1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TextBox 218"/>
          <p:cNvSpPr txBox="1"/>
          <p:nvPr/>
        </p:nvSpPr>
        <p:spPr>
          <a:xfrm>
            <a:off x="16367760" y="5806440"/>
            <a:ext cx="6858001" cy="1110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Clear view of current platform capability maturity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Identification of key capability gaps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Strategic direction for capability enhancement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extBox 3"/>
          <p:cNvSpPr txBox="1"/>
          <p:nvPr/>
        </p:nvSpPr>
        <p:spPr>
          <a:xfrm>
            <a:off x="1371600" y="2788920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Evaluation Structure</a:t>
            </a:r>
          </a:p>
        </p:txBody>
      </p:sp>
      <p:sp>
        <p:nvSpPr>
          <p:cNvPr id="221" name="TextBox 4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003 / 111</a:t>
            </a:r>
          </a:p>
        </p:txBody>
      </p:sp>
      <p:sp>
        <p:nvSpPr>
          <p:cNvPr id="222" name="Connector 5"/>
          <p:cNvSpPr/>
          <p:nvPr/>
        </p:nvSpPr>
        <p:spPr>
          <a:xfrm>
            <a:off x="2285999" y="9692640"/>
            <a:ext cx="19842482" cy="1"/>
          </a:xfrm>
          <a:prstGeom prst="line">
            <a:avLst/>
          </a:prstGeom>
          <a:ln>
            <a:solidFill>
              <a:srgbClr val="E5E7E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3" name="TextBox 6"/>
          <p:cNvSpPr txBox="1"/>
          <p:nvPr/>
        </p:nvSpPr>
        <p:spPr>
          <a:xfrm>
            <a:off x="2023110" y="6400800"/>
            <a:ext cx="5486401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24" name="TextBox 7"/>
          <p:cNvSpPr txBox="1"/>
          <p:nvPr/>
        </p:nvSpPr>
        <p:spPr>
          <a:xfrm>
            <a:off x="2023110" y="7223759"/>
            <a:ext cx="54864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3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Investor Journey</a:t>
            </a:r>
          </a:p>
        </p:txBody>
      </p:sp>
      <p:sp>
        <p:nvSpPr>
          <p:cNvPr id="225" name="Connector 8"/>
          <p:cNvSpPr/>
          <p:nvPr/>
        </p:nvSpPr>
        <p:spPr>
          <a:xfrm>
            <a:off x="4080509" y="9692640"/>
            <a:ext cx="1371601" cy="1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" name="TextBox 9"/>
          <p:cNvSpPr txBox="1"/>
          <p:nvPr/>
        </p:nvSpPr>
        <p:spPr>
          <a:xfrm>
            <a:off x="6983728" y="6400800"/>
            <a:ext cx="5486401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27" name="TextBox 10"/>
          <p:cNvSpPr txBox="1"/>
          <p:nvPr/>
        </p:nvSpPr>
        <p:spPr>
          <a:xfrm>
            <a:off x="6983728" y="7223759"/>
            <a:ext cx="54864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3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228" name="Connector 11"/>
          <p:cNvSpPr/>
          <p:nvPr/>
        </p:nvSpPr>
        <p:spPr>
          <a:xfrm>
            <a:off x="9041130" y="9692640"/>
            <a:ext cx="1371601" cy="1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9" name="TextBox 12"/>
          <p:cNvSpPr txBox="1"/>
          <p:nvPr/>
        </p:nvSpPr>
        <p:spPr>
          <a:xfrm>
            <a:off x="11944350" y="6400800"/>
            <a:ext cx="54864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0" name="TextBox 13"/>
          <p:cNvSpPr txBox="1"/>
          <p:nvPr/>
        </p:nvSpPr>
        <p:spPr>
          <a:xfrm>
            <a:off x="11944350" y="7223759"/>
            <a:ext cx="54864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3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31" name="Connector 14"/>
          <p:cNvSpPr/>
          <p:nvPr/>
        </p:nvSpPr>
        <p:spPr>
          <a:xfrm>
            <a:off x="14001750" y="9692640"/>
            <a:ext cx="1371600" cy="1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TextBox 15"/>
          <p:cNvSpPr txBox="1"/>
          <p:nvPr/>
        </p:nvSpPr>
        <p:spPr>
          <a:xfrm>
            <a:off x="16904969" y="6400800"/>
            <a:ext cx="5486401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33" name="TextBox 16"/>
          <p:cNvSpPr txBox="1"/>
          <p:nvPr/>
        </p:nvSpPr>
        <p:spPr>
          <a:xfrm>
            <a:off x="16904969" y="7223759"/>
            <a:ext cx="54864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b="1" sz="3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34" name="Connector 17"/>
          <p:cNvSpPr/>
          <p:nvPr/>
        </p:nvSpPr>
        <p:spPr>
          <a:xfrm>
            <a:off x="18962369" y="9692640"/>
            <a:ext cx="1371601" cy="1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TextBox 220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232" descr="Picture 2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TextBox 233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004 / 111</a:t>
            </a:r>
          </a:p>
        </p:txBody>
      </p:sp>
      <p:sp>
        <p:nvSpPr>
          <p:cNvPr id="239" name="TextBox 234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40" name="TextBox 235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Current Platform Capabilities</a:t>
            </a:r>
          </a:p>
        </p:txBody>
      </p:sp>
      <p:sp>
        <p:nvSpPr>
          <p:cNvPr id="241" name="TextBox 236"/>
          <p:cNvSpPr txBox="1"/>
          <p:nvPr/>
        </p:nvSpPr>
        <p:spPr>
          <a:xfrm>
            <a:off x="1371600" y="5029200"/>
            <a:ext cx="6858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2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Platform capabilities are evaluated at feature level across the investor journey.</a:t>
            </a:r>
          </a:p>
        </p:txBody>
      </p:sp>
      <p:sp>
        <p:nvSpPr>
          <p:cNvPr id="242" name="TextBox 237"/>
          <p:cNvSpPr txBox="1"/>
          <p:nvPr/>
        </p:nvSpPr>
        <p:spPr>
          <a:xfrm>
            <a:off x="8869680" y="5029200"/>
            <a:ext cx="6858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243" name="Connector 238"/>
          <p:cNvSpPr/>
          <p:nvPr/>
        </p:nvSpPr>
        <p:spPr>
          <a:xfrm>
            <a:off x="8869680" y="5532120"/>
            <a:ext cx="6858001" cy="1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" name="TextBox 239"/>
          <p:cNvSpPr txBox="1"/>
          <p:nvPr/>
        </p:nvSpPr>
        <p:spPr>
          <a:xfrm>
            <a:off x="8869680" y="5806440"/>
            <a:ext cx="6858001" cy="1110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View capabilities (information visibility)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Action capabilities (transaction execution)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Configuration capabilities (controls and settings)</a:t>
            </a:r>
          </a:p>
        </p:txBody>
      </p:sp>
      <p:sp>
        <p:nvSpPr>
          <p:cNvPr id="245" name="TextBox 240"/>
          <p:cNvSpPr txBox="1"/>
          <p:nvPr/>
        </p:nvSpPr>
        <p:spPr>
          <a:xfrm>
            <a:off x="16367760" y="5029200"/>
            <a:ext cx="6858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COVERAGE</a:t>
            </a:r>
          </a:p>
        </p:txBody>
      </p:sp>
      <p:sp>
        <p:nvSpPr>
          <p:cNvPr id="246" name="Connector 241"/>
          <p:cNvSpPr/>
          <p:nvPr/>
        </p:nvSpPr>
        <p:spPr>
          <a:xfrm>
            <a:off x="16367760" y="5532120"/>
            <a:ext cx="6858001" cy="1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" name="TextBox 242"/>
          <p:cNvSpPr txBox="1"/>
          <p:nvPr/>
        </p:nvSpPr>
        <p:spPr>
          <a:xfrm>
            <a:off x="16367760" y="5806440"/>
            <a:ext cx="6858001" cy="983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Capability mapping across Monitor, Discover, Analyze, Execute, Post-Trade, Funding, Account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Current state capability baseline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35" descr="Picture 2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Box 236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005 / 111</a:t>
            </a:r>
          </a:p>
        </p:txBody>
      </p:sp>
      <p:sp>
        <p:nvSpPr>
          <p:cNvPr id="251" name="TextBox 237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52" name="TextBox 238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Table of Contents</a:t>
            </a:r>
          </a:p>
        </p:txBody>
      </p:sp>
      <p:sp>
        <p:nvSpPr>
          <p:cNvPr id="253" name="Connector 239"/>
          <p:cNvSpPr/>
          <p:nvPr/>
        </p:nvSpPr>
        <p:spPr>
          <a:xfrm>
            <a:off x="1371599" y="4480559"/>
            <a:ext cx="2167128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TextBox 240"/>
          <p:cNvSpPr txBox="1"/>
          <p:nvPr/>
        </p:nvSpPr>
        <p:spPr>
          <a:xfrm>
            <a:off x="1371600" y="477774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006</a:t>
            </a:r>
          </a:p>
        </p:txBody>
      </p:sp>
      <p:sp>
        <p:nvSpPr>
          <p:cNvPr id="255" name="TextBox 241"/>
          <p:cNvSpPr txBox="1"/>
          <p:nvPr/>
        </p:nvSpPr>
        <p:spPr>
          <a:xfrm>
            <a:off x="2743200" y="4777740"/>
            <a:ext cx="182880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ppaction://hlinksldjump" tgtFrame="" tooltip="" history="1" highlightClick="0" endSnd="0"/>
              </a:rPr>
              <a:t>Gap Summary</a:t>
            </a:r>
          </a:p>
        </p:txBody>
      </p:sp>
      <p:sp>
        <p:nvSpPr>
          <p:cNvPr id="256" name="Connector 242"/>
          <p:cNvSpPr/>
          <p:nvPr/>
        </p:nvSpPr>
        <p:spPr>
          <a:xfrm>
            <a:off x="1371599" y="53949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7" name="TextBox 243"/>
          <p:cNvSpPr txBox="1"/>
          <p:nvPr/>
        </p:nvSpPr>
        <p:spPr>
          <a:xfrm>
            <a:off x="1371600" y="560070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011</a:t>
            </a:r>
          </a:p>
        </p:txBody>
      </p:sp>
      <p:sp>
        <p:nvSpPr>
          <p:cNvPr id="258" name="TextBox 244"/>
          <p:cNvSpPr txBox="1"/>
          <p:nvPr/>
        </p:nvSpPr>
        <p:spPr>
          <a:xfrm>
            <a:off x="2743200" y="5600700"/>
            <a:ext cx="182880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4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ppaction://hlinksldjump" tgtFrame="" tooltip="" history="1" highlightClick="0" endSnd="0"/>
              </a:rPr>
              <a:t>Digital Capabilities</a:t>
            </a:r>
          </a:p>
        </p:txBody>
      </p:sp>
      <p:sp>
        <p:nvSpPr>
          <p:cNvPr id="259" name="Connector 245"/>
          <p:cNvSpPr/>
          <p:nvPr/>
        </p:nvSpPr>
        <p:spPr>
          <a:xfrm>
            <a:off x="1371599" y="621792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0" name="TextBox 246"/>
          <p:cNvSpPr txBox="1"/>
          <p:nvPr/>
        </p:nvSpPr>
        <p:spPr>
          <a:xfrm>
            <a:off x="1371600" y="6423659"/>
            <a:ext cx="109728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018</a:t>
            </a:r>
          </a:p>
        </p:txBody>
      </p:sp>
      <p:sp>
        <p:nvSpPr>
          <p:cNvPr id="261" name="TextBox 247"/>
          <p:cNvSpPr txBox="1"/>
          <p:nvPr/>
        </p:nvSpPr>
        <p:spPr>
          <a:xfrm>
            <a:off x="2743200" y="6423659"/>
            <a:ext cx="182880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5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ppaction://hlinksldjump" tgtFrame="" tooltip="" history="1" highlightClick="0" endSnd="0"/>
              </a:rPr>
              <a:t>Local Market</a:t>
            </a:r>
          </a:p>
        </p:txBody>
      </p:sp>
      <p:sp>
        <p:nvSpPr>
          <p:cNvPr id="262" name="Connector 248"/>
          <p:cNvSpPr/>
          <p:nvPr/>
        </p:nvSpPr>
        <p:spPr>
          <a:xfrm>
            <a:off x="1371599" y="70408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" name="TextBox 249"/>
          <p:cNvSpPr txBox="1"/>
          <p:nvPr/>
        </p:nvSpPr>
        <p:spPr>
          <a:xfrm>
            <a:off x="1371600" y="7246619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041</a:t>
            </a:r>
          </a:p>
        </p:txBody>
      </p:sp>
      <p:sp>
        <p:nvSpPr>
          <p:cNvPr id="264" name="TextBox 250"/>
          <p:cNvSpPr txBox="1"/>
          <p:nvPr/>
        </p:nvSpPr>
        <p:spPr>
          <a:xfrm>
            <a:off x="2743200" y="7246619"/>
            <a:ext cx="182880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6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ppaction://hlinksldjump" tgtFrame="" tooltip="" history="1" highlightClick="0" endSnd="0"/>
              </a:rPr>
              <a:t>Mutual Fund</a:t>
            </a:r>
          </a:p>
        </p:txBody>
      </p:sp>
      <p:sp>
        <p:nvSpPr>
          <p:cNvPr id="265" name="Connector 251"/>
          <p:cNvSpPr/>
          <p:nvPr/>
        </p:nvSpPr>
        <p:spPr>
          <a:xfrm>
            <a:off x="1371599" y="78638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" name="TextBox 252"/>
          <p:cNvSpPr txBox="1"/>
          <p:nvPr/>
        </p:nvSpPr>
        <p:spPr>
          <a:xfrm>
            <a:off x="1371600" y="806958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060</a:t>
            </a:r>
          </a:p>
        </p:txBody>
      </p:sp>
      <p:sp>
        <p:nvSpPr>
          <p:cNvPr id="267" name="TextBox 253"/>
          <p:cNvSpPr txBox="1"/>
          <p:nvPr/>
        </p:nvSpPr>
        <p:spPr>
          <a:xfrm>
            <a:off x="2743200" y="8069580"/>
            <a:ext cx="182880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7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ppaction://hlinksldjump" tgtFrame="" tooltip="" history="1" highlightClick="0" endSnd="0"/>
              </a:rPr>
              <a:t>US Market</a:t>
            </a:r>
          </a:p>
        </p:txBody>
      </p:sp>
      <p:sp>
        <p:nvSpPr>
          <p:cNvPr id="268" name="Connector 254"/>
          <p:cNvSpPr/>
          <p:nvPr/>
        </p:nvSpPr>
        <p:spPr>
          <a:xfrm>
            <a:off x="1371599" y="86868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" name="TextBox 255"/>
          <p:cNvSpPr txBox="1"/>
          <p:nvPr/>
        </p:nvSpPr>
        <p:spPr>
          <a:xfrm>
            <a:off x="1371600" y="889254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083</a:t>
            </a:r>
          </a:p>
        </p:txBody>
      </p:sp>
      <p:sp>
        <p:nvSpPr>
          <p:cNvPr id="270" name="TextBox 256"/>
          <p:cNvSpPr txBox="1"/>
          <p:nvPr/>
        </p:nvSpPr>
        <p:spPr>
          <a:xfrm>
            <a:off x="2743200" y="8892540"/>
            <a:ext cx="182880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8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 invalidUrl="" action="ppaction://hlinksldjump" tgtFrame="" tooltip="" history="1" highlightClick="0" endSnd="0"/>
              </a:rPr>
              <a:t>Mashurah (Robo)</a:t>
            </a:r>
          </a:p>
        </p:txBody>
      </p:sp>
      <p:sp>
        <p:nvSpPr>
          <p:cNvPr id="271" name="Connector 257"/>
          <p:cNvSpPr/>
          <p:nvPr/>
        </p:nvSpPr>
        <p:spPr>
          <a:xfrm>
            <a:off x="1371599" y="95097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" name="TextBox 258"/>
          <p:cNvSpPr txBox="1"/>
          <p:nvPr/>
        </p:nvSpPr>
        <p:spPr>
          <a:xfrm>
            <a:off x="1371600" y="971550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102</a:t>
            </a:r>
          </a:p>
        </p:txBody>
      </p:sp>
      <p:sp>
        <p:nvSpPr>
          <p:cNvPr id="273" name="TextBox 259"/>
          <p:cNvSpPr txBox="1"/>
          <p:nvPr/>
        </p:nvSpPr>
        <p:spPr>
          <a:xfrm>
            <a:off x="2743200" y="9715500"/>
            <a:ext cx="18288000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9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 invalidUrl="" action="ppaction://hlinksldjump" tgtFrame="" tooltip="" history="1" highlightClick="0" endSnd="0"/>
              </a:rPr>
              <a:t>IPO</a:t>
            </a:r>
          </a:p>
        </p:txBody>
      </p:sp>
      <p:sp>
        <p:nvSpPr>
          <p:cNvPr id="274" name="Connector 260"/>
          <p:cNvSpPr/>
          <p:nvPr/>
        </p:nvSpPr>
        <p:spPr>
          <a:xfrm>
            <a:off x="1371599" y="103327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" name="TextBox 261"/>
          <p:cNvSpPr txBox="1"/>
          <p:nvPr/>
        </p:nvSpPr>
        <p:spPr>
          <a:xfrm>
            <a:off x="1371600" y="10538459"/>
            <a:ext cx="109728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106</a:t>
            </a:r>
          </a:p>
        </p:txBody>
      </p:sp>
      <p:sp>
        <p:nvSpPr>
          <p:cNvPr id="276" name="TextBox 262"/>
          <p:cNvSpPr txBox="1"/>
          <p:nvPr/>
        </p:nvSpPr>
        <p:spPr>
          <a:xfrm>
            <a:off x="2743200" y="10538459"/>
            <a:ext cx="182880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"/>
                <a:ea typeface="Poppins"/>
                <a:cs typeface="Poppins"/>
                <a:sym typeface="Poppins"/>
                <a:hlinkClick r:id="rId10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111827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0" invalidUrl="" action="ppaction://hlinksldjump" tgtFrame="" tooltip="" history="1" highlightClick="0" endSnd="0"/>
              </a:rPr>
              <a:t>LMS</a:t>
            </a:r>
          </a:p>
        </p:txBody>
      </p:sp>
      <p:sp>
        <p:nvSpPr>
          <p:cNvPr id="277" name="Connector 263"/>
          <p:cNvSpPr/>
          <p:nvPr/>
        </p:nvSpPr>
        <p:spPr>
          <a:xfrm>
            <a:off x="1371599" y="111556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TextBox 2"/>
          <p:cNvSpPr txBox="1"/>
          <p:nvPr/>
        </p:nvSpPr>
        <p:spPr>
          <a:xfrm>
            <a:off x="18928080" y="1097280"/>
            <a:ext cx="4572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4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281" name="Connector 3"/>
          <p:cNvSpPr/>
          <p:nvPr/>
        </p:nvSpPr>
        <p:spPr>
          <a:xfrm>
            <a:off x="1371600" y="4114800"/>
            <a:ext cx="914400" cy="0"/>
          </a:xfrm>
          <a:prstGeom prst="line">
            <a:avLst/>
          </a:prstGeom>
          <a:ln w="3175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" name="TextBox 4"/>
          <p:cNvSpPr txBox="1"/>
          <p:nvPr/>
        </p:nvSpPr>
        <p:spPr>
          <a:xfrm>
            <a:off x="1371600" y="4389120"/>
            <a:ext cx="20116800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Gaps </a:t>
            </a:r>
            <a:r>
              <a:rPr>
                <a:solidFill>
                  <a:srgbClr val="0333E8"/>
                </a:solidFill>
              </a:rPr>
              <a:t>Summary</a:t>
            </a:r>
          </a:p>
        </p:txBody>
      </p:sp>
      <p:sp>
        <p:nvSpPr>
          <p:cNvPr id="283" name="TextBox 5"/>
          <p:cNvSpPr txBox="1"/>
          <p:nvPr/>
        </p:nvSpPr>
        <p:spPr>
          <a:xfrm>
            <a:off x="1371600" y="7863840"/>
            <a:ext cx="2011680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Cross-product capability gaps identified across all products</a:t>
            </a:r>
          </a:p>
        </p:txBody>
      </p:sp>
      <p:sp>
        <p:nvSpPr>
          <p:cNvPr id="284" name="TextBox 6"/>
          <p:cNvSpPr txBox="1"/>
          <p:nvPr/>
        </p:nvSpPr>
        <p:spPr>
          <a:xfrm>
            <a:off x="1371600" y="9144000"/>
            <a:ext cx="20116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4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MUTUAL FUND  ·  US MARKET  ·  MASHURAH</a:t>
            </a:r>
          </a:p>
        </p:txBody>
      </p:sp>
      <p:sp>
        <p:nvSpPr>
          <p:cNvPr id="285" name="TextBox 7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006 / 111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icture 244" descr="Picture 24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TextBox 245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007 / 111</a:t>
            </a:r>
          </a:p>
        </p:txBody>
      </p:sp>
      <p:sp>
        <p:nvSpPr>
          <p:cNvPr id="289" name="TextBox 246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290" name="TextBox 247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Local Market</a:t>
            </a:r>
          </a:p>
        </p:txBody>
      </p:sp>
      <p:sp>
        <p:nvSpPr>
          <p:cNvPr id="291" name="TextBox 248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92" name="TextBox 249"/>
          <p:cNvSpPr txBox="1"/>
          <p:nvPr/>
        </p:nvSpPr>
        <p:spPr>
          <a:xfrm>
            <a:off x="2286000" y="4114800"/>
            <a:ext cx="62179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293" name="TextBox 250"/>
          <p:cNvSpPr txBox="1"/>
          <p:nvPr/>
        </p:nvSpPr>
        <p:spPr>
          <a:xfrm>
            <a:off x="8686800" y="4114800"/>
            <a:ext cx="1435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294" name="Connector 251"/>
          <p:cNvSpPr/>
          <p:nvPr/>
        </p:nvSpPr>
        <p:spPr>
          <a:xfrm>
            <a:off x="1371599" y="4526279"/>
            <a:ext cx="2167128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" name="TextBox 252"/>
          <p:cNvSpPr txBox="1"/>
          <p:nvPr/>
        </p:nvSpPr>
        <p:spPr>
          <a:xfrm>
            <a:off x="1371600" y="4721764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6" name="TextBox 253"/>
          <p:cNvSpPr txBox="1"/>
          <p:nvPr/>
        </p:nvSpPr>
        <p:spPr>
          <a:xfrm>
            <a:off x="2286000" y="472176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297" name="TextBox 254"/>
          <p:cNvSpPr txBox="1"/>
          <p:nvPr/>
        </p:nvSpPr>
        <p:spPr>
          <a:xfrm>
            <a:off x="8686800" y="472176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 score, diversification score, risk analysis, benchmark comparison, volatility metrics</a:t>
            </a:r>
          </a:p>
        </p:txBody>
      </p:sp>
      <p:sp>
        <p:nvSpPr>
          <p:cNvPr id="298" name="Connector 255"/>
          <p:cNvSpPr/>
          <p:nvPr/>
        </p:nvSpPr>
        <p:spPr>
          <a:xfrm>
            <a:off x="1371599" y="5195751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9" name="TextBox 256"/>
          <p:cNvSpPr txBox="1"/>
          <p:nvPr/>
        </p:nvSpPr>
        <p:spPr>
          <a:xfrm>
            <a:off x="1371600" y="5299795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00" name="TextBox 257"/>
          <p:cNvSpPr txBox="1"/>
          <p:nvPr/>
        </p:nvSpPr>
        <p:spPr>
          <a:xfrm>
            <a:off x="2286000" y="5299795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301" name="TextBox 258"/>
          <p:cNvSpPr txBox="1"/>
          <p:nvPr/>
        </p:nvSpPr>
        <p:spPr>
          <a:xfrm>
            <a:off x="8686800" y="5299795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Allocation analytics, dividend tracking, unrealized analysis, transaction insights, trend analytics</a:t>
            </a:r>
          </a:p>
        </p:txBody>
      </p:sp>
      <p:sp>
        <p:nvSpPr>
          <p:cNvPr id="302" name="Connector 259"/>
          <p:cNvSpPr/>
          <p:nvPr/>
        </p:nvSpPr>
        <p:spPr>
          <a:xfrm>
            <a:off x="1371599" y="5773782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3" name="TextBox 260"/>
          <p:cNvSpPr txBox="1"/>
          <p:nvPr/>
        </p:nvSpPr>
        <p:spPr>
          <a:xfrm>
            <a:off x="1371600" y="5877826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04" name="TextBox 261"/>
          <p:cNvSpPr txBox="1"/>
          <p:nvPr/>
        </p:nvSpPr>
        <p:spPr>
          <a:xfrm>
            <a:off x="2286000" y="5877826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Benchmark Integration</a:t>
            </a:r>
          </a:p>
        </p:txBody>
      </p:sp>
      <p:sp>
        <p:nvSpPr>
          <p:cNvPr id="305" name="TextBox 262"/>
          <p:cNvSpPr txBox="1"/>
          <p:nvPr/>
        </p:nvSpPr>
        <p:spPr>
          <a:xfrm>
            <a:off x="8686800" y="5877826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vs index comparison</a:t>
            </a:r>
          </a:p>
        </p:txBody>
      </p:sp>
      <p:sp>
        <p:nvSpPr>
          <p:cNvPr id="306" name="Connector 263"/>
          <p:cNvSpPr/>
          <p:nvPr/>
        </p:nvSpPr>
        <p:spPr>
          <a:xfrm>
            <a:off x="1371599" y="6351813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7" name="TextBox 264"/>
          <p:cNvSpPr txBox="1"/>
          <p:nvPr/>
        </p:nvSpPr>
        <p:spPr>
          <a:xfrm>
            <a:off x="1371600" y="6455857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08" name="TextBox 265"/>
          <p:cNvSpPr txBox="1"/>
          <p:nvPr/>
        </p:nvSpPr>
        <p:spPr>
          <a:xfrm>
            <a:off x="2286000" y="6455857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Attribution</a:t>
            </a:r>
          </a:p>
        </p:txBody>
      </p:sp>
      <p:sp>
        <p:nvSpPr>
          <p:cNvPr id="309" name="TextBox 266"/>
          <p:cNvSpPr txBox="1"/>
          <p:nvPr/>
        </p:nvSpPr>
        <p:spPr>
          <a:xfrm>
            <a:off x="8686800" y="6455857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Return attribution by asset</a:t>
            </a:r>
          </a:p>
        </p:txBody>
      </p:sp>
      <p:sp>
        <p:nvSpPr>
          <p:cNvPr id="310" name="Connector 267"/>
          <p:cNvSpPr/>
          <p:nvPr/>
        </p:nvSpPr>
        <p:spPr>
          <a:xfrm>
            <a:off x="1371599" y="6929843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" name="TextBox 268"/>
          <p:cNvSpPr txBox="1"/>
          <p:nvPr/>
        </p:nvSpPr>
        <p:spPr>
          <a:xfrm>
            <a:off x="1371600" y="7033889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12" name="TextBox 269"/>
          <p:cNvSpPr txBox="1"/>
          <p:nvPr/>
        </p:nvSpPr>
        <p:spPr>
          <a:xfrm>
            <a:off x="2286000" y="7033889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313" name="TextBox 270"/>
          <p:cNvSpPr txBox="1"/>
          <p:nvPr/>
        </p:nvSpPr>
        <p:spPr>
          <a:xfrm>
            <a:off x="8686800" y="7033889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insights &amp; rebalance suggestions</a:t>
            </a:r>
          </a:p>
        </p:txBody>
      </p:sp>
      <p:sp>
        <p:nvSpPr>
          <p:cNvPr id="314" name="Connector 271"/>
          <p:cNvSpPr/>
          <p:nvPr/>
        </p:nvSpPr>
        <p:spPr>
          <a:xfrm>
            <a:off x="1371599" y="7507875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5" name="TextBox 272"/>
          <p:cNvSpPr txBox="1"/>
          <p:nvPr/>
        </p:nvSpPr>
        <p:spPr>
          <a:xfrm>
            <a:off x="1371600" y="7611919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16" name="TextBox 273"/>
          <p:cNvSpPr txBox="1"/>
          <p:nvPr/>
        </p:nvSpPr>
        <p:spPr>
          <a:xfrm>
            <a:off x="2286000" y="7611919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Advanced Order Types</a:t>
            </a:r>
          </a:p>
        </p:txBody>
      </p:sp>
      <p:sp>
        <p:nvSpPr>
          <p:cNvPr id="317" name="TextBox 274"/>
          <p:cNvSpPr txBox="1"/>
          <p:nvPr/>
        </p:nvSpPr>
        <p:spPr>
          <a:xfrm>
            <a:off x="8686800" y="7611919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Stop loss, take profit, attached order, slicing order, chain order, bracket order, market on close</a:t>
            </a:r>
          </a:p>
        </p:txBody>
      </p:sp>
      <p:sp>
        <p:nvSpPr>
          <p:cNvPr id="318" name="Connector 275"/>
          <p:cNvSpPr/>
          <p:nvPr/>
        </p:nvSpPr>
        <p:spPr>
          <a:xfrm>
            <a:off x="1371599" y="8085905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" name="TextBox 276"/>
          <p:cNvSpPr txBox="1"/>
          <p:nvPr/>
        </p:nvSpPr>
        <p:spPr>
          <a:xfrm>
            <a:off x="1371600" y="8189951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20" name="TextBox 277"/>
          <p:cNvSpPr txBox="1"/>
          <p:nvPr/>
        </p:nvSpPr>
        <p:spPr>
          <a:xfrm>
            <a:off x="2286000" y="8189951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 Lifecycle Tracking</a:t>
            </a:r>
          </a:p>
        </p:txBody>
      </p:sp>
      <p:sp>
        <p:nvSpPr>
          <p:cNvPr id="321" name="TextBox 278"/>
          <p:cNvSpPr txBox="1"/>
          <p:nvPr/>
        </p:nvSpPr>
        <p:spPr>
          <a:xfrm>
            <a:off x="8686800" y="8189951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Timeline view, execution quality metrics</a:t>
            </a:r>
          </a:p>
        </p:txBody>
      </p:sp>
      <p:sp>
        <p:nvSpPr>
          <p:cNvPr id="322" name="Connector 279"/>
          <p:cNvSpPr/>
          <p:nvPr/>
        </p:nvSpPr>
        <p:spPr>
          <a:xfrm>
            <a:off x="1371599" y="8663937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3" name="TextBox 280"/>
          <p:cNvSpPr txBox="1"/>
          <p:nvPr/>
        </p:nvSpPr>
        <p:spPr>
          <a:xfrm>
            <a:off x="1371600" y="8767981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24" name="TextBox 281"/>
          <p:cNvSpPr txBox="1"/>
          <p:nvPr/>
        </p:nvSpPr>
        <p:spPr>
          <a:xfrm>
            <a:off x="2286000" y="8767981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Forecasting</a:t>
            </a:r>
          </a:p>
        </p:txBody>
      </p:sp>
      <p:sp>
        <p:nvSpPr>
          <p:cNvPr id="325" name="TextBox 282"/>
          <p:cNvSpPr txBox="1"/>
          <p:nvPr/>
        </p:nvSpPr>
        <p:spPr>
          <a:xfrm>
            <a:off x="8686800" y="8767981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Settlement timeline, liquidity forecast</a:t>
            </a:r>
          </a:p>
        </p:txBody>
      </p:sp>
      <p:sp>
        <p:nvSpPr>
          <p:cNvPr id="326" name="Connector 283"/>
          <p:cNvSpPr/>
          <p:nvPr/>
        </p:nvSpPr>
        <p:spPr>
          <a:xfrm>
            <a:off x="1371599" y="9241967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7" name="TextBox 284"/>
          <p:cNvSpPr txBox="1"/>
          <p:nvPr/>
        </p:nvSpPr>
        <p:spPr>
          <a:xfrm>
            <a:off x="1371600" y="934601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28" name="TextBox 285"/>
          <p:cNvSpPr txBox="1"/>
          <p:nvPr/>
        </p:nvSpPr>
        <p:spPr>
          <a:xfrm>
            <a:off x="2286000" y="934601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329" name="TextBox 286"/>
          <p:cNvSpPr txBox="1"/>
          <p:nvPr/>
        </p:nvSpPr>
        <p:spPr>
          <a:xfrm>
            <a:off x="8686800" y="934601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Advanced export formats, custom reports</a:t>
            </a:r>
          </a:p>
        </p:txBody>
      </p:sp>
      <p:sp>
        <p:nvSpPr>
          <p:cNvPr id="330" name="Connector 287"/>
          <p:cNvSpPr/>
          <p:nvPr/>
        </p:nvSpPr>
        <p:spPr>
          <a:xfrm>
            <a:off x="1371599" y="981999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1" name="TextBox 288"/>
          <p:cNvSpPr txBox="1"/>
          <p:nvPr/>
        </p:nvSpPr>
        <p:spPr>
          <a:xfrm>
            <a:off x="1371600" y="992404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32" name="TextBox 289"/>
          <p:cNvSpPr txBox="1"/>
          <p:nvPr/>
        </p:nvSpPr>
        <p:spPr>
          <a:xfrm>
            <a:off x="2286000" y="992404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Stocks analyst rating</a:t>
            </a:r>
          </a:p>
        </p:txBody>
      </p:sp>
      <p:sp>
        <p:nvSpPr>
          <p:cNvPr id="333" name="TextBox 290"/>
          <p:cNvSpPr txBox="1"/>
          <p:nvPr/>
        </p:nvSpPr>
        <p:spPr>
          <a:xfrm>
            <a:off x="8686800" y="992404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Consensus ratings, target prices, or buy/sell/hold breakdown available</a:t>
            </a:r>
          </a:p>
        </p:txBody>
      </p:sp>
      <p:sp>
        <p:nvSpPr>
          <p:cNvPr id="334" name="Connector 291"/>
          <p:cNvSpPr/>
          <p:nvPr/>
        </p:nvSpPr>
        <p:spPr>
          <a:xfrm>
            <a:off x="1371599" y="1039802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5" name="TextBox 292"/>
          <p:cNvSpPr txBox="1"/>
          <p:nvPr/>
        </p:nvSpPr>
        <p:spPr>
          <a:xfrm>
            <a:off x="1371600" y="10502075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36" name="TextBox 293"/>
          <p:cNvSpPr txBox="1"/>
          <p:nvPr/>
        </p:nvSpPr>
        <p:spPr>
          <a:xfrm>
            <a:off x="2286000" y="10502075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Stocks Research Reports</a:t>
            </a:r>
          </a:p>
        </p:txBody>
      </p:sp>
      <p:sp>
        <p:nvSpPr>
          <p:cNvPr id="337" name="TextBox 294"/>
          <p:cNvSpPr txBox="1"/>
          <p:nvPr/>
        </p:nvSpPr>
        <p:spPr>
          <a:xfrm>
            <a:off x="8686800" y="10502075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 or third-party research linked to stock</a:t>
            </a:r>
          </a:p>
        </p:txBody>
      </p:sp>
      <p:sp>
        <p:nvSpPr>
          <p:cNvPr id="338" name="Connector 295"/>
          <p:cNvSpPr/>
          <p:nvPr/>
        </p:nvSpPr>
        <p:spPr>
          <a:xfrm>
            <a:off x="1371599" y="10976061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9" name="TextBox 296"/>
          <p:cNvSpPr txBox="1"/>
          <p:nvPr/>
        </p:nvSpPr>
        <p:spPr>
          <a:xfrm>
            <a:off x="1371600" y="11080105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40" name="TextBox 297"/>
          <p:cNvSpPr txBox="1"/>
          <p:nvPr/>
        </p:nvSpPr>
        <p:spPr>
          <a:xfrm>
            <a:off x="2286000" y="11080105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Sector &amp; peer context</a:t>
            </a:r>
          </a:p>
        </p:txBody>
      </p:sp>
      <p:sp>
        <p:nvSpPr>
          <p:cNvPr id="341" name="TextBox 298"/>
          <p:cNvSpPr txBox="1"/>
          <p:nvPr/>
        </p:nvSpPr>
        <p:spPr>
          <a:xfrm>
            <a:off x="8686800" y="11080105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Peer comparison or sector-level benchmarking within TASI</a:t>
            </a:r>
          </a:p>
        </p:txBody>
      </p:sp>
      <p:sp>
        <p:nvSpPr>
          <p:cNvPr id="342" name="Connector 299"/>
          <p:cNvSpPr/>
          <p:nvPr/>
        </p:nvSpPr>
        <p:spPr>
          <a:xfrm>
            <a:off x="1371599" y="11554091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3" name="TextBox 300"/>
          <p:cNvSpPr txBox="1"/>
          <p:nvPr/>
        </p:nvSpPr>
        <p:spPr>
          <a:xfrm>
            <a:off x="1371600" y="11658137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44" name="TextBox 301"/>
          <p:cNvSpPr txBox="1"/>
          <p:nvPr/>
        </p:nvSpPr>
        <p:spPr>
          <a:xfrm>
            <a:off x="2286000" y="11658137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News coverage</a:t>
            </a:r>
          </a:p>
        </p:txBody>
      </p:sp>
      <p:sp>
        <p:nvSpPr>
          <p:cNvPr id="345" name="TextBox 302"/>
          <p:cNvSpPr txBox="1"/>
          <p:nvPr/>
        </p:nvSpPr>
        <p:spPr>
          <a:xfrm>
            <a:off x="8686800" y="11658137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News. Only article shown with no recency filtering</a:t>
            </a:r>
          </a:p>
        </p:txBody>
      </p:sp>
      <p:sp>
        <p:nvSpPr>
          <p:cNvPr id="346" name="Connector 303"/>
          <p:cNvSpPr/>
          <p:nvPr/>
        </p:nvSpPr>
        <p:spPr>
          <a:xfrm>
            <a:off x="1371599" y="12132123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7" name="TextBox 304"/>
          <p:cNvSpPr txBox="1"/>
          <p:nvPr/>
        </p:nvSpPr>
        <p:spPr>
          <a:xfrm>
            <a:off x="1371600" y="12236167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48" name="TextBox 305"/>
          <p:cNvSpPr txBox="1"/>
          <p:nvPr/>
        </p:nvSpPr>
        <p:spPr>
          <a:xfrm>
            <a:off x="2286000" y="12236167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349" name="Connector 307"/>
          <p:cNvSpPr/>
          <p:nvPr/>
        </p:nvSpPr>
        <p:spPr>
          <a:xfrm>
            <a:off x="1371599" y="12710153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Picture 251" descr="Picture 2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TextBox 25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008 / 111</a:t>
            </a:r>
          </a:p>
        </p:txBody>
      </p:sp>
      <p:sp>
        <p:nvSpPr>
          <p:cNvPr id="353" name="TextBox 25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354" name="TextBox 25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355" name="TextBox 255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56" name="TextBox 256"/>
          <p:cNvSpPr txBox="1"/>
          <p:nvPr/>
        </p:nvSpPr>
        <p:spPr>
          <a:xfrm>
            <a:off x="2286000" y="4114800"/>
            <a:ext cx="62179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357" name="TextBox 257"/>
          <p:cNvSpPr txBox="1"/>
          <p:nvPr/>
        </p:nvSpPr>
        <p:spPr>
          <a:xfrm>
            <a:off x="8686800" y="4114800"/>
            <a:ext cx="1435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358" name="Connector 258"/>
          <p:cNvSpPr/>
          <p:nvPr/>
        </p:nvSpPr>
        <p:spPr>
          <a:xfrm>
            <a:off x="1371599" y="4526279"/>
            <a:ext cx="2167128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9" name="TextBox 259"/>
          <p:cNvSpPr txBox="1"/>
          <p:nvPr/>
        </p:nvSpPr>
        <p:spPr>
          <a:xfrm>
            <a:off x="1371600" y="469864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0" name="TextBox 260"/>
          <p:cNvSpPr txBox="1"/>
          <p:nvPr/>
        </p:nvSpPr>
        <p:spPr>
          <a:xfrm>
            <a:off x="2286000" y="469864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361" name="TextBox 261"/>
          <p:cNvSpPr txBox="1"/>
          <p:nvPr/>
        </p:nvSpPr>
        <p:spPr>
          <a:xfrm>
            <a:off x="8686800" y="469864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 score, diversification score, risk analysis, benchmark comparison, volatility metrics</a:t>
            </a:r>
          </a:p>
        </p:txBody>
      </p:sp>
      <p:sp>
        <p:nvSpPr>
          <p:cNvPr id="362" name="Connector 262"/>
          <p:cNvSpPr/>
          <p:nvPr/>
        </p:nvSpPr>
        <p:spPr>
          <a:xfrm>
            <a:off x="1371599" y="50673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3" name="TextBox 263"/>
          <p:cNvSpPr txBox="1"/>
          <p:nvPr/>
        </p:nvSpPr>
        <p:spPr>
          <a:xfrm>
            <a:off x="1371600" y="514822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4" name="TextBox 264"/>
          <p:cNvSpPr txBox="1"/>
          <p:nvPr/>
        </p:nvSpPr>
        <p:spPr>
          <a:xfrm>
            <a:off x="2286000" y="514822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365" name="TextBox 265"/>
          <p:cNvSpPr txBox="1"/>
          <p:nvPr/>
        </p:nvSpPr>
        <p:spPr>
          <a:xfrm>
            <a:off x="8686800" y="514822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Allocation analytics, dividend tracking, unrealized analysis, transaction insights, trend analytics</a:t>
            </a:r>
          </a:p>
        </p:txBody>
      </p:sp>
      <p:sp>
        <p:nvSpPr>
          <p:cNvPr id="366" name="Connector 266"/>
          <p:cNvSpPr/>
          <p:nvPr/>
        </p:nvSpPr>
        <p:spPr>
          <a:xfrm>
            <a:off x="1371599" y="551687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7" name="TextBox 267"/>
          <p:cNvSpPr txBox="1"/>
          <p:nvPr/>
        </p:nvSpPr>
        <p:spPr>
          <a:xfrm>
            <a:off x="1371600" y="55978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8" name="TextBox 268"/>
          <p:cNvSpPr txBox="1"/>
          <p:nvPr/>
        </p:nvSpPr>
        <p:spPr>
          <a:xfrm>
            <a:off x="2286000" y="55978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Benchmark Integration</a:t>
            </a:r>
          </a:p>
        </p:txBody>
      </p:sp>
      <p:sp>
        <p:nvSpPr>
          <p:cNvPr id="369" name="TextBox 269"/>
          <p:cNvSpPr txBox="1"/>
          <p:nvPr/>
        </p:nvSpPr>
        <p:spPr>
          <a:xfrm>
            <a:off x="8686800" y="559780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vs index comparison</a:t>
            </a:r>
          </a:p>
        </p:txBody>
      </p:sp>
      <p:sp>
        <p:nvSpPr>
          <p:cNvPr id="370" name="Connector 270"/>
          <p:cNvSpPr/>
          <p:nvPr/>
        </p:nvSpPr>
        <p:spPr>
          <a:xfrm>
            <a:off x="1371599" y="59664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" name="TextBox 271"/>
          <p:cNvSpPr txBox="1"/>
          <p:nvPr/>
        </p:nvSpPr>
        <p:spPr>
          <a:xfrm>
            <a:off x="1371600" y="604738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2" name="TextBox 272"/>
          <p:cNvSpPr txBox="1"/>
          <p:nvPr/>
        </p:nvSpPr>
        <p:spPr>
          <a:xfrm>
            <a:off x="2286000" y="604738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Performance Attribution</a:t>
            </a:r>
          </a:p>
        </p:txBody>
      </p:sp>
      <p:sp>
        <p:nvSpPr>
          <p:cNvPr id="373" name="TextBox 273"/>
          <p:cNvSpPr txBox="1"/>
          <p:nvPr/>
        </p:nvSpPr>
        <p:spPr>
          <a:xfrm>
            <a:off x="8686800" y="604738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Return attribution by asset</a:t>
            </a:r>
          </a:p>
        </p:txBody>
      </p:sp>
      <p:sp>
        <p:nvSpPr>
          <p:cNvPr id="374" name="Connector 274"/>
          <p:cNvSpPr/>
          <p:nvPr/>
        </p:nvSpPr>
        <p:spPr>
          <a:xfrm>
            <a:off x="1371599" y="64160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" name="TextBox 275"/>
          <p:cNvSpPr txBox="1"/>
          <p:nvPr/>
        </p:nvSpPr>
        <p:spPr>
          <a:xfrm>
            <a:off x="1371600" y="649696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6" name="TextBox 276"/>
          <p:cNvSpPr txBox="1"/>
          <p:nvPr/>
        </p:nvSpPr>
        <p:spPr>
          <a:xfrm>
            <a:off x="2286000" y="649696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377" name="TextBox 277"/>
          <p:cNvSpPr txBox="1"/>
          <p:nvPr/>
        </p:nvSpPr>
        <p:spPr>
          <a:xfrm>
            <a:off x="8686800" y="649696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insights &amp; rebalance suggestions</a:t>
            </a:r>
          </a:p>
        </p:txBody>
      </p:sp>
      <p:sp>
        <p:nvSpPr>
          <p:cNvPr id="378" name="Connector 278"/>
          <p:cNvSpPr/>
          <p:nvPr/>
        </p:nvSpPr>
        <p:spPr>
          <a:xfrm>
            <a:off x="1371599" y="68656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TextBox 279"/>
          <p:cNvSpPr txBox="1"/>
          <p:nvPr/>
        </p:nvSpPr>
        <p:spPr>
          <a:xfrm>
            <a:off x="1371600" y="69465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80" name="TextBox 280"/>
          <p:cNvSpPr txBox="1"/>
          <p:nvPr/>
        </p:nvSpPr>
        <p:spPr>
          <a:xfrm>
            <a:off x="2286000" y="694654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Risk Profiling</a:t>
            </a:r>
          </a:p>
        </p:txBody>
      </p:sp>
      <p:sp>
        <p:nvSpPr>
          <p:cNvPr id="381" name="TextBox 281"/>
          <p:cNvSpPr txBox="1"/>
          <p:nvPr/>
        </p:nvSpPr>
        <p:spPr>
          <a:xfrm>
            <a:off x="8686800" y="694654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risk scoring</a:t>
            </a:r>
          </a:p>
        </p:txBody>
      </p:sp>
      <p:sp>
        <p:nvSpPr>
          <p:cNvPr id="382" name="Connector 282"/>
          <p:cNvSpPr/>
          <p:nvPr/>
        </p:nvSpPr>
        <p:spPr>
          <a:xfrm>
            <a:off x="1371599" y="73152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TextBox 283"/>
          <p:cNvSpPr txBox="1"/>
          <p:nvPr/>
        </p:nvSpPr>
        <p:spPr>
          <a:xfrm>
            <a:off x="1371600" y="739612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84" name="TextBox 284"/>
          <p:cNvSpPr txBox="1"/>
          <p:nvPr/>
        </p:nvSpPr>
        <p:spPr>
          <a:xfrm>
            <a:off x="2286000" y="739612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 Lifecycle Tracking</a:t>
            </a:r>
          </a:p>
        </p:txBody>
      </p:sp>
      <p:sp>
        <p:nvSpPr>
          <p:cNvPr id="385" name="TextBox 285"/>
          <p:cNvSpPr txBox="1"/>
          <p:nvPr/>
        </p:nvSpPr>
        <p:spPr>
          <a:xfrm>
            <a:off x="8686800" y="739612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Timeline view, execution quality metrics</a:t>
            </a:r>
          </a:p>
        </p:txBody>
      </p:sp>
      <p:sp>
        <p:nvSpPr>
          <p:cNvPr id="386" name="Connector 286"/>
          <p:cNvSpPr/>
          <p:nvPr/>
        </p:nvSpPr>
        <p:spPr>
          <a:xfrm>
            <a:off x="1371599" y="77647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7" name="TextBox 287"/>
          <p:cNvSpPr txBox="1"/>
          <p:nvPr/>
        </p:nvSpPr>
        <p:spPr>
          <a:xfrm>
            <a:off x="1371600" y="78457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88" name="TextBox 288"/>
          <p:cNvSpPr txBox="1"/>
          <p:nvPr/>
        </p:nvSpPr>
        <p:spPr>
          <a:xfrm>
            <a:off x="2286000" y="78457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Forecasting</a:t>
            </a:r>
          </a:p>
        </p:txBody>
      </p:sp>
      <p:sp>
        <p:nvSpPr>
          <p:cNvPr id="389" name="TextBox 289"/>
          <p:cNvSpPr txBox="1"/>
          <p:nvPr/>
        </p:nvSpPr>
        <p:spPr>
          <a:xfrm>
            <a:off x="8686800" y="784570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Settlement timeline, liquidity forecast</a:t>
            </a:r>
          </a:p>
        </p:txBody>
      </p:sp>
      <p:sp>
        <p:nvSpPr>
          <p:cNvPr id="390" name="Connector 290"/>
          <p:cNvSpPr/>
          <p:nvPr/>
        </p:nvSpPr>
        <p:spPr>
          <a:xfrm>
            <a:off x="1371599" y="82143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TextBox 291"/>
          <p:cNvSpPr txBox="1"/>
          <p:nvPr/>
        </p:nvSpPr>
        <p:spPr>
          <a:xfrm>
            <a:off x="1371600" y="82952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92" name="TextBox 292"/>
          <p:cNvSpPr txBox="1"/>
          <p:nvPr/>
        </p:nvSpPr>
        <p:spPr>
          <a:xfrm>
            <a:off x="2286000" y="829528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393" name="TextBox 293"/>
          <p:cNvSpPr txBox="1"/>
          <p:nvPr/>
        </p:nvSpPr>
        <p:spPr>
          <a:xfrm>
            <a:off x="8686800" y="829528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Advanced export formats, custom reports</a:t>
            </a:r>
          </a:p>
        </p:txBody>
      </p:sp>
      <p:sp>
        <p:nvSpPr>
          <p:cNvPr id="394" name="Connector 294"/>
          <p:cNvSpPr/>
          <p:nvPr/>
        </p:nvSpPr>
        <p:spPr>
          <a:xfrm>
            <a:off x="1371599" y="86639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TextBox 295"/>
          <p:cNvSpPr txBox="1"/>
          <p:nvPr/>
        </p:nvSpPr>
        <p:spPr>
          <a:xfrm>
            <a:off x="1371600" y="874486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96" name="TextBox 296"/>
          <p:cNvSpPr txBox="1"/>
          <p:nvPr/>
        </p:nvSpPr>
        <p:spPr>
          <a:xfrm>
            <a:off x="2286000" y="874486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397" name="TextBox 297"/>
          <p:cNvSpPr txBox="1"/>
          <p:nvPr/>
        </p:nvSpPr>
        <p:spPr>
          <a:xfrm>
            <a:off x="8686800" y="874486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Yield trends &amp; forecast</a:t>
            </a:r>
          </a:p>
        </p:txBody>
      </p:sp>
      <p:sp>
        <p:nvSpPr>
          <p:cNvPr id="398" name="Connector 298"/>
          <p:cNvSpPr/>
          <p:nvPr/>
        </p:nvSpPr>
        <p:spPr>
          <a:xfrm>
            <a:off x="1371599" y="91135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TextBox 299"/>
          <p:cNvSpPr txBox="1"/>
          <p:nvPr/>
        </p:nvSpPr>
        <p:spPr>
          <a:xfrm>
            <a:off x="1371600" y="91944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00" name="TextBox 300"/>
          <p:cNvSpPr txBox="1"/>
          <p:nvPr/>
        </p:nvSpPr>
        <p:spPr>
          <a:xfrm>
            <a:off x="2286000" y="919444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Smart Funding</a:t>
            </a:r>
          </a:p>
        </p:txBody>
      </p:sp>
      <p:sp>
        <p:nvSpPr>
          <p:cNvPr id="401" name="TextBox 301"/>
          <p:cNvSpPr txBox="1"/>
          <p:nvPr/>
        </p:nvSpPr>
        <p:spPr>
          <a:xfrm>
            <a:off x="8686800" y="919444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Intelligent routing &amp; automation</a:t>
            </a:r>
          </a:p>
        </p:txBody>
      </p:sp>
      <p:sp>
        <p:nvSpPr>
          <p:cNvPr id="402" name="Connector 302"/>
          <p:cNvSpPr/>
          <p:nvPr/>
        </p:nvSpPr>
        <p:spPr>
          <a:xfrm>
            <a:off x="1371599" y="95631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TextBox 303"/>
          <p:cNvSpPr txBox="1"/>
          <p:nvPr/>
        </p:nvSpPr>
        <p:spPr>
          <a:xfrm>
            <a:off x="1371600" y="964402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04" name="TextBox 304"/>
          <p:cNvSpPr txBox="1"/>
          <p:nvPr/>
        </p:nvSpPr>
        <p:spPr>
          <a:xfrm>
            <a:off x="2286000" y="964402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Advanced Reporting</a:t>
            </a:r>
          </a:p>
        </p:txBody>
      </p:sp>
      <p:sp>
        <p:nvSpPr>
          <p:cNvPr id="405" name="TextBox 305"/>
          <p:cNvSpPr txBox="1"/>
          <p:nvPr/>
        </p:nvSpPr>
        <p:spPr>
          <a:xfrm>
            <a:off x="8686800" y="964402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Exportable reports, structured statements</a:t>
            </a:r>
          </a:p>
        </p:txBody>
      </p:sp>
      <p:sp>
        <p:nvSpPr>
          <p:cNvPr id="406" name="Connector 306"/>
          <p:cNvSpPr/>
          <p:nvPr/>
        </p:nvSpPr>
        <p:spPr>
          <a:xfrm>
            <a:off x="1371599" y="100126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Box 307"/>
          <p:cNvSpPr txBox="1"/>
          <p:nvPr/>
        </p:nvSpPr>
        <p:spPr>
          <a:xfrm>
            <a:off x="1371600" y="100936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08" name="TextBox 308"/>
          <p:cNvSpPr txBox="1"/>
          <p:nvPr/>
        </p:nvSpPr>
        <p:spPr>
          <a:xfrm>
            <a:off x="2286000" y="100936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 Intelligence</a:t>
            </a:r>
          </a:p>
        </p:txBody>
      </p:sp>
      <p:sp>
        <p:nvSpPr>
          <p:cNvPr id="409" name="TextBox 309"/>
          <p:cNvSpPr txBox="1"/>
          <p:nvPr/>
        </p:nvSpPr>
        <p:spPr>
          <a:xfrm>
            <a:off x="8686800" y="1009360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Scenario preview for subscribe/redeem</a:t>
            </a:r>
          </a:p>
        </p:txBody>
      </p:sp>
      <p:sp>
        <p:nvSpPr>
          <p:cNvPr id="410" name="Connector 310"/>
          <p:cNvSpPr/>
          <p:nvPr/>
        </p:nvSpPr>
        <p:spPr>
          <a:xfrm>
            <a:off x="1371599" y="104622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1" name="TextBox 311"/>
          <p:cNvSpPr txBox="1"/>
          <p:nvPr/>
        </p:nvSpPr>
        <p:spPr>
          <a:xfrm>
            <a:off x="1371600" y="105431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12" name="TextBox 312"/>
          <p:cNvSpPr txBox="1"/>
          <p:nvPr/>
        </p:nvSpPr>
        <p:spPr>
          <a:xfrm>
            <a:off x="2286000" y="1054318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Third-party rating</a:t>
            </a:r>
          </a:p>
        </p:txBody>
      </p:sp>
      <p:sp>
        <p:nvSpPr>
          <p:cNvPr id="413" name="TextBox 313"/>
          <p:cNvSpPr txBox="1"/>
          <p:nvPr/>
        </p:nvSpPr>
        <p:spPr>
          <a:xfrm>
            <a:off x="8686800" y="1054318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Morningstar or equivalent fund rating shown</a:t>
            </a:r>
          </a:p>
        </p:txBody>
      </p:sp>
      <p:sp>
        <p:nvSpPr>
          <p:cNvPr id="414" name="Connector 314"/>
          <p:cNvSpPr/>
          <p:nvPr/>
        </p:nvSpPr>
        <p:spPr>
          <a:xfrm>
            <a:off x="1371599" y="109118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TextBox 315"/>
          <p:cNvSpPr txBox="1"/>
          <p:nvPr/>
        </p:nvSpPr>
        <p:spPr>
          <a:xfrm>
            <a:off x="1371600" y="1099276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16" name="TextBox 316"/>
          <p:cNvSpPr txBox="1"/>
          <p:nvPr/>
        </p:nvSpPr>
        <p:spPr>
          <a:xfrm>
            <a:off x="2286000" y="1099276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Asset allocation</a:t>
            </a:r>
          </a:p>
        </p:txBody>
      </p:sp>
      <p:sp>
        <p:nvSpPr>
          <p:cNvPr id="417" name="TextBox 317"/>
          <p:cNvSpPr txBox="1"/>
          <p:nvPr/>
        </p:nvSpPr>
        <p:spPr>
          <a:xfrm>
            <a:off x="8686800" y="1099276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Stocks, bonds, cash, and other allocation percentages not visible</a:t>
            </a:r>
          </a:p>
        </p:txBody>
      </p:sp>
      <p:sp>
        <p:nvSpPr>
          <p:cNvPr id="418" name="Connector 318"/>
          <p:cNvSpPr/>
          <p:nvPr/>
        </p:nvSpPr>
        <p:spPr>
          <a:xfrm>
            <a:off x="1371599" y="113614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TextBox 319"/>
          <p:cNvSpPr txBox="1"/>
          <p:nvPr/>
        </p:nvSpPr>
        <p:spPr>
          <a:xfrm>
            <a:off x="1371600" y="114423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420" name="TextBox 320"/>
          <p:cNvSpPr txBox="1"/>
          <p:nvPr/>
        </p:nvSpPr>
        <p:spPr>
          <a:xfrm>
            <a:off x="2286000" y="1144234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Risk metrics</a:t>
            </a:r>
          </a:p>
        </p:txBody>
      </p:sp>
      <p:sp>
        <p:nvSpPr>
          <p:cNvPr id="421" name="TextBox 321"/>
          <p:cNvSpPr txBox="1"/>
          <p:nvPr/>
        </p:nvSpPr>
        <p:spPr>
          <a:xfrm>
            <a:off x="8686800" y="1144234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Beta, volatility, or risk rating available</a:t>
            </a:r>
          </a:p>
        </p:txBody>
      </p:sp>
      <p:sp>
        <p:nvSpPr>
          <p:cNvPr id="422" name="Connector 322"/>
          <p:cNvSpPr/>
          <p:nvPr/>
        </p:nvSpPr>
        <p:spPr>
          <a:xfrm>
            <a:off x="1371599" y="118110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TextBox 323"/>
          <p:cNvSpPr txBox="1"/>
          <p:nvPr/>
        </p:nvSpPr>
        <p:spPr>
          <a:xfrm>
            <a:off x="1371600" y="1189192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424" name="TextBox 324"/>
          <p:cNvSpPr txBox="1"/>
          <p:nvPr/>
        </p:nvSpPr>
        <p:spPr>
          <a:xfrm>
            <a:off x="2286000" y="1189192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News &amp; updates</a:t>
            </a:r>
          </a:p>
        </p:txBody>
      </p:sp>
      <p:sp>
        <p:nvSpPr>
          <p:cNvPr id="425" name="TextBox 325"/>
          <p:cNvSpPr txBox="1"/>
          <p:nvPr/>
        </p:nvSpPr>
        <p:spPr>
          <a:xfrm>
            <a:off x="8686800" y="1189192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News tab or fund manager updates linked to fund page</a:t>
            </a:r>
          </a:p>
        </p:txBody>
      </p:sp>
      <p:sp>
        <p:nvSpPr>
          <p:cNvPr id="426" name="Connector 326"/>
          <p:cNvSpPr/>
          <p:nvPr/>
        </p:nvSpPr>
        <p:spPr>
          <a:xfrm>
            <a:off x="1371599" y="122605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TextBox 327"/>
          <p:cNvSpPr txBox="1"/>
          <p:nvPr/>
        </p:nvSpPr>
        <p:spPr>
          <a:xfrm>
            <a:off x="1371600" y="123415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428" name="TextBox 328"/>
          <p:cNvSpPr txBox="1"/>
          <p:nvPr/>
        </p:nvSpPr>
        <p:spPr>
          <a:xfrm>
            <a:off x="2286000" y="123415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429" name="Connector 330"/>
          <p:cNvSpPr/>
          <p:nvPr/>
        </p:nvSpPr>
        <p:spPr>
          <a:xfrm>
            <a:off x="1371599" y="127101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258" descr="Picture 25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TextBox 259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009 / 111</a:t>
            </a:r>
          </a:p>
        </p:txBody>
      </p:sp>
      <p:sp>
        <p:nvSpPr>
          <p:cNvPr id="433" name="TextBox 260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434" name="TextBox 261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435" name="TextBox 262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36" name="TextBox 263"/>
          <p:cNvSpPr txBox="1"/>
          <p:nvPr/>
        </p:nvSpPr>
        <p:spPr>
          <a:xfrm>
            <a:off x="2286000" y="4114800"/>
            <a:ext cx="62179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437" name="TextBox 264"/>
          <p:cNvSpPr txBox="1"/>
          <p:nvPr/>
        </p:nvSpPr>
        <p:spPr>
          <a:xfrm>
            <a:off x="8686800" y="4114800"/>
            <a:ext cx="1435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438" name="Connector 265"/>
          <p:cNvSpPr/>
          <p:nvPr/>
        </p:nvSpPr>
        <p:spPr>
          <a:xfrm>
            <a:off x="1371599" y="4526279"/>
            <a:ext cx="2167128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9" name="TextBox 266"/>
          <p:cNvSpPr txBox="1"/>
          <p:nvPr/>
        </p:nvSpPr>
        <p:spPr>
          <a:xfrm>
            <a:off x="1371600" y="469864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0" name="TextBox 267"/>
          <p:cNvSpPr txBox="1"/>
          <p:nvPr/>
        </p:nvSpPr>
        <p:spPr>
          <a:xfrm>
            <a:off x="2286000" y="469864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Advanced Order Types</a:t>
            </a:r>
          </a:p>
        </p:txBody>
      </p:sp>
      <p:sp>
        <p:nvSpPr>
          <p:cNvPr id="441" name="TextBox 268"/>
          <p:cNvSpPr txBox="1"/>
          <p:nvPr/>
        </p:nvSpPr>
        <p:spPr>
          <a:xfrm>
            <a:off x="8686800" y="469864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Trailing Stop, Bracket Orders, OCO, Conditional Orders</a:t>
            </a:r>
          </a:p>
        </p:txBody>
      </p:sp>
      <p:sp>
        <p:nvSpPr>
          <p:cNvPr id="442" name="Connector 269"/>
          <p:cNvSpPr/>
          <p:nvPr/>
        </p:nvSpPr>
        <p:spPr>
          <a:xfrm>
            <a:off x="1371599" y="50673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" name="TextBox 270"/>
          <p:cNvSpPr txBox="1"/>
          <p:nvPr/>
        </p:nvSpPr>
        <p:spPr>
          <a:xfrm>
            <a:off x="1371600" y="514822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4" name="TextBox 271"/>
          <p:cNvSpPr txBox="1"/>
          <p:nvPr/>
        </p:nvSpPr>
        <p:spPr>
          <a:xfrm>
            <a:off x="2286000" y="514822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Depth</a:t>
            </a:r>
          </a:p>
        </p:txBody>
      </p:sp>
      <p:sp>
        <p:nvSpPr>
          <p:cNvPr id="445" name="TextBox 272"/>
          <p:cNvSpPr txBox="1"/>
          <p:nvPr/>
        </p:nvSpPr>
        <p:spPr>
          <a:xfrm>
            <a:off x="8686800" y="514822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Market Depth</a:t>
            </a:r>
          </a:p>
        </p:txBody>
      </p:sp>
      <p:sp>
        <p:nvSpPr>
          <p:cNvPr id="446" name="Connector 273"/>
          <p:cNvSpPr/>
          <p:nvPr/>
        </p:nvSpPr>
        <p:spPr>
          <a:xfrm>
            <a:off x="1371599" y="551687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7" name="TextBox 274"/>
          <p:cNvSpPr txBox="1"/>
          <p:nvPr/>
        </p:nvSpPr>
        <p:spPr>
          <a:xfrm>
            <a:off x="1371600" y="55978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8" name="TextBox 275"/>
          <p:cNvSpPr txBox="1"/>
          <p:nvPr/>
        </p:nvSpPr>
        <p:spPr>
          <a:xfrm>
            <a:off x="2286000" y="55978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Real-time Streaming (native)</a:t>
            </a:r>
          </a:p>
        </p:txBody>
      </p:sp>
      <p:sp>
        <p:nvSpPr>
          <p:cNvPr id="449" name="Connector 277"/>
          <p:cNvSpPr/>
          <p:nvPr/>
        </p:nvSpPr>
        <p:spPr>
          <a:xfrm>
            <a:off x="1371599" y="59664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" name="TextBox 278"/>
          <p:cNvSpPr txBox="1"/>
          <p:nvPr/>
        </p:nvSpPr>
        <p:spPr>
          <a:xfrm>
            <a:off x="1371600" y="604738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51" name="TextBox 279"/>
          <p:cNvSpPr txBox="1"/>
          <p:nvPr/>
        </p:nvSpPr>
        <p:spPr>
          <a:xfrm>
            <a:off x="2286000" y="604738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</a:t>
            </a:r>
          </a:p>
        </p:txBody>
      </p:sp>
      <p:sp>
        <p:nvSpPr>
          <p:cNvPr id="452" name="TextBox 280"/>
          <p:cNvSpPr txBox="1"/>
          <p:nvPr/>
        </p:nvSpPr>
        <p:spPr>
          <a:xfrm>
            <a:off x="8686800" y="604738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allocation analytics, no risk metrics</a:t>
            </a:r>
          </a:p>
        </p:txBody>
      </p:sp>
      <p:sp>
        <p:nvSpPr>
          <p:cNvPr id="453" name="Connector 281"/>
          <p:cNvSpPr/>
          <p:nvPr/>
        </p:nvSpPr>
        <p:spPr>
          <a:xfrm>
            <a:off x="1371599" y="64160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TextBox 282"/>
          <p:cNvSpPr txBox="1"/>
          <p:nvPr/>
        </p:nvSpPr>
        <p:spPr>
          <a:xfrm>
            <a:off x="1371600" y="649696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5" name="TextBox 283"/>
          <p:cNvSpPr txBox="1"/>
          <p:nvPr/>
        </p:nvSpPr>
        <p:spPr>
          <a:xfrm>
            <a:off x="2286000" y="649696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456" name="TextBox 284"/>
          <p:cNvSpPr txBox="1"/>
          <p:nvPr/>
        </p:nvSpPr>
        <p:spPr>
          <a:xfrm>
            <a:off x="8686800" y="649696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insights &amp; rebalance suggestions</a:t>
            </a:r>
          </a:p>
        </p:txBody>
      </p:sp>
      <p:sp>
        <p:nvSpPr>
          <p:cNvPr id="457" name="Connector 285"/>
          <p:cNvSpPr/>
          <p:nvPr/>
        </p:nvSpPr>
        <p:spPr>
          <a:xfrm>
            <a:off x="1371599" y="68656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TextBox 286"/>
          <p:cNvSpPr txBox="1"/>
          <p:nvPr/>
        </p:nvSpPr>
        <p:spPr>
          <a:xfrm>
            <a:off x="1371600" y="69465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59" name="TextBox 287"/>
          <p:cNvSpPr txBox="1"/>
          <p:nvPr/>
        </p:nvSpPr>
        <p:spPr>
          <a:xfrm>
            <a:off x="2286000" y="694654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Risk Profiling</a:t>
            </a:r>
          </a:p>
        </p:txBody>
      </p:sp>
      <p:sp>
        <p:nvSpPr>
          <p:cNvPr id="460" name="TextBox 288"/>
          <p:cNvSpPr txBox="1"/>
          <p:nvPr/>
        </p:nvSpPr>
        <p:spPr>
          <a:xfrm>
            <a:off x="8686800" y="694654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risk scoring</a:t>
            </a:r>
          </a:p>
        </p:txBody>
      </p:sp>
      <p:sp>
        <p:nvSpPr>
          <p:cNvPr id="461" name="Connector 289"/>
          <p:cNvSpPr/>
          <p:nvPr/>
        </p:nvSpPr>
        <p:spPr>
          <a:xfrm>
            <a:off x="1371599" y="73152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TextBox 290"/>
          <p:cNvSpPr txBox="1"/>
          <p:nvPr/>
        </p:nvSpPr>
        <p:spPr>
          <a:xfrm>
            <a:off x="1371600" y="739612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63" name="TextBox 291"/>
          <p:cNvSpPr txBox="1"/>
          <p:nvPr/>
        </p:nvSpPr>
        <p:spPr>
          <a:xfrm>
            <a:off x="2286000" y="739612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 Lifecycle Tracking</a:t>
            </a:r>
          </a:p>
        </p:txBody>
      </p:sp>
      <p:sp>
        <p:nvSpPr>
          <p:cNvPr id="464" name="TextBox 292"/>
          <p:cNvSpPr txBox="1"/>
          <p:nvPr/>
        </p:nvSpPr>
        <p:spPr>
          <a:xfrm>
            <a:off x="8686800" y="739612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Timeline view, execution quality metrics</a:t>
            </a:r>
          </a:p>
        </p:txBody>
      </p:sp>
      <p:sp>
        <p:nvSpPr>
          <p:cNvPr id="465" name="Connector 293"/>
          <p:cNvSpPr/>
          <p:nvPr/>
        </p:nvSpPr>
        <p:spPr>
          <a:xfrm>
            <a:off x="1371599" y="77647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TextBox 294"/>
          <p:cNvSpPr txBox="1"/>
          <p:nvPr/>
        </p:nvSpPr>
        <p:spPr>
          <a:xfrm>
            <a:off x="1371600" y="78457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67" name="TextBox 295"/>
          <p:cNvSpPr txBox="1"/>
          <p:nvPr/>
        </p:nvSpPr>
        <p:spPr>
          <a:xfrm>
            <a:off x="2286000" y="78457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Forecasting</a:t>
            </a:r>
          </a:p>
        </p:txBody>
      </p:sp>
      <p:sp>
        <p:nvSpPr>
          <p:cNvPr id="468" name="TextBox 296"/>
          <p:cNvSpPr txBox="1"/>
          <p:nvPr/>
        </p:nvSpPr>
        <p:spPr>
          <a:xfrm>
            <a:off x="8686800" y="784570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Settlement timeline, liquidity forecast</a:t>
            </a:r>
          </a:p>
        </p:txBody>
      </p:sp>
      <p:sp>
        <p:nvSpPr>
          <p:cNvPr id="469" name="Connector 297"/>
          <p:cNvSpPr/>
          <p:nvPr/>
        </p:nvSpPr>
        <p:spPr>
          <a:xfrm>
            <a:off x="1371599" y="82143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TextBox 298"/>
          <p:cNvSpPr txBox="1"/>
          <p:nvPr/>
        </p:nvSpPr>
        <p:spPr>
          <a:xfrm>
            <a:off x="1371600" y="82952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71" name="TextBox 299"/>
          <p:cNvSpPr txBox="1"/>
          <p:nvPr/>
        </p:nvSpPr>
        <p:spPr>
          <a:xfrm>
            <a:off x="2286000" y="829528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472" name="TextBox 300"/>
          <p:cNvSpPr txBox="1"/>
          <p:nvPr/>
        </p:nvSpPr>
        <p:spPr>
          <a:xfrm>
            <a:off x="8686800" y="829528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Advanced export formats, custom reports</a:t>
            </a:r>
          </a:p>
        </p:txBody>
      </p:sp>
      <p:sp>
        <p:nvSpPr>
          <p:cNvPr id="473" name="Connector 301"/>
          <p:cNvSpPr/>
          <p:nvPr/>
        </p:nvSpPr>
        <p:spPr>
          <a:xfrm>
            <a:off x="1371599" y="86639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TextBox 302"/>
          <p:cNvSpPr txBox="1"/>
          <p:nvPr/>
        </p:nvSpPr>
        <p:spPr>
          <a:xfrm>
            <a:off x="1371600" y="874486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75" name="TextBox 303"/>
          <p:cNvSpPr txBox="1"/>
          <p:nvPr/>
        </p:nvSpPr>
        <p:spPr>
          <a:xfrm>
            <a:off x="2286000" y="874486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476" name="TextBox 304"/>
          <p:cNvSpPr txBox="1"/>
          <p:nvPr/>
        </p:nvSpPr>
        <p:spPr>
          <a:xfrm>
            <a:off x="8686800" y="874486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Yield trends &amp; forecast</a:t>
            </a:r>
          </a:p>
        </p:txBody>
      </p:sp>
      <p:sp>
        <p:nvSpPr>
          <p:cNvPr id="477" name="Connector 305"/>
          <p:cNvSpPr/>
          <p:nvPr/>
        </p:nvSpPr>
        <p:spPr>
          <a:xfrm>
            <a:off x="1371599" y="91135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TextBox 306"/>
          <p:cNvSpPr txBox="1"/>
          <p:nvPr/>
        </p:nvSpPr>
        <p:spPr>
          <a:xfrm>
            <a:off x="1371600" y="91944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79" name="TextBox 307"/>
          <p:cNvSpPr txBox="1"/>
          <p:nvPr/>
        </p:nvSpPr>
        <p:spPr>
          <a:xfrm>
            <a:off x="2286000" y="919444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Smart Funding</a:t>
            </a:r>
          </a:p>
        </p:txBody>
      </p:sp>
      <p:sp>
        <p:nvSpPr>
          <p:cNvPr id="480" name="TextBox 308"/>
          <p:cNvSpPr txBox="1"/>
          <p:nvPr/>
        </p:nvSpPr>
        <p:spPr>
          <a:xfrm>
            <a:off x="8686800" y="919444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Intelligent routing &amp; automation</a:t>
            </a:r>
          </a:p>
        </p:txBody>
      </p:sp>
      <p:sp>
        <p:nvSpPr>
          <p:cNvPr id="481" name="Connector 309"/>
          <p:cNvSpPr/>
          <p:nvPr/>
        </p:nvSpPr>
        <p:spPr>
          <a:xfrm>
            <a:off x="1371599" y="95631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" name="TextBox 310"/>
          <p:cNvSpPr txBox="1"/>
          <p:nvPr/>
        </p:nvSpPr>
        <p:spPr>
          <a:xfrm>
            <a:off x="1371600" y="964402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83" name="TextBox 311"/>
          <p:cNvSpPr txBox="1"/>
          <p:nvPr/>
        </p:nvSpPr>
        <p:spPr>
          <a:xfrm>
            <a:off x="2286000" y="964402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Advanced Reporting</a:t>
            </a:r>
          </a:p>
        </p:txBody>
      </p:sp>
      <p:sp>
        <p:nvSpPr>
          <p:cNvPr id="484" name="TextBox 312"/>
          <p:cNvSpPr txBox="1"/>
          <p:nvPr/>
        </p:nvSpPr>
        <p:spPr>
          <a:xfrm>
            <a:off x="8686800" y="964402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Exportable reports, structured statements</a:t>
            </a:r>
          </a:p>
        </p:txBody>
      </p:sp>
      <p:sp>
        <p:nvSpPr>
          <p:cNvPr id="485" name="Connector 313"/>
          <p:cNvSpPr/>
          <p:nvPr/>
        </p:nvSpPr>
        <p:spPr>
          <a:xfrm>
            <a:off x="1371599" y="100126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TextBox 314"/>
          <p:cNvSpPr txBox="1"/>
          <p:nvPr/>
        </p:nvSpPr>
        <p:spPr>
          <a:xfrm>
            <a:off x="1371600" y="100936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87" name="TextBox 315"/>
          <p:cNvSpPr txBox="1"/>
          <p:nvPr/>
        </p:nvSpPr>
        <p:spPr>
          <a:xfrm>
            <a:off x="2286000" y="100936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 Intelligence</a:t>
            </a:r>
          </a:p>
        </p:txBody>
      </p:sp>
      <p:sp>
        <p:nvSpPr>
          <p:cNvPr id="488" name="TextBox 316"/>
          <p:cNvSpPr txBox="1"/>
          <p:nvPr/>
        </p:nvSpPr>
        <p:spPr>
          <a:xfrm>
            <a:off x="8686800" y="1009360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Scenario preview for subscribe/redeem</a:t>
            </a:r>
          </a:p>
        </p:txBody>
      </p:sp>
      <p:sp>
        <p:nvSpPr>
          <p:cNvPr id="489" name="Connector 317"/>
          <p:cNvSpPr/>
          <p:nvPr/>
        </p:nvSpPr>
        <p:spPr>
          <a:xfrm>
            <a:off x="1371599" y="104622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" name="TextBox 318"/>
          <p:cNvSpPr txBox="1"/>
          <p:nvPr/>
        </p:nvSpPr>
        <p:spPr>
          <a:xfrm>
            <a:off x="1371600" y="105431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91" name="TextBox 319"/>
          <p:cNvSpPr txBox="1"/>
          <p:nvPr/>
        </p:nvSpPr>
        <p:spPr>
          <a:xfrm>
            <a:off x="2286000" y="1054318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Alert System</a:t>
            </a:r>
          </a:p>
        </p:txBody>
      </p:sp>
      <p:sp>
        <p:nvSpPr>
          <p:cNvPr id="492" name="TextBox 320"/>
          <p:cNvSpPr txBox="1"/>
          <p:nvPr/>
        </p:nvSpPr>
        <p:spPr>
          <a:xfrm>
            <a:off x="8686800" y="1054318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price / earnings alerts visible</a:t>
            </a:r>
          </a:p>
        </p:txBody>
      </p:sp>
      <p:sp>
        <p:nvSpPr>
          <p:cNvPr id="493" name="Connector 321"/>
          <p:cNvSpPr/>
          <p:nvPr/>
        </p:nvSpPr>
        <p:spPr>
          <a:xfrm>
            <a:off x="1371599" y="109118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TextBox 322"/>
          <p:cNvSpPr txBox="1"/>
          <p:nvPr/>
        </p:nvSpPr>
        <p:spPr>
          <a:xfrm>
            <a:off x="1371600" y="1099276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95" name="TextBox 323"/>
          <p:cNvSpPr txBox="1"/>
          <p:nvPr/>
        </p:nvSpPr>
        <p:spPr>
          <a:xfrm>
            <a:off x="2286000" y="1099276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Analyst Ratings</a:t>
            </a:r>
          </a:p>
        </p:txBody>
      </p:sp>
      <p:sp>
        <p:nvSpPr>
          <p:cNvPr id="496" name="TextBox 324"/>
          <p:cNvSpPr txBox="1"/>
          <p:nvPr/>
        </p:nvSpPr>
        <p:spPr>
          <a:xfrm>
            <a:off x="8686800" y="1099276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Wall Street consensus, target price, or rating distribution</a:t>
            </a:r>
          </a:p>
        </p:txBody>
      </p:sp>
      <p:sp>
        <p:nvSpPr>
          <p:cNvPr id="497" name="Connector 325"/>
          <p:cNvSpPr/>
          <p:nvPr/>
        </p:nvSpPr>
        <p:spPr>
          <a:xfrm>
            <a:off x="1371599" y="113614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TextBox 326"/>
          <p:cNvSpPr txBox="1"/>
          <p:nvPr/>
        </p:nvSpPr>
        <p:spPr>
          <a:xfrm>
            <a:off x="1371600" y="114423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499" name="TextBox 327"/>
          <p:cNvSpPr txBox="1"/>
          <p:nvPr/>
        </p:nvSpPr>
        <p:spPr>
          <a:xfrm>
            <a:off x="2286000" y="1144234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Research Reports</a:t>
            </a:r>
          </a:p>
        </p:txBody>
      </p:sp>
      <p:sp>
        <p:nvSpPr>
          <p:cNvPr id="500" name="TextBox 328"/>
          <p:cNvSpPr txBox="1"/>
          <p:nvPr/>
        </p:nvSpPr>
        <p:spPr>
          <a:xfrm>
            <a:off x="8686800" y="1144234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linked reports or external research</a:t>
            </a:r>
          </a:p>
        </p:txBody>
      </p:sp>
      <p:sp>
        <p:nvSpPr>
          <p:cNvPr id="501" name="Connector 329"/>
          <p:cNvSpPr/>
          <p:nvPr/>
        </p:nvSpPr>
        <p:spPr>
          <a:xfrm>
            <a:off x="1371599" y="118110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2" name="TextBox 330"/>
          <p:cNvSpPr txBox="1"/>
          <p:nvPr/>
        </p:nvSpPr>
        <p:spPr>
          <a:xfrm>
            <a:off x="1371600" y="1189192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03" name="TextBox 331"/>
          <p:cNvSpPr txBox="1"/>
          <p:nvPr/>
        </p:nvSpPr>
        <p:spPr>
          <a:xfrm>
            <a:off x="2286000" y="1189192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Sector &amp; peer context</a:t>
            </a:r>
          </a:p>
        </p:txBody>
      </p:sp>
      <p:sp>
        <p:nvSpPr>
          <p:cNvPr id="504" name="TextBox 332"/>
          <p:cNvSpPr txBox="1"/>
          <p:nvPr/>
        </p:nvSpPr>
        <p:spPr>
          <a:xfrm>
            <a:off x="8686800" y="1189192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peer benchmarking or index comparison</a:t>
            </a:r>
          </a:p>
        </p:txBody>
      </p:sp>
      <p:sp>
        <p:nvSpPr>
          <p:cNvPr id="505" name="Connector 333"/>
          <p:cNvSpPr/>
          <p:nvPr/>
        </p:nvSpPr>
        <p:spPr>
          <a:xfrm>
            <a:off x="1371599" y="122605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" name="TextBox 334"/>
          <p:cNvSpPr txBox="1"/>
          <p:nvPr/>
        </p:nvSpPr>
        <p:spPr>
          <a:xfrm>
            <a:off x="1371600" y="123415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507" name="TextBox 335"/>
          <p:cNvSpPr txBox="1"/>
          <p:nvPr/>
        </p:nvSpPr>
        <p:spPr>
          <a:xfrm>
            <a:off x="2286000" y="1234150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508" name="Connector 337"/>
          <p:cNvSpPr/>
          <p:nvPr/>
        </p:nvSpPr>
        <p:spPr>
          <a:xfrm>
            <a:off x="1371599" y="127101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Picture 265" descr="Picture 26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TextBox 266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010 / 111</a:t>
            </a:r>
          </a:p>
        </p:txBody>
      </p:sp>
      <p:sp>
        <p:nvSpPr>
          <p:cNvPr id="512" name="TextBox 267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513" name="TextBox 268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Mashurah (Robo)</a:t>
            </a:r>
          </a:p>
        </p:txBody>
      </p:sp>
      <p:sp>
        <p:nvSpPr>
          <p:cNvPr id="514" name="TextBox 269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15" name="TextBox 270"/>
          <p:cNvSpPr txBox="1"/>
          <p:nvPr/>
        </p:nvSpPr>
        <p:spPr>
          <a:xfrm>
            <a:off x="2286000" y="4114800"/>
            <a:ext cx="62179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516" name="TextBox 271"/>
          <p:cNvSpPr txBox="1"/>
          <p:nvPr/>
        </p:nvSpPr>
        <p:spPr>
          <a:xfrm>
            <a:off x="8686800" y="4114800"/>
            <a:ext cx="1435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517" name="Connector 272"/>
          <p:cNvSpPr/>
          <p:nvPr/>
        </p:nvSpPr>
        <p:spPr>
          <a:xfrm>
            <a:off x="1371599" y="4526279"/>
            <a:ext cx="21671282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TextBox 273"/>
          <p:cNvSpPr txBox="1"/>
          <p:nvPr/>
        </p:nvSpPr>
        <p:spPr>
          <a:xfrm>
            <a:off x="1371600" y="473293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9" name="TextBox 274"/>
          <p:cNvSpPr txBox="1"/>
          <p:nvPr/>
        </p:nvSpPr>
        <p:spPr>
          <a:xfrm>
            <a:off x="2286000" y="473293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</a:t>
            </a:r>
          </a:p>
        </p:txBody>
      </p:sp>
      <p:sp>
        <p:nvSpPr>
          <p:cNvPr id="520" name="TextBox 275"/>
          <p:cNvSpPr txBox="1"/>
          <p:nvPr/>
        </p:nvSpPr>
        <p:spPr>
          <a:xfrm>
            <a:off x="8686800" y="473293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performance attribution insight, no advanced portfolio performance analytics</a:t>
            </a:r>
          </a:p>
        </p:txBody>
      </p:sp>
      <p:sp>
        <p:nvSpPr>
          <p:cNvPr id="521" name="Connector 276"/>
          <p:cNvSpPr/>
          <p:nvPr/>
        </p:nvSpPr>
        <p:spPr>
          <a:xfrm>
            <a:off x="1371599" y="52578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TextBox 277"/>
          <p:cNvSpPr txBox="1"/>
          <p:nvPr/>
        </p:nvSpPr>
        <p:spPr>
          <a:xfrm>
            <a:off x="1371600" y="537301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3" name="TextBox 278"/>
          <p:cNvSpPr txBox="1"/>
          <p:nvPr/>
        </p:nvSpPr>
        <p:spPr>
          <a:xfrm>
            <a:off x="2286000" y="537301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Performance</a:t>
            </a:r>
          </a:p>
        </p:txBody>
      </p:sp>
      <p:sp>
        <p:nvSpPr>
          <p:cNvPr id="524" name="TextBox 279"/>
          <p:cNvSpPr txBox="1"/>
          <p:nvPr/>
        </p:nvSpPr>
        <p:spPr>
          <a:xfrm>
            <a:off x="8686800" y="537301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SDK performance chart integration, limited performance period selection</a:t>
            </a:r>
          </a:p>
        </p:txBody>
      </p:sp>
      <p:sp>
        <p:nvSpPr>
          <p:cNvPr id="525" name="Connector 280"/>
          <p:cNvSpPr/>
          <p:nvPr/>
        </p:nvSpPr>
        <p:spPr>
          <a:xfrm>
            <a:off x="1371599" y="589787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281"/>
          <p:cNvSpPr txBox="1"/>
          <p:nvPr/>
        </p:nvSpPr>
        <p:spPr>
          <a:xfrm>
            <a:off x="1371600" y="601309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7" name="TextBox 282"/>
          <p:cNvSpPr txBox="1"/>
          <p:nvPr/>
        </p:nvSpPr>
        <p:spPr>
          <a:xfrm>
            <a:off x="2286000" y="601309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Holdings Transparency</a:t>
            </a:r>
          </a:p>
        </p:txBody>
      </p:sp>
      <p:sp>
        <p:nvSpPr>
          <p:cNvPr id="528" name="TextBox 283"/>
          <p:cNvSpPr txBox="1"/>
          <p:nvPr/>
        </p:nvSpPr>
        <p:spPr>
          <a:xfrm>
            <a:off x="8686800" y="601309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lot-level quantity breakdown, no cost history tracking</a:t>
            </a:r>
          </a:p>
        </p:txBody>
      </p:sp>
      <p:sp>
        <p:nvSpPr>
          <p:cNvPr id="529" name="Connector 284"/>
          <p:cNvSpPr/>
          <p:nvPr/>
        </p:nvSpPr>
        <p:spPr>
          <a:xfrm>
            <a:off x="1371599" y="65379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TextBox 285"/>
          <p:cNvSpPr txBox="1"/>
          <p:nvPr/>
        </p:nvSpPr>
        <p:spPr>
          <a:xfrm>
            <a:off x="1371600" y="665317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1" name="TextBox 286"/>
          <p:cNvSpPr txBox="1"/>
          <p:nvPr/>
        </p:nvSpPr>
        <p:spPr>
          <a:xfrm>
            <a:off x="2286000" y="665317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532" name="TextBox 287"/>
          <p:cNvSpPr txBox="1"/>
          <p:nvPr/>
        </p:nvSpPr>
        <p:spPr>
          <a:xfrm>
            <a:off x="8686800" y="665317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clear withdrawal eligibility rules visibility</a:t>
            </a:r>
          </a:p>
        </p:txBody>
      </p:sp>
      <p:sp>
        <p:nvSpPr>
          <p:cNvPr id="533" name="Connector 288"/>
          <p:cNvSpPr/>
          <p:nvPr/>
        </p:nvSpPr>
        <p:spPr>
          <a:xfrm>
            <a:off x="1371599" y="71780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" name="TextBox 289"/>
          <p:cNvSpPr txBox="1"/>
          <p:nvPr/>
        </p:nvSpPr>
        <p:spPr>
          <a:xfrm>
            <a:off x="1371600" y="729325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35" name="TextBox 290"/>
          <p:cNvSpPr txBox="1"/>
          <p:nvPr/>
        </p:nvSpPr>
        <p:spPr>
          <a:xfrm>
            <a:off x="2286000" y="729325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Processing</a:t>
            </a:r>
          </a:p>
        </p:txBody>
      </p:sp>
      <p:sp>
        <p:nvSpPr>
          <p:cNvPr id="536" name="TextBox 291"/>
          <p:cNvSpPr txBox="1"/>
          <p:nvPr/>
        </p:nvSpPr>
        <p:spPr>
          <a:xfrm>
            <a:off x="8686800" y="729325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processing status tracking for cash under processing</a:t>
            </a:r>
          </a:p>
        </p:txBody>
      </p:sp>
      <p:sp>
        <p:nvSpPr>
          <p:cNvPr id="537" name="Connector 292"/>
          <p:cNvSpPr/>
          <p:nvPr/>
        </p:nvSpPr>
        <p:spPr>
          <a:xfrm>
            <a:off x="1371599" y="78181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TextBox 293"/>
          <p:cNvSpPr txBox="1"/>
          <p:nvPr/>
        </p:nvSpPr>
        <p:spPr>
          <a:xfrm>
            <a:off x="1371600" y="793333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39" name="TextBox 294"/>
          <p:cNvSpPr txBox="1"/>
          <p:nvPr/>
        </p:nvSpPr>
        <p:spPr>
          <a:xfrm>
            <a:off x="2286000" y="793333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Display Controls</a:t>
            </a:r>
          </a:p>
        </p:txBody>
      </p:sp>
      <p:sp>
        <p:nvSpPr>
          <p:cNvPr id="540" name="TextBox 295"/>
          <p:cNvSpPr txBox="1"/>
          <p:nvPr/>
        </p:nvSpPr>
        <p:spPr>
          <a:xfrm>
            <a:off x="8686800" y="793333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 for cash display preferences</a:t>
            </a:r>
          </a:p>
        </p:txBody>
      </p:sp>
      <p:sp>
        <p:nvSpPr>
          <p:cNvPr id="541" name="Connector 296"/>
          <p:cNvSpPr/>
          <p:nvPr/>
        </p:nvSpPr>
        <p:spPr>
          <a:xfrm>
            <a:off x="1371599" y="84582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TextBox 297"/>
          <p:cNvSpPr txBox="1"/>
          <p:nvPr/>
        </p:nvSpPr>
        <p:spPr>
          <a:xfrm>
            <a:off x="1371600" y="857341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43" name="TextBox 298"/>
          <p:cNvSpPr txBox="1"/>
          <p:nvPr/>
        </p:nvSpPr>
        <p:spPr>
          <a:xfrm>
            <a:off x="2286000" y="857341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Funding History</a:t>
            </a:r>
          </a:p>
        </p:txBody>
      </p:sp>
      <p:sp>
        <p:nvSpPr>
          <p:cNvPr id="544" name="TextBox 299"/>
          <p:cNvSpPr txBox="1"/>
          <p:nvPr/>
        </p:nvSpPr>
        <p:spPr>
          <a:xfrm>
            <a:off x="8686800" y="857341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Transfer history visibility is limited</a:t>
            </a:r>
          </a:p>
        </p:txBody>
      </p:sp>
      <p:sp>
        <p:nvSpPr>
          <p:cNvPr id="545" name="Connector 300"/>
          <p:cNvSpPr/>
          <p:nvPr/>
        </p:nvSpPr>
        <p:spPr>
          <a:xfrm>
            <a:off x="1371599" y="90982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TextBox 301"/>
          <p:cNvSpPr txBox="1"/>
          <p:nvPr/>
        </p:nvSpPr>
        <p:spPr>
          <a:xfrm>
            <a:off x="1371600" y="921349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47" name="TextBox 302"/>
          <p:cNvSpPr txBox="1"/>
          <p:nvPr/>
        </p:nvSpPr>
        <p:spPr>
          <a:xfrm>
            <a:off x="2286000" y="921349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Funding Options</a:t>
            </a:r>
          </a:p>
        </p:txBody>
      </p:sp>
      <p:sp>
        <p:nvSpPr>
          <p:cNvPr id="548" name="TextBox 303"/>
          <p:cNvSpPr txBox="1"/>
          <p:nvPr/>
        </p:nvSpPr>
        <p:spPr>
          <a:xfrm>
            <a:off x="8686800" y="921349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Missing funding channels (e.g., local bank transfer and Mokafaa)</a:t>
            </a:r>
          </a:p>
        </p:txBody>
      </p:sp>
      <p:sp>
        <p:nvSpPr>
          <p:cNvPr id="549" name="Connector 304"/>
          <p:cNvSpPr/>
          <p:nvPr/>
        </p:nvSpPr>
        <p:spPr>
          <a:xfrm>
            <a:off x="1371599" y="973835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TextBox 305"/>
          <p:cNvSpPr txBox="1"/>
          <p:nvPr/>
        </p:nvSpPr>
        <p:spPr>
          <a:xfrm>
            <a:off x="1371600" y="985357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51" name="TextBox 306"/>
          <p:cNvSpPr txBox="1"/>
          <p:nvPr/>
        </p:nvSpPr>
        <p:spPr>
          <a:xfrm>
            <a:off x="2286000" y="985357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Timeline</a:t>
            </a:r>
          </a:p>
        </p:txBody>
      </p:sp>
      <p:sp>
        <p:nvSpPr>
          <p:cNvPr id="552" name="TextBox 307"/>
          <p:cNvSpPr txBox="1"/>
          <p:nvPr/>
        </p:nvSpPr>
        <p:spPr>
          <a:xfrm>
            <a:off x="8686800" y="985357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Reports limited to 1 month within a year (P/L, statements, cost, dividends)</a:t>
            </a:r>
          </a:p>
        </p:txBody>
      </p:sp>
      <p:sp>
        <p:nvSpPr>
          <p:cNvPr id="553" name="Connector 308"/>
          <p:cNvSpPr/>
          <p:nvPr/>
        </p:nvSpPr>
        <p:spPr>
          <a:xfrm>
            <a:off x="1371599" y="1037844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TextBox 309"/>
          <p:cNvSpPr txBox="1"/>
          <p:nvPr/>
        </p:nvSpPr>
        <p:spPr>
          <a:xfrm>
            <a:off x="1371600" y="1049365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55" name="TextBox 310"/>
          <p:cNvSpPr txBox="1"/>
          <p:nvPr/>
        </p:nvSpPr>
        <p:spPr>
          <a:xfrm>
            <a:off x="2286000" y="1049365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556" name="TextBox 311"/>
          <p:cNvSpPr txBox="1"/>
          <p:nvPr/>
        </p:nvSpPr>
        <p:spPr>
          <a:xfrm>
            <a:off x="8686800" y="10493654"/>
            <a:ext cx="143560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extended reporting timeline or flexible reporting periods</a:t>
            </a:r>
          </a:p>
        </p:txBody>
      </p:sp>
      <p:sp>
        <p:nvSpPr>
          <p:cNvPr id="557" name="Connector 312"/>
          <p:cNvSpPr/>
          <p:nvPr/>
        </p:nvSpPr>
        <p:spPr>
          <a:xfrm>
            <a:off x="1371599" y="11018519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TextBox 313"/>
          <p:cNvSpPr txBox="1"/>
          <p:nvPr/>
        </p:nvSpPr>
        <p:spPr>
          <a:xfrm>
            <a:off x="1371600" y="1113373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59" name="TextBox 314"/>
          <p:cNvSpPr txBox="1"/>
          <p:nvPr/>
        </p:nvSpPr>
        <p:spPr>
          <a:xfrm>
            <a:off x="2286000" y="11133734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</a:t>
            </a:r>
          </a:p>
        </p:txBody>
      </p:sp>
      <p:sp>
        <p:nvSpPr>
          <p:cNvPr id="560" name="TextBox 315"/>
          <p:cNvSpPr txBox="1"/>
          <p:nvPr/>
        </p:nvSpPr>
        <p:spPr>
          <a:xfrm>
            <a:off x="8686800" y="11133734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market alert capability for investors</a:t>
            </a:r>
          </a:p>
        </p:txBody>
      </p:sp>
      <p:sp>
        <p:nvSpPr>
          <p:cNvPr id="561" name="Connector 316"/>
          <p:cNvSpPr/>
          <p:nvPr/>
        </p:nvSpPr>
        <p:spPr>
          <a:xfrm>
            <a:off x="1371599" y="11658600"/>
            <a:ext cx="2167128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317"/>
          <p:cNvSpPr txBox="1"/>
          <p:nvPr/>
        </p:nvSpPr>
        <p:spPr>
          <a:xfrm>
            <a:off x="1371600" y="11773813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63" name="TextBox 318"/>
          <p:cNvSpPr txBox="1"/>
          <p:nvPr/>
        </p:nvSpPr>
        <p:spPr>
          <a:xfrm>
            <a:off x="2286000" y="11773813"/>
            <a:ext cx="6217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564" name="TextBox 319"/>
          <p:cNvSpPr txBox="1"/>
          <p:nvPr/>
        </p:nvSpPr>
        <p:spPr>
          <a:xfrm>
            <a:off x="8686800" y="11773813"/>
            <a:ext cx="143560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benchmark comparison or target return tracking visible</a:t>
            </a:r>
          </a:p>
        </p:txBody>
      </p:sp>
      <p:sp>
        <p:nvSpPr>
          <p:cNvPr id="565" name="Connector 320"/>
          <p:cNvSpPr/>
          <p:nvPr/>
        </p:nvSpPr>
        <p:spPr>
          <a:xfrm>
            <a:off x="1371599" y="12298680"/>
            <a:ext cx="21671282" cy="1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568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9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Digital </a:t>
            </a:r>
            <a:r>
              <a:rPr>
                <a:solidFill>
                  <a:srgbClr val="0333E8"/>
                </a:solidFill>
              </a:rPr>
              <a:t>Capabilities</a:t>
            </a:r>
          </a:p>
        </p:txBody>
      </p:sp>
      <p:sp>
        <p:nvSpPr>
          <p:cNvPr id="570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Strategic capability roadmap across all products</a:t>
            </a:r>
          </a:p>
        </p:txBody>
      </p:sp>
      <p:sp>
        <p:nvSpPr>
          <p:cNvPr id="571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ROADMAP  ·  JIRA COVERAGE  ·  EXECUTION STATUS</a:t>
            </a:r>
          </a:p>
        </p:txBody>
      </p:sp>
      <p:sp>
        <p:nvSpPr>
          <p:cNvPr id="572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011 / 111</a:t>
            </a:r>
          </a:p>
        </p:txBody>
      </p:sp>
      <p:pic>
        <p:nvPicPr>
          <p:cNvPr id="573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012 / 111</a:t>
            </a:r>
          </a:p>
        </p:txBody>
      </p:sp>
      <p:sp>
        <p:nvSpPr>
          <p:cNvPr id="57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SECTION SUMMARY</a:t>
            </a:r>
          </a:p>
        </p:txBody>
      </p:sp>
      <p:sp>
        <p:nvSpPr>
          <p:cNvPr id="578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79 capabilities assessed. 30 already live.</a:t>
            </a:r>
          </a:p>
        </p:txBody>
      </p:sp>
      <p:sp>
        <p:nvSpPr>
          <p:cNvPr id="579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580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581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583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(38% OF 79)</a:t>
            </a:r>
          </a:p>
        </p:txBody>
      </p:sp>
      <p:sp>
        <p:nvSpPr>
          <p:cNvPr id="584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5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586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(61% OF 79)</a:t>
            </a:r>
          </a:p>
        </p:txBody>
      </p:sp>
      <p:sp>
        <p:nvSpPr>
          <p:cNvPr id="587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8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590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49 gaps planned. 38% of the roadmap is already live.</a:t>
            </a:r>
          </a:p>
        </p:txBody>
      </p:sp>
      <p:sp>
        <p:nvSpPr>
          <p:cNvPr id="591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61% coverage in Jira — the strongest tracking discipline in the deck.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9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013 / 111</a:t>
            </a:r>
          </a:p>
        </p:txBody>
      </p:sp>
      <p:sp>
        <p:nvSpPr>
          <p:cNvPr id="59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59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59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9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9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0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0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0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0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0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0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07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Subscription Engine</a:t>
            </a:r>
          </a:p>
        </p:txBody>
      </p:sp>
      <p:sp>
        <p:nvSpPr>
          <p:cNvPr id="608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09" name="TextBox 17"/>
          <p:cNvSpPr txBox="1"/>
          <p:nvPr/>
        </p:nvSpPr>
        <p:spPr>
          <a:xfrm>
            <a:off x="18832982" y="5614415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ARCD-2632</a:t>
            </a:r>
          </a:p>
        </p:txBody>
      </p:sp>
      <p:sp>
        <p:nvSpPr>
          <p:cNvPr id="610" name="Connector 18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TextBox 19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12" name="TextBox 20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Ehsan Donation</a:t>
            </a:r>
          </a:p>
        </p:txBody>
      </p:sp>
      <p:sp>
        <p:nvSpPr>
          <p:cNvPr id="613" name="TextBox 21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14" name="Connector 22"/>
          <p:cNvSpPr/>
          <p:nvPr/>
        </p:nvSpPr>
        <p:spPr>
          <a:xfrm>
            <a:off x="1370776" y="6456946"/>
            <a:ext cx="21643849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" name="TextBox 23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16" name="TextBox 24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Family Onboarding</a:t>
            </a:r>
          </a:p>
        </p:txBody>
      </p:sp>
      <p:sp>
        <p:nvSpPr>
          <p:cNvPr id="617" name="TextBox 25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18" name="Connector 26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9" name="TextBox 27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0" name="TextBox 28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Referral Program</a:t>
            </a:r>
          </a:p>
        </p:txBody>
      </p:sp>
      <p:sp>
        <p:nvSpPr>
          <p:cNvPr id="621" name="TextBox 29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22" name="TextBox 30"/>
          <p:cNvSpPr txBox="1"/>
          <p:nvPr/>
        </p:nvSpPr>
        <p:spPr>
          <a:xfrm>
            <a:off x="18832982" y="693115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ARCD-23093</a:t>
            </a:r>
          </a:p>
        </p:txBody>
      </p:sp>
      <p:sp>
        <p:nvSpPr>
          <p:cNvPr id="623" name="Connector 31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" name="TextBox 32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25" name="TextBox 33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Gift Service Ops/Digital requirements</a:t>
            </a:r>
          </a:p>
        </p:txBody>
      </p:sp>
      <p:sp>
        <p:nvSpPr>
          <p:cNvPr id="626" name="TextBox 34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27" name="TextBox 35"/>
          <p:cNvSpPr txBox="1"/>
          <p:nvPr/>
        </p:nvSpPr>
        <p:spPr>
          <a:xfrm>
            <a:off x="18832982" y="7370064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ARCD-70019</a:t>
            </a:r>
          </a:p>
        </p:txBody>
      </p:sp>
      <p:sp>
        <p:nvSpPr>
          <p:cNvPr id="628" name="Connector 36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TextBox 37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30" name="TextBox 38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Goal Tracker</a:t>
            </a:r>
          </a:p>
        </p:txBody>
      </p:sp>
      <p:sp>
        <p:nvSpPr>
          <p:cNvPr id="631" name="TextBox 39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32" name="TextBox 40"/>
          <p:cNvSpPr txBox="1"/>
          <p:nvPr/>
        </p:nvSpPr>
        <p:spPr>
          <a:xfrm>
            <a:off x="18832982" y="780897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ARCD-55733</a:t>
            </a:r>
          </a:p>
        </p:txBody>
      </p:sp>
      <p:sp>
        <p:nvSpPr>
          <p:cNvPr id="633" name="Connector 41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42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35" name="TextBox 43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allocation</a:t>
            </a:r>
          </a:p>
        </p:txBody>
      </p:sp>
      <p:sp>
        <p:nvSpPr>
          <p:cNvPr id="636" name="TextBox 44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37" name="TextBox 45"/>
          <p:cNvSpPr txBox="1"/>
          <p:nvPr/>
        </p:nvSpPr>
        <p:spPr>
          <a:xfrm>
            <a:off x="18832982" y="8247888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ARCD-61176</a:t>
            </a:r>
          </a:p>
        </p:txBody>
      </p:sp>
      <p:sp>
        <p:nvSpPr>
          <p:cNvPr id="638" name="Connector 46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TextBox 47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40" name="TextBox 48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visability customaztion</a:t>
            </a:r>
          </a:p>
        </p:txBody>
      </p:sp>
      <p:sp>
        <p:nvSpPr>
          <p:cNvPr id="641" name="TextBox 49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42" name="Connector 50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TextBox 51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44" name="TextBox 52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Guest mode</a:t>
            </a:r>
          </a:p>
        </p:txBody>
      </p:sp>
      <p:sp>
        <p:nvSpPr>
          <p:cNvPr id="645" name="TextBox 53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46" name="TextBox 54"/>
          <p:cNvSpPr txBox="1"/>
          <p:nvPr/>
        </p:nvSpPr>
        <p:spPr>
          <a:xfrm>
            <a:off x="18832982" y="9125711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ARCD-75522</a:t>
            </a:r>
          </a:p>
        </p:txBody>
      </p:sp>
      <p:sp>
        <p:nvSpPr>
          <p:cNvPr id="647" name="Connector 55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TextBox 56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49" name="TextBox 57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Personal investment manager</a:t>
            </a:r>
          </a:p>
        </p:txBody>
      </p:sp>
      <p:sp>
        <p:nvSpPr>
          <p:cNvPr id="650" name="TextBox 58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1" name="TextBox 59"/>
          <p:cNvSpPr txBox="1"/>
          <p:nvPr/>
        </p:nvSpPr>
        <p:spPr>
          <a:xfrm>
            <a:off x="18832982" y="9564623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ARCD-60444</a:t>
            </a:r>
          </a:p>
        </p:txBody>
      </p:sp>
      <p:sp>
        <p:nvSpPr>
          <p:cNvPr id="652" name="Connector 60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TextBox 61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54" name="TextBox 62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Onboarding</a:t>
            </a:r>
          </a:p>
        </p:txBody>
      </p:sp>
      <p:sp>
        <p:nvSpPr>
          <p:cNvPr id="655" name="TextBox 63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6" name="TextBox 64"/>
          <p:cNvSpPr txBox="1"/>
          <p:nvPr/>
        </p:nvSpPr>
        <p:spPr>
          <a:xfrm>
            <a:off x="18832982" y="10003535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ARCD-2958</a:t>
            </a:r>
          </a:p>
        </p:txBody>
      </p:sp>
      <p:sp>
        <p:nvSpPr>
          <p:cNvPr id="657" name="Connector 65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66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59" name="TextBox 67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Chatbot</a:t>
            </a:r>
          </a:p>
        </p:txBody>
      </p:sp>
      <p:sp>
        <p:nvSpPr>
          <p:cNvPr id="660" name="TextBox 68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1" name="TextBox 69"/>
          <p:cNvSpPr txBox="1"/>
          <p:nvPr/>
        </p:nvSpPr>
        <p:spPr>
          <a:xfrm>
            <a:off x="18832982" y="10442447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ARCD-86222</a:t>
            </a:r>
          </a:p>
        </p:txBody>
      </p:sp>
      <p:sp>
        <p:nvSpPr>
          <p:cNvPr id="662" name="Connector 70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3" name="TextBox 71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64" name="TextBox 72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Stories</a:t>
            </a:r>
          </a:p>
        </p:txBody>
      </p:sp>
      <p:sp>
        <p:nvSpPr>
          <p:cNvPr id="665" name="TextBox 73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6" name="TextBox 74"/>
          <p:cNvSpPr txBox="1"/>
          <p:nvPr/>
        </p:nvSpPr>
        <p:spPr>
          <a:xfrm>
            <a:off x="18832982" y="10881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ARCD-72383</a:t>
            </a:r>
          </a:p>
        </p:txBody>
      </p:sp>
      <p:sp>
        <p:nvSpPr>
          <p:cNvPr id="667" name="Connector 75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TextBox 76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669" name="TextBox 77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Zakat Calculator</a:t>
            </a:r>
          </a:p>
        </p:txBody>
      </p:sp>
      <p:sp>
        <p:nvSpPr>
          <p:cNvPr id="670" name="TextBox 78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71" name="Connector 79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2" name="TextBox 80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673" name="TextBox 81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Calculator</a:t>
            </a:r>
          </a:p>
        </p:txBody>
      </p:sp>
      <p:sp>
        <p:nvSpPr>
          <p:cNvPr id="674" name="TextBox 82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75" name="Connector 83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84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677" name="TextBox 85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 Calculator</a:t>
            </a:r>
          </a:p>
        </p:txBody>
      </p:sp>
      <p:sp>
        <p:nvSpPr>
          <p:cNvPr id="678" name="TextBox 86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79" name="Connector 87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TextBox 88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681" name="TextBox 89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Purification Calculator</a:t>
            </a:r>
          </a:p>
        </p:txBody>
      </p:sp>
      <p:sp>
        <p:nvSpPr>
          <p:cNvPr id="682" name="TextBox 90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83" name="TextBox 91"/>
          <p:cNvSpPr txBox="1"/>
          <p:nvPr/>
        </p:nvSpPr>
        <p:spPr>
          <a:xfrm>
            <a:off x="18832982" y="12637007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ARCD-1096</a:t>
            </a:r>
          </a:p>
        </p:txBody>
      </p:sp>
      <p:sp>
        <p:nvSpPr>
          <p:cNvPr id="684" name="Connector 92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8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12776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027" y="612776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565882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88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5660831"/>
            <a:ext cx="292609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5269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564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2200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2200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74264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74284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78488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759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4395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4395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9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871481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0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871682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6761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2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916761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959364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959564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4643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6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004643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104638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046587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666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0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091666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1133841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134041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120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179120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1222773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6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222973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7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6805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8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2680523"/>
            <a:ext cx="292609" cy="2926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2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014 / 111</a:t>
            </a:r>
          </a:p>
        </p:txBody>
      </p:sp>
      <p:sp>
        <p:nvSpPr>
          <p:cNvPr id="72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72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72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2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2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2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2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2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3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3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3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734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WhatsApp interaction</a:t>
            </a:r>
          </a:p>
        </p:txBody>
      </p:sp>
      <p:sp>
        <p:nvSpPr>
          <p:cNvPr id="735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6" name="TextBox 17"/>
          <p:cNvSpPr txBox="1"/>
          <p:nvPr/>
        </p:nvSpPr>
        <p:spPr>
          <a:xfrm>
            <a:off x="18832982" y="5614415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ARCD-72376</a:t>
            </a:r>
          </a:p>
        </p:txBody>
      </p:sp>
      <p:sp>
        <p:nvSpPr>
          <p:cNvPr id="737" name="Connector 18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TextBox 19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739" name="TextBox 20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Customisation</a:t>
            </a:r>
          </a:p>
        </p:txBody>
      </p:sp>
      <p:sp>
        <p:nvSpPr>
          <p:cNvPr id="740" name="TextBox 21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1" name="TextBox 22"/>
          <p:cNvSpPr txBox="1"/>
          <p:nvPr/>
        </p:nvSpPr>
        <p:spPr>
          <a:xfrm>
            <a:off x="18832982" y="6053328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ARCD-72345</a:t>
            </a:r>
          </a:p>
        </p:txBody>
      </p:sp>
      <p:sp>
        <p:nvSpPr>
          <p:cNvPr id="742" name="Connector 23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TextBox 24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744" name="TextBox 25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Alrajhi Capital Community</a:t>
            </a:r>
          </a:p>
        </p:txBody>
      </p:sp>
      <p:sp>
        <p:nvSpPr>
          <p:cNvPr id="745" name="TextBox 26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6" name="TextBox 27"/>
          <p:cNvSpPr txBox="1"/>
          <p:nvPr/>
        </p:nvSpPr>
        <p:spPr>
          <a:xfrm>
            <a:off x="18832982" y="649224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ARCD-72340</a:t>
            </a:r>
          </a:p>
        </p:txBody>
      </p:sp>
      <p:sp>
        <p:nvSpPr>
          <p:cNvPr id="747" name="Connector 28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TextBox 29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749" name="TextBox 30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 index against benchmark</a:t>
            </a:r>
          </a:p>
        </p:txBody>
      </p:sp>
      <p:sp>
        <p:nvSpPr>
          <p:cNvPr id="750" name="TextBox 31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1" name="TextBox 32"/>
          <p:cNvSpPr txBox="1"/>
          <p:nvPr/>
        </p:nvSpPr>
        <p:spPr>
          <a:xfrm>
            <a:off x="18832982" y="693115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ARCD-60887</a:t>
            </a:r>
          </a:p>
        </p:txBody>
      </p:sp>
      <p:sp>
        <p:nvSpPr>
          <p:cNvPr id="752" name="Connector 33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TextBox 34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754" name="TextBox 35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Mock Trading</a:t>
            </a:r>
          </a:p>
        </p:txBody>
      </p:sp>
      <p:sp>
        <p:nvSpPr>
          <p:cNvPr id="755" name="TextBox 36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6" name="Connector 37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TextBox 38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758" name="TextBox 39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Trading (Follow me)</a:t>
            </a:r>
          </a:p>
        </p:txBody>
      </p:sp>
      <p:sp>
        <p:nvSpPr>
          <p:cNvPr id="759" name="TextBox 40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0" name="TextBox 41"/>
          <p:cNvSpPr txBox="1"/>
          <p:nvPr/>
        </p:nvSpPr>
        <p:spPr>
          <a:xfrm>
            <a:off x="18832982" y="780897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ARCD-72338</a:t>
            </a:r>
          </a:p>
        </p:txBody>
      </p:sp>
      <p:sp>
        <p:nvSpPr>
          <p:cNvPr id="761" name="Connector 42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TextBox 43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763" name="TextBox 44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rename</a:t>
            </a:r>
          </a:p>
        </p:txBody>
      </p:sp>
      <p:sp>
        <p:nvSpPr>
          <p:cNvPr id="764" name="TextBox 45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5" name="Connector 46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TextBox 47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767" name="TextBox 48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Tablet experience</a:t>
            </a:r>
          </a:p>
        </p:txBody>
      </p:sp>
      <p:sp>
        <p:nvSpPr>
          <p:cNvPr id="768" name="TextBox 49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9" name="TextBox 50"/>
          <p:cNvSpPr txBox="1"/>
          <p:nvPr/>
        </p:nvSpPr>
        <p:spPr>
          <a:xfrm>
            <a:off x="18832982" y="86868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ARCD-74351</a:t>
            </a:r>
          </a:p>
        </p:txBody>
      </p:sp>
      <p:sp>
        <p:nvSpPr>
          <p:cNvPr id="770" name="Connector 5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TextBox 5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772" name="TextBox 53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Trader mode experience</a:t>
            </a:r>
          </a:p>
        </p:txBody>
      </p:sp>
      <p:sp>
        <p:nvSpPr>
          <p:cNvPr id="773" name="TextBox 5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4" name="TextBox 55"/>
          <p:cNvSpPr txBox="1"/>
          <p:nvPr/>
        </p:nvSpPr>
        <p:spPr>
          <a:xfrm>
            <a:off x="18832982" y="9125711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ARCD-72258</a:t>
            </a:r>
          </a:p>
        </p:txBody>
      </p:sp>
      <p:sp>
        <p:nvSpPr>
          <p:cNvPr id="775" name="Connector 56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TextBox 57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777" name="TextBox 58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Digital CRM</a:t>
            </a:r>
          </a:p>
        </p:txBody>
      </p:sp>
      <p:sp>
        <p:nvSpPr>
          <p:cNvPr id="778" name="TextBox 59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9" name="TextBox 60"/>
          <p:cNvSpPr txBox="1"/>
          <p:nvPr/>
        </p:nvSpPr>
        <p:spPr>
          <a:xfrm>
            <a:off x="18832982" y="9564623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ARCD-85537</a:t>
            </a:r>
          </a:p>
        </p:txBody>
      </p:sp>
      <p:sp>
        <p:nvSpPr>
          <p:cNvPr id="780" name="Connector 61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62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782" name="TextBox 63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 Screener</a:t>
            </a:r>
          </a:p>
        </p:txBody>
      </p:sp>
      <p:sp>
        <p:nvSpPr>
          <p:cNvPr id="783" name="TextBox 64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4" name="TextBox 65"/>
          <p:cNvSpPr txBox="1"/>
          <p:nvPr/>
        </p:nvSpPr>
        <p:spPr>
          <a:xfrm>
            <a:off x="18832982" y="10003535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ARCD-82616</a:t>
            </a:r>
          </a:p>
        </p:txBody>
      </p:sp>
      <p:sp>
        <p:nvSpPr>
          <p:cNvPr id="785" name="Connector 66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67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787" name="TextBox 68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Daily Brief</a:t>
            </a:r>
          </a:p>
        </p:txBody>
      </p:sp>
      <p:sp>
        <p:nvSpPr>
          <p:cNvPr id="788" name="TextBox 69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9" name="TextBox 70"/>
          <p:cNvSpPr txBox="1"/>
          <p:nvPr/>
        </p:nvSpPr>
        <p:spPr>
          <a:xfrm>
            <a:off x="18832982" y="10442447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ARCD-72377</a:t>
            </a:r>
          </a:p>
        </p:txBody>
      </p:sp>
      <p:sp>
        <p:nvSpPr>
          <p:cNvPr id="790" name="Connector 71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TextBox 72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792" name="TextBox 73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Auto Zakat</a:t>
            </a:r>
          </a:p>
        </p:txBody>
      </p:sp>
      <p:sp>
        <p:nvSpPr>
          <p:cNvPr id="793" name="TextBox 74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4" name="TextBox 75"/>
          <p:cNvSpPr txBox="1"/>
          <p:nvPr/>
        </p:nvSpPr>
        <p:spPr>
          <a:xfrm>
            <a:off x="18832982" y="10881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ARCD-72339</a:t>
            </a:r>
          </a:p>
        </p:txBody>
      </p:sp>
      <p:sp>
        <p:nvSpPr>
          <p:cNvPr id="795" name="Connector 76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TextBox 77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31</a:t>
            </a:r>
          </a:p>
        </p:txBody>
      </p:sp>
      <p:sp>
        <p:nvSpPr>
          <p:cNvPr id="797" name="TextBox 78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Index customisation</a:t>
            </a:r>
          </a:p>
        </p:txBody>
      </p:sp>
      <p:sp>
        <p:nvSpPr>
          <p:cNvPr id="798" name="TextBox 79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9" name="TextBox 80"/>
          <p:cNvSpPr txBox="1"/>
          <p:nvPr/>
        </p:nvSpPr>
        <p:spPr>
          <a:xfrm>
            <a:off x="18832982" y="11320271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ARCD-72382</a:t>
            </a:r>
          </a:p>
        </p:txBody>
      </p:sp>
      <p:sp>
        <p:nvSpPr>
          <p:cNvPr id="800" name="Connector 81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TextBox 82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802" name="TextBox 83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Samsung PAY</a:t>
            </a:r>
          </a:p>
        </p:txBody>
      </p:sp>
      <p:sp>
        <p:nvSpPr>
          <p:cNvPr id="803" name="TextBox 84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04" name="TextBox 85"/>
          <p:cNvSpPr txBox="1"/>
          <p:nvPr/>
        </p:nvSpPr>
        <p:spPr>
          <a:xfrm>
            <a:off x="18832982" y="11759183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ARCD-18747</a:t>
            </a:r>
          </a:p>
        </p:txBody>
      </p:sp>
      <p:sp>
        <p:nvSpPr>
          <p:cNvPr id="805" name="Connector 86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TextBox 87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33</a:t>
            </a:r>
          </a:p>
        </p:txBody>
      </p:sp>
      <p:sp>
        <p:nvSpPr>
          <p:cNvPr id="807" name="TextBox 88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Debit Card</a:t>
            </a:r>
          </a:p>
        </p:txBody>
      </p:sp>
      <p:sp>
        <p:nvSpPr>
          <p:cNvPr id="808" name="TextBox 89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09" name="TextBox 90"/>
          <p:cNvSpPr txBox="1"/>
          <p:nvPr/>
        </p:nvSpPr>
        <p:spPr>
          <a:xfrm>
            <a:off x="18832982" y="12198095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ARCD-72647</a:t>
            </a:r>
          </a:p>
        </p:txBody>
      </p:sp>
      <p:sp>
        <p:nvSpPr>
          <p:cNvPr id="810" name="Connector 91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TextBox 92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812" name="TextBox 93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T+2 Card</a:t>
            </a:r>
          </a:p>
        </p:txBody>
      </p:sp>
      <p:sp>
        <p:nvSpPr>
          <p:cNvPr id="813" name="TextBox 94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14" name="TextBox 95"/>
          <p:cNvSpPr txBox="1"/>
          <p:nvPr/>
        </p:nvSpPr>
        <p:spPr>
          <a:xfrm>
            <a:off x="18832982" y="12637007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ARCD72391</a:t>
            </a:r>
          </a:p>
        </p:txBody>
      </p:sp>
      <p:sp>
        <p:nvSpPr>
          <p:cNvPr id="815" name="Connector 96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1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565882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17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1416" y="5660831"/>
            <a:ext cx="292609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1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09669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1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53455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97241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41028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84814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28600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72386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16172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59959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0374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47531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2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91318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35104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78890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222676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0982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5360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97378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41154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8493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28705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72481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1625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60032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03808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4758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091360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13513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17891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222687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266463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84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2664630"/>
            <a:ext cx="292609" cy="2926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85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015 / 111</a:t>
            </a:r>
          </a:p>
        </p:txBody>
      </p:sp>
      <p:sp>
        <p:nvSpPr>
          <p:cNvPr id="85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85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85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85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85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85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85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86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86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86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86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TextBox 14"/>
          <p:cNvSpPr txBox="1"/>
          <p:nvPr/>
        </p:nvSpPr>
        <p:spPr>
          <a:xfrm>
            <a:off x="1517903" y="562965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865" name="TextBox 15"/>
          <p:cNvSpPr txBox="1"/>
          <p:nvPr/>
        </p:nvSpPr>
        <p:spPr>
          <a:xfrm>
            <a:off x="2600095" y="562965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All Total Cash buying power</a:t>
            </a:r>
          </a:p>
        </p:txBody>
      </p:sp>
      <p:sp>
        <p:nvSpPr>
          <p:cNvPr id="866" name="TextBox 16"/>
          <p:cNvSpPr txBox="1"/>
          <p:nvPr/>
        </p:nvSpPr>
        <p:spPr>
          <a:xfrm>
            <a:off x="9093250" y="562965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67" name="TextBox 17"/>
          <p:cNvSpPr txBox="1"/>
          <p:nvPr/>
        </p:nvSpPr>
        <p:spPr>
          <a:xfrm>
            <a:off x="18832982" y="5629655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ARCD-72218</a:t>
            </a:r>
          </a:p>
        </p:txBody>
      </p:sp>
      <p:sp>
        <p:nvSpPr>
          <p:cNvPr id="868" name="Connector 18"/>
          <p:cNvSpPr/>
          <p:nvPr/>
        </p:nvSpPr>
        <p:spPr>
          <a:xfrm>
            <a:off x="1371600" y="604723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TextBox 19"/>
          <p:cNvSpPr txBox="1"/>
          <p:nvPr/>
        </p:nvSpPr>
        <p:spPr>
          <a:xfrm>
            <a:off x="1517903" y="60990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870" name="TextBox 20"/>
          <p:cNvSpPr txBox="1"/>
          <p:nvPr/>
        </p:nvSpPr>
        <p:spPr>
          <a:xfrm>
            <a:off x="2600095" y="60990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 Virtual IBANs</a:t>
            </a:r>
          </a:p>
        </p:txBody>
      </p:sp>
      <p:sp>
        <p:nvSpPr>
          <p:cNvPr id="871" name="TextBox 21"/>
          <p:cNvSpPr txBox="1"/>
          <p:nvPr/>
        </p:nvSpPr>
        <p:spPr>
          <a:xfrm>
            <a:off x="9093250" y="60990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72" name="TextBox 22"/>
          <p:cNvSpPr txBox="1"/>
          <p:nvPr/>
        </p:nvSpPr>
        <p:spPr>
          <a:xfrm>
            <a:off x="18832982" y="6099047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ARCD-72196</a:t>
            </a:r>
          </a:p>
        </p:txBody>
      </p:sp>
      <p:sp>
        <p:nvSpPr>
          <p:cNvPr id="873" name="Connector 23"/>
          <p:cNvSpPr/>
          <p:nvPr/>
        </p:nvSpPr>
        <p:spPr>
          <a:xfrm>
            <a:off x="1371600" y="65166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TextBox 24"/>
          <p:cNvSpPr txBox="1"/>
          <p:nvPr/>
        </p:nvSpPr>
        <p:spPr>
          <a:xfrm>
            <a:off x="1517903" y="65684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37</a:t>
            </a:r>
          </a:p>
        </p:txBody>
      </p:sp>
      <p:sp>
        <p:nvSpPr>
          <p:cNvPr id="875" name="TextBox 25"/>
          <p:cNvSpPr txBox="1"/>
          <p:nvPr/>
        </p:nvSpPr>
        <p:spPr>
          <a:xfrm>
            <a:off x="2600095" y="65684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Multi-Currency Wallet</a:t>
            </a:r>
          </a:p>
        </p:txBody>
      </p:sp>
      <p:sp>
        <p:nvSpPr>
          <p:cNvPr id="876" name="TextBox 26"/>
          <p:cNvSpPr txBox="1"/>
          <p:nvPr/>
        </p:nvSpPr>
        <p:spPr>
          <a:xfrm>
            <a:off x="9093250" y="65684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77" name="TextBox 27"/>
          <p:cNvSpPr txBox="1"/>
          <p:nvPr/>
        </p:nvSpPr>
        <p:spPr>
          <a:xfrm>
            <a:off x="18832982" y="656844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ARCD-72195</a:t>
            </a:r>
          </a:p>
        </p:txBody>
      </p:sp>
      <p:sp>
        <p:nvSpPr>
          <p:cNvPr id="878" name="Connector 28"/>
          <p:cNvSpPr/>
          <p:nvPr/>
        </p:nvSpPr>
        <p:spPr>
          <a:xfrm>
            <a:off x="1371600" y="698601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TextBox 29"/>
          <p:cNvSpPr txBox="1"/>
          <p:nvPr/>
        </p:nvSpPr>
        <p:spPr>
          <a:xfrm>
            <a:off x="1517903" y="703783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38</a:t>
            </a:r>
          </a:p>
        </p:txBody>
      </p:sp>
      <p:sp>
        <p:nvSpPr>
          <p:cNvPr id="880" name="TextBox 30"/>
          <p:cNvSpPr txBox="1"/>
          <p:nvPr/>
        </p:nvSpPr>
        <p:spPr>
          <a:xfrm>
            <a:off x="2600095" y="703783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Client Money (Overnight Investments)</a:t>
            </a:r>
          </a:p>
        </p:txBody>
      </p:sp>
      <p:sp>
        <p:nvSpPr>
          <p:cNvPr id="881" name="TextBox 31"/>
          <p:cNvSpPr txBox="1"/>
          <p:nvPr/>
        </p:nvSpPr>
        <p:spPr>
          <a:xfrm>
            <a:off x="9093250" y="703783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82" name="TextBox 32"/>
          <p:cNvSpPr txBox="1"/>
          <p:nvPr/>
        </p:nvSpPr>
        <p:spPr>
          <a:xfrm>
            <a:off x="18832982" y="7037831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ARCD-2647</a:t>
            </a:r>
          </a:p>
        </p:txBody>
      </p:sp>
      <p:sp>
        <p:nvSpPr>
          <p:cNvPr id="883" name="Connector 33"/>
          <p:cNvSpPr/>
          <p:nvPr/>
        </p:nvSpPr>
        <p:spPr>
          <a:xfrm>
            <a:off x="1371600" y="74554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TextBox 34"/>
          <p:cNvSpPr txBox="1"/>
          <p:nvPr/>
        </p:nvSpPr>
        <p:spPr>
          <a:xfrm>
            <a:off x="1517903" y="75072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885" name="TextBox 35"/>
          <p:cNvSpPr txBox="1"/>
          <p:nvPr/>
        </p:nvSpPr>
        <p:spPr>
          <a:xfrm>
            <a:off x="2600095" y="75072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 Swap (Local/ International)</a:t>
            </a:r>
          </a:p>
        </p:txBody>
      </p:sp>
      <p:sp>
        <p:nvSpPr>
          <p:cNvPr id="886" name="TextBox 36"/>
          <p:cNvSpPr txBox="1"/>
          <p:nvPr/>
        </p:nvSpPr>
        <p:spPr>
          <a:xfrm>
            <a:off x="9093250" y="75072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87" name="TextBox 37"/>
          <p:cNvSpPr txBox="1"/>
          <p:nvPr/>
        </p:nvSpPr>
        <p:spPr>
          <a:xfrm>
            <a:off x="18832982" y="7507223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ARCD-2644</a:t>
            </a:r>
          </a:p>
        </p:txBody>
      </p:sp>
      <p:sp>
        <p:nvSpPr>
          <p:cNvPr id="888" name="Connector 38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TextBox 39"/>
          <p:cNvSpPr txBox="1"/>
          <p:nvPr/>
        </p:nvSpPr>
        <p:spPr>
          <a:xfrm>
            <a:off x="1517903" y="797661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890" name="TextBox 40"/>
          <p:cNvSpPr txBox="1"/>
          <p:nvPr/>
        </p:nvSpPr>
        <p:spPr>
          <a:xfrm>
            <a:off x="2600095" y="797661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Add cash to any product of ARC from any source of cash in ARB</a:t>
            </a:r>
          </a:p>
        </p:txBody>
      </p:sp>
      <p:sp>
        <p:nvSpPr>
          <p:cNvPr id="891" name="TextBox 41"/>
          <p:cNvSpPr txBox="1"/>
          <p:nvPr/>
        </p:nvSpPr>
        <p:spPr>
          <a:xfrm>
            <a:off x="9093250" y="797661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92" name="TextBox 42"/>
          <p:cNvSpPr txBox="1"/>
          <p:nvPr/>
        </p:nvSpPr>
        <p:spPr>
          <a:xfrm>
            <a:off x="18832982" y="797661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ARCD-2426</a:t>
            </a:r>
          </a:p>
        </p:txBody>
      </p:sp>
      <p:sp>
        <p:nvSpPr>
          <p:cNvPr id="893" name="Connector 43"/>
          <p:cNvSpPr/>
          <p:nvPr/>
        </p:nvSpPr>
        <p:spPr>
          <a:xfrm>
            <a:off x="1371600" y="839419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TextBox 44"/>
          <p:cNvSpPr txBox="1"/>
          <p:nvPr/>
        </p:nvSpPr>
        <p:spPr>
          <a:xfrm>
            <a:off x="1517903" y="8446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41</a:t>
            </a:r>
          </a:p>
        </p:txBody>
      </p:sp>
      <p:sp>
        <p:nvSpPr>
          <p:cNvPr id="895" name="TextBox 45"/>
          <p:cNvSpPr txBox="1"/>
          <p:nvPr/>
        </p:nvSpPr>
        <p:spPr>
          <a:xfrm>
            <a:off x="2600095" y="8446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Crowdfund Fees details</a:t>
            </a:r>
          </a:p>
        </p:txBody>
      </p:sp>
      <p:sp>
        <p:nvSpPr>
          <p:cNvPr id="896" name="TextBox 46"/>
          <p:cNvSpPr txBox="1"/>
          <p:nvPr/>
        </p:nvSpPr>
        <p:spPr>
          <a:xfrm>
            <a:off x="9093250" y="8446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97" name="TextBox 47"/>
          <p:cNvSpPr txBox="1"/>
          <p:nvPr/>
        </p:nvSpPr>
        <p:spPr>
          <a:xfrm>
            <a:off x="18832982" y="8446007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ARCD-72343</a:t>
            </a:r>
          </a:p>
        </p:txBody>
      </p:sp>
      <p:sp>
        <p:nvSpPr>
          <p:cNvPr id="898" name="Connector 48"/>
          <p:cNvSpPr/>
          <p:nvPr/>
        </p:nvSpPr>
        <p:spPr>
          <a:xfrm>
            <a:off x="1371600" y="88635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TextBox 49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900" name="TextBox 50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crowdfund insight and summary</a:t>
            </a:r>
          </a:p>
        </p:txBody>
      </p:sp>
      <p:sp>
        <p:nvSpPr>
          <p:cNvPr id="901" name="TextBox 51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02" name="TextBox 52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ARCD-72336</a:t>
            </a:r>
          </a:p>
        </p:txBody>
      </p:sp>
      <p:sp>
        <p:nvSpPr>
          <p:cNvPr id="903" name="Connector 53"/>
          <p:cNvSpPr/>
          <p:nvPr/>
        </p:nvSpPr>
        <p:spPr>
          <a:xfrm>
            <a:off x="1371600" y="93329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TextBox 54"/>
          <p:cNvSpPr txBox="1"/>
          <p:nvPr/>
        </p:nvSpPr>
        <p:spPr>
          <a:xfrm>
            <a:off x="1517903" y="9384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43</a:t>
            </a:r>
          </a:p>
        </p:txBody>
      </p:sp>
      <p:sp>
        <p:nvSpPr>
          <p:cNvPr id="905" name="TextBox 55"/>
          <p:cNvSpPr txBox="1"/>
          <p:nvPr/>
        </p:nvSpPr>
        <p:spPr>
          <a:xfrm>
            <a:off x="2600095" y="9384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funding Public offering</a:t>
            </a:r>
          </a:p>
        </p:txBody>
      </p:sp>
      <p:sp>
        <p:nvSpPr>
          <p:cNvPr id="906" name="TextBox 56"/>
          <p:cNvSpPr txBox="1"/>
          <p:nvPr/>
        </p:nvSpPr>
        <p:spPr>
          <a:xfrm>
            <a:off x="9093250" y="93847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07" name="TextBox 57"/>
          <p:cNvSpPr txBox="1"/>
          <p:nvPr/>
        </p:nvSpPr>
        <p:spPr>
          <a:xfrm>
            <a:off x="18832982" y="938479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ARCD-38549</a:t>
            </a:r>
          </a:p>
        </p:txBody>
      </p:sp>
      <p:sp>
        <p:nvSpPr>
          <p:cNvPr id="908" name="Connector 58"/>
          <p:cNvSpPr/>
          <p:nvPr/>
        </p:nvSpPr>
        <p:spPr>
          <a:xfrm>
            <a:off x="1371600" y="980236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TextBox 59"/>
          <p:cNvSpPr txBox="1"/>
          <p:nvPr/>
        </p:nvSpPr>
        <p:spPr>
          <a:xfrm>
            <a:off x="1517903" y="9854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44</a:t>
            </a:r>
          </a:p>
        </p:txBody>
      </p:sp>
      <p:sp>
        <p:nvSpPr>
          <p:cNvPr id="910" name="TextBox 60"/>
          <p:cNvSpPr txBox="1"/>
          <p:nvPr/>
        </p:nvSpPr>
        <p:spPr>
          <a:xfrm>
            <a:off x="2600095" y="9854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Remove username &amp; password authentication</a:t>
            </a:r>
          </a:p>
        </p:txBody>
      </p:sp>
      <p:sp>
        <p:nvSpPr>
          <p:cNvPr id="911" name="TextBox 61"/>
          <p:cNvSpPr txBox="1"/>
          <p:nvPr/>
        </p:nvSpPr>
        <p:spPr>
          <a:xfrm>
            <a:off x="9093250" y="9854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12" name="TextBox 62"/>
          <p:cNvSpPr txBox="1"/>
          <p:nvPr/>
        </p:nvSpPr>
        <p:spPr>
          <a:xfrm>
            <a:off x="18832982" y="9854183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ARCD-91706</a:t>
            </a:r>
          </a:p>
        </p:txBody>
      </p:sp>
      <p:sp>
        <p:nvSpPr>
          <p:cNvPr id="913" name="Connector 63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TextBox 64"/>
          <p:cNvSpPr txBox="1"/>
          <p:nvPr/>
        </p:nvSpPr>
        <p:spPr>
          <a:xfrm>
            <a:off x="1517903" y="103235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45</a:t>
            </a:r>
          </a:p>
        </p:txBody>
      </p:sp>
      <p:sp>
        <p:nvSpPr>
          <p:cNvPr id="915" name="TextBox 65"/>
          <p:cNvSpPr txBox="1"/>
          <p:nvPr/>
        </p:nvSpPr>
        <p:spPr>
          <a:xfrm>
            <a:off x="2600095" y="103235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Stocks Key Facts</a:t>
            </a:r>
          </a:p>
        </p:txBody>
      </p:sp>
      <p:sp>
        <p:nvSpPr>
          <p:cNvPr id="916" name="TextBox 66"/>
          <p:cNvSpPr txBox="1"/>
          <p:nvPr/>
        </p:nvSpPr>
        <p:spPr>
          <a:xfrm>
            <a:off x="9093250" y="103235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17" name="TextBox 67"/>
          <p:cNvSpPr txBox="1"/>
          <p:nvPr/>
        </p:nvSpPr>
        <p:spPr>
          <a:xfrm>
            <a:off x="18832982" y="1032357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ARCD-72344</a:t>
            </a:r>
          </a:p>
        </p:txBody>
      </p:sp>
      <p:sp>
        <p:nvSpPr>
          <p:cNvPr id="918" name="Connector 68"/>
          <p:cNvSpPr/>
          <p:nvPr/>
        </p:nvSpPr>
        <p:spPr>
          <a:xfrm>
            <a:off x="1371600" y="107411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TextBox 69"/>
          <p:cNvSpPr txBox="1"/>
          <p:nvPr/>
        </p:nvSpPr>
        <p:spPr>
          <a:xfrm>
            <a:off x="1517903" y="10792968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46</a:t>
            </a:r>
          </a:p>
        </p:txBody>
      </p:sp>
      <p:sp>
        <p:nvSpPr>
          <p:cNvPr id="920" name="TextBox 70"/>
          <p:cNvSpPr txBox="1"/>
          <p:nvPr/>
        </p:nvSpPr>
        <p:spPr>
          <a:xfrm>
            <a:off x="2600095" y="1079296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Global Notification</a:t>
            </a:r>
          </a:p>
        </p:txBody>
      </p:sp>
      <p:sp>
        <p:nvSpPr>
          <p:cNvPr id="921" name="TextBox 71"/>
          <p:cNvSpPr txBox="1"/>
          <p:nvPr/>
        </p:nvSpPr>
        <p:spPr>
          <a:xfrm>
            <a:off x="9093250" y="1079296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22" name="TextBox 72"/>
          <p:cNvSpPr txBox="1"/>
          <p:nvPr/>
        </p:nvSpPr>
        <p:spPr>
          <a:xfrm>
            <a:off x="18832982" y="10792968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ARCD-75525</a:t>
            </a:r>
          </a:p>
        </p:txBody>
      </p:sp>
      <p:sp>
        <p:nvSpPr>
          <p:cNvPr id="923" name="Connector 73"/>
          <p:cNvSpPr/>
          <p:nvPr/>
        </p:nvSpPr>
        <p:spPr>
          <a:xfrm>
            <a:off x="1371600" y="112105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TextBox 74"/>
          <p:cNvSpPr txBox="1"/>
          <p:nvPr/>
        </p:nvSpPr>
        <p:spPr>
          <a:xfrm>
            <a:off x="1517903" y="11262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47</a:t>
            </a:r>
          </a:p>
        </p:txBody>
      </p:sp>
      <p:sp>
        <p:nvSpPr>
          <p:cNvPr id="925" name="TextBox 75"/>
          <p:cNvSpPr txBox="1"/>
          <p:nvPr/>
        </p:nvSpPr>
        <p:spPr>
          <a:xfrm>
            <a:off x="2600095" y="11262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Social Trading</a:t>
            </a:r>
          </a:p>
        </p:txBody>
      </p:sp>
      <p:sp>
        <p:nvSpPr>
          <p:cNvPr id="926" name="TextBox 76"/>
          <p:cNvSpPr txBox="1"/>
          <p:nvPr/>
        </p:nvSpPr>
        <p:spPr>
          <a:xfrm>
            <a:off x="9093250" y="11262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27" name="TextBox 77"/>
          <p:cNvSpPr txBox="1"/>
          <p:nvPr/>
        </p:nvSpPr>
        <p:spPr>
          <a:xfrm>
            <a:off x="18832982" y="11262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ARCD-72352</a:t>
            </a:r>
          </a:p>
        </p:txBody>
      </p:sp>
      <p:sp>
        <p:nvSpPr>
          <p:cNvPr id="928" name="Connector 78"/>
          <p:cNvSpPr/>
          <p:nvPr/>
        </p:nvSpPr>
        <p:spPr>
          <a:xfrm>
            <a:off x="1371600" y="116799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TextBox 79"/>
          <p:cNvSpPr txBox="1"/>
          <p:nvPr/>
        </p:nvSpPr>
        <p:spPr>
          <a:xfrm>
            <a:off x="1517903" y="117317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930" name="TextBox 80"/>
          <p:cNvSpPr txBox="1"/>
          <p:nvPr/>
        </p:nvSpPr>
        <p:spPr>
          <a:xfrm>
            <a:off x="2600095" y="117317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View Integration</a:t>
            </a:r>
          </a:p>
        </p:txBody>
      </p:sp>
      <p:sp>
        <p:nvSpPr>
          <p:cNvPr id="931" name="TextBox 81"/>
          <p:cNvSpPr txBox="1"/>
          <p:nvPr/>
        </p:nvSpPr>
        <p:spPr>
          <a:xfrm>
            <a:off x="9093250" y="117317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32" name="TextBox 82"/>
          <p:cNvSpPr txBox="1"/>
          <p:nvPr/>
        </p:nvSpPr>
        <p:spPr>
          <a:xfrm>
            <a:off x="18832982" y="1173175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ARCD-19429</a:t>
            </a:r>
          </a:p>
        </p:txBody>
      </p:sp>
      <p:sp>
        <p:nvSpPr>
          <p:cNvPr id="933" name="Connector 83"/>
          <p:cNvSpPr/>
          <p:nvPr/>
        </p:nvSpPr>
        <p:spPr>
          <a:xfrm>
            <a:off x="1371600" y="1214932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TextBox 84"/>
          <p:cNvSpPr txBox="1"/>
          <p:nvPr/>
        </p:nvSpPr>
        <p:spPr>
          <a:xfrm>
            <a:off x="1517903" y="1220114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935" name="TextBox 85"/>
          <p:cNvSpPr txBox="1"/>
          <p:nvPr/>
        </p:nvSpPr>
        <p:spPr>
          <a:xfrm>
            <a:off x="2600095" y="1220114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Fast Onboarding</a:t>
            </a:r>
          </a:p>
        </p:txBody>
      </p:sp>
      <p:sp>
        <p:nvSpPr>
          <p:cNvPr id="936" name="TextBox 86"/>
          <p:cNvSpPr txBox="1"/>
          <p:nvPr/>
        </p:nvSpPr>
        <p:spPr>
          <a:xfrm>
            <a:off x="9093250" y="1220114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37" name="TextBox 87"/>
          <p:cNvSpPr txBox="1"/>
          <p:nvPr/>
        </p:nvSpPr>
        <p:spPr>
          <a:xfrm>
            <a:off x="18832982" y="12201143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ARCD-13281</a:t>
            </a:r>
          </a:p>
        </p:txBody>
      </p:sp>
      <p:sp>
        <p:nvSpPr>
          <p:cNvPr id="938" name="Connector 88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3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565882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12632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59381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0613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528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99628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4637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93126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39875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86624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4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3337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8827" y="108029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566051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12800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59549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0629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53047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99796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46546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9329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5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40044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86793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33542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8029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27242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73991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8827" y="122090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1274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174160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6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2209093"/>
            <a:ext cx="292609" cy="2926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016 / 111</a:t>
            </a:r>
          </a:p>
        </p:txBody>
      </p:sp>
      <p:sp>
        <p:nvSpPr>
          <p:cNvPr id="97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973" name="TextBox 4"/>
          <p:cNvSpPr txBox="1"/>
          <p:nvPr/>
        </p:nvSpPr>
        <p:spPr>
          <a:xfrm>
            <a:off x="1371600" y="2817998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97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97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97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97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97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97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98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98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98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984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Client ID Expiry</a:t>
            </a:r>
          </a:p>
        </p:txBody>
      </p:sp>
      <p:sp>
        <p:nvSpPr>
          <p:cNvPr id="985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86" name="Connector 17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TextBox 18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988" name="TextBox 19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Minor ID Expiry</a:t>
            </a:r>
          </a:p>
        </p:txBody>
      </p:sp>
      <p:sp>
        <p:nvSpPr>
          <p:cNvPr id="989" name="TextBox 20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90" name="TextBox 21"/>
          <p:cNvSpPr txBox="1"/>
          <p:nvPr/>
        </p:nvSpPr>
        <p:spPr>
          <a:xfrm>
            <a:off x="18832982" y="6053328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ARCD-13108</a:t>
            </a:r>
          </a:p>
        </p:txBody>
      </p:sp>
      <p:sp>
        <p:nvSpPr>
          <p:cNvPr id="991" name="Connector 22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TextBox 23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52</a:t>
            </a:r>
          </a:p>
        </p:txBody>
      </p:sp>
      <p:sp>
        <p:nvSpPr>
          <p:cNvPr id="993" name="TextBox 24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KYC update</a:t>
            </a:r>
          </a:p>
        </p:txBody>
      </p:sp>
      <p:sp>
        <p:nvSpPr>
          <p:cNvPr id="994" name="TextBox 25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95" name="Connector 26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TextBox 27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53</a:t>
            </a:r>
          </a:p>
        </p:txBody>
      </p:sp>
      <p:sp>
        <p:nvSpPr>
          <p:cNvPr id="997" name="TextBox 28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Prices New Clients</a:t>
            </a:r>
          </a:p>
        </p:txBody>
      </p:sp>
      <p:sp>
        <p:nvSpPr>
          <p:cNvPr id="998" name="TextBox 29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99" name="TextBox 30"/>
          <p:cNvSpPr txBox="1"/>
          <p:nvPr/>
        </p:nvSpPr>
        <p:spPr>
          <a:xfrm>
            <a:off x="14504212" y="6931152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Enchantment requires</a:t>
            </a:r>
          </a:p>
        </p:txBody>
      </p:sp>
      <p:sp>
        <p:nvSpPr>
          <p:cNvPr id="1000" name="TextBox 31"/>
          <p:cNvSpPr txBox="1"/>
          <p:nvPr/>
        </p:nvSpPr>
        <p:spPr>
          <a:xfrm>
            <a:off x="18832982" y="693115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ARCD-91702</a:t>
            </a:r>
          </a:p>
        </p:txBody>
      </p:sp>
      <p:sp>
        <p:nvSpPr>
          <p:cNvPr id="1001" name="Connector 32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TextBox 33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54</a:t>
            </a:r>
          </a:p>
        </p:txBody>
      </p:sp>
      <p:sp>
        <p:nvSpPr>
          <p:cNvPr id="1003" name="TextBox 34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Prices Current Clients</a:t>
            </a:r>
          </a:p>
        </p:txBody>
      </p:sp>
      <p:sp>
        <p:nvSpPr>
          <p:cNvPr id="1004" name="TextBox 35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05" name="TextBox 36"/>
          <p:cNvSpPr txBox="1"/>
          <p:nvPr/>
        </p:nvSpPr>
        <p:spPr>
          <a:xfrm>
            <a:off x="14504212" y="7370064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Enchantment requires</a:t>
            </a:r>
          </a:p>
        </p:txBody>
      </p:sp>
      <p:sp>
        <p:nvSpPr>
          <p:cNvPr id="1006" name="TextBox 37"/>
          <p:cNvSpPr txBox="1"/>
          <p:nvPr/>
        </p:nvSpPr>
        <p:spPr>
          <a:xfrm>
            <a:off x="18832982" y="7370064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ARCD-91702</a:t>
            </a:r>
          </a:p>
        </p:txBody>
      </p:sp>
      <p:sp>
        <p:nvSpPr>
          <p:cNvPr id="1007" name="Connector 38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TextBox 39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55</a:t>
            </a:r>
          </a:p>
        </p:txBody>
      </p:sp>
      <p:sp>
        <p:nvSpPr>
          <p:cNvPr id="1009" name="TextBox 40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TILA joureny</a:t>
            </a:r>
          </a:p>
        </p:txBody>
      </p:sp>
      <p:sp>
        <p:nvSpPr>
          <p:cNvPr id="1010" name="TextBox 41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11" name="TextBox 42"/>
          <p:cNvSpPr txBox="1"/>
          <p:nvPr/>
        </p:nvSpPr>
        <p:spPr>
          <a:xfrm>
            <a:off x="14504212" y="7808976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Enchantment requires</a:t>
            </a:r>
          </a:p>
        </p:txBody>
      </p:sp>
      <p:sp>
        <p:nvSpPr>
          <p:cNvPr id="1012" name="TextBox 43"/>
          <p:cNvSpPr txBox="1"/>
          <p:nvPr/>
        </p:nvSpPr>
        <p:spPr>
          <a:xfrm>
            <a:off x="18832982" y="780897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ARCD-91702</a:t>
            </a:r>
          </a:p>
        </p:txBody>
      </p:sp>
      <p:sp>
        <p:nvSpPr>
          <p:cNvPr id="1013" name="Connector 44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TextBox 45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56</a:t>
            </a:r>
          </a:p>
        </p:txBody>
      </p:sp>
      <p:sp>
        <p:nvSpPr>
          <p:cNvPr id="1015" name="TextBox 46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Tracking T&amp;C Versions</a:t>
            </a:r>
          </a:p>
        </p:txBody>
      </p:sp>
      <p:sp>
        <p:nvSpPr>
          <p:cNvPr id="1016" name="TextBox 47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17" name="TextBox 48"/>
          <p:cNvSpPr txBox="1"/>
          <p:nvPr/>
        </p:nvSpPr>
        <p:spPr>
          <a:xfrm>
            <a:off x="18832982" y="8247888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ARCD-91710</a:t>
            </a:r>
          </a:p>
        </p:txBody>
      </p:sp>
      <p:sp>
        <p:nvSpPr>
          <p:cNvPr id="1018" name="Connector 49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TextBox 50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57</a:t>
            </a:r>
          </a:p>
        </p:txBody>
      </p:sp>
      <p:sp>
        <p:nvSpPr>
          <p:cNvPr id="1020" name="TextBox 51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Data Consent</a:t>
            </a:r>
          </a:p>
        </p:txBody>
      </p:sp>
      <p:sp>
        <p:nvSpPr>
          <p:cNvPr id="1021" name="TextBox 52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22" name="Connector 53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TextBox 54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58</a:t>
            </a:r>
          </a:p>
        </p:txBody>
      </p:sp>
      <p:sp>
        <p:nvSpPr>
          <p:cNvPr id="1024" name="TextBox 55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Prepaid Commission</a:t>
            </a:r>
          </a:p>
        </p:txBody>
      </p:sp>
      <p:sp>
        <p:nvSpPr>
          <p:cNvPr id="1025" name="TextBox 56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26" name="TextBox 57"/>
          <p:cNvSpPr txBox="1"/>
          <p:nvPr/>
        </p:nvSpPr>
        <p:spPr>
          <a:xfrm>
            <a:off x="18832982" y="9125711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ARCD-17031</a:t>
            </a:r>
          </a:p>
        </p:txBody>
      </p:sp>
      <p:sp>
        <p:nvSpPr>
          <p:cNvPr id="1027" name="Connector 58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TextBox 59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1029" name="TextBox 60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Spin the Wheel Discount</a:t>
            </a:r>
          </a:p>
        </p:txBody>
      </p:sp>
      <p:sp>
        <p:nvSpPr>
          <p:cNvPr id="1030" name="TextBox 61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31" name="TextBox 62"/>
          <p:cNvSpPr txBox="1"/>
          <p:nvPr/>
        </p:nvSpPr>
        <p:spPr>
          <a:xfrm>
            <a:off x="18832982" y="9564623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ARCD-16056</a:t>
            </a:r>
          </a:p>
        </p:txBody>
      </p:sp>
      <p:sp>
        <p:nvSpPr>
          <p:cNvPr id="1032" name="Connector 63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TextBox 64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60</a:t>
            </a:r>
          </a:p>
        </p:txBody>
      </p:sp>
      <p:sp>
        <p:nvSpPr>
          <p:cNvPr id="1034" name="TextBox 65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on behalf of minors</a:t>
            </a:r>
          </a:p>
        </p:txBody>
      </p:sp>
      <p:sp>
        <p:nvSpPr>
          <p:cNvPr id="1035" name="TextBox 66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36" name="Connector 67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7" name="TextBox 68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1038" name="TextBox 69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Manage Card and account</a:t>
            </a:r>
          </a:p>
        </p:txBody>
      </p:sp>
      <p:sp>
        <p:nvSpPr>
          <p:cNvPr id="1039" name="TextBox 70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40" name="Connector 71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TextBox 72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62</a:t>
            </a:r>
          </a:p>
        </p:txBody>
      </p:sp>
      <p:sp>
        <p:nvSpPr>
          <p:cNvPr id="1042" name="TextBox 73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How to?</a:t>
            </a:r>
          </a:p>
        </p:txBody>
      </p:sp>
      <p:sp>
        <p:nvSpPr>
          <p:cNvPr id="1043" name="TextBox 74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44" name="Connector 75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TextBox 76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046" name="TextBox 77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Charity Donation</a:t>
            </a:r>
          </a:p>
        </p:txBody>
      </p:sp>
      <p:sp>
        <p:nvSpPr>
          <p:cNvPr id="1047" name="TextBox 78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48" name="Connector 79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TextBox 80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050" name="TextBox 81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Dark/Light Theme</a:t>
            </a:r>
          </a:p>
        </p:txBody>
      </p:sp>
      <p:sp>
        <p:nvSpPr>
          <p:cNvPr id="1051" name="TextBox 82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52" name="Connector 83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TextBox 84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65</a:t>
            </a:r>
          </a:p>
        </p:txBody>
      </p:sp>
      <p:sp>
        <p:nvSpPr>
          <p:cNvPr id="1054" name="TextBox 85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Arabic/English Language</a:t>
            </a:r>
          </a:p>
        </p:txBody>
      </p:sp>
      <p:sp>
        <p:nvSpPr>
          <p:cNvPr id="1055" name="TextBox 86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56" name="Connector 87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7" name="TextBox 88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66</a:t>
            </a:r>
          </a:p>
        </p:txBody>
      </p:sp>
      <p:sp>
        <p:nvSpPr>
          <p:cNvPr id="1058" name="TextBox 89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MPIN</a:t>
            </a:r>
          </a:p>
        </p:txBody>
      </p:sp>
      <p:sp>
        <p:nvSpPr>
          <p:cNvPr id="1059" name="TextBox 90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60" name="Connector 91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6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12632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2734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70318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87690" y="915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59647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12800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27512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7048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22549" y="915288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59815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563381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563381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3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654962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4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654962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5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69951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6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69951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7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746261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8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746261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9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78744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0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78744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00360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00360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3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04816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4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04816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5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094905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6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094905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7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136088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8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136088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9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179559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0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179559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226304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226304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3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267487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4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2674879"/>
            <a:ext cx="292609" cy="2926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09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017 / 111</a:t>
            </a:r>
          </a:p>
        </p:txBody>
      </p:sp>
      <p:sp>
        <p:nvSpPr>
          <p:cNvPr id="109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109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110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10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10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10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10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10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10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10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10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</a:t>
            </a:r>
          </a:p>
        </p:txBody>
      </p:sp>
      <p:sp>
        <p:nvSpPr>
          <p:cNvPr id="1110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Session Timeout</a:t>
            </a:r>
          </a:p>
        </p:txBody>
      </p:sp>
      <p:sp>
        <p:nvSpPr>
          <p:cNvPr id="1111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12" name="Connector 17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TextBox 18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68</a:t>
            </a:r>
          </a:p>
        </p:txBody>
      </p:sp>
      <p:sp>
        <p:nvSpPr>
          <p:cNvPr id="1114" name="TextBox 19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Notifications</a:t>
            </a:r>
          </a:p>
        </p:txBody>
      </p:sp>
      <p:sp>
        <p:nvSpPr>
          <p:cNvPr id="1115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16" name="TextBox 21"/>
          <p:cNvSpPr txBox="1"/>
          <p:nvPr/>
        </p:nvSpPr>
        <p:spPr>
          <a:xfrm>
            <a:off x="14504212" y="6207369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InBox</a:t>
            </a:r>
          </a:p>
        </p:txBody>
      </p:sp>
      <p:sp>
        <p:nvSpPr>
          <p:cNvPr id="1117" name="Connector 22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TextBox 23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69</a:t>
            </a:r>
          </a:p>
        </p:txBody>
      </p:sp>
      <p:sp>
        <p:nvSpPr>
          <p:cNvPr id="1119" name="TextBox 24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Preference</a:t>
            </a:r>
          </a:p>
        </p:txBody>
      </p:sp>
      <p:sp>
        <p:nvSpPr>
          <p:cNvPr id="1120" name="TextBox 25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21" name="Connector 26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2" name="TextBox 27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</a:t>
            </a:r>
          </a:p>
        </p:txBody>
      </p:sp>
      <p:sp>
        <p:nvSpPr>
          <p:cNvPr id="1123" name="TextBox 28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Shariah List (Local/US)</a:t>
            </a:r>
          </a:p>
        </p:txBody>
      </p:sp>
      <p:sp>
        <p:nvSpPr>
          <p:cNvPr id="1124" name="TextBox 29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25" name="Connector 30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TextBox 31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71</a:t>
            </a:r>
          </a:p>
        </p:txBody>
      </p:sp>
      <p:sp>
        <p:nvSpPr>
          <p:cNvPr id="1127" name="TextBox 32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Always on Display</a:t>
            </a:r>
          </a:p>
        </p:txBody>
      </p:sp>
      <p:sp>
        <p:nvSpPr>
          <p:cNvPr id="1128" name="TextBox 33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29" name="Connector 34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TextBox 35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72</a:t>
            </a:r>
          </a:p>
        </p:txBody>
      </p:sp>
      <p:sp>
        <p:nvSpPr>
          <p:cNvPr id="1131" name="TextBox 36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FAQs</a:t>
            </a:r>
          </a:p>
        </p:txBody>
      </p:sp>
      <p:sp>
        <p:nvSpPr>
          <p:cNvPr id="1132" name="TextBox 37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33" name="Connector 38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TextBox 39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73</a:t>
            </a:r>
          </a:p>
        </p:txBody>
      </p:sp>
      <p:sp>
        <p:nvSpPr>
          <p:cNvPr id="1135" name="TextBox 40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Invite Friends</a:t>
            </a:r>
          </a:p>
        </p:txBody>
      </p:sp>
      <p:sp>
        <p:nvSpPr>
          <p:cNvPr id="1136" name="TextBox 41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37" name="Connector 42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TextBox 43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1139" name="TextBox 44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Font Size (Small/Regular/Large)</a:t>
            </a:r>
          </a:p>
        </p:txBody>
      </p:sp>
      <p:sp>
        <p:nvSpPr>
          <p:cNvPr id="1140" name="TextBox 45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41" name="Connector 46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2" name="TextBox 47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75</a:t>
            </a:r>
          </a:p>
        </p:txBody>
      </p:sp>
      <p:sp>
        <p:nvSpPr>
          <p:cNvPr id="1143" name="TextBox 48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Face ID</a:t>
            </a:r>
          </a:p>
        </p:txBody>
      </p:sp>
      <p:sp>
        <p:nvSpPr>
          <p:cNvPr id="1144" name="TextBox 49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45" name="Connector 50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TextBox 51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76</a:t>
            </a:r>
          </a:p>
        </p:txBody>
      </p:sp>
      <p:sp>
        <p:nvSpPr>
          <p:cNvPr id="1147" name="TextBox 52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Global Search</a:t>
            </a:r>
          </a:p>
        </p:txBody>
      </p:sp>
      <p:sp>
        <p:nvSpPr>
          <p:cNvPr id="1148" name="TextBox 53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49" name="Connector 54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TextBox 55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77</a:t>
            </a:r>
          </a:p>
        </p:txBody>
      </p:sp>
      <p:sp>
        <p:nvSpPr>
          <p:cNvPr id="1151" name="TextBox 56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PopUp notification</a:t>
            </a:r>
          </a:p>
        </p:txBody>
      </p:sp>
      <p:sp>
        <p:nvSpPr>
          <p:cNvPr id="1152" name="TextBox 5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53" name="Connector 58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TextBox 59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78</a:t>
            </a:r>
          </a:p>
        </p:txBody>
      </p:sp>
      <p:sp>
        <p:nvSpPr>
          <p:cNvPr id="1155" name="TextBox 60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Any to any Transfer</a:t>
            </a:r>
          </a:p>
        </p:txBody>
      </p:sp>
      <p:sp>
        <p:nvSpPr>
          <p:cNvPr id="1156" name="TextBox 6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57" name="Connector 62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TextBox 63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1159" name="TextBox 64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 Widgets</a:t>
            </a:r>
          </a:p>
        </p:txBody>
      </p:sp>
      <p:sp>
        <p:nvSpPr>
          <p:cNvPr id="1160" name="TextBox 65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61" name="Connector 66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6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569731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3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027" y="569731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29187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88643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74809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80755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86701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926467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985923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04537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10483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164292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223748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629187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688643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74809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80755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86701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926467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985923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04537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10483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164292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8" y="12237480"/>
            <a:ext cx="292609" cy="2926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1188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9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Local </a:t>
            </a:r>
            <a:r>
              <a:rPr>
                <a:solidFill>
                  <a:srgbClr val="0333E8"/>
                </a:solidFill>
              </a:rPr>
              <a:t>Market</a:t>
            </a:r>
          </a:p>
        </p:txBody>
      </p:sp>
      <p:sp>
        <p:nvSpPr>
          <p:cNvPr id="1190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Retail equity trading on the Saudi Exchange</a:t>
            </a:r>
          </a:p>
        </p:txBody>
      </p:sp>
      <p:sp>
        <p:nvSpPr>
          <p:cNvPr id="1191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1192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018 / 111</a:t>
            </a:r>
          </a:p>
        </p:txBody>
      </p:sp>
      <p:pic>
        <p:nvPicPr>
          <p:cNvPr id="1193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19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019 / 113</a:t>
            </a:r>
          </a:p>
        </p:txBody>
      </p:sp>
      <p:sp>
        <p:nvSpPr>
          <p:cNvPr id="119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SECTION SUMMARY</a:t>
            </a:r>
          </a:p>
        </p:txBody>
      </p:sp>
      <p:sp>
        <p:nvSpPr>
          <p:cNvPr id="1198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228 capabilities assessed. 136 already live.</a:t>
            </a:r>
          </a:p>
        </p:txBody>
      </p:sp>
      <p:sp>
        <p:nvSpPr>
          <p:cNvPr id="1199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228</a:t>
            </a:r>
          </a:p>
        </p:txBody>
      </p:sp>
      <p:sp>
        <p:nvSpPr>
          <p:cNvPr id="1200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1201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2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136</a:t>
            </a:r>
          </a:p>
        </p:txBody>
      </p:sp>
      <p:sp>
        <p:nvSpPr>
          <p:cNvPr id="1203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(60% OF 228)</a:t>
            </a:r>
          </a:p>
        </p:txBody>
      </p:sp>
      <p:sp>
        <p:nvSpPr>
          <p:cNvPr id="1204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5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1206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(10% OF 228)</a:t>
            </a:r>
          </a:p>
        </p:txBody>
      </p:sp>
      <p:sp>
        <p:nvSpPr>
          <p:cNvPr id="1207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8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1210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92 gaps stand between today and full app parity.</a:t>
            </a:r>
          </a:p>
        </p:txBody>
      </p:sp>
      <p:sp>
        <p:nvSpPr>
          <p:cNvPr id="1211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Only 10% of capabilities are linked to a Jira ticket.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216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1214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15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1217" name="Frame 1.png" descr="Frame 1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3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8" name="Picture 373" descr="Picture 3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219" name="TextBox 374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020 / 111</a:t>
            </a:r>
          </a:p>
        </p:txBody>
      </p:sp>
      <p:sp>
        <p:nvSpPr>
          <p:cNvPr id="1220" name="TextBox 375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</a:t>
            </a:r>
          </a:p>
        </p:txBody>
      </p:sp>
      <p:sp>
        <p:nvSpPr>
          <p:cNvPr id="1221" name="TextBox 376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1222" name="Connector 377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378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379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Connector 380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6" name="Connector 381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382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383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384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Connector 385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1" name="Connector 386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387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388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389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390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391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392"/>
          <p:cNvSpPr/>
          <p:nvPr/>
        </p:nvSpPr>
        <p:spPr>
          <a:xfrm>
            <a:off x="2926079" y="8503919"/>
            <a:ext cx="227234" cy="866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393"/>
          <p:cNvSpPr/>
          <p:nvPr/>
        </p:nvSpPr>
        <p:spPr>
          <a:xfrm>
            <a:off x="3153312" y="8590594"/>
            <a:ext cx="213439" cy="136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394"/>
          <p:cNvSpPr/>
          <p:nvPr/>
        </p:nvSpPr>
        <p:spPr>
          <a:xfrm>
            <a:off x="3366751" y="8727054"/>
            <a:ext cx="202642" cy="1772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Connector 395"/>
          <p:cNvSpPr/>
          <p:nvPr/>
        </p:nvSpPr>
        <p:spPr>
          <a:xfrm>
            <a:off x="3569391" y="8904302"/>
            <a:ext cx="194844" cy="2090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1" name="Connector 396"/>
          <p:cNvSpPr/>
          <p:nvPr/>
        </p:nvSpPr>
        <p:spPr>
          <a:xfrm>
            <a:off x="3764235" y="9113342"/>
            <a:ext cx="190046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397"/>
          <p:cNvSpPr/>
          <p:nvPr/>
        </p:nvSpPr>
        <p:spPr>
          <a:xfrm>
            <a:off x="3954279" y="9345173"/>
            <a:ext cx="188246" cy="2456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398"/>
          <p:cNvSpPr/>
          <p:nvPr/>
        </p:nvSpPr>
        <p:spPr>
          <a:xfrm>
            <a:off x="4142525" y="9590802"/>
            <a:ext cx="189446" cy="250428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399"/>
          <p:cNvSpPr/>
          <p:nvPr/>
        </p:nvSpPr>
        <p:spPr>
          <a:xfrm>
            <a:off x="4331970" y="9841230"/>
            <a:ext cx="193644" cy="2462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Connector 400"/>
          <p:cNvSpPr/>
          <p:nvPr/>
        </p:nvSpPr>
        <p:spPr>
          <a:xfrm>
            <a:off x="4525613" y="10087458"/>
            <a:ext cx="200842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6" name="Connector 401"/>
          <p:cNvSpPr/>
          <p:nvPr/>
        </p:nvSpPr>
        <p:spPr>
          <a:xfrm>
            <a:off x="4726454" y="10320490"/>
            <a:ext cx="211040" cy="21083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402"/>
          <p:cNvSpPr/>
          <p:nvPr/>
        </p:nvSpPr>
        <p:spPr>
          <a:xfrm>
            <a:off x="4937492" y="10531327"/>
            <a:ext cx="224236" cy="17964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403"/>
          <p:cNvSpPr/>
          <p:nvPr/>
        </p:nvSpPr>
        <p:spPr>
          <a:xfrm>
            <a:off x="5161727" y="10710976"/>
            <a:ext cx="240430" cy="13946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404"/>
          <p:cNvSpPr/>
          <p:nvPr/>
        </p:nvSpPr>
        <p:spPr>
          <a:xfrm>
            <a:off x="5402156" y="10850435"/>
            <a:ext cx="259626" cy="902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Connector 405"/>
          <p:cNvSpPr/>
          <p:nvPr/>
        </p:nvSpPr>
        <p:spPr>
          <a:xfrm>
            <a:off x="5661781" y="10940708"/>
            <a:ext cx="281819" cy="3209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1" name="Connector 406"/>
          <p:cNvSpPr/>
          <p:nvPr/>
        </p:nvSpPr>
        <p:spPr>
          <a:xfrm>
            <a:off x="5943600" y="10972800"/>
            <a:ext cx="12344400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Oval 407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3" name="Oval 408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4" name="TextBox 409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1255" name="TextBox 410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1256" name="Oval 411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7" name="TextBox 412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258" name="TextBox 413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Saudi Market</a:t>
            </a:r>
          </a:p>
        </p:txBody>
      </p:sp>
      <p:sp>
        <p:nvSpPr>
          <p:cNvPr id="1259" name="Oval 414"/>
          <p:cNvSpPr/>
          <p:nvPr/>
        </p:nvSpPr>
        <p:spPr>
          <a:xfrm>
            <a:off x="97612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0" name="TextBox 415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61" name="TextBox 416"/>
          <p:cNvSpPr txBox="1"/>
          <p:nvPr/>
        </p:nvSpPr>
        <p:spPr>
          <a:xfrm>
            <a:off x="77724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Index / Stock</a:t>
            </a:r>
          </a:p>
        </p:txBody>
      </p:sp>
      <p:sp>
        <p:nvSpPr>
          <p:cNvPr id="1262" name="Oval 417"/>
          <p:cNvSpPr/>
          <p:nvPr/>
        </p:nvSpPr>
        <p:spPr>
          <a:xfrm>
            <a:off x="138760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3" name="TextBox 418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64" name="TextBox 419"/>
          <p:cNvSpPr txBox="1"/>
          <p:nvPr/>
        </p:nvSpPr>
        <p:spPr>
          <a:xfrm>
            <a:off x="118872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1265" name="Oval 420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TextBox 421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67" name="TextBox 422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Trade</a:t>
            </a:r>
          </a:p>
        </p:txBody>
      </p:sp>
      <p:sp>
        <p:nvSpPr>
          <p:cNvPr id="1268" name="Oval 423"/>
          <p:cNvSpPr/>
          <p:nvPr/>
        </p:nvSpPr>
        <p:spPr>
          <a:xfrm>
            <a:off x="5646420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9" name="TextBox 424"/>
          <p:cNvSpPr txBox="1"/>
          <p:nvPr/>
        </p:nvSpPr>
        <p:spPr>
          <a:xfrm>
            <a:off x="36576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270" name="TextBox 425"/>
          <p:cNvSpPr txBox="1"/>
          <p:nvPr/>
        </p:nvSpPr>
        <p:spPr>
          <a:xfrm>
            <a:off x="36576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1271" name="Oval 426"/>
          <p:cNvSpPr/>
          <p:nvPr/>
        </p:nvSpPr>
        <p:spPr>
          <a:xfrm>
            <a:off x="118186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2" name="TextBox 427"/>
          <p:cNvSpPr txBox="1"/>
          <p:nvPr/>
        </p:nvSpPr>
        <p:spPr>
          <a:xfrm>
            <a:off x="98298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73" name="TextBox 428"/>
          <p:cNvSpPr txBox="1"/>
          <p:nvPr/>
        </p:nvSpPr>
        <p:spPr>
          <a:xfrm>
            <a:off x="98298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Saudi Portfolios</a:t>
            </a:r>
          </a:p>
        </p:txBody>
      </p:sp>
      <p:sp>
        <p:nvSpPr>
          <p:cNvPr id="1274" name="Oval 429"/>
          <p:cNvSpPr/>
          <p:nvPr/>
        </p:nvSpPr>
        <p:spPr>
          <a:xfrm>
            <a:off x="179908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5" name="TextBox 430"/>
          <p:cNvSpPr txBox="1"/>
          <p:nvPr/>
        </p:nvSpPr>
        <p:spPr>
          <a:xfrm>
            <a:off x="160020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276" name="TextBox 431"/>
          <p:cNvSpPr txBox="1"/>
          <p:nvPr/>
        </p:nvSpPr>
        <p:spPr>
          <a:xfrm>
            <a:off x="160020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View / Trade</a:t>
            </a:r>
          </a:p>
        </p:txBody>
      </p:sp>
      <p:sp>
        <p:nvSpPr>
          <p:cNvPr id="1277" name="Rounded Rectangle 432"/>
          <p:cNvSpPr/>
          <p:nvPr/>
        </p:nvSpPr>
        <p:spPr>
          <a:xfrm>
            <a:off x="19659600" y="4389120"/>
            <a:ext cx="3474721" cy="14630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8" name="Connector 433"/>
          <p:cNvSpPr/>
          <p:nvPr/>
        </p:nvSpPr>
        <p:spPr>
          <a:xfrm>
            <a:off x="19933919" y="4800600"/>
            <a:ext cx="640081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TextBox 434"/>
          <p:cNvSpPr txBox="1"/>
          <p:nvPr/>
        </p:nvSpPr>
        <p:spPr>
          <a:xfrm>
            <a:off x="20756880" y="46634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1280" name="Connector 435"/>
          <p:cNvSpPr/>
          <p:nvPr/>
        </p:nvSpPr>
        <p:spPr>
          <a:xfrm>
            <a:off x="19933919" y="5486400"/>
            <a:ext cx="640081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1" name="TextBox 436"/>
          <p:cNvSpPr txBox="1"/>
          <p:nvPr/>
        </p:nvSpPr>
        <p:spPr>
          <a:xfrm>
            <a:off x="20756880" y="53492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28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033 / 111</a:t>
            </a:r>
          </a:p>
        </p:txBody>
      </p:sp>
      <p:sp>
        <p:nvSpPr>
          <p:cNvPr id="128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28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128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28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28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29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29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29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29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29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29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97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name/number display</a:t>
            </a:r>
          </a:p>
        </p:txBody>
      </p:sp>
      <p:sp>
        <p:nvSpPr>
          <p:cNvPr id="1298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29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01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03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(Local Portfolio)</a:t>
            </a:r>
          </a:p>
        </p:txBody>
      </p:sp>
      <p:sp>
        <p:nvSpPr>
          <p:cNvPr id="1304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0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07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09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balance visibility</a:t>
            </a:r>
          </a:p>
        </p:txBody>
      </p:sp>
      <p:sp>
        <p:nvSpPr>
          <p:cNvPr id="1310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11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13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15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number / ID</a:t>
            </a:r>
          </a:p>
        </p:txBody>
      </p:sp>
      <p:sp>
        <p:nvSpPr>
          <p:cNvPr id="1316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1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19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21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metadata view</a:t>
            </a:r>
          </a:p>
        </p:txBody>
      </p:sp>
      <p:sp>
        <p:nvSpPr>
          <p:cNvPr id="1322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23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4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25" name="TextBox 43"/>
          <p:cNvSpPr txBox="1"/>
          <p:nvPr/>
        </p:nvSpPr>
        <p:spPr>
          <a:xfrm>
            <a:off x="14504212" y="7370064"/>
            <a:ext cx="4036162" cy="380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portfolio profile (strategy / goal / risk profile / creation date)</a:t>
            </a:r>
          </a:p>
        </p:txBody>
      </p:sp>
      <p:sp>
        <p:nvSpPr>
          <p:cNvPr id="1326" name="Connector 44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TextBox 45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28" name="TextBox 46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1329" name="TextBox 47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30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1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32" name="Connector 50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TextBox 51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34" name="TextBox 52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 instant (5 min)</a:t>
            </a:r>
          </a:p>
        </p:txBody>
      </p:sp>
      <p:sp>
        <p:nvSpPr>
          <p:cNvPr id="1335" name="TextBox 53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36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7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38" name="Connector 56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TextBox 57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40" name="TextBox 58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Multiple portfolios  (up to 5 portfolios)</a:t>
            </a:r>
          </a:p>
        </p:txBody>
      </p:sp>
      <p:sp>
        <p:nvSpPr>
          <p:cNvPr id="1341" name="TextBox 59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42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3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44" name="Connector 62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5" name="TextBox 63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346" name="TextBox 64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the portfolio</a:t>
            </a:r>
          </a:p>
        </p:txBody>
      </p:sp>
      <p:sp>
        <p:nvSpPr>
          <p:cNvPr id="1347" name="TextBox 65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48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9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50" name="Connector 68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TextBox 69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52" name="TextBox 70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transfer/withdraw</a:t>
            </a:r>
          </a:p>
        </p:txBody>
      </p:sp>
      <p:sp>
        <p:nvSpPr>
          <p:cNvPr id="1353" name="TextBox 71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54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5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56" name="Connector 74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TextBox 75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358" name="TextBox 76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portfolio number</a:t>
            </a:r>
          </a:p>
        </p:txBody>
      </p:sp>
      <p:sp>
        <p:nvSpPr>
          <p:cNvPr id="1359" name="TextBox 77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60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1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62" name="Connector 80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TextBox 81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364" name="TextBox 82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Disable empty portfolios</a:t>
            </a:r>
          </a:p>
        </p:txBody>
      </p:sp>
      <p:sp>
        <p:nvSpPr>
          <p:cNvPr id="1365" name="TextBox 83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66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7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68" name="Connector 86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TextBox 87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370" name="TextBox 88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Select primary portfolio</a:t>
            </a:r>
          </a:p>
        </p:txBody>
      </p:sp>
      <p:sp>
        <p:nvSpPr>
          <p:cNvPr id="1371" name="TextBox 89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72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3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74" name="Connector 92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TextBox 93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376" name="TextBox 94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Liquidate portfolio</a:t>
            </a:r>
          </a:p>
        </p:txBody>
      </p:sp>
      <p:sp>
        <p:nvSpPr>
          <p:cNvPr id="1377" name="TextBox 95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78" name="Picture 96" descr="Pictur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9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80" name="Connector 98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TextBox 99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382" name="TextBox 100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stocks between portfolios</a:t>
            </a:r>
          </a:p>
        </p:txBody>
      </p:sp>
      <p:sp>
        <p:nvSpPr>
          <p:cNvPr id="1383" name="TextBox 101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84" name="Picture 102" descr="Picture 10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5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86" name="Connector 104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TextBox 105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388" name="TextBox 106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1389" name="TextBox 107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90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1" name="Picture 109" descr="Picture 10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92" name="Connector 110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TextBox 111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394" name="TextBox 112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visibility settings</a:t>
            </a:r>
          </a:p>
        </p:txBody>
      </p:sp>
      <p:sp>
        <p:nvSpPr>
          <p:cNvPr id="1395" name="TextBox 113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96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7" name="Picture 115" descr="Picture 1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398" name="Connector 116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40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021 / 111</a:t>
            </a:r>
          </a:p>
        </p:txBody>
      </p:sp>
      <p:sp>
        <p:nvSpPr>
          <p:cNvPr id="140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40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140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40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40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40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40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40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41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41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41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14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1415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1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18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20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1421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2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24" name="TextBox 25"/>
          <p:cNvSpPr txBox="1"/>
          <p:nvPr/>
        </p:nvSpPr>
        <p:spPr>
          <a:xfrm>
            <a:off x="14504212" y="6207369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1425" name="Connector 26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TextBox 27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27" name="TextBox 28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1428" name="TextBox 29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2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0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31" name="Connector 32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TextBox 33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33" name="TextBox 34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1434" name="TextBox 35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3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6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37" name="Connector 38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TextBox 39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39" name="TextBox 40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1440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4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2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43" name="TextBox 44"/>
          <p:cNvSpPr txBox="1"/>
          <p:nvPr/>
        </p:nvSpPr>
        <p:spPr>
          <a:xfrm>
            <a:off x="14504212" y="7832187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1444" name="Connector 45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5" name="TextBox 46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446" name="TextBox 47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1447" name="TextBox 48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48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9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50" name="Connector 51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TextBox 52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452" name="TextBox 53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1453" name="TextBox 54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54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5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56" name="Connector 57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TextBox 58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58" name="TextBox 59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1459" name="TextBox 60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60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1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62" name="TextBox 63"/>
          <p:cNvSpPr txBox="1"/>
          <p:nvPr/>
        </p:nvSpPr>
        <p:spPr>
          <a:xfrm>
            <a:off x="14504212" y="9457005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analysis insights</a:t>
            </a:r>
          </a:p>
        </p:txBody>
      </p:sp>
      <p:sp>
        <p:nvSpPr>
          <p:cNvPr id="1463" name="Connector 64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TextBox 65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465" name="TextBox 66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1466" name="TextBox 67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67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8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69" name="Connector 70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0" name="TextBox 71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471" name="TextBox 72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1472" name="TextBox 73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73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4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75" name="Connector 76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TextBox 77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477" name="TextBox 78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1478" name="TextBox 79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79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0" name="Picture 81" descr="Picture 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81" name="TextBox 82"/>
          <p:cNvSpPr txBox="1"/>
          <p:nvPr/>
        </p:nvSpPr>
        <p:spPr>
          <a:xfrm>
            <a:off x="14504212" y="11081824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Basic chart</a:t>
            </a:r>
          </a:p>
        </p:txBody>
      </p:sp>
      <p:sp>
        <p:nvSpPr>
          <p:cNvPr id="1482" name="Connector 83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TextBox 84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484" name="TextBox 85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1485" name="TextBox 8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86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7" name="Picture 88" descr="Picture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88" name="Connector 89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TextBox 90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490" name="TextBox 91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1491" name="TextBox 92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492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3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494" name="TextBox 95"/>
          <p:cNvSpPr txBox="1"/>
          <p:nvPr/>
        </p:nvSpPr>
        <p:spPr>
          <a:xfrm>
            <a:off x="14504212" y="12165035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1495" name="Connector 96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49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022 / 111</a:t>
            </a:r>
          </a:p>
        </p:txBody>
      </p:sp>
      <p:sp>
        <p:nvSpPr>
          <p:cNvPr id="149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50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150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50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50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50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50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50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50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50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50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11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1512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1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15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6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17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 &amp; symbol</a:t>
            </a:r>
          </a:p>
        </p:txBody>
      </p:sp>
      <p:sp>
        <p:nvSpPr>
          <p:cNvPr id="1518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1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21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2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23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market value</a:t>
            </a:r>
          </a:p>
        </p:txBody>
      </p:sp>
      <p:sp>
        <p:nvSpPr>
          <p:cNvPr id="1524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25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6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27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29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1530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31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33" name="TextBox 37"/>
          <p:cNvSpPr txBox="1"/>
          <p:nvPr/>
        </p:nvSpPr>
        <p:spPr>
          <a:xfrm>
            <a:off x="14504212" y="7290581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position breakdown</a:t>
            </a:r>
          </a:p>
        </p:txBody>
      </p:sp>
      <p:sp>
        <p:nvSpPr>
          <p:cNvPr id="1534" name="Connector 38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5" name="TextBox 39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36" name="TextBox 40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1537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3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9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40" name="Connector 44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TextBox 45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42" name="TextBox 46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1543" name="TextBox 47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44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5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46" name="Connector 50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TextBox 51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48" name="TextBox 52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</a:t>
            </a:r>
          </a:p>
        </p:txBody>
      </p:sp>
      <p:sp>
        <p:nvSpPr>
          <p:cNvPr id="1549" name="TextBox 53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50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1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52" name="Connector 56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TextBox 57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54" name="TextBox 58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1555" name="TextBox 59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56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7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58" name="Connector 62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9" name="TextBox 63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560" name="TextBox 64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1561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62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3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64" name="TextBox 68"/>
          <p:cNvSpPr txBox="1"/>
          <p:nvPr/>
        </p:nvSpPr>
        <p:spPr>
          <a:xfrm>
            <a:off x="14504212" y="9998612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Rights lifecycle tracking</a:t>
            </a:r>
          </a:p>
        </p:txBody>
      </p:sp>
      <p:sp>
        <p:nvSpPr>
          <p:cNvPr id="1565" name="Connector 69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6" name="TextBox 70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567" name="TextBox 71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1568" name="TextBox 72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69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0" name="Picture 74" descr="Picture 7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71" name="Connector 75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2" name="TextBox 76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573" name="TextBox 77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from position</a:t>
            </a:r>
          </a:p>
        </p:txBody>
      </p:sp>
      <p:sp>
        <p:nvSpPr>
          <p:cNvPr id="1574" name="TextBox 78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575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6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77" name="Connector 81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8" name="TextBox 82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79" name="TextBox 83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from position</a:t>
            </a:r>
          </a:p>
        </p:txBody>
      </p:sp>
      <p:sp>
        <p:nvSpPr>
          <p:cNvPr id="1580" name="TextBox 84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581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2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83" name="Connector 87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4" name="TextBox 88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585" name="TextBox 89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1586" name="TextBox 90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587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8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589" name="Connector 93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59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023 / 111</a:t>
            </a:r>
          </a:p>
        </p:txBody>
      </p:sp>
      <p:sp>
        <p:nvSpPr>
          <p:cNvPr id="159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59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159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59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59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59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59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60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60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60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60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TextBox 14"/>
          <p:cNvSpPr txBox="1"/>
          <p:nvPr/>
        </p:nvSpPr>
        <p:spPr>
          <a:xfrm>
            <a:off x="1517903" y="56149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05" name="TextBox 15"/>
          <p:cNvSpPr txBox="1"/>
          <p:nvPr/>
        </p:nvSpPr>
        <p:spPr>
          <a:xfrm>
            <a:off x="2600095" y="56149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1606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0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09" name="Connector 19"/>
          <p:cNvSpPr/>
          <p:nvPr/>
        </p:nvSpPr>
        <p:spPr>
          <a:xfrm>
            <a:off x="1371600" y="60178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TextBox 20"/>
          <p:cNvSpPr txBox="1"/>
          <p:nvPr/>
        </p:nvSpPr>
        <p:spPr>
          <a:xfrm>
            <a:off x="1517903" y="605504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11" name="TextBox 21"/>
          <p:cNvSpPr txBox="1"/>
          <p:nvPr/>
        </p:nvSpPr>
        <p:spPr>
          <a:xfrm>
            <a:off x="2600095" y="605504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1612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1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15" name="TextBox 25"/>
          <p:cNvSpPr txBox="1"/>
          <p:nvPr/>
        </p:nvSpPr>
        <p:spPr>
          <a:xfrm>
            <a:off x="14504212" y="6055042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quantity breakdown</a:t>
            </a:r>
          </a:p>
        </p:txBody>
      </p:sp>
      <p:sp>
        <p:nvSpPr>
          <p:cNvPr id="1616" name="Connector 26"/>
          <p:cNvSpPr/>
          <p:nvPr/>
        </p:nvSpPr>
        <p:spPr>
          <a:xfrm>
            <a:off x="1371600" y="645795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TextBox 27"/>
          <p:cNvSpPr txBox="1"/>
          <p:nvPr/>
        </p:nvSpPr>
        <p:spPr>
          <a:xfrm>
            <a:off x="1517903" y="649509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18" name="TextBox 28"/>
          <p:cNvSpPr txBox="1"/>
          <p:nvPr/>
        </p:nvSpPr>
        <p:spPr>
          <a:xfrm>
            <a:off x="2600095" y="649509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1619" name="TextBox 29"/>
          <p:cNvSpPr txBox="1"/>
          <p:nvPr/>
        </p:nvSpPr>
        <p:spPr>
          <a:xfrm>
            <a:off x="9093250" y="649509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2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1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22" name="Connector 32"/>
          <p:cNvSpPr/>
          <p:nvPr/>
        </p:nvSpPr>
        <p:spPr>
          <a:xfrm>
            <a:off x="1371600" y="689800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3" name="TextBox 33"/>
          <p:cNvSpPr txBox="1"/>
          <p:nvPr/>
        </p:nvSpPr>
        <p:spPr>
          <a:xfrm>
            <a:off x="1517903" y="693515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24" name="TextBox 34"/>
          <p:cNvSpPr txBox="1"/>
          <p:nvPr/>
        </p:nvSpPr>
        <p:spPr>
          <a:xfrm>
            <a:off x="2600095" y="693515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 value</a:t>
            </a:r>
          </a:p>
        </p:txBody>
      </p:sp>
      <p:sp>
        <p:nvSpPr>
          <p:cNvPr id="1625" name="TextBox 35"/>
          <p:cNvSpPr txBox="1"/>
          <p:nvPr/>
        </p:nvSpPr>
        <p:spPr>
          <a:xfrm>
            <a:off x="9093250" y="693515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2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7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28" name="TextBox 38"/>
          <p:cNvSpPr txBox="1"/>
          <p:nvPr/>
        </p:nvSpPr>
        <p:spPr>
          <a:xfrm>
            <a:off x="14504212" y="6935151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1629" name="Connector 39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40"/>
          <p:cNvSpPr txBox="1"/>
          <p:nvPr/>
        </p:nvSpPr>
        <p:spPr>
          <a:xfrm>
            <a:off x="1517903" y="737520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31" name="TextBox 41"/>
          <p:cNvSpPr txBox="1"/>
          <p:nvPr/>
        </p:nvSpPr>
        <p:spPr>
          <a:xfrm>
            <a:off x="2600095" y="73752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traded price</a:t>
            </a:r>
          </a:p>
        </p:txBody>
      </p:sp>
      <p:sp>
        <p:nvSpPr>
          <p:cNvPr id="1632" name="TextBox 42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33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4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35" name="Connector 45"/>
          <p:cNvSpPr/>
          <p:nvPr/>
        </p:nvSpPr>
        <p:spPr>
          <a:xfrm>
            <a:off x="1371600" y="777811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6" name="TextBox 46"/>
          <p:cNvSpPr txBox="1"/>
          <p:nvPr/>
        </p:nvSpPr>
        <p:spPr>
          <a:xfrm>
            <a:off x="1517903" y="781526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37" name="TextBox 47"/>
          <p:cNvSpPr txBox="1"/>
          <p:nvPr/>
        </p:nvSpPr>
        <p:spPr>
          <a:xfrm>
            <a:off x="2600095" y="781526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1638" name="TextBox 48"/>
          <p:cNvSpPr txBox="1"/>
          <p:nvPr/>
        </p:nvSpPr>
        <p:spPr>
          <a:xfrm>
            <a:off x="9093250" y="781526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39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0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41" name="Connector 51"/>
          <p:cNvSpPr/>
          <p:nvPr/>
        </p:nvSpPr>
        <p:spPr>
          <a:xfrm>
            <a:off x="1371600" y="821816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2" name="TextBox 52"/>
          <p:cNvSpPr txBox="1"/>
          <p:nvPr/>
        </p:nvSpPr>
        <p:spPr>
          <a:xfrm>
            <a:off x="1517903" y="825531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43" name="TextBox 53"/>
          <p:cNvSpPr txBox="1"/>
          <p:nvPr/>
        </p:nvSpPr>
        <p:spPr>
          <a:xfrm>
            <a:off x="2600095" y="82553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gain/loss per share</a:t>
            </a:r>
          </a:p>
        </p:txBody>
      </p:sp>
      <p:sp>
        <p:nvSpPr>
          <p:cNvPr id="1644" name="TextBox 54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45" name="Picture 55" descr="Picture 5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6" name="Picture 56" descr="Picture 5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47" name="Connector 57"/>
          <p:cNvSpPr/>
          <p:nvPr/>
        </p:nvSpPr>
        <p:spPr>
          <a:xfrm>
            <a:off x="1371600" y="8658225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8" name="TextBox 58"/>
          <p:cNvSpPr txBox="1"/>
          <p:nvPr/>
        </p:nvSpPr>
        <p:spPr>
          <a:xfrm>
            <a:off x="1517903" y="869537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49" name="TextBox 59"/>
          <p:cNvSpPr txBox="1"/>
          <p:nvPr/>
        </p:nvSpPr>
        <p:spPr>
          <a:xfrm>
            <a:off x="2600095" y="869537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1650" name="TextBox 60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51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2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53" name="Connector 63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4" name="TextBox 64"/>
          <p:cNvSpPr txBox="1"/>
          <p:nvPr/>
        </p:nvSpPr>
        <p:spPr>
          <a:xfrm>
            <a:off x="1517903" y="913542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55" name="TextBox 65"/>
          <p:cNvSpPr txBox="1"/>
          <p:nvPr/>
        </p:nvSpPr>
        <p:spPr>
          <a:xfrm>
            <a:off x="2600095" y="913542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P/L</a:t>
            </a:r>
          </a:p>
        </p:txBody>
      </p:sp>
      <p:sp>
        <p:nvSpPr>
          <p:cNvPr id="1656" name="TextBox 66"/>
          <p:cNvSpPr txBox="1"/>
          <p:nvPr/>
        </p:nvSpPr>
        <p:spPr>
          <a:xfrm>
            <a:off x="9093250" y="913542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57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8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59" name="Connector 69"/>
          <p:cNvSpPr/>
          <p:nvPr/>
        </p:nvSpPr>
        <p:spPr>
          <a:xfrm>
            <a:off x="1371600" y="953833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0" name="TextBox 70"/>
          <p:cNvSpPr txBox="1"/>
          <p:nvPr/>
        </p:nvSpPr>
        <p:spPr>
          <a:xfrm>
            <a:off x="1517903" y="957548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61" name="TextBox 71"/>
          <p:cNvSpPr txBox="1"/>
          <p:nvPr/>
        </p:nvSpPr>
        <p:spPr>
          <a:xfrm>
            <a:off x="2600095" y="957548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Avg price P/L</a:t>
            </a:r>
          </a:p>
        </p:txBody>
      </p:sp>
      <p:sp>
        <p:nvSpPr>
          <p:cNvPr id="1662" name="TextBox 72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63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1205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4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1205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65" name="Connector 75"/>
          <p:cNvSpPr/>
          <p:nvPr/>
        </p:nvSpPr>
        <p:spPr>
          <a:xfrm>
            <a:off x="1371600" y="997839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76"/>
          <p:cNvSpPr txBox="1"/>
          <p:nvPr/>
        </p:nvSpPr>
        <p:spPr>
          <a:xfrm>
            <a:off x="1517903" y="1001553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667" name="TextBox 77"/>
          <p:cNvSpPr txBox="1"/>
          <p:nvPr/>
        </p:nvSpPr>
        <p:spPr>
          <a:xfrm>
            <a:off x="2600095" y="1001553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After sell P/L</a:t>
            </a:r>
          </a:p>
        </p:txBody>
      </p:sp>
      <p:sp>
        <p:nvSpPr>
          <p:cNvPr id="1668" name="TextBox 78"/>
          <p:cNvSpPr txBox="1"/>
          <p:nvPr/>
        </p:nvSpPr>
        <p:spPr>
          <a:xfrm>
            <a:off x="9093250" y="1001553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69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5211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0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5211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71" name="Connector 81"/>
          <p:cNvSpPr/>
          <p:nvPr/>
        </p:nvSpPr>
        <p:spPr>
          <a:xfrm>
            <a:off x="1371600" y="1041844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2" name="TextBox 82"/>
          <p:cNvSpPr txBox="1"/>
          <p:nvPr/>
        </p:nvSpPr>
        <p:spPr>
          <a:xfrm>
            <a:off x="1517903" y="1045559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673" name="TextBox 83"/>
          <p:cNvSpPr txBox="1"/>
          <p:nvPr/>
        </p:nvSpPr>
        <p:spPr>
          <a:xfrm>
            <a:off x="2600095" y="104555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capital</a:t>
            </a:r>
          </a:p>
        </p:txBody>
      </p:sp>
      <p:sp>
        <p:nvSpPr>
          <p:cNvPr id="1674" name="TextBox 84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675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6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77" name="Connector 87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8" name="TextBox 88"/>
          <p:cNvSpPr txBox="1"/>
          <p:nvPr/>
        </p:nvSpPr>
        <p:spPr>
          <a:xfrm>
            <a:off x="1517903" y="108956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679" name="TextBox 89"/>
          <p:cNvSpPr txBox="1"/>
          <p:nvPr/>
        </p:nvSpPr>
        <p:spPr>
          <a:xfrm>
            <a:off x="2600095" y="108956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gain</a:t>
            </a:r>
          </a:p>
        </p:txBody>
      </p:sp>
      <p:sp>
        <p:nvSpPr>
          <p:cNvPr id="1680" name="TextBox 90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681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2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83" name="Connector 93"/>
          <p:cNvSpPr/>
          <p:nvPr/>
        </p:nvSpPr>
        <p:spPr>
          <a:xfrm>
            <a:off x="1371600" y="1129855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TextBox 94"/>
          <p:cNvSpPr txBox="1"/>
          <p:nvPr/>
        </p:nvSpPr>
        <p:spPr>
          <a:xfrm>
            <a:off x="1517903" y="1133570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685" name="TextBox 95"/>
          <p:cNvSpPr txBox="1"/>
          <p:nvPr/>
        </p:nvSpPr>
        <p:spPr>
          <a:xfrm>
            <a:off x="2600095" y="1133570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1686" name="TextBox 96"/>
          <p:cNvSpPr txBox="1"/>
          <p:nvPr/>
        </p:nvSpPr>
        <p:spPr>
          <a:xfrm>
            <a:off x="9093250" y="1133570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687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7227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8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7227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89" name="Connector 99"/>
          <p:cNvSpPr/>
          <p:nvPr/>
        </p:nvSpPr>
        <p:spPr>
          <a:xfrm>
            <a:off x="1371600" y="1173860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TextBox 100"/>
          <p:cNvSpPr txBox="1"/>
          <p:nvPr/>
        </p:nvSpPr>
        <p:spPr>
          <a:xfrm>
            <a:off x="1517903" y="1177575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691" name="TextBox 101"/>
          <p:cNvSpPr txBox="1"/>
          <p:nvPr/>
        </p:nvSpPr>
        <p:spPr>
          <a:xfrm>
            <a:off x="2600095" y="1177575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1692" name="TextBox 102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693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81233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4" name="Picture 104" descr="Picture 10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81233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695" name="Connector 105"/>
          <p:cNvSpPr/>
          <p:nvPr/>
        </p:nvSpPr>
        <p:spPr>
          <a:xfrm>
            <a:off x="1371600" y="1217866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TextBox 106"/>
          <p:cNvSpPr txBox="1"/>
          <p:nvPr/>
        </p:nvSpPr>
        <p:spPr>
          <a:xfrm>
            <a:off x="1517903" y="122158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697" name="TextBox 107"/>
          <p:cNvSpPr txBox="1"/>
          <p:nvPr/>
        </p:nvSpPr>
        <p:spPr>
          <a:xfrm>
            <a:off x="2600095" y="122158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Update average cost</a:t>
            </a:r>
          </a:p>
        </p:txBody>
      </p:sp>
      <p:sp>
        <p:nvSpPr>
          <p:cNvPr id="1698" name="TextBox 108"/>
          <p:cNvSpPr txBox="1"/>
          <p:nvPr/>
        </p:nvSpPr>
        <p:spPr>
          <a:xfrm>
            <a:off x="9093250" y="122158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699" name="TextBox 111"/>
          <p:cNvSpPr txBox="1"/>
          <p:nvPr/>
        </p:nvSpPr>
        <p:spPr>
          <a:xfrm>
            <a:off x="18832982" y="12317411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ARCD-2650</a:t>
            </a:r>
          </a:p>
        </p:txBody>
      </p:sp>
      <p:sp>
        <p:nvSpPr>
          <p:cNvPr id="1700" name="Connector 112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701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1581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2" name="Picture 104" descr="Picture 10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15812"/>
            <a:ext cx="292609" cy="2926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70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024 / 111</a:t>
            </a:r>
          </a:p>
        </p:txBody>
      </p:sp>
      <p:sp>
        <p:nvSpPr>
          <p:cNvPr id="170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70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170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70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71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71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71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71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71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71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71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7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18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1719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2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22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3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24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1725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2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28" name="TextBox 25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1729" name="Connector 26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0" name="TextBox 27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31" name="TextBox 28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1732" name="TextBox 29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3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35" name="Connector 32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6" name="TextBox 33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37" name="TextBox 34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1738" name="TextBox 35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3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0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41" name="TextBox 38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1742" name="Connector 3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3" name="TextBox 4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44" name="TextBox 4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1745" name="TextBox 4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46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7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48" name="Connector 45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TextBox 46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50" name="TextBox 47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1751" name="TextBox 48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52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3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54" name="Connector 51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5" name="TextBox 52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756" name="TextBox 53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1757" name="TextBox 54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758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9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60" name="Connector 57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TextBox 58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62" name="TextBox 59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display preferences</a:t>
            </a:r>
          </a:p>
        </p:txBody>
      </p:sp>
      <p:sp>
        <p:nvSpPr>
          <p:cNvPr id="1763" name="TextBox 60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764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5" name="Picture 62" descr="Picture 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66" name="TextBox 63"/>
          <p:cNvSpPr txBox="1"/>
          <p:nvPr/>
        </p:nvSpPr>
        <p:spPr>
          <a:xfrm>
            <a:off x="14504212" y="10538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1767" name="Connector 64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770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025 / 111</a:t>
            </a:r>
          </a:p>
        </p:txBody>
      </p:sp>
      <p:sp>
        <p:nvSpPr>
          <p:cNvPr id="1771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772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1773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774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775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776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777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778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779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780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781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2" name="TextBox 14"/>
          <p:cNvSpPr txBox="1"/>
          <p:nvPr/>
        </p:nvSpPr>
        <p:spPr>
          <a:xfrm>
            <a:off x="1517903" y="564642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83" name="TextBox 15"/>
          <p:cNvSpPr txBox="1"/>
          <p:nvPr/>
        </p:nvSpPr>
        <p:spPr>
          <a:xfrm>
            <a:off x="2600095" y="564642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1784" name="TextBox 16"/>
          <p:cNvSpPr txBox="1"/>
          <p:nvPr/>
        </p:nvSpPr>
        <p:spPr>
          <a:xfrm>
            <a:off x="9093250" y="564642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8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8299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8299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87" name="Connector 19"/>
          <p:cNvSpPr/>
          <p:nvPr/>
        </p:nvSpPr>
        <p:spPr>
          <a:xfrm>
            <a:off x="1371600" y="6080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8" name="TextBox 20"/>
          <p:cNvSpPr txBox="1"/>
          <p:nvPr/>
        </p:nvSpPr>
        <p:spPr>
          <a:xfrm>
            <a:off x="1517903" y="61493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89" name="TextBox 21"/>
          <p:cNvSpPr txBox="1"/>
          <p:nvPr/>
        </p:nvSpPr>
        <p:spPr>
          <a:xfrm>
            <a:off x="2600095" y="61493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1790" name="TextBox 22"/>
          <p:cNvSpPr txBox="1"/>
          <p:nvPr/>
        </p:nvSpPr>
        <p:spPr>
          <a:xfrm>
            <a:off x="9093250" y="61493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9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18591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18591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93" name="Connector 25"/>
          <p:cNvSpPr/>
          <p:nvPr/>
        </p:nvSpPr>
        <p:spPr>
          <a:xfrm>
            <a:off x="1371600" y="65836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4" name="TextBox 26"/>
          <p:cNvSpPr txBox="1"/>
          <p:nvPr/>
        </p:nvSpPr>
        <p:spPr>
          <a:xfrm>
            <a:off x="1517903" y="6652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95" name="TextBox 27"/>
          <p:cNvSpPr txBox="1"/>
          <p:nvPr/>
        </p:nvSpPr>
        <p:spPr>
          <a:xfrm>
            <a:off x="2600095" y="6652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1796" name="TextBox 28"/>
          <p:cNvSpPr txBox="1"/>
          <p:nvPr/>
        </p:nvSpPr>
        <p:spPr>
          <a:xfrm>
            <a:off x="9093250" y="6652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9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688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688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799" name="Connector 31"/>
          <p:cNvSpPr/>
          <p:nvPr/>
        </p:nvSpPr>
        <p:spPr>
          <a:xfrm>
            <a:off x="1371600" y="70866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0" name="TextBox 32"/>
          <p:cNvSpPr txBox="1"/>
          <p:nvPr/>
        </p:nvSpPr>
        <p:spPr>
          <a:xfrm>
            <a:off x="1517903" y="71551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01" name="TextBox 33"/>
          <p:cNvSpPr txBox="1"/>
          <p:nvPr/>
        </p:nvSpPr>
        <p:spPr>
          <a:xfrm>
            <a:off x="2600095" y="71551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 (1 month in a year)</a:t>
            </a:r>
          </a:p>
        </p:txBody>
      </p:sp>
      <p:sp>
        <p:nvSpPr>
          <p:cNvPr id="1802" name="TextBox 34"/>
          <p:cNvSpPr txBox="1"/>
          <p:nvPr/>
        </p:nvSpPr>
        <p:spPr>
          <a:xfrm>
            <a:off x="9093250" y="71551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03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917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917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05" name="TextBox 37"/>
          <p:cNvSpPr txBox="1"/>
          <p:nvPr/>
        </p:nvSpPr>
        <p:spPr>
          <a:xfrm>
            <a:off x="14504212" y="715518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1806" name="Connector 38"/>
          <p:cNvSpPr/>
          <p:nvPr/>
        </p:nvSpPr>
        <p:spPr>
          <a:xfrm>
            <a:off x="1371600" y="7589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7" name="TextBox 39"/>
          <p:cNvSpPr txBox="1"/>
          <p:nvPr/>
        </p:nvSpPr>
        <p:spPr>
          <a:xfrm>
            <a:off x="1517903" y="76581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08" name="TextBox 40"/>
          <p:cNvSpPr txBox="1"/>
          <p:nvPr/>
        </p:nvSpPr>
        <p:spPr>
          <a:xfrm>
            <a:off x="2600095" y="76581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1809" name="TextBox 41"/>
          <p:cNvSpPr txBox="1"/>
          <p:nvPr/>
        </p:nvSpPr>
        <p:spPr>
          <a:xfrm>
            <a:off x="9093250" y="76581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1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946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1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946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12" name="Connector 44"/>
          <p:cNvSpPr/>
          <p:nvPr/>
        </p:nvSpPr>
        <p:spPr>
          <a:xfrm>
            <a:off x="1371600" y="8092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45"/>
          <p:cNvSpPr txBox="1"/>
          <p:nvPr/>
        </p:nvSpPr>
        <p:spPr>
          <a:xfrm>
            <a:off x="1517903" y="81610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814" name="TextBox 46"/>
          <p:cNvSpPr txBox="1"/>
          <p:nvPr/>
        </p:nvSpPr>
        <p:spPr>
          <a:xfrm>
            <a:off x="2600095" y="81610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 visibility</a:t>
            </a:r>
          </a:p>
        </p:txBody>
      </p:sp>
      <p:sp>
        <p:nvSpPr>
          <p:cNvPr id="1815" name="TextBox 47"/>
          <p:cNvSpPr txBox="1"/>
          <p:nvPr/>
        </p:nvSpPr>
        <p:spPr>
          <a:xfrm>
            <a:off x="9093250" y="81610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16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1975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7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1975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18" name="Connector 50"/>
          <p:cNvSpPr/>
          <p:nvPr/>
        </p:nvSpPr>
        <p:spPr>
          <a:xfrm>
            <a:off x="1371600" y="85953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9" name="TextBox 51"/>
          <p:cNvSpPr txBox="1"/>
          <p:nvPr/>
        </p:nvSpPr>
        <p:spPr>
          <a:xfrm>
            <a:off x="1517903" y="86639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20" name="TextBox 52"/>
          <p:cNvSpPr txBox="1"/>
          <p:nvPr/>
        </p:nvSpPr>
        <p:spPr>
          <a:xfrm>
            <a:off x="2600095" y="86639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validity visibility</a:t>
            </a:r>
          </a:p>
        </p:txBody>
      </p:sp>
      <p:sp>
        <p:nvSpPr>
          <p:cNvPr id="1821" name="TextBox 53"/>
          <p:cNvSpPr txBox="1"/>
          <p:nvPr/>
        </p:nvSpPr>
        <p:spPr>
          <a:xfrm>
            <a:off x="9093250" y="86639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22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005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3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005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24" name="Connector 56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5" name="TextBox 57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26" name="TextBox 58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Partially execution details</a:t>
            </a:r>
          </a:p>
        </p:txBody>
      </p:sp>
      <p:sp>
        <p:nvSpPr>
          <p:cNvPr id="1827" name="TextBox 59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28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9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30" name="Connector 62"/>
          <p:cNvSpPr/>
          <p:nvPr/>
        </p:nvSpPr>
        <p:spPr>
          <a:xfrm>
            <a:off x="1371600" y="96012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1" name="TextBox 63"/>
          <p:cNvSpPr txBox="1"/>
          <p:nvPr/>
        </p:nvSpPr>
        <p:spPr>
          <a:xfrm>
            <a:off x="1517903" y="96697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832" name="TextBox 64"/>
          <p:cNvSpPr txBox="1"/>
          <p:nvPr/>
        </p:nvSpPr>
        <p:spPr>
          <a:xfrm>
            <a:off x="2600095" y="96697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Place/Cancel/Modify/Reorder order</a:t>
            </a:r>
          </a:p>
        </p:txBody>
      </p:sp>
      <p:sp>
        <p:nvSpPr>
          <p:cNvPr id="1833" name="TextBox 65"/>
          <p:cNvSpPr txBox="1"/>
          <p:nvPr/>
        </p:nvSpPr>
        <p:spPr>
          <a:xfrm>
            <a:off x="9093250" y="96697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34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7063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5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7063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36" name="Connector 68"/>
          <p:cNvSpPr/>
          <p:nvPr/>
        </p:nvSpPr>
        <p:spPr>
          <a:xfrm>
            <a:off x="1371600" y="101041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7" name="TextBox 69"/>
          <p:cNvSpPr txBox="1"/>
          <p:nvPr/>
        </p:nvSpPr>
        <p:spPr>
          <a:xfrm>
            <a:off x="1517903" y="101727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838" name="TextBox 70"/>
          <p:cNvSpPr txBox="1"/>
          <p:nvPr/>
        </p:nvSpPr>
        <p:spPr>
          <a:xfrm>
            <a:off x="2600095" y="101727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to market price</a:t>
            </a:r>
          </a:p>
        </p:txBody>
      </p:sp>
      <p:sp>
        <p:nvSpPr>
          <p:cNvPr id="1839" name="TextBox 71"/>
          <p:cNvSpPr txBox="1"/>
          <p:nvPr/>
        </p:nvSpPr>
        <p:spPr>
          <a:xfrm>
            <a:off x="9093250" y="101727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40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092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1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092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42" name="Connector 74"/>
          <p:cNvSpPr/>
          <p:nvPr/>
        </p:nvSpPr>
        <p:spPr>
          <a:xfrm>
            <a:off x="1371600" y="10607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3" name="TextBox 75"/>
          <p:cNvSpPr txBox="1"/>
          <p:nvPr/>
        </p:nvSpPr>
        <p:spPr>
          <a:xfrm>
            <a:off x="1517903" y="106756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844" name="TextBox 76"/>
          <p:cNvSpPr txBox="1"/>
          <p:nvPr/>
        </p:nvSpPr>
        <p:spPr>
          <a:xfrm>
            <a:off x="2600095" y="106756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(stop loss / take profit / basket)</a:t>
            </a:r>
          </a:p>
        </p:txBody>
      </p:sp>
      <p:sp>
        <p:nvSpPr>
          <p:cNvPr id="1845" name="TextBox 77"/>
          <p:cNvSpPr txBox="1"/>
          <p:nvPr/>
        </p:nvSpPr>
        <p:spPr>
          <a:xfrm>
            <a:off x="9093250" y="106756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46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7121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7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7121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48" name="Connector 80"/>
          <p:cNvSpPr/>
          <p:nvPr/>
        </p:nvSpPr>
        <p:spPr>
          <a:xfrm>
            <a:off x="1371600" y="11109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81"/>
          <p:cNvSpPr txBox="1"/>
          <p:nvPr/>
        </p:nvSpPr>
        <p:spPr>
          <a:xfrm>
            <a:off x="1517903" y="111785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850" name="TextBox 82"/>
          <p:cNvSpPr txBox="1"/>
          <p:nvPr/>
        </p:nvSpPr>
        <p:spPr>
          <a:xfrm>
            <a:off x="2600095" y="11178540"/>
            <a:ext cx="6200547" cy="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(Attached / Slicing / Chain / Bracket / Market on close / Trailing)</a:t>
            </a:r>
          </a:p>
        </p:txBody>
      </p:sp>
      <p:sp>
        <p:nvSpPr>
          <p:cNvPr id="1851" name="TextBox 83"/>
          <p:cNvSpPr txBox="1"/>
          <p:nvPr/>
        </p:nvSpPr>
        <p:spPr>
          <a:xfrm>
            <a:off x="9093250" y="111785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52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151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3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151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54" name="Connector 86"/>
          <p:cNvSpPr/>
          <p:nvPr/>
        </p:nvSpPr>
        <p:spPr>
          <a:xfrm>
            <a:off x="1371600" y="116128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55" name="TextBox 87"/>
          <p:cNvSpPr txBox="1"/>
          <p:nvPr/>
        </p:nvSpPr>
        <p:spPr>
          <a:xfrm>
            <a:off x="1517903" y="11681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856" name="TextBox 88"/>
          <p:cNvSpPr txBox="1"/>
          <p:nvPr/>
        </p:nvSpPr>
        <p:spPr>
          <a:xfrm>
            <a:off x="2600095" y="11681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1857" name="TextBox 89"/>
          <p:cNvSpPr txBox="1"/>
          <p:nvPr/>
        </p:nvSpPr>
        <p:spPr>
          <a:xfrm>
            <a:off x="9093250" y="11681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858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18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9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18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60" name="Connector 92"/>
          <p:cNvSpPr/>
          <p:nvPr/>
        </p:nvSpPr>
        <p:spPr>
          <a:xfrm>
            <a:off x="1371600" y="12115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1" name="TextBox 93"/>
          <p:cNvSpPr txBox="1"/>
          <p:nvPr/>
        </p:nvSpPr>
        <p:spPr>
          <a:xfrm>
            <a:off x="1517903" y="121843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62" name="TextBox 94"/>
          <p:cNvSpPr txBox="1"/>
          <p:nvPr/>
        </p:nvSpPr>
        <p:spPr>
          <a:xfrm>
            <a:off x="2600095" y="121843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1863" name="TextBox 95"/>
          <p:cNvSpPr txBox="1"/>
          <p:nvPr/>
        </p:nvSpPr>
        <p:spPr>
          <a:xfrm>
            <a:off x="9093250" y="121843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864" name="Picture 96" descr="Pictur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209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5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209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66" name="Connector 98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86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034 / 111</a:t>
            </a:r>
          </a:p>
        </p:txBody>
      </p:sp>
      <p:sp>
        <p:nvSpPr>
          <p:cNvPr id="187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87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Type</a:t>
            </a:r>
          </a:p>
        </p:txBody>
      </p:sp>
      <p:sp>
        <p:nvSpPr>
          <p:cNvPr id="187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87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87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87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87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87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87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87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88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1" name="TextBox 14"/>
          <p:cNvSpPr txBox="1"/>
          <p:nvPr/>
        </p:nvSpPr>
        <p:spPr>
          <a:xfrm>
            <a:off x="1517903" y="56149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82" name="TextBox 15"/>
          <p:cNvSpPr txBox="1"/>
          <p:nvPr/>
        </p:nvSpPr>
        <p:spPr>
          <a:xfrm>
            <a:off x="2600095" y="56149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1883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8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86" name="Connector 19"/>
          <p:cNvSpPr/>
          <p:nvPr/>
        </p:nvSpPr>
        <p:spPr>
          <a:xfrm>
            <a:off x="1371600" y="60178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20"/>
          <p:cNvSpPr txBox="1"/>
          <p:nvPr/>
        </p:nvSpPr>
        <p:spPr>
          <a:xfrm>
            <a:off x="1517903" y="605504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88" name="TextBox 21"/>
          <p:cNvSpPr txBox="1"/>
          <p:nvPr/>
        </p:nvSpPr>
        <p:spPr>
          <a:xfrm>
            <a:off x="2600095" y="605504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Limit</a:t>
            </a:r>
          </a:p>
        </p:txBody>
      </p:sp>
      <p:sp>
        <p:nvSpPr>
          <p:cNvPr id="1889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90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92" name="Connector 25"/>
          <p:cNvSpPr/>
          <p:nvPr/>
        </p:nvSpPr>
        <p:spPr>
          <a:xfrm>
            <a:off x="1371600" y="645795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3" name="TextBox 26"/>
          <p:cNvSpPr txBox="1"/>
          <p:nvPr/>
        </p:nvSpPr>
        <p:spPr>
          <a:xfrm>
            <a:off x="1517903" y="649509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94" name="TextBox 27"/>
          <p:cNvSpPr txBox="1"/>
          <p:nvPr/>
        </p:nvSpPr>
        <p:spPr>
          <a:xfrm>
            <a:off x="2600095" y="649509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Conditional (per stock/ sector/ market) movement</a:t>
            </a:r>
          </a:p>
        </p:txBody>
      </p:sp>
      <p:sp>
        <p:nvSpPr>
          <p:cNvPr id="1895" name="TextBox 28"/>
          <p:cNvSpPr txBox="1"/>
          <p:nvPr/>
        </p:nvSpPr>
        <p:spPr>
          <a:xfrm>
            <a:off x="9093250" y="649509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96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98" name="Connector 31"/>
          <p:cNvSpPr/>
          <p:nvPr/>
        </p:nvSpPr>
        <p:spPr>
          <a:xfrm>
            <a:off x="1371600" y="689800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9" name="TextBox 32"/>
          <p:cNvSpPr txBox="1"/>
          <p:nvPr/>
        </p:nvSpPr>
        <p:spPr>
          <a:xfrm>
            <a:off x="1517903" y="693515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00" name="TextBox 33"/>
          <p:cNvSpPr txBox="1"/>
          <p:nvPr/>
        </p:nvSpPr>
        <p:spPr>
          <a:xfrm>
            <a:off x="2600095" y="693515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Disclosed order (more than 50K stocks )</a:t>
            </a:r>
          </a:p>
        </p:txBody>
      </p:sp>
      <p:sp>
        <p:nvSpPr>
          <p:cNvPr id="1901" name="TextBox 34"/>
          <p:cNvSpPr txBox="1"/>
          <p:nvPr/>
        </p:nvSpPr>
        <p:spPr>
          <a:xfrm>
            <a:off x="9093250" y="693515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0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04" name="Connector 37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TextBox 38"/>
          <p:cNvSpPr txBox="1"/>
          <p:nvPr/>
        </p:nvSpPr>
        <p:spPr>
          <a:xfrm>
            <a:off x="1517903" y="737520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06" name="TextBox 39"/>
          <p:cNvSpPr txBox="1"/>
          <p:nvPr/>
        </p:nvSpPr>
        <p:spPr>
          <a:xfrm>
            <a:off x="2600095" y="73752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Basket</a:t>
            </a:r>
          </a:p>
        </p:txBody>
      </p:sp>
      <p:sp>
        <p:nvSpPr>
          <p:cNvPr id="1907" name="TextBox 40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08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10" name="Connector 43"/>
          <p:cNvSpPr/>
          <p:nvPr/>
        </p:nvSpPr>
        <p:spPr>
          <a:xfrm>
            <a:off x="1371600" y="777811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TextBox 44"/>
          <p:cNvSpPr txBox="1"/>
          <p:nvPr/>
        </p:nvSpPr>
        <p:spPr>
          <a:xfrm>
            <a:off x="1517903" y="781526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12" name="TextBox 45"/>
          <p:cNvSpPr txBox="1"/>
          <p:nvPr/>
        </p:nvSpPr>
        <p:spPr>
          <a:xfrm>
            <a:off x="2600095" y="781526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Take profit (sell)</a:t>
            </a:r>
          </a:p>
        </p:txBody>
      </p:sp>
      <p:sp>
        <p:nvSpPr>
          <p:cNvPr id="1913" name="TextBox 46"/>
          <p:cNvSpPr txBox="1"/>
          <p:nvPr/>
        </p:nvSpPr>
        <p:spPr>
          <a:xfrm>
            <a:off x="9093250" y="781526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14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16" name="Connector 49"/>
          <p:cNvSpPr/>
          <p:nvPr/>
        </p:nvSpPr>
        <p:spPr>
          <a:xfrm>
            <a:off x="1371600" y="821816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TextBox 50"/>
          <p:cNvSpPr txBox="1"/>
          <p:nvPr/>
        </p:nvSpPr>
        <p:spPr>
          <a:xfrm>
            <a:off x="1517903" y="825531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918" name="TextBox 51"/>
          <p:cNvSpPr txBox="1"/>
          <p:nvPr/>
        </p:nvSpPr>
        <p:spPr>
          <a:xfrm>
            <a:off x="2600095" y="82553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Stop loss (sell)</a:t>
            </a:r>
          </a:p>
        </p:txBody>
      </p:sp>
      <p:sp>
        <p:nvSpPr>
          <p:cNvPr id="1919" name="TextBox 52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20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22" name="Connector 55"/>
          <p:cNvSpPr/>
          <p:nvPr/>
        </p:nvSpPr>
        <p:spPr>
          <a:xfrm>
            <a:off x="1371600" y="8658225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3" name="TextBox 56"/>
          <p:cNvSpPr txBox="1"/>
          <p:nvPr/>
        </p:nvSpPr>
        <p:spPr>
          <a:xfrm>
            <a:off x="1517903" y="869537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924" name="TextBox 57"/>
          <p:cNvSpPr txBox="1"/>
          <p:nvPr/>
        </p:nvSpPr>
        <p:spPr>
          <a:xfrm>
            <a:off x="2600095" y="869537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Attached order</a:t>
            </a:r>
          </a:p>
        </p:txBody>
      </p:sp>
      <p:sp>
        <p:nvSpPr>
          <p:cNvPr id="1925" name="TextBox 58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26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7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28" name="Connector 61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9" name="TextBox 62"/>
          <p:cNvSpPr txBox="1"/>
          <p:nvPr/>
        </p:nvSpPr>
        <p:spPr>
          <a:xfrm>
            <a:off x="1517903" y="913542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930" name="TextBox 63"/>
          <p:cNvSpPr txBox="1"/>
          <p:nvPr/>
        </p:nvSpPr>
        <p:spPr>
          <a:xfrm>
            <a:off x="2600095" y="913542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Slicing order</a:t>
            </a:r>
          </a:p>
        </p:txBody>
      </p:sp>
      <p:sp>
        <p:nvSpPr>
          <p:cNvPr id="1931" name="TextBox 64"/>
          <p:cNvSpPr txBox="1"/>
          <p:nvPr/>
        </p:nvSpPr>
        <p:spPr>
          <a:xfrm>
            <a:off x="9093250" y="913542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32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3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34" name="TextBox 67"/>
          <p:cNvSpPr txBox="1"/>
          <p:nvPr/>
        </p:nvSpPr>
        <p:spPr>
          <a:xfrm>
            <a:off x="18832982" y="9135426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ARCD-1532</a:t>
            </a:r>
          </a:p>
        </p:txBody>
      </p:sp>
      <p:sp>
        <p:nvSpPr>
          <p:cNvPr id="1935" name="Connector 68"/>
          <p:cNvSpPr/>
          <p:nvPr/>
        </p:nvSpPr>
        <p:spPr>
          <a:xfrm>
            <a:off x="1371600" y="953833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6" name="TextBox 69"/>
          <p:cNvSpPr txBox="1"/>
          <p:nvPr/>
        </p:nvSpPr>
        <p:spPr>
          <a:xfrm>
            <a:off x="1517903" y="957548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937" name="TextBox 70"/>
          <p:cNvSpPr txBox="1"/>
          <p:nvPr/>
        </p:nvSpPr>
        <p:spPr>
          <a:xfrm>
            <a:off x="2600095" y="957548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Chain order</a:t>
            </a:r>
          </a:p>
        </p:txBody>
      </p:sp>
      <p:sp>
        <p:nvSpPr>
          <p:cNvPr id="1938" name="TextBox 71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39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1205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0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1205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41" name="TextBox 74"/>
          <p:cNvSpPr txBox="1"/>
          <p:nvPr/>
        </p:nvSpPr>
        <p:spPr>
          <a:xfrm>
            <a:off x="18832982" y="957548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ARCD-2652</a:t>
            </a:r>
          </a:p>
        </p:txBody>
      </p:sp>
      <p:sp>
        <p:nvSpPr>
          <p:cNvPr id="1942" name="Connector 75"/>
          <p:cNvSpPr/>
          <p:nvPr/>
        </p:nvSpPr>
        <p:spPr>
          <a:xfrm>
            <a:off x="1371600" y="997839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3" name="TextBox 76"/>
          <p:cNvSpPr txBox="1"/>
          <p:nvPr/>
        </p:nvSpPr>
        <p:spPr>
          <a:xfrm>
            <a:off x="1517903" y="1001553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944" name="TextBox 77"/>
          <p:cNvSpPr txBox="1"/>
          <p:nvPr/>
        </p:nvSpPr>
        <p:spPr>
          <a:xfrm>
            <a:off x="2600095" y="1001553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Bracket order</a:t>
            </a:r>
          </a:p>
        </p:txBody>
      </p:sp>
      <p:sp>
        <p:nvSpPr>
          <p:cNvPr id="1945" name="TextBox 78"/>
          <p:cNvSpPr txBox="1"/>
          <p:nvPr/>
        </p:nvSpPr>
        <p:spPr>
          <a:xfrm>
            <a:off x="9093250" y="1001553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46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5211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7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5211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48" name="TextBox 81"/>
          <p:cNvSpPr txBox="1"/>
          <p:nvPr/>
        </p:nvSpPr>
        <p:spPr>
          <a:xfrm>
            <a:off x="18832982" y="1001553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ARCD-1708</a:t>
            </a:r>
          </a:p>
        </p:txBody>
      </p:sp>
      <p:sp>
        <p:nvSpPr>
          <p:cNvPr id="1949" name="Connector 82"/>
          <p:cNvSpPr/>
          <p:nvPr/>
        </p:nvSpPr>
        <p:spPr>
          <a:xfrm>
            <a:off x="1371600" y="1041844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0" name="TextBox 83"/>
          <p:cNvSpPr txBox="1"/>
          <p:nvPr/>
        </p:nvSpPr>
        <p:spPr>
          <a:xfrm>
            <a:off x="1517903" y="1045559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951" name="TextBox 84"/>
          <p:cNvSpPr txBox="1"/>
          <p:nvPr/>
        </p:nvSpPr>
        <p:spPr>
          <a:xfrm>
            <a:off x="2600095" y="104555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on close (MOC)</a:t>
            </a:r>
          </a:p>
        </p:txBody>
      </p:sp>
      <p:sp>
        <p:nvSpPr>
          <p:cNvPr id="1952" name="TextBox 85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53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4" name="Picture 87" descr="Picture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55" name="TextBox 88"/>
          <p:cNvSpPr txBox="1"/>
          <p:nvPr/>
        </p:nvSpPr>
        <p:spPr>
          <a:xfrm>
            <a:off x="18832982" y="1045559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ARCD-9245</a:t>
            </a:r>
          </a:p>
        </p:txBody>
      </p:sp>
      <p:sp>
        <p:nvSpPr>
          <p:cNvPr id="1956" name="Connector 89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7" name="TextBox 90"/>
          <p:cNvSpPr txBox="1"/>
          <p:nvPr/>
        </p:nvSpPr>
        <p:spPr>
          <a:xfrm>
            <a:off x="1517903" y="108956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958" name="TextBox 91"/>
          <p:cNvSpPr txBox="1"/>
          <p:nvPr/>
        </p:nvSpPr>
        <p:spPr>
          <a:xfrm>
            <a:off x="2600095" y="108956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Trailing order</a:t>
            </a:r>
          </a:p>
        </p:txBody>
      </p:sp>
      <p:sp>
        <p:nvSpPr>
          <p:cNvPr id="1959" name="TextBox 92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60" name="Picture 93" descr="Picture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1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62" name="Connector 95"/>
          <p:cNvSpPr/>
          <p:nvPr/>
        </p:nvSpPr>
        <p:spPr>
          <a:xfrm>
            <a:off x="1371600" y="1129855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TextBox 96"/>
          <p:cNvSpPr txBox="1"/>
          <p:nvPr/>
        </p:nvSpPr>
        <p:spPr>
          <a:xfrm>
            <a:off x="1517903" y="1133570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964" name="TextBox 97"/>
          <p:cNvSpPr txBox="1"/>
          <p:nvPr/>
        </p:nvSpPr>
        <p:spPr>
          <a:xfrm>
            <a:off x="2600095" y="1133570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session (regular/pre market/ post market)</a:t>
            </a:r>
          </a:p>
        </p:txBody>
      </p:sp>
      <p:sp>
        <p:nvSpPr>
          <p:cNvPr id="1965" name="TextBox 98"/>
          <p:cNvSpPr txBox="1"/>
          <p:nvPr/>
        </p:nvSpPr>
        <p:spPr>
          <a:xfrm>
            <a:off x="9093250" y="1133570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966" name="TextBox 99"/>
          <p:cNvSpPr txBox="1"/>
          <p:nvPr/>
        </p:nvSpPr>
        <p:spPr>
          <a:xfrm>
            <a:off x="10894893" y="1133570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1967" name="TextBox 100"/>
          <p:cNvSpPr txBox="1"/>
          <p:nvPr/>
        </p:nvSpPr>
        <p:spPr>
          <a:xfrm>
            <a:off x="12626399" y="1133570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1968" name="Connector 101"/>
          <p:cNvSpPr/>
          <p:nvPr/>
        </p:nvSpPr>
        <p:spPr>
          <a:xfrm>
            <a:off x="1371600" y="1173860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TextBox 102"/>
          <p:cNvSpPr txBox="1"/>
          <p:nvPr/>
        </p:nvSpPr>
        <p:spPr>
          <a:xfrm>
            <a:off x="1517903" y="1177575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970" name="TextBox 103"/>
          <p:cNvSpPr txBox="1"/>
          <p:nvPr/>
        </p:nvSpPr>
        <p:spPr>
          <a:xfrm>
            <a:off x="2600095" y="1177575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Overnight trading</a:t>
            </a:r>
          </a:p>
        </p:txBody>
      </p:sp>
      <p:sp>
        <p:nvSpPr>
          <p:cNvPr id="1971" name="TextBox 104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972" name="TextBox 105"/>
          <p:cNvSpPr txBox="1"/>
          <p:nvPr/>
        </p:nvSpPr>
        <p:spPr>
          <a:xfrm>
            <a:off x="10894893" y="1177575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1973" name="TextBox 106"/>
          <p:cNvSpPr txBox="1"/>
          <p:nvPr/>
        </p:nvSpPr>
        <p:spPr>
          <a:xfrm>
            <a:off x="12626399" y="1177575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1974" name="Connector 107"/>
          <p:cNvSpPr/>
          <p:nvPr/>
        </p:nvSpPr>
        <p:spPr>
          <a:xfrm>
            <a:off x="1371600" y="1217866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TextBox 108"/>
          <p:cNvSpPr txBox="1"/>
          <p:nvPr/>
        </p:nvSpPr>
        <p:spPr>
          <a:xfrm>
            <a:off x="1517903" y="122158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976" name="TextBox 109"/>
          <p:cNvSpPr txBox="1"/>
          <p:nvPr/>
        </p:nvSpPr>
        <p:spPr>
          <a:xfrm>
            <a:off x="2600095" y="122158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Frication Shares</a:t>
            </a:r>
          </a:p>
        </p:txBody>
      </p:sp>
      <p:sp>
        <p:nvSpPr>
          <p:cNvPr id="1977" name="TextBox 110"/>
          <p:cNvSpPr txBox="1"/>
          <p:nvPr/>
        </p:nvSpPr>
        <p:spPr>
          <a:xfrm>
            <a:off x="9093250" y="122158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978" name="TextBox 111"/>
          <p:cNvSpPr txBox="1"/>
          <p:nvPr/>
        </p:nvSpPr>
        <p:spPr>
          <a:xfrm>
            <a:off x="10894893" y="1221581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1979" name="TextBox 112"/>
          <p:cNvSpPr txBox="1"/>
          <p:nvPr/>
        </p:nvSpPr>
        <p:spPr>
          <a:xfrm>
            <a:off x="12626399" y="1221581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1980" name="Connector 113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98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035 / 111</a:t>
            </a:r>
          </a:p>
        </p:txBody>
      </p:sp>
      <p:sp>
        <p:nvSpPr>
          <p:cNvPr id="198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98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Validity</a:t>
            </a:r>
          </a:p>
        </p:txBody>
      </p:sp>
      <p:sp>
        <p:nvSpPr>
          <p:cNvPr id="198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98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98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98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99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99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99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99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99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5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96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1997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9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00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1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002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date</a:t>
            </a:r>
          </a:p>
        </p:txBody>
      </p:sp>
      <p:sp>
        <p:nvSpPr>
          <p:cNvPr id="2003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0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06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7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08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Fill or kill (up to 30 days)</a:t>
            </a:r>
          </a:p>
        </p:txBody>
      </p:sp>
      <p:sp>
        <p:nvSpPr>
          <p:cNvPr id="2009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1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12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3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14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cancellation (up to 30 days)</a:t>
            </a:r>
          </a:p>
        </p:txBody>
      </p:sp>
      <p:sp>
        <p:nvSpPr>
          <p:cNvPr id="2015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1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18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020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Immediate or cancel</a:t>
            </a:r>
          </a:p>
        </p:txBody>
      </p:sp>
      <p:sp>
        <p:nvSpPr>
          <p:cNvPr id="2021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22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24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TextBox 4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026" name="TextBox 4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 the opening</a:t>
            </a:r>
          </a:p>
        </p:txBody>
      </p:sp>
      <p:sp>
        <p:nvSpPr>
          <p:cNvPr id="2027" name="TextBox 4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28" name="Picture 47" descr="Picture 4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9" name="Picture 48" descr="Picture 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30" name="Connector 4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03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026 / 111</a:t>
            </a:r>
          </a:p>
        </p:txBody>
      </p:sp>
      <p:sp>
        <p:nvSpPr>
          <p:cNvPr id="203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03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203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03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03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03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04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04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04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04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04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5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46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2047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04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50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51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052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2053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05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56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57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58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2059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06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62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3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64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2065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06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68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9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070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2071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072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74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TextBox 4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076" name="TextBox 4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2077" name="TextBox 4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78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9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80" name="Connector 4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TextBox 50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082" name="TextBox 51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2083" name="TextBox 52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84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5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86" name="Connector 5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08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036 / 111</a:t>
            </a:r>
          </a:p>
        </p:txBody>
      </p:sp>
      <p:sp>
        <p:nvSpPr>
          <p:cNvPr id="209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09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in to local portfolio</a:t>
            </a:r>
          </a:p>
        </p:txBody>
      </p:sp>
      <p:sp>
        <p:nvSpPr>
          <p:cNvPr id="209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09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09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09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09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09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09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09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10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1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02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2103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0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06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7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08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2109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10" name="Picture 23" descr="Picture 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1" name="Picture 24" descr="Picture 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12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3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14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2115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16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7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18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9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20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2121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2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24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5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126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2127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28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30" name="Connector 4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1" name="TextBox 4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132" name="TextBox 4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2133" name="TextBox 4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34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36" name="Connector 49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7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38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2139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40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42" name="Connector 5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3" name="TextBox 5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144" name="TextBox 5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2145" name="TextBox 5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46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7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48" name="Connector 6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9" name="TextBox 6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150" name="TextBox 6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2151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52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3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54" name="Connector 67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5" name="TextBox 68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156" name="TextBox 69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2157" name="TextBox 70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58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9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60" name="Connector 7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1" name="TextBox 7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162" name="TextBox 7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2163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64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5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66" name="Connector 79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7" name="TextBox 80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68" name="TextBox 81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2169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70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1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72" name="Connector 85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3" name="TextBox 86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174" name="TextBox 87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2175" name="TextBox 88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76" name="Picture 89" descr="Picture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7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78" name="Connector 9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18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037 / 111</a:t>
            </a:r>
          </a:p>
        </p:txBody>
      </p:sp>
      <p:sp>
        <p:nvSpPr>
          <p:cNvPr id="218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18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out to local portfolio</a:t>
            </a:r>
          </a:p>
        </p:txBody>
      </p:sp>
      <p:sp>
        <p:nvSpPr>
          <p:cNvPr id="218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18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18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18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18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18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19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19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19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3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94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2195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9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198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9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00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2201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0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04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5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06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2207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0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10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1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212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2213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214" name="TextBox 35"/>
          <p:cNvSpPr txBox="1"/>
          <p:nvPr/>
        </p:nvSpPr>
        <p:spPr>
          <a:xfrm>
            <a:off x="10894893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15" name="TextBox 36"/>
          <p:cNvSpPr txBox="1"/>
          <p:nvPr/>
        </p:nvSpPr>
        <p:spPr>
          <a:xfrm>
            <a:off x="12626399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16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7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18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2219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220" name="TextBox 41"/>
          <p:cNvSpPr txBox="1"/>
          <p:nvPr/>
        </p:nvSpPr>
        <p:spPr>
          <a:xfrm>
            <a:off x="10894893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21" name="TextBox 42"/>
          <p:cNvSpPr txBox="1"/>
          <p:nvPr/>
        </p:nvSpPr>
        <p:spPr>
          <a:xfrm>
            <a:off x="12626399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22" name="Connector 4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3" name="TextBox 4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224" name="TextBox 4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2225" name="TextBox 4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226" name="TextBox 47"/>
          <p:cNvSpPr txBox="1"/>
          <p:nvPr/>
        </p:nvSpPr>
        <p:spPr>
          <a:xfrm>
            <a:off x="10894893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27" name="TextBox 48"/>
          <p:cNvSpPr txBox="1"/>
          <p:nvPr/>
        </p:nvSpPr>
        <p:spPr>
          <a:xfrm>
            <a:off x="12626399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28" name="Connector 49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30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2231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32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3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34" name="Connector 5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5" name="TextBox 5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236" name="TextBox 5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2237" name="TextBox 5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38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9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40" name="Connector 6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1" name="TextBox 6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42" name="TextBox 6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2243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44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5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46" name="Connector 67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7" name="TextBox 68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248" name="TextBox 69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2249" name="TextBox 70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50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1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52" name="Connector 7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3" name="TextBox 7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4" name="TextBox 7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2255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56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7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58" name="Connector 79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TextBox 80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60" name="TextBox 81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2261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6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3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64" name="Connector 85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5" name="TextBox 86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266" name="TextBox 87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2267" name="TextBox 88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68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9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70" name="Connector 9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27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027 / 111</a:t>
            </a:r>
          </a:p>
        </p:txBody>
      </p:sp>
      <p:sp>
        <p:nvSpPr>
          <p:cNvPr id="227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27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227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27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27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27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28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28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28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28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28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5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86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2287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28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90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92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 (1 month within a year)</a:t>
            </a:r>
          </a:p>
        </p:txBody>
      </p:sp>
      <p:sp>
        <p:nvSpPr>
          <p:cNvPr id="2293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29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96" name="TextBox 25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297" name="Connector 26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8" name="TextBox 27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99" name="TextBox 28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 (1 month within a year)</a:t>
            </a:r>
          </a:p>
        </p:txBody>
      </p:sp>
      <p:sp>
        <p:nvSpPr>
          <p:cNvPr id="2300" name="TextBox 29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0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2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03" name="TextBox 32"/>
          <p:cNvSpPr txBox="1"/>
          <p:nvPr/>
        </p:nvSpPr>
        <p:spPr>
          <a:xfrm>
            <a:off x="14504212" y="7109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04" name="Connector 33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TextBox 34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06" name="TextBox 35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(1 month within a year)</a:t>
            </a:r>
          </a:p>
        </p:txBody>
      </p:sp>
      <p:sp>
        <p:nvSpPr>
          <p:cNvPr id="2307" name="TextBox 36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08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9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10" name="TextBox 39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11" name="Connector 40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2" name="TextBox 41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313" name="TextBox 42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report (1 month within a year)</a:t>
            </a:r>
          </a:p>
        </p:txBody>
      </p:sp>
      <p:sp>
        <p:nvSpPr>
          <p:cNvPr id="2314" name="TextBox 43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15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6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17" name="TextBox 46"/>
          <p:cNvSpPr txBox="1"/>
          <p:nvPr/>
        </p:nvSpPr>
        <p:spPr>
          <a:xfrm>
            <a:off x="14504212" y="84810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18" name="Connector 47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9" name="TextBox 48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20" name="TextBox 49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Statement</a:t>
            </a:r>
          </a:p>
        </p:txBody>
      </p:sp>
      <p:sp>
        <p:nvSpPr>
          <p:cNvPr id="2321" name="TextBox 50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22" name="Picture 51" descr="Picture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3" name="Picture 52" descr="Picture 5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24" name="Connector 53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5" name="TextBox 54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26" name="TextBox 55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2327" name="TextBox 56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28" name="Picture 57" descr="Picture 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9" name="Picture 58" descr="Picture 5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30" name="Connector 59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1" name="TextBox 60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332" name="TextBox 61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2333" name="TextBox 62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34" name="Picture 63" descr="Picture 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5" name="Picture 64" descr="Picture 6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36" name="Connector 65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7" name="TextBox 66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338" name="TextBox 67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Download account statement</a:t>
            </a:r>
          </a:p>
        </p:txBody>
      </p:sp>
      <p:sp>
        <p:nvSpPr>
          <p:cNvPr id="2339" name="TextBox 68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40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1" name="Picture 70" descr="Picture 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42" name="Connector 71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3" name="TextBox 72"/>
          <p:cNvSpPr txBox="1"/>
          <p:nvPr/>
        </p:nvSpPr>
        <p:spPr>
          <a:xfrm>
            <a:off x="1517903" y="11910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344" name="TextBox 73"/>
          <p:cNvSpPr txBox="1"/>
          <p:nvPr/>
        </p:nvSpPr>
        <p:spPr>
          <a:xfrm>
            <a:off x="2600095" y="11910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2345" name="TextBox 74"/>
          <p:cNvSpPr txBox="1"/>
          <p:nvPr/>
        </p:nvSpPr>
        <p:spPr>
          <a:xfrm>
            <a:off x="9093250" y="11910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346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946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7" name="Picture 76" descr="Picture 7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946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48" name="TextBox 77"/>
          <p:cNvSpPr txBox="1"/>
          <p:nvPr/>
        </p:nvSpPr>
        <p:spPr>
          <a:xfrm>
            <a:off x="14504212" y="119100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2349" name="Connector 78"/>
          <p:cNvSpPr/>
          <p:nvPr/>
        </p:nvSpPr>
        <p:spPr>
          <a:xfrm>
            <a:off x="1371600" y="12435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35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028 / 111</a:t>
            </a:r>
          </a:p>
        </p:txBody>
      </p:sp>
      <p:sp>
        <p:nvSpPr>
          <p:cNvPr id="235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35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235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35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35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35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35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36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36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36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36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4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5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index visibility</a:t>
            </a:r>
          </a:p>
        </p:txBody>
      </p:sp>
      <p:sp>
        <p:nvSpPr>
          <p:cNvPr id="2366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6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69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0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71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news integration</a:t>
            </a:r>
          </a:p>
        </p:txBody>
      </p:sp>
      <p:sp>
        <p:nvSpPr>
          <p:cNvPr id="2372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7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75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6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77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chart</a:t>
            </a:r>
          </a:p>
        </p:txBody>
      </p:sp>
      <p:sp>
        <p:nvSpPr>
          <p:cNvPr id="2378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79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0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81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2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83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benchmark comparison</a:t>
            </a:r>
          </a:p>
        </p:txBody>
      </p:sp>
      <p:sp>
        <p:nvSpPr>
          <p:cNvPr id="2384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85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6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87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8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389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trends visibility</a:t>
            </a:r>
          </a:p>
        </p:txBody>
      </p:sp>
      <p:sp>
        <p:nvSpPr>
          <p:cNvPr id="2390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91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93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4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95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Stocks List</a:t>
            </a:r>
          </a:p>
        </p:txBody>
      </p:sp>
      <p:sp>
        <p:nvSpPr>
          <p:cNvPr id="2396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97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399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0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401" name="TextBox 51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Shariah Stocks List</a:t>
            </a:r>
          </a:p>
        </p:txBody>
      </p:sp>
      <p:sp>
        <p:nvSpPr>
          <p:cNvPr id="2402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03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05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407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Options List</a:t>
            </a:r>
          </a:p>
        </p:txBody>
      </p:sp>
      <p:sp>
        <p:nvSpPr>
          <p:cNvPr id="2408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09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0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11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413" name="TextBox 63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Trending Stocks</a:t>
            </a:r>
          </a:p>
        </p:txBody>
      </p:sp>
      <p:sp>
        <p:nvSpPr>
          <p:cNvPr id="2414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15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6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17" name="Connector 67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8" name="TextBox 68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419" name="TextBox 69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(Gainers/Losers/Value/ Quantity)</a:t>
            </a:r>
          </a:p>
        </p:txBody>
      </p:sp>
      <p:sp>
        <p:nvSpPr>
          <p:cNvPr id="2420" name="TextBox 70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21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2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23" name="Connector 73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4" name="TextBox 74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425" name="TextBox 75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(Per/Post market/Overnight)</a:t>
            </a:r>
          </a:p>
        </p:txBody>
      </p:sp>
      <p:sp>
        <p:nvSpPr>
          <p:cNvPr id="2426" name="TextBox 76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427" name="TextBox 77"/>
          <p:cNvSpPr txBox="1"/>
          <p:nvPr/>
        </p:nvSpPr>
        <p:spPr>
          <a:xfrm>
            <a:off x="10894893" y="10003535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428" name="TextBox 78"/>
          <p:cNvSpPr txBox="1"/>
          <p:nvPr/>
        </p:nvSpPr>
        <p:spPr>
          <a:xfrm>
            <a:off x="12626399" y="10003535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429" name="Connector 79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0" name="TextBox 80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431" name="TextBox 81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watch</a:t>
            </a:r>
          </a:p>
        </p:txBody>
      </p:sp>
      <p:sp>
        <p:nvSpPr>
          <p:cNvPr id="2432" name="TextBox 82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33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4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35" name="Connector 85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6" name="TextBox 86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37" name="TextBox 87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market performance</a:t>
            </a:r>
          </a:p>
        </p:txBody>
      </p:sp>
      <p:sp>
        <p:nvSpPr>
          <p:cNvPr id="2438" name="TextBox 88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39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0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41" name="Connector 91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2" name="TextBox 92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443" name="TextBox 93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Heatmap</a:t>
            </a:r>
          </a:p>
        </p:txBody>
      </p:sp>
      <p:sp>
        <p:nvSpPr>
          <p:cNvPr id="2444" name="TextBox 94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45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6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47" name="Connector 97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8" name="TextBox 98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449" name="TextBox 99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Instrument research access</a:t>
            </a:r>
          </a:p>
        </p:txBody>
      </p:sp>
      <p:sp>
        <p:nvSpPr>
          <p:cNvPr id="2450" name="TextBox 100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51" name="Picture 101" descr="Picture 10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2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53" name="Connector 103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4" name="TextBox 104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455" name="TextBox 105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visibility</a:t>
            </a:r>
          </a:p>
        </p:txBody>
      </p:sp>
      <p:sp>
        <p:nvSpPr>
          <p:cNvPr id="2456" name="TextBox 106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57" name="Picture 107" descr="Picture 10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8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59" name="Connector 109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0" name="TextBox 110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461" name="TextBox 111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for live prices banner</a:t>
            </a:r>
          </a:p>
        </p:txBody>
      </p:sp>
      <p:sp>
        <p:nvSpPr>
          <p:cNvPr id="2462" name="TextBox 112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63" name="Picture 113" descr="Picture 1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4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65" name="Connector 115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46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028b / 112</a:t>
            </a:r>
          </a:p>
        </p:txBody>
      </p:sp>
      <p:sp>
        <p:nvSpPr>
          <p:cNvPr id="246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47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247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47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47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47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47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47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47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47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47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0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481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overview (up/Down, Net Flow)</a:t>
            </a:r>
          </a:p>
        </p:txBody>
      </p:sp>
      <p:sp>
        <p:nvSpPr>
          <p:cNvPr id="2482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8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85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6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2487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Screener (High Growth, Biggest Earnings)</a:t>
            </a:r>
          </a:p>
        </p:txBody>
      </p:sp>
      <p:sp>
        <p:nvSpPr>
          <p:cNvPr id="2488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8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91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2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2493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Upcoming IPO</a:t>
            </a:r>
          </a:p>
        </p:txBody>
      </p:sp>
      <p:sp>
        <p:nvSpPr>
          <p:cNvPr id="2494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95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6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97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8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2499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Recent IPO Performance</a:t>
            </a:r>
          </a:p>
        </p:txBody>
      </p:sp>
      <p:sp>
        <p:nvSpPr>
          <p:cNvPr id="2500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01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2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03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4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505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Beat</a:t>
            </a:r>
          </a:p>
        </p:txBody>
      </p:sp>
      <p:sp>
        <p:nvSpPr>
          <p:cNvPr id="2506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07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09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0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2511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Rating change list</a:t>
            </a:r>
          </a:p>
        </p:txBody>
      </p:sp>
      <p:sp>
        <p:nvSpPr>
          <p:cNvPr id="2512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13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4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15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6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2517" name="TextBox 51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Monitor</a:t>
            </a:r>
          </a:p>
        </p:txBody>
      </p:sp>
      <p:sp>
        <p:nvSpPr>
          <p:cNvPr id="2518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19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0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21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22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2523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Liquidity</a:t>
            </a:r>
          </a:p>
        </p:txBody>
      </p:sp>
      <p:sp>
        <p:nvSpPr>
          <p:cNvPr id="2524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25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6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27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28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2529" name="TextBox 63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Volatility</a:t>
            </a:r>
          </a:p>
        </p:txBody>
      </p:sp>
      <p:sp>
        <p:nvSpPr>
          <p:cNvPr id="2530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31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2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33" name="Connector 67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4" name="TextBox 68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2535" name="TextBox 69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alerts</a:t>
            </a:r>
          </a:p>
        </p:txBody>
      </p:sp>
      <p:sp>
        <p:nvSpPr>
          <p:cNvPr id="2536" name="TextBox 70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537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8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39" name="Connector 73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0" name="TextBox 74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2541" name="TextBox 75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display preferences</a:t>
            </a:r>
          </a:p>
        </p:txBody>
      </p:sp>
      <p:sp>
        <p:nvSpPr>
          <p:cNvPr id="2542" name="TextBox 76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2543" name="TextBox 77"/>
          <p:cNvSpPr txBox="1"/>
          <p:nvPr/>
        </p:nvSpPr>
        <p:spPr>
          <a:xfrm>
            <a:off x="10894893" y="10003535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2544" name="TextBox 78"/>
          <p:cNvSpPr txBox="1"/>
          <p:nvPr/>
        </p:nvSpPr>
        <p:spPr>
          <a:xfrm>
            <a:off x="12626399" y="10003535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position watchlist</a:t>
            </a:r>
          </a:p>
        </p:txBody>
      </p:sp>
      <p:sp>
        <p:nvSpPr>
          <p:cNvPr id="2545" name="Connector 79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6" name="TextBox 80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2547" name="TextBox 81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2548" name="TextBox 82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Indices page</a:t>
            </a:r>
          </a:p>
        </p:txBody>
      </p:sp>
      <p:pic>
        <p:nvPicPr>
          <p:cNvPr id="2549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0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51" name="Connector 85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2" name="TextBox 86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2553" name="TextBox 87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554" name="TextBox 88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555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6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57" name="Connector 91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8" name="TextBox 92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59" name="TextBox 93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560" name="TextBox 94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561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2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63" name="Connector 97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4" name="TextBox 98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65" name="TextBox 99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566" name="TextBox 100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567" name="Picture 101" descr="Picture 10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8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69" name="Connector 103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70" name="TextBox 104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71" name="TextBox 105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572" name="TextBox 106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573" name="Picture 107" descr="Picture 10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4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75" name="Connector 109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76" name="TextBox 110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77" name="TextBox 111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578" name="TextBox 112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579" name="Picture 113" descr="Picture 1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0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81" name="Connector 115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58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029 / 111</a:t>
            </a:r>
          </a:p>
        </p:txBody>
      </p:sp>
      <p:sp>
        <p:nvSpPr>
          <p:cNvPr id="258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58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258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58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58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59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59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59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59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59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59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96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97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name/Symbol/Logo</a:t>
            </a:r>
          </a:p>
        </p:txBody>
      </p:sp>
      <p:sp>
        <p:nvSpPr>
          <p:cNvPr id="2598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9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01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02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03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Chart performance</a:t>
            </a:r>
          </a:p>
        </p:txBody>
      </p:sp>
      <p:sp>
        <p:nvSpPr>
          <p:cNvPr id="2604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0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07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08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09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Market tag</a:t>
            </a:r>
          </a:p>
        </p:txBody>
      </p:sp>
      <p:sp>
        <p:nvSpPr>
          <p:cNvPr id="2610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11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13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14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15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Sector tag</a:t>
            </a:r>
          </a:p>
        </p:txBody>
      </p:sp>
      <p:sp>
        <p:nvSpPr>
          <p:cNvPr id="2616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1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19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0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21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last price/change</a:t>
            </a:r>
          </a:p>
        </p:txBody>
      </p:sp>
      <p:sp>
        <p:nvSpPr>
          <p:cNvPr id="2622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23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25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6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27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Depth</a:t>
            </a:r>
          </a:p>
        </p:txBody>
      </p:sp>
      <p:sp>
        <p:nvSpPr>
          <p:cNvPr id="2628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29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0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31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2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633" name="TextBox 51"/>
          <p:cNvSpPr txBox="1"/>
          <p:nvPr/>
        </p:nvSpPr>
        <p:spPr>
          <a:xfrm>
            <a:off x="2600095" y="8247888"/>
            <a:ext cx="6200547" cy="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Key statistics (closing price, volume, P/E, P/B, market cap, day's range, 52-week range)</a:t>
            </a:r>
          </a:p>
        </p:txBody>
      </p:sp>
      <p:sp>
        <p:nvSpPr>
          <p:cNvPr id="2634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35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6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37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8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639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 tab with articles</a:t>
            </a:r>
          </a:p>
        </p:txBody>
      </p:sp>
      <p:sp>
        <p:nvSpPr>
          <p:cNvPr id="2640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41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2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43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4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645" name="TextBox 63"/>
          <p:cNvSpPr txBox="1"/>
          <p:nvPr/>
        </p:nvSpPr>
        <p:spPr>
          <a:xfrm>
            <a:off x="2600095" y="9125711"/>
            <a:ext cx="6200547" cy="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tab (valuation, income statement, balance sheet, cash flow, profitability, efficiency, dividends)</a:t>
            </a:r>
          </a:p>
        </p:txBody>
      </p:sp>
      <p:sp>
        <p:nvSpPr>
          <p:cNvPr id="2646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47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8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49" name="TextBox 67"/>
          <p:cNvSpPr txBox="1"/>
          <p:nvPr/>
        </p:nvSpPr>
        <p:spPr>
          <a:xfrm>
            <a:off x="14504212" y="9125711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2650" name="Connector 68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1" name="TextBox 69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652" name="TextBox 70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Company profile (sector, industry, employees, description)</a:t>
            </a:r>
          </a:p>
        </p:txBody>
      </p:sp>
      <p:sp>
        <p:nvSpPr>
          <p:cNvPr id="2653" name="TextBox 71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54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5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56" name="TextBox 74"/>
          <p:cNvSpPr txBox="1"/>
          <p:nvPr/>
        </p:nvSpPr>
        <p:spPr>
          <a:xfrm>
            <a:off x="14504212" y="9564623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2657" name="Connector 75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8" name="TextBox 76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659" name="TextBox 77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tab</a:t>
            </a:r>
          </a:p>
        </p:txBody>
      </p:sp>
      <p:sp>
        <p:nvSpPr>
          <p:cNvPr id="2660" name="TextBox 78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61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2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63" name="Connector 81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4" name="TextBox 82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665" name="TextBox 83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Research Reports tab</a:t>
            </a:r>
          </a:p>
        </p:txBody>
      </p:sp>
      <p:sp>
        <p:nvSpPr>
          <p:cNvPr id="2666" name="TextBox 84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67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8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69" name="Connector 87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0" name="TextBox 88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671" name="TextBox 89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Analysts Ratings tab</a:t>
            </a:r>
          </a:p>
        </p:txBody>
      </p:sp>
      <p:sp>
        <p:nvSpPr>
          <p:cNvPr id="2672" name="TextBox 90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73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4" name="Picture 92" descr="Picture 9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75" name="TextBox 93"/>
          <p:cNvSpPr txBox="1"/>
          <p:nvPr/>
        </p:nvSpPr>
        <p:spPr>
          <a:xfrm>
            <a:off x="14504212" y="108813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2676" name="Connector 94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7" name="TextBox 95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678" name="TextBox 96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EPS chart</a:t>
            </a:r>
          </a:p>
        </p:txBody>
      </p:sp>
      <p:sp>
        <p:nvSpPr>
          <p:cNvPr id="2679" name="TextBox 97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80" name="Picture 98" descr="Picture 9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1" name="Picture 99" descr="Picture 9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82" name="Connector 100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3" name="TextBox 101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684" name="TextBox 102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surprise %</a:t>
            </a:r>
          </a:p>
        </p:txBody>
      </p:sp>
      <p:sp>
        <p:nvSpPr>
          <p:cNvPr id="2685" name="TextBox 103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86" name="Picture 104" descr="Picture 10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7" name="Picture 105" descr="Picture 10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88" name="Connector 106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9" name="TextBox 107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690" name="TextBox 108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/ Sell buttons</a:t>
            </a:r>
          </a:p>
        </p:txBody>
      </p:sp>
      <p:sp>
        <p:nvSpPr>
          <p:cNvPr id="2691" name="TextBox 109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692" name="Picture 110" descr="Picture 1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3" name="Picture 111" descr="Picture 1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94" name="Connector 112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5" name="TextBox 113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696" name="TextBox 114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Watchlist &amp; notification buttons</a:t>
            </a:r>
          </a:p>
        </p:txBody>
      </p:sp>
      <p:sp>
        <p:nvSpPr>
          <p:cNvPr id="2697" name="TextBox 115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698" name="Picture 116" descr="Picture 1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9" name="Picture 117" descr="Picture 1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00" name="Connector 118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70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029b / 113</a:t>
            </a:r>
          </a:p>
        </p:txBody>
      </p:sp>
      <p:sp>
        <p:nvSpPr>
          <p:cNvPr id="270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70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270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70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70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70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71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71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71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71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71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5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716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Next report estimation</a:t>
            </a:r>
          </a:p>
        </p:txBody>
      </p:sp>
      <p:sp>
        <p:nvSpPr>
          <p:cNvPr id="2717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1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20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1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2722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Annual revenue trend</a:t>
            </a:r>
          </a:p>
        </p:txBody>
      </p:sp>
      <p:sp>
        <p:nvSpPr>
          <p:cNvPr id="2723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2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26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7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2728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flow (Annual/Quarterly)</a:t>
            </a:r>
          </a:p>
        </p:txBody>
      </p:sp>
      <p:sp>
        <p:nvSpPr>
          <p:cNvPr id="2729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3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32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33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2734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Statements tab</a:t>
            </a:r>
          </a:p>
        </p:txBody>
      </p:sp>
      <p:sp>
        <p:nvSpPr>
          <p:cNvPr id="2735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3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38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39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740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Actions tab (Dividends/Splits)</a:t>
            </a:r>
          </a:p>
        </p:txBody>
      </p:sp>
      <p:sp>
        <p:nvSpPr>
          <p:cNvPr id="2741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742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44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45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2746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Insider Trades</a:t>
            </a:r>
          </a:p>
        </p:txBody>
      </p:sp>
      <p:sp>
        <p:nvSpPr>
          <p:cNvPr id="2747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48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9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50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1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2752" name="TextBox 51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Government Trades</a:t>
            </a:r>
          </a:p>
        </p:txBody>
      </p:sp>
      <p:sp>
        <p:nvSpPr>
          <p:cNvPr id="2753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54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5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56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7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2758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comparison</a:t>
            </a:r>
          </a:p>
        </p:txBody>
      </p:sp>
      <p:sp>
        <p:nvSpPr>
          <p:cNvPr id="2759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760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1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62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63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2764" name="TextBox 63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Chart</a:t>
            </a:r>
          </a:p>
        </p:txBody>
      </p:sp>
      <p:sp>
        <p:nvSpPr>
          <p:cNvPr id="2765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766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7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68" name="TextBox 67"/>
          <p:cNvSpPr txBox="1"/>
          <p:nvPr/>
        </p:nvSpPr>
        <p:spPr>
          <a:xfrm>
            <a:off x="14504212" y="9125711"/>
            <a:ext cx="4036162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69" name="Connector 68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0" name="TextBox 69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71" name="TextBox 70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772" name="TextBox 71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773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4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75" name="TextBox 74"/>
          <p:cNvSpPr txBox="1"/>
          <p:nvPr/>
        </p:nvSpPr>
        <p:spPr>
          <a:xfrm>
            <a:off x="14504212" y="9564623"/>
            <a:ext cx="4036162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76" name="Connector 75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7" name="TextBox 76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78" name="TextBox 77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779" name="TextBox 78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780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1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82" name="Connector 81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3" name="TextBox 82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84" name="TextBox 83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785" name="TextBox 84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786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7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88" name="Connector 87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9" name="TextBox 88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90" name="TextBox 89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791" name="TextBox 90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792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3" name="Picture 92" descr="Picture 9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794" name="TextBox 93"/>
          <p:cNvSpPr txBox="1"/>
          <p:nvPr/>
        </p:nvSpPr>
        <p:spPr>
          <a:xfrm>
            <a:off x="14504212" y="10881359"/>
            <a:ext cx="4036162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95" name="Connector 94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96" name="TextBox 95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97" name="TextBox 96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798" name="TextBox 97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799" name="Picture 98" descr="Picture 9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0" name="Picture 99" descr="Picture 9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01" name="Connector 100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2" name="TextBox 101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03" name="TextBox 102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804" name="TextBox 103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05" name="Picture 104" descr="Picture 10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6" name="Picture 105" descr="Picture 10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07" name="Connector 106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8" name="TextBox 107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09" name="TextBox 108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810" name="TextBox 109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11" name="Picture 110" descr="Picture 1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2" name="Picture 111" descr="Picture 1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13" name="Connector 112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4" name="TextBox 113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15" name="TextBox 114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</a:p>
        </p:txBody>
      </p:sp>
      <p:sp>
        <p:nvSpPr>
          <p:cNvPr id="2816" name="TextBox 115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17" name="Picture 116" descr="Picture 1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8" name="Picture 117" descr="Picture 1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19" name="Connector 118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82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030 / 111</a:t>
            </a:r>
          </a:p>
        </p:txBody>
      </p:sp>
      <p:sp>
        <p:nvSpPr>
          <p:cNvPr id="282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82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Corporate Actions &amp; Events</a:t>
            </a:r>
          </a:p>
        </p:txBody>
      </p:sp>
      <p:sp>
        <p:nvSpPr>
          <p:cNvPr id="282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82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82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82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82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83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83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83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83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4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35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Dividends history</a:t>
            </a:r>
          </a:p>
        </p:txBody>
      </p:sp>
      <p:sp>
        <p:nvSpPr>
          <p:cNvPr id="2836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3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39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0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41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splits history</a:t>
            </a:r>
          </a:p>
        </p:txBody>
      </p:sp>
      <p:sp>
        <p:nvSpPr>
          <p:cNvPr id="2842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4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45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6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47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filter (All / Dividends / Splits)</a:t>
            </a:r>
          </a:p>
        </p:txBody>
      </p:sp>
      <p:sp>
        <p:nvSpPr>
          <p:cNvPr id="2848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4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51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2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853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Distribution date display</a:t>
            </a:r>
          </a:p>
        </p:txBody>
      </p:sp>
      <p:sp>
        <p:nvSpPr>
          <p:cNvPr id="2854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5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57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8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859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per share display</a:t>
            </a:r>
          </a:p>
        </p:txBody>
      </p:sp>
      <p:sp>
        <p:nvSpPr>
          <p:cNvPr id="2860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61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63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4" name="TextBox 4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865" name="TextBox 4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Actions</a:t>
            </a:r>
          </a:p>
        </p:txBody>
      </p:sp>
      <p:sp>
        <p:nvSpPr>
          <p:cNvPr id="2866" name="TextBox 4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67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69" name="Connector 4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70" name="TextBox 50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871" name="TextBox 51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calendar date</a:t>
            </a:r>
          </a:p>
        </p:txBody>
      </p:sp>
      <p:sp>
        <p:nvSpPr>
          <p:cNvPr id="2872" name="TextBox 52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73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75" name="Connector 5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76" name="TextBox 56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877" name="TextBox 57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Quarterly / Annual toggle</a:t>
            </a:r>
          </a:p>
        </p:txBody>
      </p:sp>
      <p:sp>
        <p:nvSpPr>
          <p:cNvPr id="2878" name="TextBox 58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879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0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81" name="Connector 61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82" name="TextBox 62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883" name="TextBox 63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Filter by period (Annual / Quarterly)</a:t>
            </a:r>
          </a:p>
        </p:txBody>
      </p:sp>
      <p:sp>
        <p:nvSpPr>
          <p:cNvPr id="2884" name="TextBox 64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885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6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887" name="Connector 67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890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031 / 111</a:t>
            </a:r>
          </a:p>
        </p:txBody>
      </p:sp>
      <p:sp>
        <p:nvSpPr>
          <p:cNvPr id="2891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892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2893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894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895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896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897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898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899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900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901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02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03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health score</a:t>
            </a:r>
          </a:p>
        </p:txBody>
      </p:sp>
      <p:sp>
        <p:nvSpPr>
          <p:cNvPr id="2904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0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07" name="TextBox 19"/>
          <p:cNvSpPr txBox="1"/>
          <p:nvPr/>
        </p:nvSpPr>
        <p:spPr>
          <a:xfrm>
            <a:off x="18832982" y="5665763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08" name="Connector 20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09" name="TextBox 21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910" name="TextBox 22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concentration analysis</a:t>
            </a:r>
          </a:p>
        </p:txBody>
      </p:sp>
      <p:sp>
        <p:nvSpPr>
          <p:cNvPr id="2911" name="TextBox 23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1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3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14" name="TextBox 26"/>
          <p:cNvSpPr txBox="1"/>
          <p:nvPr/>
        </p:nvSpPr>
        <p:spPr>
          <a:xfrm>
            <a:off x="18832982" y="620736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15" name="Connector 27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16" name="TextBox 28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17" name="TextBox 29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Diversification score</a:t>
            </a:r>
          </a:p>
        </p:txBody>
      </p:sp>
      <p:sp>
        <p:nvSpPr>
          <p:cNvPr id="2918" name="TextBox 30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19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0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21" name="TextBox 33"/>
          <p:cNvSpPr txBox="1"/>
          <p:nvPr/>
        </p:nvSpPr>
        <p:spPr>
          <a:xfrm>
            <a:off x="18832982" y="6748974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22" name="Connector 34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23" name="TextBox 35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24" name="TextBox 36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vs benchmark</a:t>
            </a:r>
          </a:p>
        </p:txBody>
      </p:sp>
      <p:sp>
        <p:nvSpPr>
          <p:cNvPr id="2925" name="TextBox 37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26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7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28" name="TextBox 40"/>
          <p:cNvSpPr txBox="1"/>
          <p:nvPr/>
        </p:nvSpPr>
        <p:spPr>
          <a:xfrm>
            <a:off x="18832982" y="7290581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29" name="Connector 41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30" name="TextBox 42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931" name="TextBox 43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volatility analysis</a:t>
            </a:r>
          </a:p>
        </p:txBody>
      </p:sp>
      <p:sp>
        <p:nvSpPr>
          <p:cNvPr id="2932" name="TextBox 4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33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4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35" name="TextBox 47"/>
          <p:cNvSpPr txBox="1"/>
          <p:nvPr/>
        </p:nvSpPr>
        <p:spPr>
          <a:xfrm>
            <a:off x="18832982" y="7832187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36" name="Connector 48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37" name="TextBox 49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938" name="TextBox 50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diagnostics summary</a:t>
            </a:r>
          </a:p>
        </p:txBody>
      </p:sp>
      <p:sp>
        <p:nvSpPr>
          <p:cNvPr id="2939" name="TextBox 51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40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1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42" name="TextBox 54"/>
          <p:cNvSpPr txBox="1"/>
          <p:nvPr/>
        </p:nvSpPr>
        <p:spPr>
          <a:xfrm>
            <a:off x="18832982" y="8373792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43" name="Connector 55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44" name="TextBox 56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945" name="TextBox 57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Peer portfolio comparison</a:t>
            </a:r>
          </a:p>
        </p:txBody>
      </p:sp>
      <p:sp>
        <p:nvSpPr>
          <p:cNvPr id="2946" name="TextBox 58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47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8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49" name="TextBox 61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50" name="Connector 62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1" name="TextBox 63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952" name="TextBox 64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2953" name="TextBox 65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54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5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56" name="TextBox 68"/>
          <p:cNvSpPr txBox="1"/>
          <p:nvPr/>
        </p:nvSpPr>
        <p:spPr>
          <a:xfrm>
            <a:off x="18832982" y="9457005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57" name="Connector 69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8" name="TextBox 70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959" name="TextBox 71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risk exposure</a:t>
            </a:r>
          </a:p>
        </p:txBody>
      </p:sp>
      <p:sp>
        <p:nvSpPr>
          <p:cNvPr id="2960" name="TextBox 72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61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2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63" name="Connector 75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64" name="TextBox 76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965" name="TextBox 77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attribution</a:t>
            </a:r>
          </a:p>
        </p:txBody>
      </p:sp>
      <p:sp>
        <p:nvSpPr>
          <p:cNvPr id="2966" name="TextBox 78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67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8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69" name="TextBox 81"/>
          <p:cNvSpPr txBox="1"/>
          <p:nvPr/>
        </p:nvSpPr>
        <p:spPr>
          <a:xfrm>
            <a:off x="18832982" y="10540217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70" name="Connector 82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71" name="TextBox 83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972" name="TextBox 84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recommendations / insights</a:t>
            </a:r>
          </a:p>
        </p:txBody>
      </p:sp>
      <p:sp>
        <p:nvSpPr>
          <p:cNvPr id="2973" name="TextBox 85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74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5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76" name="Connector 88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77" name="TextBox 89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978" name="TextBox 90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rebalance suggestion</a:t>
            </a:r>
          </a:p>
        </p:txBody>
      </p:sp>
      <p:sp>
        <p:nvSpPr>
          <p:cNvPr id="2979" name="TextBox 9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980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1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82" name="Connector 94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3" name="TextBox 95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984" name="TextBox 96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preference settings</a:t>
            </a:r>
          </a:p>
        </p:txBody>
      </p:sp>
      <p:sp>
        <p:nvSpPr>
          <p:cNvPr id="2985" name="TextBox 97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986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7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988" name="Connector 100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99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032 / 111</a:t>
            </a:r>
          </a:p>
        </p:txBody>
      </p:sp>
      <p:sp>
        <p:nvSpPr>
          <p:cNvPr id="299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99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299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99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99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99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99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99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00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00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00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03" name="TextBox 14"/>
          <p:cNvSpPr txBox="1"/>
          <p:nvPr/>
        </p:nvSpPr>
        <p:spPr>
          <a:xfrm>
            <a:off x="1517903" y="57150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04" name="TextBox 15"/>
          <p:cNvSpPr txBox="1"/>
          <p:nvPr/>
        </p:nvSpPr>
        <p:spPr>
          <a:xfrm>
            <a:off x="2600095" y="57150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3005" name="TextBox 16"/>
          <p:cNvSpPr txBox="1"/>
          <p:nvPr/>
        </p:nvSpPr>
        <p:spPr>
          <a:xfrm>
            <a:off x="9093250" y="57150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0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08" name="Connector 19"/>
          <p:cNvSpPr/>
          <p:nvPr/>
        </p:nvSpPr>
        <p:spPr>
          <a:xfrm>
            <a:off x="1371600" y="621792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09" name="TextBox 20"/>
          <p:cNvSpPr txBox="1"/>
          <p:nvPr/>
        </p:nvSpPr>
        <p:spPr>
          <a:xfrm>
            <a:off x="1517903" y="635507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010" name="TextBox 21"/>
          <p:cNvSpPr txBox="1"/>
          <p:nvPr/>
        </p:nvSpPr>
        <p:spPr>
          <a:xfrm>
            <a:off x="2600095" y="635507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gainers / losers analysis</a:t>
            </a:r>
          </a:p>
        </p:txBody>
      </p:sp>
      <p:sp>
        <p:nvSpPr>
          <p:cNvPr id="3011" name="TextBox 22"/>
          <p:cNvSpPr txBox="1"/>
          <p:nvPr/>
        </p:nvSpPr>
        <p:spPr>
          <a:xfrm>
            <a:off x="9093250" y="635507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1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14" name="TextBox 25"/>
          <p:cNvSpPr txBox="1"/>
          <p:nvPr/>
        </p:nvSpPr>
        <p:spPr>
          <a:xfrm>
            <a:off x="18832982" y="635507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15" name="Connector 26"/>
          <p:cNvSpPr/>
          <p:nvPr/>
        </p:nvSpPr>
        <p:spPr>
          <a:xfrm>
            <a:off x="1371600" y="68580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16" name="TextBox 27"/>
          <p:cNvSpPr txBox="1"/>
          <p:nvPr/>
        </p:nvSpPr>
        <p:spPr>
          <a:xfrm>
            <a:off x="1517903" y="69951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017" name="TextBox 28"/>
          <p:cNvSpPr txBox="1"/>
          <p:nvPr/>
        </p:nvSpPr>
        <p:spPr>
          <a:xfrm>
            <a:off x="2600095" y="69951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gain analysis</a:t>
            </a:r>
          </a:p>
        </p:txBody>
      </p:sp>
      <p:sp>
        <p:nvSpPr>
          <p:cNvPr id="3018" name="TextBox 29"/>
          <p:cNvSpPr txBox="1"/>
          <p:nvPr/>
        </p:nvSpPr>
        <p:spPr>
          <a:xfrm>
            <a:off x="9093250" y="69951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1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0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21" name="Connector 32"/>
          <p:cNvSpPr/>
          <p:nvPr/>
        </p:nvSpPr>
        <p:spPr>
          <a:xfrm>
            <a:off x="1371600" y="74980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2" name="TextBox 33"/>
          <p:cNvSpPr txBox="1"/>
          <p:nvPr/>
        </p:nvSpPr>
        <p:spPr>
          <a:xfrm>
            <a:off x="1517903" y="7635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023" name="TextBox 34"/>
          <p:cNvSpPr txBox="1"/>
          <p:nvPr/>
        </p:nvSpPr>
        <p:spPr>
          <a:xfrm>
            <a:off x="2600095" y="7635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3024" name="TextBox 35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2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6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27" name="Connector 38"/>
          <p:cNvSpPr/>
          <p:nvPr/>
        </p:nvSpPr>
        <p:spPr>
          <a:xfrm>
            <a:off x="1371600" y="81381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8" name="TextBox 39"/>
          <p:cNvSpPr txBox="1"/>
          <p:nvPr/>
        </p:nvSpPr>
        <p:spPr>
          <a:xfrm>
            <a:off x="1517903" y="82753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029" name="TextBox 40"/>
          <p:cNvSpPr txBox="1"/>
          <p:nvPr/>
        </p:nvSpPr>
        <p:spPr>
          <a:xfrm>
            <a:off x="2600095" y="82753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exposure analysis</a:t>
            </a:r>
          </a:p>
        </p:txBody>
      </p:sp>
      <p:sp>
        <p:nvSpPr>
          <p:cNvPr id="3030" name="TextBox 41"/>
          <p:cNvSpPr txBox="1"/>
          <p:nvPr/>
        </p:nvSpPr>
        <p:spPr>
          <a:xfrm>
            <a:off x="9093250" y="82753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3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2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33" name="TextBox 44"/>
          <p:cNvSpPr txBox="1"/>
          <p:nvPr/>
        </p:nvSpPr>
        <p:spPr>
          <a:xfrm>
            <a:off x="18832982" y="827531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034" name="Connector 45"/>
          <p:cNvSpPr/>
          <p:nvPr/>
        </p:nvSpPr>
        <p:spPr>
          <a:xfrm>
            <a:off x="1371600" y="8778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35" name="TextBox 46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036" name="TextBox 47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period analysis</a:t>
            </a:r>
          </a:p>
        </p:txBody>
      </p:sp>
      <p:sp>
        <p:nvSpPr>
          <p:cNvPr id="3037" name="TextBox 48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38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9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40" name="TextBox 51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41" name="Connector 52"/>
          <p:cNvSpPr/>
          <p:nvPr/>
        </p:nvSpPr>
        <p:spPr>
          <a:xfrm>
            <a:off x="1371600" y="9418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42" name="TextBox 53"/>
          <p:cNvSpPr txBox="1"/>
          <p:nvPr/>
        </p:nvSpPr>
        <p:spPr>
          <a:xfrm>
            <a:off x="1517903" y="95554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043" name="TextBox 54"/>
          <p:cNvSpPr txBox="1"/>
          <p:nvPr/>
        </p:nvSpPr>
        <p:spPr>
          <a:xfrm>
            <a:off x="2600095" y="95554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trend analysis</a:t>
            </a:r>
          </a:p>
        </p:txBody>
      </p:sp>
      <p:sp>
        <p:nvSpPr>
          <p:cNvPr id="3044" name="TextBox 55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45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6" name="Picture 57" descr="Picture 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47" name="Connector 58"/>
          <p:cNvSpPr/>
          <p:nvPr/>
        </p:nvSpPr>
        <p:spPr>
          <a:xfrm>
            <a:off x="1371600" y="10058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48" name="TextBox 59"/>
          <p:cNvSpPr txBox="1"/>
          <p:nvPr/>
        </p:nvSpPr>
        <p:spPr>
          <a:xfrm>
            <a:off x="1517903" y="101955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049" name="TextBox 60"/>
          <p:cNvSpPr txBox="1"/>
          <p:nvPr/>
        </p:nvSpPr>
        <p:spPr>
          <a:xfrm>
            <a:off x="2600095" y="101955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change insights</a:t>
            </a:r>
          </a:p>
        </p:txBody>
      </p:sp>
      <p:sp>
        <p:nvSpPr>
          <p:cNvPr id="3050" name="TextBox 61"/>
          <p:cNvSpPr txBox="1"/>
          <p:nvPr/>
        </p:nvSpPr>
        <p:spPr>
          <a:xfrm>
            <a:off x="9093250" y="101955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51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2" name="Picture 63" descr="Picture 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53" name="TextBox 64"/>
          <p:cNvSpPr txBox="1"/>
          <p:nvPr/>
        </p:nvSpPr>
        <p:spPr>
          <a:xfrm>
            <a:off x="18832982" y="101955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54" name="Connector 65"/>
          <p:cNvSpPr/>
          <p:nvPr/>
        </p:nvSpPr>
        <p:spPr>
          <a:xfrm>
            <a:off x="1371600" y="106984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55" name="TextBox 66"/>
          <p:cNvSpPr txBox="1"/>
          <p:nvPr/>
        </p:nvSpPr>
        <p:spPr>
          <a:xfrm>
            <a:off x="1517903" y="108356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056" name="TextBox 67"/>
          <p:cNvSpPr txBox="1"/>
          <p:nvPr/>
        </p:nvSpPr>
        <p:spPr>
          <a:xfrm>
            <a:off x="2600095" y="108356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insights summary</a:t>
            </a:r>
          </a:p>
        </p:txBody>
      </p:sp>
      <p:sp>
        <p:nvSpPr>
          <p:cNvPr id="3057" name="TextBox 68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58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9" name="Picture 70" descr="Picture 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60" name="TextBox 71"/>
          <p:cNvSpPr txBox="1"/>
          <p:nvPr/>
        </p:nvSpPr>
        <p:spPr>
          <a:xfrm>
            <a:off x="18832982" y="1083564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61" name="Connector 72"/>
          <p:cNvSpPr/>
          <p:nvPr/>
        </p:nvSpPr>
        <p:spPr>
          <a:xfrm>
            <a:off x="1371600" y="113385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2" name="TextBox 73"/>
          <p:cNvSpPr txBox="1"/>
          <p:nvPr/>
        </p:nvSpPr>
        <p:spPr>
          <a:xfrm>
            <a:off x="1517903" y="114757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063" name="TextBox 74"/>
          <p:cNvSpPr txBox="1"/>
          <p:nvPr/>
        </p:nvSpPr>
        <p:spPr>
          <a:xfrm>
            <a:off x="2600095" y="114757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Insight-driven alerts</a:t>
            </a:r>
          </a:p>
        </p:txBody>
      </p:sp>
      <p:sp>
        <p:nvSpPr>
          <p:cNvPr id="3064" name="TextBox 75"/>
          <p:cNvSpPr txBox="1"/>
          <p:nvPr/>
        </p:nvSpPr>
        <p:spPr>
          <a:xfrm>
            <a:off x="9093250" y="114757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065" name="Picture 76" descr="Picture 7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6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67" name="Connector 78"/>
          <p:cNvSpPr/>
          <p:nvPr/>
        </p:nvSpPr>
        <p:spPr>
          <a:xfrm>
            <a:off x="1371600" y="11978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8" name="TextBox 79"/>
          <p:cNvSpPr txBox="1"/>
          <p:nvPr/>
        </p:nvSpPr>
        <p:spPr>
          <a:xfrm>
            <a:off x="1517903" y="12115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069" name="TextBox 80"/>
          <p:cNvSpPr txBox="1"/>
          <p:nvPr/>
        </p:nvSpPr>
        <p:spPr>
          <a:xfrm>
            <a:off x="2600095" y="12115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 preferences</a:t>
            </a:r>
          </a:p>
        </p:txBody>
      </p:sp>
      <p:sp>
        <p:nvSpPr>
          <p:cNvPr id="3070" name="TextBox 81"/>
          <p:cNvSpPr txBox="1"/>
          <p:nvPr/>
        </p:nvSpPr>
        <p:spPr>
          <a:xfrm>
            <a:off x="9093250" y="12115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071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073" name="Connector 84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3076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7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Mutual </a:t>
            </a:r>
            <a:r>
              <a:rPr>
                <a:solidFill>
                  <a:srgbClr val="0333E8"/>
                </a:solidFill>
              </a:rPr>
              <a:t>Fund</a:t>
            </a:r>
          </a:p>
        </p:txBody>
      </p:sp>
      <p:sp>
        <p:nvSpPr>
          <p:cNvPr id="3078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Open-ended investment funds and managed portfolios</a:t>
            </a:r>
          </a:p>
        </p:txBody>
      </p:sp>
      <p:sp>
        <p:nvSpPr>
          <p:cNvPr id="3079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3080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038 / 111</a:t>
            </a:r>
          </a:p>
        </p:txBody>
      </p:sp>
      <p:pic>
        <p:nvPicPr>
          <p:cNvPr id="308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08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039 / 111</a:t>
            </a:r>
          </a:p>
        </p:txBody>
      </p:sp>
      <p:sp>
        <p:nvSpPr>
          <p:cNvPr id="308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SECTION SUMMARY</a:t>
            </a:r>
          </a:p>
        </p:txBody>
      </p:sp>
      <p:sp>
        <p:nvSpPr>
          <p:cNvPr id="3086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161 capabilities assessed. 114 already live.</a:t>
            </a:r>
          </a:p>
        </p:txBody>
      </p:sp>
      <p:sp>
        <p:nvSpPr>
          <p:cNvPr id="3087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161</a:t>
            </a:r>
          </a:p>
        </p:txBody>
      </p:sp>
      <p:sp>
        <p:nvSpPr>
          <p:cNvPr id="3088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3089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0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114</a:t>
            </a:r>
          </a:p>
        </p:txBody>
      </p:sp>
      <p:sp>
        <p:nvSpPr>
          <p:cNvPr id="3091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(71% OF 161)</a:t>
            </a:r>
          </a:p>
        </p:txBody>
      </p:sp>
      <p:sp>
        <p:nvSpPr>
          <p:cNvPr id="3092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3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094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(9% OF 161)</a:t>
            </a:r>
          </a:p>
        </p:txBody>
      </p:sp>
      <p:sp>
        <p:nvSpPr>
          <p:cNvPr id="3095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6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7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3098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71% live on app — the highest rate across all products.</a:t>
            </a:r>
          </a:p>
        </p:txBody>
      </p:sp>
      <p:sp>
        <p:nvSpPr>
          <p:cNvPr id="3099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9% Jira coverage keeps the remaining gaps under-tracked.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4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3102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105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3103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104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3106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3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07" name="Picture 548" descr="Picture 5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108" name="TextBox 549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040 / 111</a:t>
            </a:r>
          </a:p>
        </p:txBody>
      </p:sp>
      <p:sp>
        <p:nvSpPr>
          <p:cNvPr id="3109" name="TextBox 550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3110" name="TextBox 551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3111" name="Connector 552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2" name="Connector 553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3" name="Connector 554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4" name="Connector 555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5" name="Connector 556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6" name="Connector 557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7" name="Connector 558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8" name="Connector 559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9" name="Connector 560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0" name="Connector 561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1" name="Connector 562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2" name="Connector 563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3" name="Connector 564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4" name="Connector 565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5" name="Connector 566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6" name="Connector 567"/>
          <p:cNvSpPr/>
          <p:nvPr/>
        </p:nvSpPr>
        <p:spPr>
          <a:xfrm>
            <a:off x="2926079" y="8503919"/>
            <a:ext cx="227234" cy="866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7" name="Connector 568"/>
          <p:cNvSpPr/>
          <p:nvPr/>
        </p:nvSpPr>
        <p:spPr>
          <a:xfrm>
            <a:off x="3153312" y="8590594"/>
            <a:ext cx="213439" cy="136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8" name="Connector 569"/>
          <p:cNvSpPr/>
          <p:nvPr/>
        </p:nvSpPr>
        <p:spPr>
          <a:xfrm>
            <a:off x="3366751" y="8727054"/>
            <a:ext cx="202642" cy="1772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9" name="Connector 570"/>
          <p:cNvSpPr/>
          <p:nvPr/>
        </p:nvSpPr>
        <p:spPr>
          <a:xfrm>
            <a:off x="3569391" y="8904302"/>
            <a:ext cx="194844" cy="2090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0" name="Connector 571"/>
          <p:cNvSpPr/>
          <p:nvPr/>
        </p:nvSpPr>
        <p:spPr>
          <a:xfrm>
            <a:off x="3764235" y="9113342"/>
            <a:ext cx="190046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1" name="Connector 572"/>
          <p:cNvSpPr/>
          <p:nvPr/>
        </p:nvSpPr>
        <p:spPr>
          <a:xfrm>
            <a:off x="3954279" y="9345173"/>
            <a:ext cx="188246" cy="2456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2" name="Connector 573"/>
          <p:cNvSpPr/>
          <p:nvPr/>
        </p:nvSpPr>
        <p:spPr>
          <a:xfrm>
            <a:off x="4142525" y="9590802"/>
            <a:ext cx="189446" cy="250428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3" name="Connector 574"/>
          <p:cNvSpPr/>
          <p:nvPr/>
        </p:nvSpPr>
        <p:spPr>
          <a:xfrm>
            <a:off x="4331970" y="9841230"/>
            <a:ext cx="193644" cy="2462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4" name="Connector 575"/>
          <p:cNvSpPr/>
          <p:nvPr/>
        </p:nvSpPr>
        <p:spPr>
          <a:xfrm>
            <a:off x="4525613" y="10087458"/>
            <a:ext cx="200842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5" name="Connector 576"/>
          <p:cNvSpPr/>
          <p:nvPr/>
        </p:nvSpPr>
        <p:spPr>
          <a:xfrm>
            <a:off x="4726454" y="10320490"/>
            <a:ext cx="211040" cy="21083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6" name="Connector 577"/>
          <p:cNvSpPr/>
          <p:nvPr/>
        </p:nvSpPr>
        <p:spPr>
          <a:xfrm>
            <a:off x="4937492" y="10531327"/>
            <a:ext cx="224236" cy="17964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7" name="Connector 578"/>
          <p:cNvSpPr/>
          <p:nvPr/>
        </p:nvSpPr>
        <p:spPr>
          <a:xfrm>
            <a:off x="5161727" y="10710976"/>
            <a:ext cx="240430" cy="13946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8" name="Connector 579"/>
          <p:cNvSpPr/>
          <p:nvPr/>
        </p:nvSpPr>
        <p:spPr>
          <a:xfrm>
            <a:off x="5402156" y="10850435"/>
            <a:ext cx="259626" cy="902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39" name="Connector 580"/>
          <p:cNvSpPr/>
          <p:nvPr/>
        </p:nvSpPr>
        <p:spPr>
          <a:xfrm>
            <a:off x="5661781" y="10940708"/>
            <a:ext cx="281819" cy="3209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40" name="Connector 581"/>
          <p:cNvSpPr/>
          <p:nvPr/>
        </p:nvSpPr>
        <p:spPr>
          <a:xfrm>
            <a:off x="5943600" y="10972800"/>
            <a:ext cx="12344400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41" name="Oval 582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2" name="Oval 583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3" name="TextBox 584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3144" name="TextBox 585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3145" name="Oval 586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6" name="TextBox 587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147" name="TextBox 588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 Market</a:t>
            </a:r>
          </a:p>
        </p:txBody>
      </p:sp>
      <p:sp>
        <p:nvSpPr>
          <p:cNvPr id="3148" name="Oval 589"/>
          <p:cNvSpPr/>
          <p:nvPr/>
        </p:nvSpPr>
        <p:spPr>
          <a:xfrm>
            <a:off x="97612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9" name="TextBox 590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50" name="TextBox 591"/>
          <p:cNvSpPr txBox="1"/>
          <p:nvPr/>
        </p:nvSpPr>
        <p:spPr>
          <a:xfrm>
            <a:off x="77724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 Category</a:t>
            </a:r>
          </a:p>
        </p:txBody>
      </p:sp>
      <p:sp>
        <p:nvSpPr>
          <p:cNvPr id="3151" name="Oval 592"/>
          <p:cNvSpPr/>
          <p:nvPr/>
        </p:nvSpPr>
        <p:spPr>
          <a:xfrm>
            <a:off x="138760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2" name="TextBox 593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153" name="TextBox 594"/>
          <p:cNvSpPr txBox="1"/>
          <p:nvPr/>
        </p:nvSpPr>
        <p:spPr>
          <a:xfrm>
            <a:off x="118872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 Details</a:t>
            </a:r>
          </a:p>
        </p:txBody>
      </p:sp>
      <p:sp>
        <p:nvSpPr>
          <p:cNvPr id="3154" name="Oval 595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5" name="TextBox 596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156" name="TextBox 597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Trade</a:t>
            </a:r>
          </a:p>
        </p:txBody>
      </p:sp>
      <p:sp>
        <p:nvSpPr>
          <p:cNvPr id="3157" name="Oval 598"/>
          <p:cNvSpPr/>
          <p:nvPr/>
        </p:nvSpPr>
        <p:spPr>
          <a:xfrm>
            <a:off x="5646420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8" name="TextBox 599"/>
          <p:cNvSpPr txBox="1"/>
          <p:nvPr/>
        </p:nvSpPr>
        <p:spPr>
          <a:xfrm>
            <a:off x="36576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159" name="TextBox 600"/>
          <p:cNvSpPr txBox="1"/>
          <p:nvPr/>
        </p:nvSpPr>
        <p:spPr>
          <a:xfrm>
            <a:off x="36576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3160" name="Oval 601"/>
          <p:cNvSpPr/>
          <p:nvPr/>
        </p:nvSpPr>
        <p:spPr>
          <a:xfrm>
            <a:off x="118186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1" name="TextBox 602"/>
          <p:cNvSpPr txBox="1"/>
          <p:nvPr/>
        </p:nvSpPr>
        <p:spPr>
          <a:xfrm>
            <a:off x="98298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62" name="TextBox 603"/>
          <p:cNvSpPr txBox="1"/>
          <p:nvPr/>
        </p:nvSpPr>
        <p:spPr>
          <a:xfrm>
            <a:off x="98298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 Portfolios</a:t>
            </a:r>
          </a:p>
        </p:txBody>
      </p:sp>
      <p:sp>
        <p:nvSpPr>
          <p:cNvPr id="3163" name="Oval 604"/>
          <p:cNvSpPr/>
          <p:nvPr/>
        </p:nvSpPr>
        <p:spPr>
          <a:xfrm>
            <a:off x="179908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4" name="TextBox 605"/>
          <p:cNvSpPr txBox="1"/>
          <p:nvPr/>
        </p:nvSpPr>
        <p:spPr>
          <a:xfrm>
            <a:off x="160020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165" name="TextBox 606"/>
          <p:cNvSpPr txBox="1"/>
          <p:nvPr/>
        </p:nvSpPr>
        <p:spPr>
          <a:xfrm>
            <a:off x="160020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View / Trade</a:t>
            </a:r>
          </a:p>
        </p:txBody>
      </p:sp>
      <p:sp>
        <p:nvSpPr>
          <p:cNvPr id="3166" name="Rounded Rectangle 607"/>
          <p:cNvSpPr/>
          <p:nvPr/>
        </p:nvSpPr>
        <p:spPr>
          <a:xfrm>
            <a:off x="19659600" y="4389120"/>
            <a:ext cx="3474721" cy="14630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7" name="Connector 608"/>
          <p:cNvSpPr/>
          <p:nvPr/>
        </p:nvSpPr>
        <p:spPr>
          <a:xfrm>
            <a:off x="19933919" y="4800600"/>
            <a:ext cx="640081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68" name="TextBox 609"/>
          <p:cNvSpPr txBox="1"/>
          <p:nvPr/>
        </p:nvSpPr>
        <p:spPr>
          <a:xfrm>
            <a:off x="20756880" y="46634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3169" name="Connector 610"/>
          <p:cNvSpPr/>
          <p:nvPr/>
        </p:nvSpPr>
        <p:spPr>
          <a:xfrm>
            <a:off x="19933919" y="5486400"/>
            <a:ext cx="640081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70" name="TextBox 611"/>
          <p:cNvSpPr txBox="1"/>
          <p:nvPr/>
        </p:nvSpPr>
        <p:spPr>
          <a:xfrm>
            <a:off x="20756880" y="53492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17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041 / 111</a:t>
            </a:r>
          </a:p>
        </p:txBody>
      </p:sp>
      <p:sp>
        <p:nvSpPr>
          <p:cNvPr id="317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17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317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17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17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17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18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18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18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18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18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85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86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3187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8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8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190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1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92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3193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9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196" name="TextBox 25"/>
          <p:cNvSpPr txBox="1"/>
          <p:nvPr/>
        </p:nvSpPr>
        <p:spPr>
          <a:xfrm>
            <a:off x="14504212" y="6207369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3197" name="Connector 26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8" name="TextBox 27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99" name="TextBox 28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3200" name="TextBox 29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0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2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03" name="Connector 32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04" name="TextBox 33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05" name="TextBox 34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3206" name="TextBox 35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0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8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09" name="Connector 38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10" name="TextBox 39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11" name="TextBox 40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3212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1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15" name="TextBox 44"/>
          <p:cNvSpPr txBox="1"/>
          <p:nvPr/>
        </p:nvSpPr>
        <p:spPr>
          <a:xfrm>
            <a:off x="14504212" y="7832187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3216" name="Connector 45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17" name="TextBox 46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218" name="TextBox 47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3219" name="TextBox 48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20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1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22" name="Connector 51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3" name="TextBox 52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224" name="TextBox 53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3225" name="TextBox 54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26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7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28" name="Connector 57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9" name="TextBox 58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230" name="TextBox 59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3231" name="TextBox 60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32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3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34" name="TextBox 63"/>
          <p:cNvSpPr txBox="1"/>
          <p:nvPr/>
        </p:nvSpPr>
        <p:spPr>
          <a:xfrm>
            <a:off x="14504212" y="9457005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analysis insights</a:t>
            </a:r>
          </a:p>
        </p:txBody>
      </p:sp>
      <p:sp>
        <p:nvSpPr>
          <p:cNvPr id="3235" name="Connector 64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36" name="TextBox 65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237" name="TextBox 66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3238" name="TextBox 67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3239" name="TextBox 68"/>
          <p:cNvSpPr txBox="1"/>
          <p:nvPr/>
        </p:nvSpPr>
        <p:spPr>
          <a:xfrm>
            <a:off x="10894893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3240" name="TextBox 69"/>
          <p:cNvSpPr txBox="1"/>
          <p:nvPr/>
        </p:nvSpPr>
        <p:spPr>
          <a:xfrm>
            <a:off x="12626399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3241" name="Connector 70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42" name="TextBox 71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243" name="TextBox 72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3244" name="TextBox 73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45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6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47" name="Connector 76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48" name="TextBox 77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249" name="TextBox 78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3250" name="TextBox 79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51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2" name="Picture 81" descr="Picture 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53" name="TextBox 82"/>
          <p:cNvSpPr txBox="1"/>
          <p:nvPr/>
        </p:nvSpPr>
        <p:spPr>
          <a:xfrm>
            <a:off x="14504212" y="11081824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Basic chart</a:t>
            </a:r>
          </a:p>
        </p:txBody>
      </p:sp>
      <p:sp>
        <p:nvSpPr>
          <p:cNvPr id="3254" name="Connector 83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55" name="TextBox 84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256" name="TextBox 85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3257" name="TextBox 8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258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9" name="Picture 88" descr="Picture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60" name="TextBox 89"/>
          <p:cNvSpPr txBox="1"/>
          <p:nvPr/>
        </p:nvSpPr>
        <p:spPr>
          <a:xfrm>
            <a:off x="14504212" y="1162343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3261" name="Connector 90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2" name="TextBox 91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263" name="TextBox 92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3264" name="TextBox 93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265" name="Picture 94" descr="Picture 9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6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67" name="Connector 96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270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042 / 111</a:t>
            </a:r>
          </a:p>
        </p:txBody>
      </p:sp>
      <p:sp>
        <p:nvSpPr>
          <p:cNvPr id="3271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272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3273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274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275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276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277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278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279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280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281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2" name="TextBox 14"/>
          <p:cNvSpPr txBox="1"/>
          <p:nvPr/>
        </p:nvSpPr>
        <p:spPr>
          <a:xfrm>
            <a:off x="1517903" y="564642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83" name="TextBox 15"/>
          <p:cNvSpPr txBox="1"/>
          <p:nvPr/>
        </p:nvSpPr>
        <p:spPr>
          <a:xfrm>
            <a:off x="2600095" y="564642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3284" name="TextBox 16"/>
          <p:cNvSpPr txBox="1"/>
          <p:nvPr/>
        </p:nvSpPr>
        <p:spPr>
          <a:xfrm>
            <a:off x="9093250" y="564642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8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8299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8299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87" name="Connector 19"/>
          <p:cNvSpPr/>
          <p:nvPr/>
        </p:nvSpPr>
        <p:spPr>
          <a:xfrm>
            <a:off x="1371600" y="6080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8" name="TextBox 20"/>
          <p:cNvSpPr txBox="1"/>
          <p:nvPr/>
        </p:nvSpPr>
        <p:spPr>
          <a:xfrm>
            <a:off x="1517903" y="61493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89" name="TextBox 21"/>
          <p:cNvSpPr txBox="1"/>
          <p:nvPr/>
        </p:nvSpPr>
        <p:spPr>
          <a:xfrm>
            <a:off x="2600095" y="61493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type/name</a:t>
            </a:r>
          </a:p>
        </p:txBody>
      </p:sp>
      <p:sp>
        <p:nvSpPr>
          <p:cNvPr id="3290" name="TextBox 22"/>
          <p:cNvSpPr txBox="1"/>
          <p:nvPr/>
        </p:nvSpPr>
        <p:spPr>
          <a:xfrm>
            <a:off x="9093250" y="61493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9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18591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18591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93" name="Connector 25"/>
          <p:cNvSpPr/>
          <p:nvPr/>
        </p:nvSpPr>
        <p:spPr>
          <a:xfrm>
            <a:off x="1371600" y="65836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4" name="TextBox 26"/>
          <p:cNvSpPr txBox="1"/>
          <p:nvPr/>
        </p:nvSpPr>
        <p:spPr>
          <a:xfrm>
            <a:off x="1517903" y="6652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95" name="TextBox 27"/>
          <p:cNvSpPr txBox="1"/>
          <p:nvPr/>
        </p:nvSpPr>
        <p:spPr>
          <a:xfrm>
            <a:off x="2600095" y="6652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 per fund</a:t>
            </a:r>
          </a:p>
        </p:txBody>
      </p:sp>
      <p:sp>
        <p:nvSpPr>
          <p:cNvPr id="3296" name="TextBox 28"/>
          <p:cNvSpPr txBox="1"/>
          <p:nvPr/>
        </p:nvSpPr>
        <p:spPr>
          <a:xfrm>
            <a:off x="9093250" y="6652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9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688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688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299" name="Connector 31"/>
          <p:cNvSpPr/>
          <p:nvPr/>
        </p:nvSpPr>
        <p:spPr>
          <a:xfrm>
            <a:off x="1371600" y="70866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0" name="TextBox 32"/>
          <p:cNvSpPr txBox="1"/>
          <p:nvPr/>
        </p:nvSpPr>
        <p:spPr>
          <a:xfrm>
            <a:off x="1517903" y="71551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01" name="TextBox 33"/>
          <p:cNvSpPr txBox="1"/>
          <p:nvPr/>
        </p:nvSpPr>
        <p:spPr>
          <a:xfrm>
            <a:off x="2600095" y="71551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3302" name="TextBox 34"/>
          <p:cNvSpPr txBox="1"/>
          <p:nvPr/>
        </p:nvSpPr>
        <p:spPr>
          <a:xfrm>
            <a:off x="9093250" y="71551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03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917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917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05" name="TextBox 37"/>
          <p:cNvSpPr txBox="1"/>
          <p:nvPr/>
        </p:nvSpPr>
        <p:spPr>
          <a:xfrm>
            <a:off x="14504212" y="715518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position breakdown</a:t>
            </a:r>
          </a:p>
        </p:txBody>
      </p:sp>
      <p:sp>
        <p:nvSpPr>
          <p:cNvPr id="3306" name="Connector 38"/>
          <p:cNvSpPr/>
          <p:nvPr/>
        </p:nvSpPr>
        <p:spPr>
          <a:xfrm>
            <a:off x="1371600" y="7589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7" name="TextBox 39"/>
          <p:cNvSpPr txBox="1"/>
          <p:nvPr/>
        </p:nvSpPr>
        <p:spPr>
          <a:xfrm>
            <a:off x="1517903" y="76581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08" name="TextBox 40"/>
          <p:cNvSpPr txBox="1"/>
          <p:nvPr/>
        </p:nvSpPr>
        <p:spPr>
          <a:xfrm>
            <a:off x="2600095" y="76581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3309" name="TextBox 41"/>
          <p:cNvSpPr txBox="1"/>
          <p:nvPr/>
        </p:nvSpPr>
        <p:spPr>
          <a:xfrm>
            <a:off x="9093250" y="76581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1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946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1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946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12" name="Connector 44"/>
          <p:cNvSpPr/>
          <p:nvPr/>
        </p:nvSpPr>
        <p:spPr>
          <a:xfrm>
            <a:off x="1371600" y="8092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13" name="TextBox 45"/>
          <p:cNvSpPr txBox="1"/>
          <p:nvPr/>
        </p:nvSpPr>
        <p:spPr>
          <a:xfrm>
            <a:off x="1517903" y="81610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314" name="TextBox 46"/>
          <p:cNvSpPr txBox="1"/>
          <p:nvPr/>
        </p:nvSpPr>
        <p:spPr>
          <a:xfrm>
            <a:off x="2600095" y="81610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3315" name="TextBox 47"/>
          <p:cNvSpPr txBox="1"/>
          <p:nvPr/>
        </p:nvSpPr>
        <p:spPr>
          <a:xfrm>
            <a:off x="9093250" y="81610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16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1975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7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1975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18" name="Connector 50"/>
          <p:cNvSpPr/>
          <p:nvPr/>
        </p:nvSpPr>
        <p:spPr>
          <a:xfrm>
            <a:off x="1371600" y="85953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19" name="TextBox 51"/>
          <p:cNvSpPr txBox="1"/>
          <p:nvPr/>
        </p:nvSpPr>
        <p:spPr>
          <a:xfrm>
            <a:off x="1517903" y="86639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320" name="TextBox 52"/>
          <p:cNvSpPr txBox="1"/>
          <p:nvPr/>
        </p:nvSpPr>
        <p:spPr>
          <a:xfrm>
            <a:off x="2600095" y="86639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</a:t>
            </a:r>
          </a:p>
        </p:txBody>
      </p:sp>
      <p:sp>
        <p:nvSpPr>
          <p:cNvPr id="3321" name="TextBox 53"/>
          <p:cNvSpPr txBox="1"/>
          <p:nvPr/>
        </p:nvSpPr>
        <p:spPr>
          <a:xfrm>
            <a:off x="9093250" y="86639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22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005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3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005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24" name="Connector 56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25" name="TextBox 57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326" name="TextBox 58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3327" name="TextBox 59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28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9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30" name="Connector 62"/>
          <p:cNvSpPr/>
          <p:nvPr/>
        </p:nvSpPr>
        <p:spPr>
          <a:xfrm>
            <a:off x="1371600" y="96012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31" name="TextBox 63"/>
          <p:cNvSpPr txBox="1"/>
          <p:nvPr/>
        </p:nvSpPr>
        <p:spPr>
          <a:xfrm>
            <a:off x="1517903" y="96697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332" name="TextBox 64"/>
          <p:cNvSpPr txBox="1"/>
          <p:nvPr/>
        </p:nvSpPr>
        <p:spPr>
          <a:xfrm>
            <a:off x="2600095" y="96697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indicator</a:t>
            </a:r>
          </a:p>
        </p:txBody>
      </p:sp>
      <p:sp>
        <p:nvSpPr>
          <p:cNvPr id="3333" name="TextBox 65"/>
          <p:cNvSpPr txBox="1"/>
          <p:nvPr/>
        </p:nvSpPr>
        <p:spPr>
          <a:xfrm>
            <a:off x="9093250" y="96697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34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7063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5" name="Picture 67" descr="Picture 6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7063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36" name="TextBox 68"/>
          <p:cNvSpPr txBox="1"/>
          <p:nvPr/>
        </p:nvSpPr>
        <p:spPr>
          <a:xfrm>
            <a:off x="14504212" y="966978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Rights lifecycle tracking</a:t>
            </a:r>
          </a:p>
        </p:txBody>
      </p:sp>
      <p:sp>
        <p:nvSpPr>
          <p:cNvPr id="3337" name="Connector 69"/>
          <p:cNvSpPr/>
          <p:nvPr/>
        </p:nvSpPr>
        <p:spPr>
          <a:xfrm>
            <a:off x="1371600" y="101041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38" name="TextBox 70"/>
          <p:cNvSpPr txBox="1"/>
          <p:nvPr/>
        </p:nvSpPr>
        <p:spPr>
          <a:xfrm>
            <a:off x="1517903" y="101727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339" name="TextBox 71"/>
          <p:cNvSpPr txBox="1"/>
          <p:nvPr/>
        </p:nvSpPr>
        <p:spPr>
          <a:xfrm>
            <a:off x="2600095" y="101727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3340" name="TextBox 72"/>
          <p:cNvSpPr txBox="1"/>
          <p:nvPr/>
        </p:nvSpPr>
        <p:spPr>
          <a:xfrm>
            <a:off x="9093250" y="101727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41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2092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2" name="Picture 74" descr="Picture 7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2092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43" name="Connector 75"/>
          <p:cNvSpPr/>
          <p:nvPr/>
        </p:nvSpPr>
        <p:spPr>
          <a:xfrm>
            <a:off x="1371600" y="10607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44" name="TextBox 76"/>
          <p:cNvSpPr txBox="1"/>
          <p:nvPr/>
        </p:nvSpPr>
        <p:spPr>
          <a:xfrm>
            <a:off x="1517903" y="106756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345" name="TextBox 77"/>
          <p:cNvSpPr txBox="1"/>
          <p:nvPr/>
        </p:nvSpPr>
        <p:spPr>
          <a:xfrm>
            <a:off x="2600095" y="106756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(Subscribe) from position</a:t>
            </a:r>
          </a:p>
        </p:txBody>
      </p:sp>
      <p:sp>
        <p:nvSpPr>
          <p:cNvPr id="3346" name="TextBox 78"/>
          <p:cNvSpPr txBox="1"/>
          <p:nvPr/>
        </p:nvSpPr>
        <p:spPr>
          <a:xfrm>
            <a:off x="9093250" y="106756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347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7121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8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7121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49" name="Connector 81"/>
          <p:cNvSpPr/>
          <p:nvPr/>
        </p:nvSpPr>
        <p:spPr>
          <a:xfrm>
            <a:off x="1371600" y="11109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50" name="TextBox 82"/>
          <p:cNvSpPr txBox="1"/>
          <p:nvPr/>
        </p:nvSpPr>
        <p:spPr>
          <a:xfrm>
            <a:off x="1517903" y="111785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351" name="TextBox 83"/>
          <p:cNvSpPr txBox="1"/>
          <p:nvPr/>
        </p:nvSpPr>
        <p:spPr>
          <a:xfrm>
            <a:off x="2600095" y="111785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(Redeem) from position</a:t>
            </a:r>
          </a:p>
        </p:txBody>
      </p:sp>
      <p:sp>
        <p:nvSpPr>
          <p:cNvPr id="3352" name="TextBox 84"/>
          <p:cNvSpPr txBox="1"/>
          <p:nvPr/>
        </p:nvSpPr>
        <p:spPr>
          <a:xfrm>
            <a:off x="9093250" y="111785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353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151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4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151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55" name="Connector 87"/>
          <p:cNvSpPr/>
          <p:nvPr/>
        </p:nvSpPr>
        <p:spPr>
          <a:xfrm>
            <a:off x="1371600" y="116128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56" name="TextBox 88"/>
          <p:cNvSpPr txBox="1"/>
          <p:nvPr/>
        </p:nvSpPr>
        <p:spPr>
          <a:xfrm>
            <a:off x="1517903" y="11681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357" name="TextBox 89"/>
          <p:cNvSpPr txBox="1"/>
          <p:nvPr/>
        </p:nvSpPr>
        <p:spPr>
          <a:xfrm>
            <a:off x="2600095" y="11681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Reinvest dividends</a:t>
            </a:r>
          </a:p>
        </p:txBody>
      </p:sp>
      <p:sp>
        <p:nvSpPr>
          <p:cNvPr id="3358" name="TextBox 90"/>
          <p:cNvSpPr txBox="1"/>
          <p:nvPr/>
        </p:nvSpPr>
        <p:spPr>
          <a:xfrm>
            <a:off x="9093250" y="11681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359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18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0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18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61" name="Connector 93"/>
          <p:cNvSpPr/>
          <p:nvPr/>
        </p:nvSpPr>
        <p:spPr>
          <a:xfrm>
            <a:off x="1371600" y="12115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62" name="TextBox 94"/>
          <p:cNvSpPr txBox="1"/>
          <p:nvPr/>
        </p:nvSpPr>
        <p:spPr>
          <a:xfrm>
            <a:off x="1517903" y="121843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363" name="TextBox 95"/>
          <p:cNvSpPr txBox="1"/>
          <p:nvPr/>
        </p:nvSpPr>
        <p:spPr>
          <a:xfrm>
            <a:off x="2600095" y="121843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3364" name="TextBox 96"/>
          <p:cNvSpPr txBox="1"/>
          <p:nvPr/>
        </p:nvSpPr>
        <p:spPr>
          <a:xfrm>
            <a:off x="9093250" y="121843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365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209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6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209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67" name="Connector 99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370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043 / 111</a:t>
            </a:r>
          </a:p>
        </p:txBody>
      </p:sp>
      <p:sp>
        <p:nvSpPr>
          <p:cNvPr id="3371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372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3373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374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375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376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377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378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379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380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381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2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83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3384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8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87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8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89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3390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9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393" name="TextBox 25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quantity breakdown</a:t>
            </a:r>
          </a:p>
        </p:txBody>
      </p:sp>
      <p:sp>
        <p:nvSpPr>
          <p:cNvPr id="3394" name="Connector 26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95" name="TextBox 27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96" name="TextBox 28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3397" name="TextBox 29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9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9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00" name="Connector 32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1" name="TextBox 33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02" name="TextBox 34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3403" name="TextBox 35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0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05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06" name="TextBox 38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3407" name="Connector 3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8" name="TextBox 4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09" name="TextBox 4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3410" name="TextBox 4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11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2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13" name="Connector 45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14" name="TextBox 46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415" name="TextBox 47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3416" name="TextBox 48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17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8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19" name="Connector 51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0" name="TextBox 52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21" name="TextBox 53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3422" name="TextBox 54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23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4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25" name="Connector 57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6" name="TextBox 58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427" name="TextBox 59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3428" name="TextBox 60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429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0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31" name="Connector 63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43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044 / 111</a:t>
            </a:r>
          </a:p>
        </p:txBody>
      </p:sp>
      <p:sp>
        <p:nvSpPr>
          <p:cNvPr id="343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43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343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43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43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44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44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44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44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44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44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46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47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3448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4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5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51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2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53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3454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5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5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57" name="TextBox 25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3458" name="Connector 26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9" name="TextBox 27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60" name="TextBox 28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3461" name="TextBox 29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6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3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64" name="Connector 32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65" name="TextBox 33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66" name="TextBox 34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3467" name="TextBox 35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6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9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70" name="TextBox 38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3471" name="Connector 3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72" name="TextBox 4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73" name="TextBox 4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3474" name="TextBox 4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7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6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77" name="Connector 45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78" name="TextBox 46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479" name="TextBox 47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3480" name="TextBox 48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81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2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83" name="Connector 51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84" name="TextBox 52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85" name="TextBox 53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3486" name="TextBox 54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487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8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489" name="Connector 57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49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045 / 111</a:t>
            </a:r>
          </a:p>
        </p:txBody>
      </p:sp>
      <p:sp>
        <p:nvSpPr>
          <p:cNvPr id="349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49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349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49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49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49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49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50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50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50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50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04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05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3506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0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0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09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10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11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3512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1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15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16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17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3518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1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21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2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23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</a:t>
            </a:r>
          </a:p>
        </p:txBody>
      </p:sp>
      <p:sp>
        <p:nvSpPr>
          <p:cNvPr id="3524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2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27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8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29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price/amount visibility</a:t>
            </a:r>
          </a:p>
        </p:txBody>
      </p:sp>
      <p:sp>
        <p:nvSpPr>
          <p:cNvPr id="3530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31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33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34" name="TextBox 4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535" name="TextBox 4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 order</a:t>
            </a:r>
          </a:p>
        </p:txBody>
      </p:sp>
      <p:sp>
        <p:nvSpPr>
          <p:cNvPr id="3536" name="TextBox 4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537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39" name="Connector 4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40" name="TextBox 50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541" name="TextBox 51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Cancel order</a:t>
            </a:r>
          </a:p>
        </p:txBody>
      </p:sp>
      <p:sp>
        <p:nvSpPr>
          <p:cNvPr id="3542" name="TextBox 52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543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44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45" name="Connector 5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46" name="TextBox 56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547" name="TextBox 57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3548" name="TextBox 58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549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50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51" name="Connector 61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52" name="TextBox 62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553" name="TextBox 63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3554" name="TextBox 64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555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56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57" name="Connector 67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560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046 / 111</a:t>
            </a:r>
          </a:p>
        </p:txBody>
      </p:sp>
      <p:sp>
        <p:nvSpPr>
          <p:cNvPr id="3561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562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3563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564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565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566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567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568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569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570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571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2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73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3574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7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77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8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79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3580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8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8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83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84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85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3586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8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8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89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90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91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3592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93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595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96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97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3598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99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01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02" name="TextBox 4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603" name="TextBox 4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3604" name="TextBox 4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605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6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07" name="Connector 4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08" name="TextBox 50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609" name="TextBox 51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3610" name="TextBox 52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611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2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13" name="Connector 5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61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047 / 111</a:t>
            </a:r>
          </a:p>
        </p:txBody>
      </p:sp>
      <p:sp>
        <p:nvSpPr>
          <p:cNvPr id="361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618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3619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620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621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622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623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624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625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626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62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28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29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3630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3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33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34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35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</a:t>
            </a:r>
          </a:p>
        </p:txBody>
      </p:sp>
      <p:sp>
        <p:nvSpPr>
          <p:cNvPr id="3636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3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39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40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41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</a:t>
            </a:r>
          </a:p>
        </p:txBody>
      </p:sp>
      <p:sp>
        <p:nvSpPr>
          <p:cNvPr id="3642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4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45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46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647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(All Time)</a:t>
            </a:r>
          </a:p>
        </p:txBody>
      </p:sp>
      <p:sp>
        <p:nvSpPr>
          <p:cNvPr id="3648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49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0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51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52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653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list Report (1 year)</a:t>
            </a:r>
          </a:p>
        </p:txBody>
      </p:sp>
      <p:sp>
        <p:nvSpPr>
          <p:cNvPr id="3654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55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6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57" name="TextBox 43"/>
          <p:cNvSpPr txBox="1"/>
          <p:nvPr/>
        </p:nvSpPr>
        <p:spPr>
          <a:xfrm>
            <a:off x="14504212" y="84810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year only limited time</a:t>
            </a:r>
          </a:p>
        </p:txBody>
      </p:sp>
      <p:sp>
        <p:nvSpPr>
          <p:cNvPr id="3658" name="Connector 44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59" name="TextBox 45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660" name="TextBox 46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report</a:t>
            </a:r>
          </a:p>
        </p:txBody>
      </p:sp>
      <p:sp>
        <p:nvSpPr>
          <p:cNvPr id="3661" name="TextBox 47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6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63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64" name="Connector 50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65" name="TextBox 51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666" name="TextBox 52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3667" name="TextBox 53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668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69" name="Picture 55" descr="Picture 5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70" name="Connector 56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71" name="TextBox 57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672" name="TextBox 58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3673" name="TextBox 59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674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5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76" name="Connector 62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77" name="TextBox 63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678" name="TextBox 64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3679" name="TextBox 65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680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1" name="Picture 67" descr="Picture 6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682" name="TextBox 68"/>
          <p:cNvSpPr txBox="1"/>
          <p:nvPr/>
        </p:nvSpPr>
        <p:spPr>
          <a:xfrm>
            <a:off x="14504212" y="11224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3683" name="Connector 69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68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048 / 111</a:t>
            </a:r>
          </a:p>
        </p:txBody>
      </p:sp>
      <p:sp>
        <p:nvSpPr>
          <p:cNvPr id="368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688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3689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690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691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692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693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694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695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696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69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98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99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list view</a:t>
            </a:r>
          </a:p>
        </p:txBody>
      </p:sp>
      <p:sp>
        <p:nvSpPr>
          <p:cNvPr id="3700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0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03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4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05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Name</a:t>
            </a:r>
          </a:p>
        </p:txBody>
      </p:sp>
      <p:sp>
        <p:nvSpPr>
          <p:cNvPr id="3706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0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09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0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11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 (Growth/Dividend/Smart/Saving/Endowment)</a:t>
            </a:r>
          </a:p>
        </p:txBody>
      </p:sp>
      <p:sp>
        <p:nvSpPr>
          <p:cNvPr id="3712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1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15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6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17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Assets (Equity/Multi-assets/Money Market/Sukuk)</a:t>
            </a:r>
          </a:p>
        </p:txBody>
      </p:sp>
      <p:sp>
        <p:nvSpPr>
          <p:cNvPr id="3718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19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21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22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23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Risk (High/Medium/Low)</a:t>
            </a:r>
          </a:p>
        </p:txBody>
      </p:sp>
      <p:sp>
        <p:nvSpPr>
          <p:cNvPr id="3724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25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27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28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729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last unit Price</a:t>
            </a:r>
          </a:p>
        </p:txBody>
      </p:sp>
      <p:sp>
        <p:nvSpPr>
          <p:cNvPr id="3730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3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33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4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735" name="TextBox 51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YTD %</a:t>
            </a:r>
          </a:p>
        </p:txBody>
      </p:sp>
      <p:sp>
        <p:nvSpPr>
          <p:cNvPr id="3736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3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8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39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40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741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since inception</a:t>
            </a:r>
          </a:p>
        </p:txBody>
      </p:sp>
      <p:sp>
        <p:nvSpPr>
          <p:cNvPr id="3742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43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4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45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46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747" name="TextBox 63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Inception Date</a:t>
            </a:r>
          </a:p>
        </p:txBody>
      </p:sp>
      <p:sp>
        <p:nvSpPr>
          <p:cNvPr id="3748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49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0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51" name="Connector 67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2" name="TextBox 68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753" name="TextBox 69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Min.Subscription</a:t>
            </a:r>
          </a:p>
        </p:txBody>
      </p:sp>
      <p:sp>
        <p:nvSpPr>
          <p:cNvPr id="3754" name="TextBox 70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55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6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57" name="Connector 73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8" name="TextBox 74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759" name="TextBox 75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yield %</a:t>
            </a:r>
          </a:p>
        </p:txBody>
      </p:sp>
      <p:sp>
        <p:nvSpPr>
          <p:cNvPr id="3760" name="TextBox 76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61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2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63" name="Connector 79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64" name="TextBox 80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765" name="TextBox 81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frequency</a:t>
            </a:r>
          </a:p>
        </p:txBody>
      </p:sp>
      <p:sp>
        <p:nvSpPr>
          <p:cNvPr id="3766" name="TextBox 82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67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8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69" name="Connector 85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0" name="TextBox 86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771" name="TextBox 87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Annualized %</a:t>
            </a:r>
          </a:p>
        </p:txBody>
      </p:sp>
      <p:sp>
        <p:nvSpPr>
          <p:cNvPr id="3772" name="TextBox 88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73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4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75" name="Connector 91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6" name="TextBox 92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777" name="TextBox 93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Recommender</a:t>
            </a:r>
          </a:p>
        </p:txBody>
      </p:sp>
      <p:sp>
        <p:nvSpPr>
          <p:cNvPr id="3778" name="TextBox 94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79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0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81" name="TextBox 97"/>
          <p:cNvSpPr txBox="1"/>
          <p:nvPr/>
        </p:nvSpPr>
        <p:spPr>
          <a:xfrm>
            <a:off x="18832982" y="11320271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ARCD-72386</a:t>
            </a:r>
          </a:p>
        </p:txBody>
      </p:sp>
      <p:sp>
        <p:nvSpPr>
          <p:cNvPr id="3782" name="Connector 98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3" name="TextBox 99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784" name="TextBox 100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comparison</a:t>
            </a:r>
          </a:p>
        </p:txBody>
      </p:sp>
      <p:sp>
        <p:nvSpPr>
          <p:cNvPr id="3785" name="TextBox 101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86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7" name="Picture 103" descr="Pictur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88" name="Connector 104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9" name="TextBox 105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790" name="TextBox 106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display preferences</a:t>
            </a:r>
          </a:p>
        </p:txBody>
      </p:sp>
      <p:sp>
        <p:nvSpPr>
          <p:cNvPr id="3791" name="TextBox 107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792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3" name="Picture 109" descr="Picture 10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794" name="Connector 110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5" name="TextBox 111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796" name="TextBox 112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Fliter (Growth/Dividend/Smart/Saving/Endowment)</a:t>
            </a:r>
          </a:p>
        </p:txBody>
      </p:sp>
      <p:sp>
        <p:nvSpPr>
          <p:cNvPr id="3797" name="TextBox 113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798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9" name="Picture 115" descr="Picture 1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00" name="Connector 116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1" name="TextBox 117"/>
          <p:cNvSpPr txBox="1"/>
          <p:nvPr/>
        </p:nvSpPr>
        <p:spPr>
          <a:xfrm>
            <a:off x="1517903" y="130759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802" name="TextBox 118"/>
          <p:cNvSpPr txBox="1"/>
          <p:nvPr/>
        </p:nvSpPr>
        <p:spPr>
          <a:xfrm>
            <a:off x="2600095" y="130759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sort by (Performance/Price/Risk)</a:t>
            </a:r>
          </a:p>
        </p:txBody>
      </p:sp>
      <p:sp>
        <p:nvSpPr>
          <p:cNvPr id="3803" name="TextBox 119"/>
          <p:cNvSpPr txBox="1"/>
          <p:nvPr/>
        </p:nvSpPr>
        <p:spPr>
          <a:xfrm>
            <a:off x="9093250" y="130759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804" name="Picture 120" descr="Picture 1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31124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5" name="Picture 121" descr="Picture 1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31124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06" name="Connector 122"/>
          <p:cNvSpPr/>
          <p:nvPr/>
        </p:nvSpPr>
        <p:spPr>
          <a:xfrm>
            <a:off x="1371600" y="1347825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80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049 / 111</a:t>
            </a:r>
          </a:p>
        </p:txBody>
      </p:sp>
      <p:sp>
        <p:nvSpPr>
          <p:cNvPr id="381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81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 Details</a:t>
            </a:r>
          </a:p>
        </p:txBody>
      </p:sp>
      <p:sp>
        <p:nvSpPr>
          <p:cNvPr id="381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81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81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81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81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81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81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81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82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1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22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name</a:t>
            </a:r>
          </a:p>
        </p:txBody>
      </p:sp>
      <p:sp>
        <p:nvSpPr>
          <p:cNvPr id="3823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2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26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7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28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</a:t>
            </a:r>
          </a:p>
        </p:txBody>
      </p:sp>
      <p:sp>
        <p:nvSpPr>
          <p:cNvPr id="3829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30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32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3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834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Assets type</a:t>
            </a:r>
          </a:p>
        </p:txBody>
      </p:sp>
      <p:sp>
        <p:nvSpPr>
          <p:cNvPr id="3835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36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38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9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840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chart (1W / 1M / 3M / 6M / 1Y / 5Y)</a:t>
            </a:r>
          </a:p>
        </p:txBody>
      </p:sp>
      <p:sp>
        <p:nvSpPr>
          <p:cNvPr id="3841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4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44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5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46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holding</a:t>
            </a:r>
          </a:p>
        </p:txBody>
      </p:sp>
      <p:sp>
        <p:nvSpPr>
          <p:cNvPr id="3847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48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9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50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1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852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Subscription Fees</a:t>
            </a:r>
          </a:p>
        </p:txBody>
      </p:sp>
      <p:sp>
        <p:nvSpPr>
          <p:cNvPr id="3853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54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56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7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858" name="TextBox 51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Inception price</a:t>
            </a:r>
          </a:p>
        </p:txBody>
      </p:sp>
      <p:sp>
        <p:nvSpPr>
          <p:cNvPr id="3859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60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62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3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864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Inception date</a:t>
            </a:r>
          </a:p>
        </p:txBody>
      </p:sp>
      <p:sp>
        <p:nvSpPr>
          <p:cNvPr id="3865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66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7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68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9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870" name="TextBox 63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since inception</a:t>
            </a:r>
          </a:p>
        </p:txBody>
      </p:sp>
      <p:sp>
        <p:nvSpPr>
          <p:cNvPr id="3871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72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3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74" name="Connector 67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75" name="TextBox 68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876" name="TextBox 69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additional subscription fee</a:t>
            </a:r>
          </a:p>
        </p:txBody>
      </p:sp>
      <p:sp>
        <p:nvSpPr>
          <p:cNvPr id="3877" name="TextBox 70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78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9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80" name="Connector 73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81" name="TextBox 74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882" name="TextBox 75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redemption</a:t>
            </a:r>
          </a:p>
        </p:txBody>
      </p:sp>
      <p:sp>
        <p:nvSpPr>
          <p:cNvPr id="3883" name="TextBox 76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84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5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86" name="Connector 79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87" name="TextBox 80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888" name="TextBox 81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Divided YTD</a:t>
            </a:r>
          </a:p>
        </p:txBody>
      </p:sp>
      <p:sp>
        <p:nvSpPr>
          <p:cNvPr id="3889" name="TextBox 82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90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1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92" name="Connector 85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3" name="TextBox 86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894" name="TextBox 87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Divided Yield</a:t>
            </a:r>
          </a:p>
        </p:txBody>
      </p:sp>
      <p:sp>
        <p:nvSpPr>
          <p:cNvPr id="3895" name="TextBox 88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96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7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898" name="Connector 91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9" name="TextBox 92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900" name="TextBox 93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Frequency</a:t>
            </a:r>
          </a:p>
        </p:txBody>
      </p:sp>
      <p:sp>
        <p:nvSpPr>
          <p:cNvPr id="3901" name="TextBox 94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02" name="Picture 95" descr="Picture 9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3" name="Picture 96" descr="Pictur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04" name="Connector 97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05" name="TextBox 98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906" name="TextBox 99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currency</a:t>
            </a:r>
          </a:p>
        </p:txBody>
      </p:sp>
      <p:sp>
        <p:nvSpPr>
          <p:cNvPr id="3907" name="TextBox 100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08" name="Picture 101" descr="Picture 10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9" name="Picture 102" descr="Picture 10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10" name="Connector 103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1" name="TextBox 104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912" name="TextBox 105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Redemption fees</a:t>
            </a:r>
          </a:p>
        </p:txBody>
      </p:sp>
      <p:sp>
        <p:nvSpPr>
          <p:cNvPr id="3913" name="TextBox 106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14" name="Picture 107" descr="Picture 10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5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16" name="Connector 109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7" name="TextBox 110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918" name="TextBox 111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subscription fees</a:t>
            </a:r>
          </a:p>
        </p:txBody>
      </p:sp>
      <p:sp>
        <p:nvSpPr>
          <p:cNvPr id="3919" name="TextBox 112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20" name="Picture 113" descr="Picture 1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1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22" name="Connector 115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392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050 / 111</a:t>
            </a:r>
          </a:p>
        </p:txBody>
      </p:sp>
      <p:sp>
        <p:nvSpPr>
          <p:cNvPr id="392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92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392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92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93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93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93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93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93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93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93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7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38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health score</a:t>
            </a:r>
          </a:p>
        </p:txBody>
      </p:sp>
      <p:sp>
        <p:nvSpPr>
          <p:cNvPr id="393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4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42" name="TextBox 19"/>
          <p:cNvSpPr txBox="1"/>
          <p:nvPr/>
        </p:nvSpPr>
        <p:spPr>
          <a:xfrm>
            <a:off x="18832982" y="5665763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43" name="Connector 20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4" name="TextBox 21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45" name="TextBox 22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concentration analysis</a:t>
            </a:r>
          </a:p>
        </p:txBody>
      </p:sp>
      <p:sp>
        <p:nvSpPr>
          <p:cNvPr id="3946" name="TextBox 23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4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8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49" name="TextBox 26"/>
          <p:cNvSpPr txBox="1"/>
          <p:nvPr/>
        </p:nvSpPr>
        <p:spPr>
          <a:xfrm>
            <a:off x="18832982" y="620736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50" name="Connector 27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1" name="TextBox 28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52" name="TextBox 29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Diversification score</a:t>
            </a:r>
          </a:p>
        </p:txBody>
      </p:sp>
      <p:sp>
        <p:nvSpPr>
          <p:cNvPr id="3953" name="TextBox 30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5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5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56" name="TextBox 33"/>
          <p:cNvSpPr txBox="1"/>
          <p:nvPr/>
        </p:nvSpPr>
        <p:spPr>
          <a:xfrm>
            <a:off x="18832982" y="6748974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57" name="Connector 34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8" name="TextBox 35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959" name="TextBox 36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vs benchmark</a:t>
            </a:r>
          </a:p>
        </p:txBody>
      </p:sp>
      <p:sp>
        <p:nvSpPr>
          <p:cNvPr id="3960" name="TextBox 37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61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2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63" name="TextBox 40"/>
          <p:cNvSpPr txBox="1"/>
          <p:nvPr/>
        </p:nvSpPr>
        <p:spPr>
          <a:xfrm>
            <a:off x="18832982" y="7290581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64" name="Connector 41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5" name="TextBox 42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966" name="TextBox 43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volatility analysis</a:t>
            </a:r>
          </a:p>
        </p:txBody>
      </p:sp>
      <p:sp>
        <p:nvSpPr>
          <p:cNvPr id="3967" name="TextBox 4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68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9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70" name="TextBox 47"/>
          <p:cNvSpPr txBox="1"/>
          <p:nvPr/>
        </p:nvSpPr>
        <p:spPr>
          <a:xfrm>
            <a:off x="18832982" y="7832187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71" name="Connector 48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2" name="TextBox 49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973" name="TextBox 50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diagnostics summary</a:t>
            </a:r>
          </a:p>
        </p:txBody>
      </p:sp>
      <p:sp>
        <p:nvSpPr>
          <p:cNvPr id="3974" name="TextBox 51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75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77" name="TextBox 54"/>
          <p:cNvSpPr txBox="1"/>
          <p:nvPr/>
        </p:nvSpPr>
        <p:spPr>
          <a:xfrm>
            <a:off x="18832982" y="8373792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78" name="Connector 55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9" name="TextBox 56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980" name="TextBox 57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Peer portfolio comparison</a:t>
            </a:r>
          </a:p>
        </p:txBody>
      </p:sp>
      <p:sp>
        <p:nvSpPr>
          <p:cNvPr id="3981" name="TextBox 58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8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84" name="TextBox 61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985" name="Connector 62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6" name="TextBox 63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987" name="TextBox 64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3988" name="TextBox 65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8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0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91" name="TextBox 68"/>
          <p:cNvSpPr txBox="1"/>
          <p:nvPr/>
        </p:nvSpPr>
        <p:spPr>
          <a:xfrm>
            <a:off x="18832982" y="9457005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992" name="Connector 69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3" name="TextBox 70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994" name="TextBox 71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risk exposure</a:t>
            </a:r>
          </a:p>
        </p:txBody>
      </p:sp>
      <p:sp>
        <p:nvSpPr>
          <p:cNvPr id="3995" name="TextBox 72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96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7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998" name="Connector 75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9" name="TextBox 76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000" name="TextBox 77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attribution</a:t>
            </a:r>
          </a:p>
        </p:txBody>
      </p:sp>
      <p:sp>
        <p:nvSpPr>
          <p:cNvPr id="4001" name="TextBox 78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02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03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04" name="TextBox 81"/>
          <p:cNvSpPr txBox="1"/>
          <p:nvPr/>
        </p:nvSpPr>
        <p:spPr>
          <a:xfrm>
            <a:off x="18832982" y="10540217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05" name="Connector 82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6" name="TextBox 83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007" name="TextBox 84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recommendations / insights</a:t>
            </a:r>
          </a:p>
        </p:txBody>
      </p:sp>
      <p:sp>
        <p:nvSpPr>
          <p:cNvPr id="4008" name="TextBox 85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09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11" name="Connector 88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2" name="TextBox 89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013" name="TextBox 90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rebalance suggestion</a:t>
            </a:r>
          </a:p>
        </p:txBody>
      </p:sp>
      <p:sp>
        <p:nvSpPr>
          <p:cNvPr id="4014" name="TextBox 9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015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6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17" name="Connector 94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8" name="TextBox 95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019" name="TextBox 96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preference settings</a:t>
            </a:r>
          </a:p>
        </p:txBody>
      </p:sp>
      <p:sp>
        <p:nvSpPr>
          <p:cNvPr id="4020" name="TextBox 97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021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2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23" name="Connector 100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02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051 / 111</a:t>
            </a:r>
          </a:p>
        </p:txBody>
      </p:sp>
      <p:sp>
        <p:nvSpPr>
          <p:cNvPr id="402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028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4029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030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031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032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033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034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035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036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03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8" name="TextBox 14"/>
          <p:cNvSpPr txBox="1"/>
          <p:nvPr/>
        </p:nvSpPr>
        <p:spPr>
          <a:xfrm>
            <a:off x="1517903" y="57150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39" name="TextBox 15"/>
          <p:cNvSpPr txBox="1"/>
          <p:nvPr/>
        </p:nvSpPr>
        <p:spPr>
          <a:xfrm>
            <a:off x="2600095" y="57150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4040" name="TextBox 16"/>
          <p:cNvSpPr txBox="1"/>
          <p:nvPr/>
        </p:nvSpPr>
        <p:spPr>
          <a:xfrm>
            <a:off x="9093250" y="57150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4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43" name="Connector 19"/>
          <p:cNvSpPr/>
          <p:nvPr/>
        </p:nvSpPr>
        <p:spPr>
          <a:xfrm>
            <a:off x="1371600" y="621792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4" name="TextBox 20"/>
          <p:cNvSpPr txBox="1"/>
          <p:nvPr/>
        </p:nvSpPr>
        <p:spPr>
          <a:xfrm>
            <a:off x="1517903" y="635507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045" name="TextBox 21"/>
          <p:cNvSpPr txBox="1"/>
          <p:nvPr/>
        </p:nvSpPr>
        <p:spPr>
          <a:xfrm>
            <a:off x="2600095" y="635507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gainers / losers analysis</a:t>
            </a:r>
          </a:p>
        </p:txBody>
      </p:sp>
      <p:sp>
        <p:nvSpPr>
          <p:cNvPr id="4046" name="TextBox 22"/>
          <p:cNvSpPr txBox="1"/>
          <p:nvPr/>
        </p:nvSpPr>
        <p:spPr>
          <a:xfrm>
            <a:off x="9093250" y="635507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4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49" name="TextBox 25"/>
          <p:cNvSpPr txBox="1"/>
          <p:nvPr/>
        </p:nvSpPr>
        <p:spPr>
          <a:xfrm>
            <a:off x="18832982" y="635507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50" name="Connector 26"/>
          <p:cNvSpPr/>
          <p:nvPr/>
        </p:nvSpPr>
        <p:spPr>
          <a:xfrm>
            <a:off x="1371600" y="68580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1" name="TextBox 27"/>
          <p:cNvSpPr txBox="1"/>
          <p:nvPr/>
        </p:nvSpPr>
        <p:spPr>
          <a:xfrm>
            <a:off x="1517903" y="69951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52" name="TextBox 28"/>
          <p:cNvSpPr txBox="1"/>
          <p:nvPr/>
        </p:nvSpPr>
        <p:spPr>
          <a:xfrm>
            <a:off x="2600095" y="69951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gain analysis</a:t>
            </a:r>
          </a:p>
        </p:txBody>
      </p:sp>
      <p:sp>
        <p:nvSpPr>
          <p:cNvPr id="4053" name="TextBox 29"/>
          <p:cNvSpPr txBox="1"/>
          <p:nvPr/>
        </p:nvSpPr>
        <p:spPr>
          <a:xfrm>
            <a:off x="9093250" y="69951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5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5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56" name="Connector 32"/>
          <p:cNvSpPr/>
          <p:nvPr/>
        </p:nvSpPr>
        <p:spPr>
          <a:xfrm>
            <a:off x="1371600" y="74980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7" name="TextBox 33"/>
          <p:cNvSpPr txBox="1"/>
          <p:nvPr/>
        </p:nvSpPr>
        <p:spPr>
          <a:xfrm>
            <a:off x="1517903" y="7635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058" name="TextBox 34"/>
          <p:cNvSpPr txBox="1"/>
          <p:nvPr/>
        </p:nvSpPr>
        <p:spPr>
          <a:xfrm>
            <a:off x="2600095" y="7635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4059" name="TextBox 35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6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1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62" name="Connector 38"/>
          <p:cNvSpPr/>
          <p:nvPr/>
        </p:nvSpPr>
        <p:spPr>
          <a:xfrm>
            <a:off x="1371600" y="81381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3" name="TextBox 39"/>
          <p:cNvSpPr txBox="1"/>
          <p:nvPr/>
        </p:nvSpPr>
        <p:spPr>
          <a:xfrm>
            <a:off x="1517903" y="82753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064" name="TextBox 40"/>
          <p:cNvSpPr txBox="1"/>
          <p:nvPr/>
        </p:nvSpPr>
        <p:spPr>
          <a:xfrm>
            <a:off x="2600095" y="82753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exposure analysis</a:t>
            </a:r>
          </a:p>
        </p:txBody>
      </p:sp>
      <p:sp>
        <p:nvSpPr>
          <p:cNvPr id="4065" name="TextBox 41"/>
          <p:cNvSpPr txBox="1"/>
          <p:nvPr/>
        </p:nvSpPr>
        <p:spPr>
          <a:xfrm>
            <a:off x="9093250" y="82753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6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7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68" name="TextBox 44"/>
          <p:cNvSpPr txBox="1"/>
          <p:nvPr/>
        </p:nvSpPr>
        <p:spPr>
          <a:xfrm>
            <a:off x="18832982" y="827531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4069" name="Connector 45"/>
          <p:cNvSpPr/>
          <p:nvPr/>
        </p:nvSpPr>
        <p:spPr>
          <a:xfrm>
            <a:off x="1371600" y="8778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0" name="TextBox 46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071" name="TextBox 47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period analysis</a:t>
            </a:r>
          </a:p>
        </p:txBody>
      </p:sp>
      <p:sp>
        <p:nvSpPr>
          <p:cNvPr id="4072" name="TextBox 48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73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4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75" name="TextBox 51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76" name="Connector 52"/>
          <p:cNvSpPr/>
          <p:nvPr/>
        </p:nvSpPr>
        <p:spPr>
          <a:xfrm>
            <a:off x="1371600" y="9418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7" name="TextBox 53"/>
          <p:cNvSpPr txBox="1"/>
          <p:nvPr/>
        </p:nvSpPr>
        <p:spPr>
          <a:xfrm>
            <a:off x="1517903" y="95554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078" name="TextBox 54"/>
          <p:cNvSpPr txBox="1"/>
          <p:nvPr/>
        </p:nvSpPr>
        <p:spPr>
          <a:xfrm>
            <a:off x="2600095" y="95554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trend analysis</a:t>
            </a:r>
          </a:p>
        </p:txBody>
      </p:sp>
      <p:sp>
        <p:nvSpPr>
          <p:cNvPr id="4079" name="TextBox 55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80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1" name="Picture 57" descr="Picture 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82" name="Connector 58"/>
          <p:cNvSpPr/>
          <p:nvPr/>
        </p:nvSpPr>
        <p:spPr>
          <a:xfrm>
            <a:off x="1371600" y="10058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83" name="TextBox 59"/>
          <p:cNvSpPr txBox="1"/>
          <p:nvPr/>
        </p:nvSpPr>
        <p:spPr>
          <a:xfrm>
            <a:off x="1517903" y="101955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084" name="TextBox 60"/>
          <p:cNvSpPr txBox="1"/>
          <p:nvPr/>
        </p:nvSpPr>
        <p:spPr>
          <a:xfrm>
            <a:off x="2600095" y="101955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change insights</a:t>
            </a:r>
          </a:p>
        </p:txBody>
      </p:sp>
      <p:sp>
        <p:nvSpPr>
          <p:cNvPr id="4085" name="TextBox 61"/>
          <p:cNvSpPr txBox="1"/>
          <p:nvPr/>
        </p:nvSpPr>
        <p:spPr>
          <a:xfrm>
            <a:off x="9093250" y="101955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86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7" name="Picture 63" descr="Picture 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88" name="TextBox 64"/>
          <p:cNvSpPr txBox="1"/>
          <p:nvPr/>
        </p:nvSpPr>
        <p:spPr>
          <a:xfrm>
            <a:off x="18832982" y="101955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89" name="Connector 65"/>
          <p:cNvSpPr/>
          <p:nvPr/>
        </p:nvSpPr>
        <p:spPr>
          <a:xfrm>
            <a:off x="1371600" y="106984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0" name="TextBox 66"/>
          <p:cNvSpPr txBox="1"/>
          <p:nvPr/>
        </p:nvSpPr>
        <p:spPr>
          <a:xfrm>
            <a:off x="1517903" y="108356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091" name="TextBox 67"/>
          <p:cNvSpPr txBox="1"/>
          <p:nvPr/>
        </p:nvSpPr>
        <p:spPr>
          <a:xfrm>
            <a:off x="2600095" y="108356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insights summary</a:t>
            </a:r>
          </a:p>
        </p:txBody>
      </p:sp>
      <p:sp>
        <p:nvSpPr>
          <p:cNvPr id="4092" name="TextBox 68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93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4" name="Picture 70" descr="Picture 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095" name="TextBox 71"/>
          <p:cNvSpPr txBox="1"/>
          <p:nvPr/>
        </p:nvSpPr>
        <p:spPr>
          <a:xfrm>
            <a:off x="18832982" y="1083564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96" name="Connector 72"/>
          <p:cNvSpPr/>
          <p:nvPr/>
        </p:nvSpPr>
        <p:spPr>
          <a:xfrm>
            <a:off x="1371600" y="113385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7" name="TextBox 73"/>
          <p:cNvSpPr txBox="1"/>
          <p:nvPr/>
        </p:nvSpPr>
        <p:spPr>
          <a:xfrm>
            <a:off x="1517903" y="114757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098" name="TextBox 74"/>
          <p:cNvSpPr txBox="1"/>
          <p:nvPr/>
        </p:nvSpPr>
        <p:spPr>
          <a:xfrm>
            <a:off x="2600095" y="114757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Insight-driven alerts</a:t>
            </a:r>
          </a:p>
        </p:txBody>
      </p:sp>
      <p:sp>
        <p:nvSpPr>
          <p:cNvPr id="4099" name="TextBox 75"/>
          <p:cNvSpPr txBox="1"/>
          <p:nvPr/>
        </p:nvSpPr>
        <p:spPr>
          <a:xfrm>
            <a:off x="9093250" y="114757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00" name="Picture 76" descr="Picture 7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1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02" name="Connector 78"/>
          <p:cNvSpPr/>
          <p:nvPr/>
        </p:nvSpPr>
        <p:spPr>
          <a:xfrm>
            <a:off x="1371600" y="11978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3" name="TextBox 79"/>
          <p:cNvSpPr txBox="1"/>
          <p:nvPr/>
        </p:nvSpPr>
        <p:spPr>
          <a:xfrm>
            <a:off x="1517903" y="12115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104" name="TextBox 80"/>
          <p:cNvSpPr txBox="1"/>
          <p:nvPr/>
        </p:nvSpPr>
        <p:spPr>
          <a:xfrm>
            <a:off x="2600095" y="12115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 preferences</a:t>
            </a:r>
          </a:p>
        </p:txBody>
      </p:sp>
      <p:sp>
        <p:nvSpPr>
          <p:cNvPr id="4105" name="TextBox 81"/>
          <p:cNvSpPr txBox="1"/>
          <p:nvPr/>
        </p:nvSpPr>
        <p:spPr>
          <a:xfrm>
            <a:off x="9093250" y="12115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106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7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08" name="Connector 84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11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052 / 111</a:t>
            </a:r>
          </a:p>
        </p:txBody>
      </p:sp>
      <p:sp>
        <p:nvSpPr>
          <p:cNvPr id="411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11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411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11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11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11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11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11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12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12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12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3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24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 display</a:t>
            </a:r>
          </a:p>
        </p:txBody>
      </p:sp>
      <p:sp>
        <p:nvSpPr>
          <p:cNvPr id="4125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12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28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9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30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(Mutual Fund Portfolio)</a:t>
            </a:r>
          </a:p>
        </p:txBody>
      </p:sp>
      <p:sp>
        <p:nvSpPr>
          <p:cNvPr id="4131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13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34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5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36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balance visibility</a:t>
            </a:r>
          </a:p>
        </p:txBody>
      </p:sp>
      <p:sp>
        <p:nvSpPr>
          <p:cNvPr id="4137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13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40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1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42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4143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44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5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46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7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148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 instant (5 min)</a:t>
            </a:r>
          </a:p>
        </p:txBody>
      </p:sp>
      <p:sp>
        <p:nvSpPr>
          <p:cNvPr id="4149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50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52" name="Connector 4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3" name="TextBox 4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154" name="TextBox 4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Multiple portfolios</a:t>
            </a:r>
          </a:p>
        </p:txBody>
      </p:sp>
      <p:sp>
        <p:nvSpPr>
          <p:cNvPr id="4155" name="TextBox 4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56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7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58" name="Connector 49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9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160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the portfolio</a:t>
            </a:r>
          </a:p>
        </p:txBody>
      </p:sp>
      <p:sp>
        <p:nvSpPr>
          <p:cNvPr id="4161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62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3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64" name="Connector 5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5" name="TextBox 5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166" name="TextBox 5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transfer/withdraw</a:t>
            </a:r>
          </a:p>
        </p:txBody>
      </p:sp>
      <p:sp>
        <p:nvSpPr>
          <p:cNvPr id="4167" name="TextBox 5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68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9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70" name="Connector 6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1" name="TextBox 6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172" name="TextBox 6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portfolio number</a:t>
            </a:r>
          </a:p>
        </p:txBody>
      </p:sp>
      <p:sp>
        <p:nvSpPr>
          <p:cNvPr id="4173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74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5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76" name="Connector 67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7" name="TextBox 68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178" name="TextBox 69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Preferred portfolio</a:t>
            </a:r>
          </a:p>
        </p:txBody>
      </p:sp>
      <p:sp>
        <p:nvSpPr>
          <p:cNvPr id="4179" name="TextBox 70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80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1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82" name="Connector 7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3" name="TextBox 7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184" name="TextBox 7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4185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86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7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88" name="Connector 79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9" name="TextBox 80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190" name="TextBox 81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visibility settings</a:t>
            </a:r>
          </a:p>
        </p:txBody>
      </p:sp>
      <p:sp>
        <p:nvSpPr>
          <p:cNvPr id="4191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9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3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194" name="TextBox 85"/>
          <p:cNvSpPr txBox="1"/>
          <p:nvPr/>
        </p:nvSpPr>
        <p:spPr>
          <a:xfrm>
            <a:off x="14504212" y="1162343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4195" name="Connector 86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6" name="TextBox 87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197" name="TextBox 88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metadata view</a:t>
            </a:r>
          </a:p>
        </p:txBody>
      </p:sp>
      <p:sp>
        <p:nvSpPr>
          <p:cNvPr id="4198" name="TextBox 89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99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00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01" name="TextBox 92"/>
          <p:cNvSpPr txBox="1"/>
          <p:nvPr/>
        </p:nvSpPr>
        <p:spPr>
          <a:xfrm>
            <a:off x="14504212" y="12165035"/>
            <a:ext cx="4036162" cy="380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portfolio profile (strategy / goal / risk profile / creation date)</a:t>
            </a:r>
          </a:p>
        </p:txBody>
      </p:sp>
      <p:sp>
        <p:nvSpPr>
          <p:cNvPr id="4202" name="Connector 93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20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053 / 111</a:t>
            </a:r>
          </a:p>
        </p:txBody>
      </p:sp>
      <p:sp>
        <p:nvSpPr>
          <p:cNvPr id="420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20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in to Mutual Fund portfolio</a:t>
            </a:r>
          </a:p>
        </p:txBody>
      </p:sp>
      <p:sp>
        <p:nvSpPr>
          <p:cNvPr id="420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20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21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21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21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21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21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21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21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7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18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421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2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22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3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224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4225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26" name="Picture 23" descr="Picture 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7" name="Picture 24" descr="Picture 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28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9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230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4231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32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3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34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5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36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4237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38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40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1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242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4243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44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46" name="Connector 4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7" name="TextBox 4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248" name="TextBox 4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4249" name="TextBox 4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50" name="Picture 47" descr="Picture 4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51" name="Picture 48" descr="Picture 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52" name="Connector 49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3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254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4255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5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5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58" name="Connector 5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9" name="TextBox 5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260" name="TextBox 5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4261" name="TextBox 5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6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64" name="Connector 6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5" name="TextBox 6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266" name="TextBox 6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4267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68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9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70" name="Connector 67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1" name="TextBox 68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272" name="TextBox 69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4273" name="TextBox 70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74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5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76" name="Connector 7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7" name="TextBox 7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278" name="TextBox 7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4279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80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1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82" name="Connector 79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3" name="TextBox 80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284" name="TextBox 81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4285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86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7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88" name="Connector 85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9" name="TextBox 86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290" name="TextBox 87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4291" name="TextBox 88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92" name="Picture 89" descr="Picture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3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294" name="Connector 9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29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054 / 111</a:t>
            </a:r>
          </a:p>
        </p:txBody>
      </p:sp>
      <p:sp>
        <p:nvSpPr>
          <p:cNvPr id="429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29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out to Mutual fund portfolio</a:t>
            </a:r>
          </a:p>
        </p:txBody>
      </p:sp>
      <p:sp>
        <p:nvSpPr>
          <p:cNvPr id="430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30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30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30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30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30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30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30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30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9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310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4311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1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14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5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16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4317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1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20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1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322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4323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24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26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7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328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4329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4330" name="TextBox 35"/>
          <p:cNvSpPr txBox="1"/>
          <p:nvPr/>
        </p:nvSpPr>
        <p:spPr>
          <a:xfrm>
            <a:off x="10894893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31" name="TextBox 36"/>
          <p:cNvSpPr txBox="1"/>
          <p:nvPr/>
        </p:nvSpPr>
        <p:spPr>
          <a:xfrm>
            <a:off x="12626399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32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3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334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4335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4336" name="TextBox 41"/>
          <p:cNvSpPr txBox="1"/>
          <p:nvPr/>
        </p:nvSpPr>
        <p:spPr>
          <a:xfrm>
            <a:off x="10894893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37" name="TextBox 42"/>
          <p:cNvSpPr txBox="1"/>
          <p:nvPr/>
        </p:nvSpPr>
        <p:spPr>
          <a:xfrm>
            <a:off x="12626399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38" name="Connector 4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9" name="TextBox 4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340" name="TextBox 4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4341" name="TextBox 4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4342" name="TextBox 47"/>
          <p:cNvSpPr txBox="1"/>
          <p:nvPr/>
        </p:nvSpPr>
        <p:spPr>
          <a:xfrm>
            <a:off x="10894893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43" name="TextBox 48"/>
          <p:cNvSpPr txBox="1"/>
          <p:nvPr/>
        </p:nvSpPr>
        <p:spPr>
          <a:xfrm>
            <a:off x="12626399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44" name="Connector 49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5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346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4347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48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50" name="Connector 5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1" name="TextBox 5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352" name="TextBox 5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4353" name="TextBox 5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54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55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56" name="Connector 6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7" name="TextBox 6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358" name="TextBox 6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4359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60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1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62" name="Connector 67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3" name="TextBox 68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364" name="TextBox 69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4365" name="TextBox 70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66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7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68" name="Connector 7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9" name="TextBox 7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370" name="TextBox 7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4371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72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3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74" name="Connector 79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5" name="TextBox 80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376" name="TextBox 81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4377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78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9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80" name="Connector 85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1" name="TextBox 86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382" name="TextBox 87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4383" name="TextBox 88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84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5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386" name="Connector 9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8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4389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0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US </a:t>
            </a:r>
            <a:r>
              <a:rPr>
                <a:solidFill>
                  <a:srgbClr val="0333E8"/>
                </a:solidFill>
              </a:rPr>
              <a:t>Market</a:t>
            </a:r>
          </a:p>
        </p:txBody>
      </p:sp>
      <p:sp>
        <p:nvSpPr>
          <p:cNvPr id="4391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International equities trading on US exchanges</a:t>
            </a:r>
          </a:p>
        </p:txBody>
      </p:sp>
      <p:sp>
        <p:nvSpPr>
          <p:cNvPr id="4392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4393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055 / 111</a:t>
            </a:r>
          </a:p>
        </p:txBody>
      </p:sp>
      <p:pic>
        <p:nvPicPr>
          <p:cNvPr id="4394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39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056 / 111</a:t>
            </a:r>
          </a:p>
        </p:txBody>
      </p:sp>
      <p:sp>
        <p:nvSpPr>
          <p:cNvPr id="439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SECTION SUMMARY</a:t>
            </a:r>
          </a:p>
        </p:txBody>
      </p:sp>
      <p:sp>
        <p:nvSpPr>
          <p:cNvPr id="4399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211 capabilities assessed. 139 already live.</a:t>
            </a:r>
          </a:p>
        </p:txBody>
      </p:sp>
      <p:sp>
        <p:nvSpPr>
          <p:cNvPr id="4400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211</a:t>
            </a:r>
          </a:p>
        </p:txBody>
      </p:sp>
      <p:sp>
        <p:nvSpPr>
          <p:cNvPr id="4401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4402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3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139</a:t>
            </a:r>
          </a:p>
        </p:txBody>
      </p:sp>
      <p:sp>
        <p:nvSpPr>
          <p:cNvPr id="4404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(66% OF 211)</a:t>
            </a:r>
          </a:p>
        </p:txBody>
      </p:sp>
      <p:sp>
        <p:nvSpPr>
          <p:cNvPr id="4405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6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4407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(13% OF 211)</a:t>
            </a:r>
          </a:p>
        </p:txBody>
      </p:sp>
      <p:sp>
        <p:nvSpPr>
          <p:cNvPr id="4408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9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0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4411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72 gaps still block full US app parity.</a:t>
            </a:r>
          </a:p>
        </p:txBody>
      </p:sp>
      <p:sp>
        <p:nvSpPr>
          <p:cNvPr id="4412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13% Jira coverage — strongest discipline of the retail products.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4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4415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418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4416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417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4419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3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0" name="Picture 715" descr="Picture 7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421" name="TextBox 716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057 / 111</a:t>
            </a:r>
          </a:p>
        </p:txBody>
      </p:sp>
      <p:sp>
        <p:nvSpPr>
          <p:cNvPr id="4422" name="TextBox 717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4423" name="TextBox 718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4424" name="Connector 719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5" name="Connector 720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6" name="Connector 721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7" name="Connector 722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8" name="Connector 723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9" name="Connector 724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0" name="Connector 725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1" name="Connector 726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2" name="Connector 727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3" name="Connector 728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4" name="Connector 729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5" name="Connector 730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6" name="Connector 731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7" name="Connector 732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8" name="Connector 733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9" name="Connector 734"/>
          <p:cNvSpPr/>
          <p:nvPr/>
        </p:nvSpPr>
        <p:spPr>
          <a:xfrm>
            <a:off x="2926079" y="8503919"/>
            <a:ext cx="227234" cy="866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0" name="Connector 735"/>
          <p:cNvSpPr/>
          <p:nvPr/>
        </p:nvSpPr>
        <p:spPr>
          <a:xfrm>
            <a:off x="3153312" y="8590594"/>
            <a:ext cx="213439" cy="136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1" name="Connector 736"/>
          <p:cNvSpPr/>
          <p:nvPr/>
        </p:nvSpPr>
        <p:spPr>
          <a:xfrm>
            <a:off x="3366751" y="8727054"/>
            <a:ext cx="202642" cy="1772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2" name="Connector 737"/>
          <p:cNvSpPr/>
          <p:nvPr/>
        </p:nvSpPr>
        <p:spPr>
          <a:xfrm>
            <a:off x="3569391" y="8904302"/>
            <a:ext cx="194844" cy="2090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3" name="Connector 738"/>
          <p:cNvSpPr/>
          <p:nvPr/>
        </p:nvSpPr>
        <p:spPr>
          <a:xfrm>
            <a:off x="3764235" y="9113342"/>
            <a:ext cx="190046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4" name="Connector 739"/>
          <p:cNvSpPr/>
          <p:nvPr/>
        </p:nvSpPr>
        <p:spPr>
          <a:xfrm>
            <a:off x="3954279" y="9345173"/>
            <a:ext cx="188246" cy="2456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5" name="Connector 740"/>
          <p:cNvSpPr/>
          <p:nvPr/>
        </p:nvSpPr>
        <p:spPr>
          <a:xfrm>
            <a:off x="4142525" y="9590802"/>
            <a:ext cx="189446" cy="250428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6" name="Connector 741"/>
          <p:cNvSpPr/>
          <p:nvPr/>
        </p:nvSpPr>
        <p:spPr>
          <a:xfrm>
            <a:off x="4331970" y="9841230"/>
            <a:ext cx="193644" cy="2462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7" name="Connector 742"/>
          <p:cNvSpPr/>
          <p:nvPr/>
        </p:nvSpPr>
        <p:spPr>
          <a:xfrm>
            <a:off x="4525613" y="10087458"/>
            <a:ext cx="200842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8" name="Connector 743"/>
          <p:cNvSpPr/>
          <p:nvPr/>
        </p:nvSpPr>
        <p:spPr>
          <a:xfrm>
            <a:off x="4726454" y="10320490"/>
            <a:ext cx="211040" cy="21083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9" name="Connector 744"/>
          <p:cNvSpPr/>
          <p:nvPr/>
        </p:nvSpPr>
        <p:spPr>
          <a:xfrm>
            <a:off x="4937492" y="10531327"/>
            <a:ext cx="224236" cy="17964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0" name="Connector 745"/>
          <p:cNvSpPr/>
          <p:nvPr/>
        </p:nvSpPr>
        <p:spPr>
          <a:xfrm>
            <a:off x="5161727" y="10710976"/>
            <a:ext cx="240430" cy="13946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1" name="Connector 746"/>
          <p:cNvSpPr/>
          <p:nvPr/>
        </p:nvSpPr>
        <p:spPr>
          <a:xfrm>
            <a:off x="5402156" y="10850435"/>
            <a:ext cx="259626" cy="902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2" name="Connector 747"/>
          <p:cNvSpPr/>
          <p:nvPr/>
        </p:nvSpPr>
        <p:spPr>
          <a:xfrm>
            <a:off x="5661781" y="10940708"/>
            <a:ext cx="281819" cy="3209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3" name="Connector 748"/>
          <p:cNvSpPr/>
          <p:nvPr/>
        </p:nvSpPr>
        <p:spPr>
          <a:xfrm>
            <a:off x="5943600" y="10972800"/>
            <a:ext cx="12344400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4" name="Oval 749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5" name="Oval 750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6" name="TextBox 751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4457" name="TextBox 752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4458" name="Oval 753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9" name="TextBox 754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460" name="TextBox 755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4461" name="Oval 756"/>
          <p:cNvSpPr/>
          <p:nvPr/>
        </p:nvSpPr>
        <p:spPr>
          <a:xfrm>
            <a:off x="97612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2" name="TextBox 757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63" name="TextBox 758"/>
          <p:cNvSpPr txBox="1"/>
          <p:nvPr/>
        </p:nvSpPr>
        <p:spPr>
          <a:xfrm>
            <a:off x="77724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Index / Stock</a:t>
            </a:r>
          </a:p>
        </p:txBody>
      </p:sp>
      <p:sp>
        <p:nvSpPr>
          <p:cNvPr id="4464" name="Oval 759"/>
          <p:cNvSpPr/>
          <p:nvPr/>
        </p:nvSpPr>
        <p:spPr>
          <a:xfrm>
            <a:off x="138760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5" name="TextBox 760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66" name="TextBox 761"/>
          <p:cNvSpPr txBox="1"/>
          <p:nvPr/>
        </p:nvSpPr>
        <p:spPr>
          <a:xfrm>
            <a:off x="118872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4467" name="Oval 762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8" name="TextBox 763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469" name="TextBox 764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Trade</a:t>
            </a:r>
          </a:p>
        </p:txBody>
      </p:sp>
      <p:sp>
        <p:nvSpPr>
          <p:cNvPr id="4470" name="Oval 765"/>
          <p:cNvSpPr/>
          <p:nvPr/>
        </p:nvSpPr>
        <p:spPr>
          <a:xfrm>
            <a:off x="5646420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1" name="TextBox 766"/>
          <p:cNvSpPr txBox="1"/>
          <p:nvPr/>
        </p:nvSpPr>
        <p:spPr>
          <a:xfrm>
            <a:off x="36576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472" name="TextBox 767"/>
          <p:cNvSpPr txBox="1"/>
          <p:nvPr/>
        </p:nvSpPr>
        <p:spPr>
          <a:xfrm>
            <a:off x="36576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4473" name="Oval 768"/>
          <p:cNvSpPr/>
          <p:nvPr/>
        </p:nvSpPr>
        <p:spPr>
          <a:xfrm>
            <a:off x="118186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4" name="TextBox 769"/>
          <p:cNvSpPr txBox="1"/>
          <p:nvPr/>
        </p:nvSpPr>
        <p:spPr>
          <a:xfrm>
            <a:off x="98298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75" name="TextBox 770"/>
          <p:cNvSpPr txBox="1"/>
          <p:nvPr/>
        </p:nvSpPr>
        <p:spPr>
          <a:xfrm>
            <a:off x="98298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US Portfolios</a:t>
            </a:r>
          </a:p>
        </p:txBody>
      </p:sp>
      <p:sp>
        <p:nvSpPr>
          <p:cNvPr id="4476" name="Oval 771"/>
          <p:cNvSpPr/>
          <p:nvPr/>
        </p:nvSpPr>
        <p:spPr>
          <a:xfrm>
            <a:off x="179908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7" name="TextBox 772"/>
          <p:cNvSpPr txBox="1"/>
          <p:nvPr/>
        </p:nvSpPr>
        <p:spPr>
          <a:xfrm>
            <a:off x="160020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78" name="TextBox 773"/>
          <p:cNvSpPr txBox="1"/>
          <p:nvPr/>
        </p:nvSpPr>
        <p:spPr>
          <a:xfrm>
            <a:off x="160020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View / Trade</a:t>
            </a:r>
          </a:p>
        </p:txBody>
      </p:sp>
      <p:sp>
        <p:nvSpPr>
          <p:cNvPr id="4479" name="Rounded Rectangle 774"/>
          <p:cNvSpPr/>
          <p:nvPr/>
        </p:nvSpPr>
        <p:spPr>
          <a:xfrm>
            <a:off x="19659600" y="4389120"/>
            <a:ext cx="3474721" cy="14630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0" name="Connector 775"/>
          <p:cNvSpPr/>
          <p:nvPr/>
        </p:nvSpPr>
        <p:spPr>
          <a:xfrm>
            <a:off x="19933919" y="4800600"/>
            <a:ext cx="640081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81" name="TextBox 776"/>
          <p:cNvSpPr txBox="1"/>
          <p:nvPr/>
        </p:nvSpPr>
        <p:spPr>
          <a:xfrm>
            <a:off x="20756880" y="46634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4482" name="Connector 777"/>
          <p:cNvSpPr/>
          <p:nvPr/>
        </p:nvSpPr>
        <p:spPr>
          <a:xfrm>
            <a:off x="19933919" y="5486400"/>
            <a:ext cx="640081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83" name="TextBox 778"/>
          <p:cNvSpPr txBox="1"/>
          <p:nvPr/>
        </p:nvSpPr>
        <p:spPr>
          <a:xfrm>
            <a:off x="20756880" y="53492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48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058 / 111</a:t>
            </a:r>
          </a:p>
        </p:txBody>
      </p:sp>
      <p:sp>
        <p:nvSpPr>
          <p:cNvPr id="448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488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4489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490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491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492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493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494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495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496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49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98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99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 display</a:t>
            </a:r>
          </a:p>
        </p:txBody>
      </p:sp>
      <p:sp>
        <p:nvSpPr>
          <p:cNvPr id="4500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0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03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4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505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(US Portfolio)</a:t>
            </a:r>
          </a:p>
        </p:txBody>
      </p:sp>
      <p:sp>
        <p:nvSpPr>
          <p:cNvPr id="4506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0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09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0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11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total value</a:t>
            </a:r>
          </a:p>
        </p:txBody>
      </p:sp>
      <p:sp>
        <p:nvSpPr>
          <p:cNvPr id="4512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1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15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6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517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currency</a:t>
            </a:r>
          </a:p>
        </p:txBody>
      </p:sp>
      <p:sp>
        <p:nvSpPr>
          <p:cNvPr id="4518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19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21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2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23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display</a:t>
            </a:r>
          </a:p>
        </p:txBody>
      </p:sp>
      <p:sp>
        <p:nvSpPr>
          <p:cNvPr id="4524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25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27" name="Connector 4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8" name="TextBox 4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529" name="TextBox 4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 summary</a:t>
            </a:r>
          </a:p>
        </p:txBody>
      </p:sp>
      <p:sp>
        <p:nvSpPr>
          <p:cNvPr id="4530" name="TextBox 4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3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33" name="Connector 49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4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535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 display</a:t>
            </a:r>
          </a:p>
        </p:txBody>
      </p:sp>
      <p:sp>
        <p:nvSpPr>
          <p:cNvPr id="4536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3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8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39" name="Connector 5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0" name="TextBox 5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541" name="TextBox 5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summary</a:t>
            </a:r>
          </a:p>
        </p:txBody>
      </p:sp>
      <p:sp>
        <p:nvSpPr>
          <p:cNvPr id="4542" name="TextBox 5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43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4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45" name="Connector 6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6" name="TextBox 6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547" name="TextBox 6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tab</a:t>
            </a:r>
          </a:p>
        </p:txBody>
      </p:sp>
      <p:sp>
        <p:nvSpPr>
          <p:cNvPr id="4548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49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0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51" name="Connector 67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2" name="TextBox 68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553" name="TextBox 69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tab</a:t>
            </a:r>
          </a:p>
        </p:txBody>
      </p:sp>
      <p:sp>
        <p:nvSpPr>
          <p:cNvPr id="4554" name="TextBox 70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55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6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57" name="Connector 7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8" name="TextBox 7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559" name="TextBox 7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Transactions tab</a:t>
            </a:r>
          </a:p>
        </p:txBody>
      </p:sp>
      <p:sp>
        <p:nvSpPr>
          <p:cNvPr id="4560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61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2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63" name="Connector 79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4" name="TextBox 80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565" name="TextBox 81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More options</a:t>
            </a:r>
          </a:p>
        </p:txBody>
      </p:sp>
      <p:sp>
        <p:nvSpPr>
          <p:cNvPr id="4566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67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8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69" name="Connector 85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0" name="TextBox 86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571" name="TextBox 87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visibility toggle</a:t>
            </a:r>
          </a:p>
        </p:txBody>
      </p:sp>
      <p:sp>
        <p:nvSpPr>
          <p:cNvPr id="4572" name="TextBox 88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73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4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75" name="Connector 9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57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059 / 111</a:t>
            </a:r>
          </a:p>
        </p:txBody>
      </p:sp>
      <p:sp>
        <p:nvSpPr>
          <p:cNvPr id="457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58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458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58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58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58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58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58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58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58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58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0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591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4592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9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595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6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597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4598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9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0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01" name="TextBox 25"/>
          <p:cNvSpPr txBox="1"/>
          <p:nvPr/>
        </p:nvSpPr>
        <p:spPr>
          <a:xfrm>
            <a:off x="14504212" y="6207369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4602" name="Connector 26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3" name="TextBox 27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04" name="TextBox 28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4605" name="TextBox 29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06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07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08" name="Connector 32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9" name="TextBox 33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610" name="TextBox 34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4611" name="TextBox 35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1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3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14" name="Connector 38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5" name="TextBox 39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616" name="TextBox 40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4617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18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9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20" name="TextBox 44"/>
          <p:cNvSpPr txBox="1"/>
          <p:nvPr/>
        </p:nvSpPr>
        <p:spPr>
          <a:xfrm>
            <a:off x="14504212" y="7832187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4621" name="Connector 45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2" name="TextBox 46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623" name="TextBox 47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4624" name="TextBox 48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25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6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27" name="Connector 51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8" name="TextBox 52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629" name="TextBox 53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4630" name="TextBox 54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31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2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33" name="Connector 57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4" name="TextBox 58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635" name="TextBox 59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4636" name="TextBox 60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37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8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39" name="TextBox 63"/>
          <p:cNvSpPr txBox="1"/>
          <p:nvPr/>
        </p:nvSpPr>
        <p:spPr>
          <a:xfrm>
            <a:off x="14504212" y="9457005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analysis insights</a:t>
            </a:r>
          </a:p>
        </p:txBody>
      </p:sp>
      <p:sp>
        <p:nvSpPr>
          <p:cNvPr id="4640" name="Connector 64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1" name="TextBox 65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642" name="TextBox 66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4643" name="TextBox 67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44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5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46" name="Connector 70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7" name="TextBox 71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648" name="TextBox 72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4649" name="TextBox 73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50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1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52" name="Connector 76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3" name="TextBox 77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654" name="TextBox 78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4655" name="TextBox 79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56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7" name="Picture 81" descr="Picture 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58" name="TextBox 82"/>
          <p:cNvSpPr txBox="1"/>
          <p:nvPr/>
        </p:nvSpPr>
        <p:spPr>
          <a:xfrm>
            <a:off x="14504212" y="11081824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performance chart</a:t>
            </a:r>
          </a:p>
        </p:txBody>
      </p:sp>
      <p:sp>
        <p:nvSpPr>
          <p:cNvPr id="4659" name="Connector 83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0" name="TextBox 84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661" name="TextBox 85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4662" name="TextBox 8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663" name="Picture 87" descr="Picture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4" name="Picture 88" descr="Picture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65" name="Connector 89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6" name="TextBox 90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667" name="TextBox 91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4668" name="TextBox 92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669" name="Picture 93" descr="Picture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0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71" name="Connector 95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67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060 / 111</a:t>
            </a:r>
          </a:p>
        </p:txBody>
      </p:sp>
      <p:sp>
        <p:nvSpPr>
          <p:cNvPr id="467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67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467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67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67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68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68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68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68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68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68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6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687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4688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8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9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91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2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93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 &amp; symbol</a:t>
            </a:r>
          </a:p>
        </p:txBody>
      </p:sp>
      <p:sp>
        <p:nvSpPr>
          <p:cNvPr id="4694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9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9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697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8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99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market value</a:t>
            </a:r>
          </a:p>
        </p:txBody>
      </p:sp>
      <p:sp>
        <p:nvSpPr>
          <p:cNvPr id="4700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01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03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4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705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4706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0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09" name="TextBox 37"/>
          <p:cNvSpPr txBox="1"/>
          <p:nvPr/>
        </p:nvSpPr>
        <p:spPr>
          <a:xfrm>
            <a:off x="14504212" y="7290581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position breakdown</a:t>
            </a:r>
          </a:p>
        </p:txBody>
      </p:sp>
      <p:sp>
        <p:nvSpPr>
          <p:cNvPr id="4710" name="Connector 38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1" name="TextBox 39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712" name="TextBox 40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4713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1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16" name="Connector 44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7" name="TextBox 45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718" name="TextBox 46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4719" name="TextBox 47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20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1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22" name="Connector 50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3" name="TextBox 51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724" name="TextBox 52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</a:t>
            </a:r>
          </a:p>
        </p:txBody>
      </p:sp>
      <p:sp>
        <p:nvSpPr>
          <p:cNvPr id="4725" name="TextBox 53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26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7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28" name="Connector 56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9" name="TextBox 57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730" name="TextBox 58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4731" name="TextBox 59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32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3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34" name="Connector 62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5" name="TextBox 63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736" name="TextBox 64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4737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4738" name="TextBox 66"/>
          <p:cNvSpPr txBox="1"/>
          <p:nvPr/>
        </p:nvSpPr>
        <p:spPr>
          <a:xfrm>
            <a:off x="10894893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739" name="TextBox 67"/>
          <p:cNvSpPr txBox="1"/>
          <p:nvPr/>
        </p:nvSpPr>
        <p:spPr>
          <a:xfrm>
            <a:off x="12626399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740" name="Connector 68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1" name="TextBox 69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742" name="TextBox 70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4743" name="TextBox 71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44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5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46" name="Connector 74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7" name="TextBox 75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748" name="TextBox 76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from position</a:t>
            </a:r>
          </a:p>
        </p:txBody>
      </p:sp>
      <p:sp>
        <p:nvSpPr>
          <p:cNvPr id="4749" name="TextBox 7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750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1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52" name="Connector 80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3" name="TextBox 81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754" name="TextBox 82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from position</a:t>
            </a:r>
          </a:p>
        </p:txBody>
      </p:sp>
      <p:sp>
        <p:nvSpPr>
          <p:cNvPr id="4755" name="TextBox 83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756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7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58" name="Connector 86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9" name="TextBox 87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760" name="TextBox 88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4761" name="TextBox 89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762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3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64" name="Connector 92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76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061 / 111</a:t>
            </a:r>
          </a:p>
        </p:txBody>
      </p:sp>
      <p:sp>
        <p:nvSpPr>
          <p:cNvPr id="476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76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477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77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77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77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77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77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77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77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77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9" name="TextBox 14"/>
          <p:cNvSpPr txBox="1"/>
          <p:nvPr/>
        </p:nvSpPr>
        <p:spPr>
          <a:xfrm>
            <a:off x="1517903" y="562965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780" name="TextBox 15"/>
          <p:cNvSpPr txBox="1"/>
          <p:nvPr/>
        </p:nvSpPr>
        <p:spPr>
          <a:xfrm>
            <a:off x="2600095" y="562965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4781" name="TextBox 16"/>
          <p:cNvSpPr txBox="1"/>
          <p:nvPr/>
        </p:nvSpPr>
        <p:spPr>
          <a:xfrm>
            <a:off x="9093250" y="562965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8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6623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6623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84" name="Connector 19"/>
          <p:cNvSpPr/>
          <p:nvPr/>
        </p:nvSpPr>
        <p:spPr>
          <a:xfrm>
            <a:off x="1371600" y="604723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5" name="TextBox 20"/>
          <p:cNvSpPr txBox="1"/>
          <p:nvPr/>
        </p:nvSpPr>
        <p:spPr>
          <a:xfrm>
            <a:off x="1517903" y="60990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786" name="TextBox 21"/>
          <p:cNvSpPr txBox="1"/>
          <p:nvPr/>
        </p:nvSpPr>
        <p:spPr>
          <a:xfrm>
            <a:off x="2600095" y="60990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4787" name="TextBox 22"/>
          <p:cNvSpPr txBox="1"/>
          <p:nvPr/>
        </p:nvSpPr>
        <p:spPr>
          <a:xfrm>
            <a:off x="9093250" y="60990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8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1356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1356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90" name="TextBox 25"/>
          <p:cNvSpPr txBox="1"/>
          <p:nvPr/>
        </p:nvSpPr>
        <p:spPr>
          <a:xfrm>
            <a:off x="14504212" y="6099047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quantity breakdown</a:t>
            </a:r>
          </a:p>
        </p:txBody>
      </p:sp>
      <p:sp>
        <p:nvSpPr>
          <p:cNvPr id="4791" name="Connector 26"/>
          <p:cNvSpPr/>
          <p:nvPr/>
        </p:nvSpPr>
        <p:spPr>
          <a:xfrm>
            <a:off x="1371600" y="65166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2" name="TextBox 27"/>
          <p:cNvSpPr txBox="1"/>
          <p:nvPr/>
        </p:nvSpPr>
        <p:spPr>
          <a:xfrm>
            <a:off x="1517903" y="65684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793" name="TextBox 28"/>
          <p:cNvSpPr txBox="1"/>
          <p:nvPr/>
        </p:nvSpPr>
        <p:spPr>
          <a:xfrm>
            <a:off x="2600095" y="65684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4794" name="TextBox 29"/>
          <p:cNvSpPr txBox="1"/>
          <p:nvPr/>
        </p:nvSpPr>
        <p:spPr>
          <a:xfrm>
            <a:off x="9093250" y="65684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9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6050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6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6050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797" name="Connector 32"/>
          <p:cNvSpPr/>
          <p:nvPr/>
        </p:nvSpPr>
        <p:spPr>
          <a:xfrm>
            <a:off x="1371600" y="698601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8" name="TextBox 33"/>
          <p:cNvSpPr txBox="1"/>
          <p:nvPr/>
        </p:nvSpPr>
        <p:spPr>
          <a:xfrm>
            <a:off x="1517903" y="703783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799" name="TextBox 34"/>
          <p:cNvSpPr txBox="1"/>
          <p:nvPr/>
        </p:nvSpPr>
        <p:spPr>
          <a:xfrm>
            <a:off x="2600095" y="703783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 value</a:t>
            </a:r>
          </a:p>
        </p:txBody>
      </p:sp>
      <p:sp>
        <p:nvSpPr>
          <p:cNvPr id="4800" name="TextBox 35"/>
          <p:cNvSpPr txBox="1"/>
          <p:nvPr/>
        </p:nvSpPr>
        <p:spPr>
          <a:xfrm>
            <a:off x="9093250" y="703783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0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7440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2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7440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03" name="TextBox 38"/>
          <p:cNvSpPr txBox="1"/>
          <p:nvPr/>
        </p:nvSpPr>
        <p:spPr>
          <a:xfrm>
            <a:off x="14504212" y="7037831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4804" name="Connector 39"/>
          <p:cNvSpPr/>
          <p:nvPr/>
        </p:nvSpPr>
        <p:spPr>
          <a:xfrm>
            <a:off x="1371600" y="74554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5" name="TextBox 40"/>
          <p:cNvSpPr txBox="1"/>
          <p:nvPr/>
        </p:nvSpPr>
        <p:spPr>
          <a:xfrm>
            <a:off x="1517903" y="75072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806" name="TextBox 41"/>
          <p:cNvSpPr txBox="1"/>
          <p:nvPr/>
        </p:nvSpPr>
        <p:spPr>
          <a:xfrm>
            <a:off x="2600095" y="75072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traded price</a:t>
            </a:r>
          </a:p>
        </p:txBody>
      </p:sp>
      <p:sp>
        <p:nvSpPr>
          <p:cNvPr id="4807" name="TextBox 42"/>
          <p:cNvSpPr txBox="1"/>
          <p:nvPr/>
        </p:nvSpPr>
        <p:spPr>
          <a:xfrm>
            <a:off x="9093250" y="75072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08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5438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9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5438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10" name="Connector 45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1" name="TextBox 46"/>
          <p:cNvSpPr txBox="1"/>
          <p:nvPr/>
        </p:nvSpPr>
        <p:spPr>
          <a:xfrm>
            <a:off x="1517903" y="797661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812" name="TextBox 47"/>
          <p:cNvSpPr txBox="1"/>
          <p:nvPr/>
        </p:nvSpPr>
        <p:spPr>
          <a:xfrm>
            <a:off x="2600095" y="797661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4813" name="TextBox 48"/>
          <p:cNvSpPr txBox="1"/>
          <p:nvPr/>
        </p:nvSpPr>
        <p:spPr>
          <a:xfrm>
            <a:off x="9093250" y="797661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14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01319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5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01319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16" name="Connector 51"/>
          <p:cNvSpPr/>
          <p:nvPr/>
        </p:nvSpPr>
        <p:spPr>
          <a:xfrm>
            <a:off x="1371600" y="839419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7" name="TextBox 52"/>
          <p:cNvSpPr txBox="1"/>
          <p:nvPr/>
        </p:nvSpPr>
        <p:spPr>
          <a:xfrm>
            <a:off x="1517903" y="8446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818" name="TextBox 53"/>
          <p:cNvSpPr txBox="1"/>
          <p:nvPr/>
        </p:nvSpPr>
        <p:spPr>
          <a:xfrm>
            <a:off x="2600095" y="8446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4819" name="TextBox 54"/>
          <p:cNvSpPr txBox="1"/>
          <p:nvPr/>
        </p:nvSpPr>
        <p:spPr>
          <a:xfrm>
            <a:off x="9093250" y="8446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20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82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1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82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22" name="Connector 57"/>
          <p:cNvSpPr/>
          <p:nvPr/>
        </p:nvSpPr>
        <p:spPr>
          <a:xfrm>
            <a:off x="1371600" y="88635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3" name="TextBox 58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824" name="TextBox 59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P/L</a:t>
            </a:r>
          </a:p>
        </p:txBody>
      </p:sp>
      <p:sp>
        <p:nvSpPr>
          <p:cNvPr id="4825" name="TextBox 60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26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7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28" name="Connector 63"/>
          <p:cNvSpPr/>
          <p:nvPr/>
        </p:nvSpPr>
        <p:spPr>
          <a:xfrm>
            <a:off x="1371600" y="93329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9" name="TextBox 64"/>
          <p:cNvSpPr txBox="1"/>
          <p:nvPr/>
        </p:nvSpPr>
        <p:spPr>
          <a:xfrm>
            <a:off x="1517903" y="9384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830" name="TextBox 65"/>
          <p:cNvSpPr txBox="1"/>
          <p:nvPr/>
        </p:nvSpPr>
        <p:spPr>
          <a:xfrm>
            <a:off x="2600095" y="9384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Avg price P/L</a:t>
            </a:r>
          </a:p>
        </p:txBody>
      </p:sp>
      <p:sp>
        <p:nvSpPr>
          <p:cNvPr id="4831" name="TextBox 66"/>
          <p:cNvSpPr txBox="1"/>
          <p:nvPr/>
        </p:nvSpPr>
        <p:spPr>
          <a:xfrm>
            <a:off x="9093250" y="93847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32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21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3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21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34" name="Connector 69"/>
          <p:cNvSpPr/>
          <p:nvPr/>
        </p:nvSpPr>
        <p:spPr>
          <a:xfrm>
            <a:off x="1371600" y="980236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5" name="TextBox 70"/>
          <p:cNvSpPr txBox="1"/>
          <p:nvPr/>
        </p:nvSpPr>
        <p:spPr>
          <a:xfrm>
            <a:off x="1517903" y="9854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836" name="TextBox 71"/>
          <p:cNvSpPr txBox="1"/>
          <p:nvPr/>
        </p:nvSpPr>
        <p:spPr>
          <a:xfrm>
            <a:off x="2600095" y="9854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P/L (UPL)</a:t>
            </a:r>
          </a:p>
        </p:txBody>
      </p:sp>
      <p:sp>
        <p:nvSpPr>
          <p:cNvPr id="4837" name="TextBox 72"/>
          <p:cNvSpPr txBox="1"/>
          <p:nvPr/>
        </p:nvSpPr>
        <p:spPr>
          <a:xfrm>
            <a:off x="9093250" y="9854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38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90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9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90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40" name="Connector 75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1" name="TextBox 76"/>
          <p:cNvSpPr txBox="1"/>
          <p:nvPr/>
        </p:nvSpPr>
        <p:spPr>
          <a:xfrm>
            <a:off x="1517903" y="103235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842" name="TextBox 77"/>
          <p:cNvSpPr txBox="1"/>
          <p:nvPr/>
        </p:nvSpPr>
        <p:spPr>
          <a:xfrm>
            <a:off x="2600095" y="103235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capital</a:t>
            </a:r>
          </a:p>
        </p:txBody>
      </p:sp>
      <p:sp>
        <p:nvSpPr>
          <p:cNvPr id="4843" name="TextBox 78"/>
          <p:cNvSpPr txBox="1"/>
          <p:nvPr/>
        </p:nvSpPr>
        <p:spPr>
          <a:xfrm>
            <a:off x="9093250" y="103235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44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3601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5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3601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46" name="Connector 81"/>
          <p:cNvSpPr/>
          <p:nvPr/>
        </p:nvSpPr>
        <p:spPr>
          <a:xfrm>
            <a:off x="1371600" y="107411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7" name="TextBox 82"/>
          <p:cNvSpPr txBox="1"/>
          <p:nvPr/>
        </p:nvSpPr>
        <p:spPr>
          <a:xfrm>
            <a:off x="1517903" y="10792968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848" name="TextBox 83"/>
          <p:cNvSpPr txBox="1"/>
          <p:nvPr/>
        </p:nvSpPr>
        <p:spPr>
          <a:xfrm>
            <a:off x="2600095" y="1079296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gain</a:t>
            </a:r>
          </a:p>
        </p:txBody>
      </p:sp>
      <p:sp>
        <p:nvSpPr>
          <p:cNvPr id="4849" name="TextBox 84"/>
          <p:cNvSpPr txBox="1"/>
          <p:nvPr/>
        </p:nvSpPr>
        <p:spPr>
          <a:xfrm>
            <a:off x="9093250" y="1079296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50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82954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1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82954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52" name="Connector 87"/>
          <p:cNvSpPr/>
          <p:nvPr/>
        </p:nvSpPr>
        <p:spPr>
          <a:xfrm>
            <a:off x="1371600" y="112105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3" name="TextBox 88"/>
          <p:cNvSpPr txBox="1"/>
          <p:nvPr/>
        </p:nvSpPr>
        <p:spPr>
          <a:xfrm>
            <a:off x="1517903" y="11262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854" name="TextBox 89"/>
          <p:cNvSpPr txBox="1"/>
          <p:nvPr/>
        </p:nvSpPr>
        <p:spPr>
          <a:xfrm>
            <a:off x="2600095" y="11262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4855" name="TextBox 90"/>
          <p:cNvSpPr txBox="1"/>
          <p:nvPr/>
        </p:nvSpPr>
        <p:spPr>
          <a:xfrm>
            <a:off x="9093250" y="11262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56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98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7" name="Picture 92" descr="Picture 9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98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58" name="Connector 93"/>
          <p:cNvSpPr/>
          <p:nvPr/>
        </p:nvSpPr>
        <p:spPr>
          <a:xfrm>
            <a:off x="1371600" y="116799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9" name="TextBox 94"/>
          <p:cNvSpPr txBox="1"/>
          <p:nvPr/>
        </p:nvSpPr>
        <p:spPr>
          <a:xfrm>
            <a:off x="1517903" y="117317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860" name="TextBox 95"/>
          <p:cNvSpPr txBox="1"/>
          <p:nvPr/>
        </p:nvSpPr>
        <p:spPr>
          <a:xfrm>
            <a:off x="2600095" y="117317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4861" name="TextBox 96"/>
          <p:cNvSpPr txBox="1"/>
          <p:nvPr/>
        </p:nvSpPr>
        <p:spPr>
          <a:xfrm>
            <a:off x="9093250" y="117317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62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683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3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683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64" name="Connector 99"/>
          <p:cNvSpPr/>
          <p:nvPr/>
        </p:nvSpPr>
        <p:spPr>
          <a:xfrm>
            <a:off x="1371600" y="1214932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5" name="TextBox 100"/>
          <p:cNvSpPr txBox="1"/>
          <p:nvPr/>
        </p:nvSpPr>
        <p:spPr>
          <a:xfrm>
            <a:off x="1517903" y="1220114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866" name="TextBox 101"/>
          <p:cNvSpPr txBox="1"/>
          <p:nvPr/>
        </p:nvSpPr>
        <p:spPr>
          <a:xfrm>
            <a:off x="2600095" y="1220114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Update average cost</a:t>
            </a:r>
          </a:p>
        </p:txBody>
      </p:sp>
      <p:sp>
        <p:nvSpPr>
          <p:cNvPr id="4867" name="TextBox 102"/>
          <p:cNvSpPr txBox="1"/>
          <p:nvPr/>
        </p:nvSpPr>
        <p:spPr>
          <a:xfrm>
            <a:off x="9093250" y="1220114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68" name="Picture 103" descr="Pictur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771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9" name="Picture 104" descr="Picture 10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771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70" name="TextBox 105"/>
          <p:cNvSpPr txBox="1"/>
          <p:nvPr/>
        </p:nvSpPr>
        <p:spPr>
          <a:xfrm>
            <a:off x="18832982" y="12201143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ARCD-2650</a:t>
            </a:r>
          </a:p>
        </p:txBody>
      </p:sp>
      <p:sp>
        <p:nvSpPr>
          <p:cNvPr id="4871" name="Connector 106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87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062 / 111</a:t>
            </a:r>
          </a:p>
        </p:txBody>
      </p:sp>
      <p:sp>
        <p:nvSpPr>
          <p:cNvPr id="487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87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487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87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87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88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88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88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88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88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88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6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887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4888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8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91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2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893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4894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9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897" name="TextBox 25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4898" name="Connector 26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9" name="TextBox 27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900" name="TextBox 28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4901" name="TextBox 29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0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3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04" name="Connector 32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5" name="TextBox 33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06" name="TextBox 34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4907" name="TextBox 35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0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9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10" name="TextBox 38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4911" name="Connector 3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2" name="TextBox 4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913" name="TextBox 4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4914" name="TextBox 4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1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6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17" name="Connector 45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8" name="TextBox 46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919" name="TextBox 47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4920" name="TextBox 48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21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2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23" name="Connector 51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4" name="TextBox 52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925" name="TextBox 53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4926" name="TextBox 54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27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8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29" name="Connector 57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0" name="TextBox 58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931" name="TextBox 59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display preferences</a:t>
            </a:r>
          </a:p>
        </p:txBody>
      </p:sp>
      <p:sp>
        <p:nvSpPr>
          <p:cNvPr id="4932" name="TextBox 60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33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4" name="Picture 62" descr="Picture 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35" name="TextBox 63"/>
          <p:cNvSpPr txBox="1"/>
          <p:nvPr/>
        </p:nvSpPr>
        <p:spPr>
          <a:xfrm>
            <a:off x="14504212" y="10538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4936" name="Connector 64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493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063 / 111</a:t>
            </a:r>
          </a:p>
        </p:txBody>
      </p:sp>
      <p:sp>
        <p:nvSpPr>
          <p:cNvPr id="494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94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494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94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94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94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94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94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94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94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95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1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952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4953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5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56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7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958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4959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60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62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3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964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4965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66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68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9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70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</a:t>
            </a:r>
          </a:p>
        </p:txBody>
      </p:sp>
      <p:sp>
        <p:nvSpPr>
          <p:cNvPr id="4971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7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74" name="TextBox 37"/>
          <p:cNvSpPr txBox="1"/>
          <p:nvPr/>
        </p:nvSpPr>
        <p:spPr>
          <a:xfrm>
            <a:off x="14504212" y="7290581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4975" name="Connector 38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6" name="TextBox 39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977" name="TextBox 40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4978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7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0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81" name="Connector 44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2" name="TextBox 45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983" name="TextBox 46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 visibility</a:t>
            </a:r>
          </a:p>
        </p:txBody>
      </p:sp>
      <p:sp>
        <p:nvSpPr>
          <p:cNvPr id="4984" name="TextBox 47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8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6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87" name="Connector 50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8" name="TextBox 51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989" name="TextBox 52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validity visibility</a:t>
            </a:r>
          </a:p>
        </p:txBody>
      </p:sp>
      <p:sp>
        <p:nvSpPr>
          <p:cNvPr id="4990" name="TextBox 53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9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2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93" name="Connector 56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4" name="TextBox 57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995" name="TextBox 58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Place/Cancel/Modify/Reorder order</a:t>
            </a:r>
          </a:p>
        </p:txBody>
      </p:sp>
      <p:sp>
        <p:nvSpPr>
          <p:cNvPr id="4996" name="TextBox 59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97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8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4999" name="Connector 62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0" name="TextBox 63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001" name="TextBox 64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to market price</a:t>
            </a:r>
          </a:p>
        </p:txBody>
      </p:sp>
      <p:sp>
        <p:nvSpPr>
          <p:cNvPr id="5002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03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4" name="Picture 67" descr="Picture 6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05" name="Connector 68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6" name="TextBox 69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007" name="TextBox 70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(stop loss / take profit / basket)</a:t>
            </a:r>
          </a:p>
        </p:txBody>
      </p:sp>
      <p:sp>
        <p:nvSpPr>
          <p:cNvPr id="5008" name="TextBox 71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09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10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11" name="Connector 74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2" name="TextBox 75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013" name="TextBox 76"/>
          <p:cNvSpPr txBox="1"/>
          <p:nvPr/>
        </p:nvSpPr>
        <p:spPr>
          <a:xfrm>
            <a:off x="2600095" y="11081824"/>
            <a:ext cx="6200547" cy="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(Attached / Slicing / Chain / Bracket / Market on close / Trailing)</a:t>
            </a:r>
          </a:p>
        </p:txBody>
      </p:sp>
      <p:sp>
        <p:nvSpPr>
          <p:cNvPr id="5014" name="TextBox 7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15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16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17" name="Connector 80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8" name="TextBox 81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019" name="TextBox 82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5020" name="TextBox 83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021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2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23" name="Connector 86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24" name="TextBox 87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025" name="TextBox 88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5026" name="TextBox 89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027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8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29" name="Connector 92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03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064 / 111</a:t>
            </a:r>
          </a:p>
        </p:txBody>
      </p:sp>
      <p:sp>
        <p:nvSpPr>
          <p:cNvPr id="503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03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503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03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03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03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03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04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04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04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04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44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045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5046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04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49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0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051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5052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05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55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6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057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5058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05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61" name="TextBox 31"/>
          <p:cNvSpPr txBox="1"/>
          <p:nvPr/>
        </p:nvSpPr>
        <p:spPr>
          <a:xfrm>
            <a:off x="14504212" y="7109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5062" name="Connector 32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3" name="TextBox 33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064" name="TextBox 34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5065" name="TextBox 35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06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7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68" name="Connector 38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9" name="TextBox 39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070" name="TextBox 40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5071" name="TextBox 41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072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3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74" name="Connector 44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5" name="TextBox 45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076" name="TextBox 46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5077" name="TextBox 47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7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9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80" name="Connector 50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1" name="TextBox 51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082" name="TextBox 52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5083" name="TextBox 53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8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5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086" name="Connector 56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08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065 / 111</a:t>
            </a:r>
          </a:p>
        </p:txBody>
      </p:sp>
      <p:sp>
        <p:nvSpPr>
          <p:cNvPr id="509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09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509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09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09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09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09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09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09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09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10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1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02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index visibility</a:t>
            </a:r>
          </a:p>
        </p:txBody>
      </p:sp>
      <p:sp>
        <p:nvSpPr>
          <p:cNvPr id="5103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0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06" name="TextBox 19"/>
          <p:cNvSpPr txBox="1"/>
          <p:nvPr/>
        </p:nvSpPr>
        <p:spPr>
          <a:xfrm>
            <a:off x="14504212" y="5614415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live price</a:t>
            </a:r>
          </a:p>
        </p:txBody>
      </p:sp>
      <p:sp>
        <p:nvSpPr>
          <p:cNvPr id="5107" name="Connector 20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8" name="TextBox 21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109" name="TextBox 22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news integration</a:t>
            </a:r>
          </a:p>
        </p:txBody>
      </p:sp>
      <p:sp>
        <p:nvSpPr>
          <p:cNvPr id="5110" name="TextBox 23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1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2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13" name="Connector 26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14" name="TextBox 27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115" name="TextBox 28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chart</a:t>
            </a:r>
          </a:p>
        </p:txBody>
      </p:sp>
      <p:sp>
        <p:nvSpPr>
          <p:cNvPr id="5116" name="TextBox 29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17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8" name="Picture 31" descr="Picture 3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19" name="Connector 32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20" name="TextBox 33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21" name="TextBox 34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benchmark comparison</a:t>
            </a:r>
          </a:p>
        </p:txBody>
      </p:sp>
      <p:sp>
        <p:nvSpPr>
          <p:cNvPr id="5122" name="TextBox 35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23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4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25" name="Connector 38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26" name="TextBox 39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127" name="TextBox 40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trends visibility</a:t>
            </a:r>
          </a:p>
        </p:txBody>
      </p:sp>
      <p:sp>
        <p:nvSpPr>
          <p:cNvPr id="5128" name="TextBox 41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2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0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31" name="Connector 44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2" name="TextBox 45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133" name="TextBox 46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Stocks List</a:t>
            </a:r>
          </a:p>
        </p:txBody>
      </p:sp>
      <p:sp>
        <p:nvSpPr>
          <p:cNvPr id="5134" name="TextBox 47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3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6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37" name="Connector 50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8" name="TextBox 51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139" name="TextBox 52"/>
          <p:cNvSpPr txBox="1"/>
          <p:nvPr/>
        </p:nvSpPr>
        <p:spPr>
          <a:xfrm>
            <a:off x="2600095" y="824788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Shariah Stocks List</a:t>
            </a:r>
          </a:p>
        </p:txBody>
      </p:sp>
      <p:sp>
        <p:nvSpPr>
          <p:cNvPr id="5140" name="TextBox 53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4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2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43" name="Connector 56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4" name="TextBox 57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145" name="TextBox 58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Options List</a:t>
            </a:r>
          </a:p>
        </p:txBody>
      </p:sp>
      <p:sp>
        <p:nvSpPr>
          <p:cNvPr id="5146" name="TextBox 59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47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49" name="Connector 62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0" name="TextBox 63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151" name="TextBox 64"/>
          <p:cNvSpPr txBox="1"/>
          <p:nvPr/>
        </p:nvSpPr>
        <p:spPr>
          <a:xfrm>
            <a:off x="2600095" y="91257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Trending Stocks</a:t>
            </a:r>
          </a:p>
        </p:txBody>
      </p:sp>
      <p:sp>
        <p:nvSpPr>
          <p:cNvPr id="5152" name="TextBox 65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53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4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55" name="Connector 68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6" name="TextBox 69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157" name="TextBox 70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(Gainers/Losers/Value/ Quantity)</a:t>
            </a:r>
          </a:p>
        </p:txBody>
      </p:sp>
      <p:sp>
        <p:nvSpPr>
          <p:cNvPr id="5158" name="TextBox 71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59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0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61" name="Connector 74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2" name="TextBox 75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163" name="TextBox 76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(Per/Post market/Overnight)</a:t>
            </a:r>
          </a:p>
        </p:txBody>
      </p:sp>
      <p:sp>
        <p:nvSpPr>
          <p:cNvPr id="5164" name="TextBox 77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65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6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67" name="Connector 80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8" name="TextBox 81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169" name="TextBox 82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watch</a:t>
            </a:r>
          </a:p>
        </p:txBody>
      </p:sp>
      <p:sp>
        <p:nvSpPr>
          <p:cNvPr id="5170" name="TextBox 83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71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72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73" name="Connector 86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74" name="TextBox 87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175" name="TextBox 88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market performance</a:t>
            </a:r>
          </a:p>
        </p:txBody>
      </p:sp>
      <p:sp>
        <p:nvSpPr>
          <p:cNvPr id="5176" name="TextBox 89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77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78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79" name="Connector 92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0" name="TextBox 93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181" name="TextBox 94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Heatmap</a:t>
            </a:r>
          </a:p>
        </p:txBody>
      </p:sp>
      <p:sp>
        <p:nvSpPr>
          <p:cNvPr id="5182" name="TextBox 95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83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4" name="Picture 97" descr="Picture 9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85" name="Connector 98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6" name="TextBox 99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187" name="TextBox 100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Instrument research access</a:t>
            </a:r>
          </a:p>
        </p:txBody>
      </p:sp>
      <p:sp>
        <p:nvSpPr>
          <p:cNvPr id="5188" name="TextBox 101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89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0" name="Picture 103" descr="Pictur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91" name="Connector 104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2" name="TextBox 105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193" name="TextBox 106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visibility</a:t>
            </a:r>
          </a:p>
        </p:txBody>
      </p:sp>
      <p:sp>
        <p:nvSpPr>
          <p:cNvPr id="5194" name="TextBox 107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95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6" name="Picture 109" descr="Picture 10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Connector 110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8" name="TextBox 111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199" name="TextBox 112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for live prices banner</a:t>
            </a:r>
          </a:p>
        </p:txBody>
      </p:sp>
      <p:sp>
        <p:nvSpPr>
          <p:cNvPr id="5200" name="TextBox 113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01" name="Picture 114" descr="Picture 1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2" name="Picture 115" descr="Picture 1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03" name="TextBox 116"/>
          <p:cNvSpPr txBox="1"/>
          <p:nvPr/>
        </p:nvSpPr>
        <p:spPr>
          <a:xfrm>
            <a:off x="14504212" y="12637007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Will be free</a:t>
            </a:r>
          </a:p>
        </p:txBody>
      </p:sp>
      <p:sp>
        <p:nvSpPr>
          <p:cNvPr id="5204" name="Connector 117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20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066 / 111</a:t>
            </a:r>
          </a:p>
        </p:txBody>
      </p:sp>
      <p:sp>
        <p:nvSpPr>
          <p:cNvPr id="520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20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521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21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21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21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21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21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21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21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21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9" name="TextBox 14"/>
          <p:cNvSpPr txBox="1"/>
          <p:nvPr/>
        </p:nvSpPr>
        <p:spPr>
          <a:xfrm>
            <a:off x="1517903" y="561441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20" name="TextBox 15"/>
          <p:cNvSpPr txBox="1"/>
          <p:nvPr/>
        </p:nvSpPr>
        <p:spPr>
          <a:xfrm>
            <a:off x="2600095" y="561441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name/Symbol/Logo</a:t>
            </a:r>
          </a:p>
        </p:txBody>
      </p:sp>
      <p:sp>
        <p:nvSpPr>
          <p:cNvPr id="5221" name="TextBox 16"/>
          <p:cNvSpPr txBox="1"/>
          <p:nvPr/>
        </p:nvSpPr>
        <p:spPr>
          <a:xfrm>
            <a:off x="9093250" y="561441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2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24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5" name="TextBox 20"/>
          <p:cNvSpPr txBox="1"/>
          <p:nvPr/>
        </p:nvSpPr>
        <p:spPr>
          <a:xfrm>
            <a:off x="1517903" y="605332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26" name="TextBox 21"/>
          <p:cNvSpPr txBox="1"/>
          <p:nvPr/>
        </p:nvSpPr>
        <p:spPr>
          <a:xfrm>
            <a:off x="2600095" y="605332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Chart performance</a:t>
            </a:r>
          </a:p>
        </p:txBody>
      </p:sp>
      <p:sp>
        <p:nvSpPr>
          <p:cNvPr id="5227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2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30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1" name="TextBox 26"/>
          <p:cNvSpPr txBox="1"/>
          <p:nvPr/>
        </p:nvSpPr>
        <p:spPr>
          <a:xfrm>
            <a:off x="1517903" y="6492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32" name="TextBox 27"/>
          <p:cNvSpPr txBox="1"/>
          <p:nvPr/>
        </p:nvSpPr>
        <p:spPr>
          <a:xfrm>
            <a:off x="2600095" y="6492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Market tag</a:t>
            </a:r>
          </a:p>
        </p:txBody>
      </p:sp>
      <p:sp>
        <p:nvSpPr>
          <p:cNvPr id="5233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34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36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7" name="TextBox 32"/>
          <p:cNvSpPr txBox="1"/>
          <p:nvPr/>
        </p:nvSpPr>
        <p:spPr>
          <a:xfrm>
            <a:off x="1517903" y="69311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238" name="TextBox 33"/>
          <p:cNvSpPr txBox="1"/>
          <p:nvPr/>
        </p:nvSpPr>
        <p:spPr>
          <a:xfrm>
            <a:off x="2600095" y="69311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Sector tag</a:t>
            </a:r>
          </a:p>
        </p:txBody>
      </p:sp>
      <p:sp>
        <p:nvSpPr>
          <p:cNvPr id="5239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40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42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3" name="TextBox 38"/>
          <p:cNvSpPr txBox="1"/>
          <p:nvPr/>
        </p:nvSpPr>
        <p:spPr>
          <a:xfrm>
            <a:off x="1517903" y="7370064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244" name="TextBox 39"/>
          <p:cNvSpPr txBox="1"/>
          <p:nvPr/>
        </p:nvSpPr>
        <p:spPr>
          <a:xfrm>
            <a:off x="2600095" y="737006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last price/change</a:t>
            </a:r>
          </a:p>
        </p:txBody>
      </p:sp>
      <p:sp>
        <p:nvSpPr>
          <p:cNvPr id="5245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46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48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9" name="TextBox 44"/>
          <p:cNvSpPr txBox="1"/>
          <p:nvPr/>
        </p:nvSpPr>
        <p:spPr>
          <a:xfrm>
            <a:off x="1517903" y="78089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250" name="TextBox 45"/>
          <p:cNvSpPr txBox="1"/>
          <p:nvPr/>
        </p:nvSpPr>
        <p:spPr>
          <a:xfrm>
            <a:off x="2600095" y="78089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Depth</a:t>
            </a:r>
          </a:p>
        </p:txBody>
      </p:sp>
      <p:sp>
        <p:nvSpPr>
          <p:cNvPr id="5251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52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3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54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5" name="TextBox 50"/>
          <p:cNvSpPr txBox="1"/>
          <p:nvPr/>
        </p:nvSpPr>
        <p:spPr>
          <a:xfrm>
            <a:off x="1517903" y="8247888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256" name="TextBox 51"/>
          <p:cNvSpPr txBox="1"/>
          <p:nvPr/>
        </p:nvSpPr>
        <p:spPr>
          <a:xfrm>
            <a:off x="2600095" y="8247888"/>
            <a:ext cx="6200547" cy="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Key statistics (closing price, volume, P/E, P/B, market cap, day's range, 52-week range)</a:t>
            </a:r>
          </a:p>
        </p:txBody>
      </p:sp>
      <p:sp>
        <p:nvSpPr>
          <p:cNvPr id="5257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58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60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1" name="TextBox 56"/>
          <p:cNvSpPr txBox="1"/>
          <p:nvPr/>
        </p:nvSpPr>
        <p:spPr>
          <a:xfrm>
            <a:off x="1517903" y="8686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262" name="TextBox 57"/>
          <p:cNvSpPr txBox="1"/>
          <p:nvPr/>
        </p:nvSpPr>
        <p:spPr>
          <a:xfrm>
            <a:off x="2600095" y="8686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 tab with articles</a:t>
            </a:r>
          </a:p>
        </p:txBody>
      </p:sp>
      <p:sp>
        <p:nvSpPr>
          <p:cNvPr id="5263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64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5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23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66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7" name="TextBox 62"/>
          <p:cNvSpPr txBox="1"/>
          <p:nvPr/>
        </p:nvSpPr>
        <p:spPr>
          <a:xfrm>
            <a:off x="1517903" y="91257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268" name="TextBox 63"/>
          <p:cNvSpPr txBox="1"/>
          <p:nvPr/>
        </p:nvSpPr>
        <p:spPr>
          <a:xfrm>
            <a:off x="2600095" y="9125711"/>
            <a:ext cx="6200547" cy="45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tab (valuation, income statement, balance sheet, cash flow, profitability, efficiency, dividends)</a:t>
            </a:r>
          </a:p>
        </p:txBody>
      </p:sp>
      <p:sp>
        <p:nvSpPr>
          <p:cNvPr id="5269" name="TextBox 64"/>
          <p:cNvSpPr txBox="1"/>
          <p:nvPr/>
        </p:nvSpPr>
        <p:spPr>
          <a:xfrm>
            <a:off x="9093250" y="91257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70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1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72" name="Connector 67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73" name="TextBox 68"/>
          <p:cNvSpPr txBox="1"/>
          <p:nvPr/>
        </p:nvSpPr>
        <p:spPr>
          <a:xfrm>
            <a:off x="1517903" y="95646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274" name="TextBox 69"/>
          <p:cNvSpPr txBox="1"/>
          <p:nvPr/>
        </p:nvSpPr>
        <p:spPr>
          <a:xfrm>
            <a:off x="2600095" y="95646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Company profile (sector, industry, employees, description)</a:t>
            </a:r>
          </a:p>
        </p:txBody>
      </p:sp>
      <p:sp>
        <p:nvSpPr>
          <p:cNvPr id="5275" name="TextBox 70"/>
          <p:cNvSpPr txBox="1"/>
          <p:nvPr/>
        </p:nvSpPr>
        <p:spPr>
          <a:xfrm>
            <a:off x="9093250" y="95646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76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7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0120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78" name="TextBox 73"/>
          <p:cNvSpPr txBox="1"/>
          <p:nvPr/>
        </p:nvSpPr>
        <p:spPr>
          <a:xfrm>
            <a:off x="14504212" y="9564623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5279" name="Connector 74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80" name="TextBox 75"/>
          <p:cNvSpPr txBox="1"/>
          <p:nvPr/>
        </p:nvSpPr>
        <p:spPr>
          <a:xfrm>
            <a:off x="1517903" y="100035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281" name="TextBox 76"/>
          <p:cNvSpPr txBox="1"/>
          <p:nvPr/>
        </p:nvSpPr>
        <p:spPr>
          <a:xfrm>
            <a:off x="2600095" y="100035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tab</a:t>
            </a:r>
          </a:p>
        </p:txBody>
      </p:sp>
      <p:sp>
        <p:nvSpPr>
          <p:cNvPr id="5282" name="TextBox 77"/>
          <p:cNvSpPr txBox="1"/>
          <p:nvPr/>
        </p:nvSpPr>
        <p:spPr>
          <a:xfrm>
            <a:off x="9093250" y="10003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83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4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85" name="Connector 80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86" name="TextBox 81"/>
          <p:cNvSpPr txBox="1"/>
          <p:nvPr/>
        </p:nvSpPr>
        <p:spPr>
          <a:xfrm>
            <a:off x="1517903" y="104424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287" name="TextBox 82"/>
          <p:cNvSpPr txBox="1"/>
          <p:nvPr/>
        </p:nvSpPr>
        <p:spPr>
          <a:xfrm>
            <a:off x="2600095" y="104424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Research Reports tab</a:t>
            </a:r>
          </a:p>
        </p:txBody>
      </p:sp>
      <p:sp>
        <p:nvSpPr>
          <p:cNvPr id="5288" name="TextBox 83"/>
          <p:cNvSpPr txBox="1"/>
          <p:nvPr/>
        </p:nvSpPr>
        <p:spPr>
          <a:xfrm>
            <a:off x="9093250" y="104424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89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0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91" name="Connector 86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2" name="TextBox 87"/>
          <p:cNvSpPr txBox="1"/>
          <p:nvPr/>
        </p:nvSpPr>
        <p:spPr>
          <a:xfrm>
            <a:off x="1517903" y="10881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293" name="TextBox 88"/>
          <p:cNvSpPr txBox="1"/>
          <p:nvPr/>
        </p:nvSpPr>
        <p:spPr>
          <a:xfrm>
            <a:off x="2600095" y="10881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Analysts Ratings tab</a:t>
            </a:r>
          </a:p>
        </p:txBody>
      </p:sp>
      <p:sp>
        <p:nvSpPr>
          <p:cNvPr id="5294" name="TextBox 89"/>
          <p:cNvSpPr txBox="1"/>
          <p:nvPr/>
        </p:nvSpPr>
        <p:spPr>
          <a:xfrm>
            <a:off x="9093250" y="10881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95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6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179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297" name="TextBox 92"/>
          <p:cNvSpPr txBox="1"/>
          <p:nvPr/>
        </p:nvSpPr>
        <p:spPr>
          <a:xfrm>
            <a:off x="14504212" y="108813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5298" name="Connector 93"/>
          <p:cNvSpPr/>
          <p:nvPr/>
        </p:nvSpPr>
        <p:spPr>
          <a:xfrm>
            <a:off x="1371600" y="112836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9" name="TextBox 94"/>
          <p:cNvSpPr txBox="1"/>
          <p:nvPr/>
        </p:nvSpPr>
        <p:spPr>
          <a:xfrm>
            <a:off x="1517903" y="1132027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300" name="TextBox 95"/>
          <p:cNvSpPr txBox="1"/>
          <p:nvPr/>
        </p:nvSpPr>
        <p:spPr>
          <a:xfrm>
            <a:off x="2600095" y="1132027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EPS chart</a:t>
            </a:r>
          </a:p>
        </p:txBody>
      </p:sp>
      <p:sp>
        <p:nvSpPr>
          <p:cNvPr id="5301" name="TextBox 96"/>
          <p:cNvSpPr txBox="1"/>
          <p:nvPr/>
        </p:nvSpPr>
        <p:spPr>
          <a:xfrm>
            <a:off x="9093250" y="1132027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02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3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568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04" name="Connector 99"/>
          <p:cNvSpPr/>
          <p:nvPr/>
        </p:nvSpPr>
        <p:spPr>
          <a:xfrm>
            <a:off x="1371600" y="117226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5" name="TextBox 100"/>
          <p:cNvSpPr txBox="1"/>
          <p:nvPr/>
        </p:nvSpPr>
        <p:spPr>
          <a:xfrm>
            <a:off x="1517903" y="11759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306" name="TextBox 101"/>
          <p:cNvSpPr txBox="1"/>
          <p:nvPr/>
        </p:nvSpPr>
        <p:spPr>
          <a:xfrm>
            <a:off x="2600095" y="11759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surprise %</a:t>
            </a:r>
          </a:p>
        </p:txBody>
      </p:sp>
      <p:sp>
        <p:nvSpPr>
          <p:cNvPr id="5307" name="TextBox 102"/>
          <p:cNvSpPr txBox="1"/>
          <p:nvPr/>
        </p:nvSpPr>
        <p:spPr>
          <a:xfrm>
            <a:off x="9093250" y="11759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08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9" name="Picture 104" descr="Picture 10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9575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10" name="Connector 105"/>
          <p:cNvSpPr/>
          <p:nvPr/>
        </p:nvSpPr>
        <p:spPr>
          <a:xfrm>
            <a:off x="1371600" y="121615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1" name="TextBox 106"/>
          <p:cNvSpPr txBox="1"/>
          <p:nvPr/>
        </p:nvSpPr>
        <p:spPr>
          <a:xfrm>
            <a:off x="1517903" y="1219809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312" name="TextBox 107"/>
          <p:cNvSpPr txBox="1"/>
          <p:nvPr/>
        </p:nvSpPr>
        <p:spPr>
          <a:xfrm>
            <a:off x="2600095" y="1219809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Watchlist &amp; notification buttons</a:t>
            </a:r>
          </a:p>
        </p:txBody>
      </p:sp>
      <p:sp>
        <p:nvSpPr>
          <p:cNvPr id="5313" name="TextBox 108"/>
          <p:cNvSpPr txBox="1"/>
          <p:nvPr/>
        </p:nvSpPr>
        <p:spPr>
          <a:xfrm>
            <a:off x="9093250" y="1219809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14" name="Picture 109" descr="Picture 10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5" name="Picture 110" descr="Picture 1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16" name="Connector 111"/>
          <p:cNvSpPr/>
          <p:nvPr/>
        </p:nvSpPr>
        <p:spPr>
          <a:xfrm>
            <a:off x="1371600" y="1260043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7" name="TextBox 112"/>
          <p:cNvSpPr txBox="1"/>
          <p:nvPr/>
        </p:nvSpPr>
        <p:spPr>
          <a:xfrm>
            <a:off x="1517903" y="12637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318" name="TextBox 113"/>
          <p:cNvSpPr txBox="1"/>
          <p:nvPr/>
        </p:nvSpPr>
        <p:spPr>
          <a:xfrm>
            <a:off x="2600095" y="12637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/ Sell buttons</a:t>
            </a:r>
          </a:p>
        </p:txBody>
      </p:sp>
      <p:sp>
        <p:nvSpPr>
          <p:cNvPr id="5319" name="TextBox 114"/>
          <p:cNvSpPr txBox="1"/>
          <p:nvPr/>
        </p:nvSpPr>
        <p:spPr>
          <a:xfrm>
            <a:off x="9093250" y="12637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20" name="Picture 115" descr="Picture 1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21" name="Picture 116" descr="Picture 1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22" name="Connector 117"/>
          <p:cNvSpPr/>
          <p:nvPr/>
        </p:nvSpPr>
        <p:spPr>
          <a:xfrm>
            <a:off x="1371600" y="130393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32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067 / 111</a:t>
            </a:r>
          </a:p>
        </p:txBody>
      </p:sp>
      <p:sp>
        <p:nvSpPr>
          <p:cNvPr id="532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32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Corporate Actions &amp; Events</a:t>
            </a:r>
          </a:p>
        </p:txBody>
      </p:sp>
      <p:sp>
        <p:nvSpPr>
          <p:cNvPr id="532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32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33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33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33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33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33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33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33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37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38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Dividends history</a:t>
            </a:r>
          </a:p>
        </p:txBody>
      </p:sp>
      <p:sp>
        <p:nvSpPr>
          <p:cNvPr id="5339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4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42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3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344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splits history</a:t>
            </a:r>
          </a:p>
        </p:txBody>
      </p:sp>
      <p:sp>
        <p:nvSpPr>
          <p:cNvPr id="5345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4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48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9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50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filter (All / Dividends / Splits)</a:t>
            </a:r>
          </a:p>
        </p:txBody>
      </p:sp>
      <p:sp>
        <p:nvSpPr>
          <p:cNvPr id="5351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5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54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5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56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Distribution date display</a:t>
            </a:r>
          </a:p>
        </p:txBody>
      </p:sp>
      <p:sp>
        <p:nvSpPr>
          <p:cNvPr id="5357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58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60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1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362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per share display</a:t>
            </a:r>
          </a:p>
        </p:txBody>
      </p:sp>
      <p:sp>
        <p:nvSpPr>
          <p:cNvPr id="5363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64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66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7" name="TextBox 4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368" name="TextBox 4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Actions</a:t>
            </a:r>
          </a:p>
        </p:txBody>
      </p:sp>
      <p:sp>
        <p:nvSpPr>
          <p:cNvPr id="5369" name="TextBox 4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70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1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72" name="Connector 4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3" name="TextBox 50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374" name="TextBox 51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calendar date</a:t>
            </a:r>
          </a:p>
        </p:txBody>
      </p:sp>
      <p:sp>
        <p:nvSpPr>
          <p:cNvPr id="5375" name="TextBox 52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37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78" name="Connector 5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9" name="TextBox 56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380" name="TextBox 57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Quarterly / Annual toggle</a:t>
            </a:r>
          </a:p>
        </p:txBody>
      </p:sp>
      <p:sp>
        <p:nvSpPr>
          <p:cNvPr id="5381" name="TextBox 58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8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84" name="Connector 61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5" name="TextBox 62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386" name="TextBox 63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Filter by period (Annual / Quarterly)</a:t>
            </a:r>
          </a:p>
        </p:txBody>
      </p:sp>
      <p:sp>
        <p:nvSpPr>
          <p:cNvPr id="5387" name="TextBox 64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388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390" name="Connector 67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39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068 / 111</a:t>
            </a:r>
          </a:p>
        </p:txBody>
      </p:sp>
      <p:sp>
        <p:nvSpPr>
          <p:cNvPr id="539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39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Research &amp; Company Intelligence</a:t>
            </a:r>
          </a:p>
        </p:txBody>
      </p:sp>
      <p:sp>
        <p:nvSpPr>
          <p:cNvPr id="539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39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39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39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40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40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40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40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40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5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406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Company profile summary</a:t>
            </a:r>
          </a:p>
        </p:txBody>
      </p:sp>
      <p:sp>
        <p:nvSpPr>
          <p:cNvPr id="5407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0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0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10" name="Connector 19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1" name="TextBox 20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412" name="TextBox 21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classification</a:t>
            </a:r>
          </a:p>
        </p:txBody>
      </p:sp>
      <p:sp>
        <p:nvSpPr>
          <p:cNvPr id="5413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1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1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16" name="Connector 25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7" name="TextBox 26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418" name="TextBox 27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Industry classification</a:t>
            </a:r>
          </a:p>
        </p:txBody>
      </p:sp>
      <p:sp>
        <p:nvSpPr>
          <p:cNvPr id="5419" name="TextBox 28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2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2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22" name="Connector 31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3" name="TextBox 32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424" name="TextBox 33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Employees count</a:t>
            </a:r>
          </a:p>
        </p:txBody>
      </p:sp>
      <p:sp>
        <p:nvSpPr>
          <p:cNvPr id="5425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2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2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28" name="Connector 37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9" name="TextBox 38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430" name="TextBox 39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Founders information</a:t>
            </a:r>
          </a:p>
        </p:txBody>
      </p:sp>
      <p:sp>
        <p:nvSpPr>
          <p:cNvPr id="5431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32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3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34" name="TextBox 43"/>
          <p:cNvSpPr txBox="1"/>
          <p:nvPr/>
        </p:nvSpPr>
        <p:spPr>
          <a:xfrm>
            <a:off x="14504212" y="7832187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5435" name="Connector 44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36" name="TextBox 45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437" name="TextBox 46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Headquarters location</a:t>
            </a:r>
          </a:p>
        </p:txBody>
      </p:sp>
      <p:sp>
        <p:nvSpPr>
          <p:cNvPr id="5438" name="TextBox 47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39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0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41" name="Connector 50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2" name="TextBox 51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443" name="TextBox 52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Tabs structure (Analysts / Financial / Profile / Holdings / Trades)</a:t>
            </a:r>
          </a:p>
        </p:txBody>
      </p:sp>
      <p:sp>
        <p:nvSpPr>
          <p:cNvPr id="5444" name="TextBox 53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45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6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47" name="Connector 56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8" name="TextBox 57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449" name="TextBox 58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Insider Trades list</a:t>
            </a:r>
          </a:p>
        </p:txBody>
      </p:sp>
      <p:sp>
        <p:nvSpPr>
          <p:cNvPr id="5450" name="TextBox 59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51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2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53" name="Connector 62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4" name="TextBox 63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455" name="TextBox 64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Government Trades list</a:t>
            </a:r>
          </a:p>
        </p:txBody>
      </p:sp>
      <p:sp>
        <p:nvSpPr>
          <p:cNvPr id="5456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57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8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59" name="Connector 68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0" name="TextBox 69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461" name="TextBox 70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estimates</a:t>
            </a:r>
          </a:p>
        </p:txBody>
      </p:sp>
      <p:sp>
        <p:nvSpPr>
          <p:cNvPr id="5462" name="TextBox 71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63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4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65" name="Connector 74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6" name="TextBox 75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467" name="TextBox 76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Favorite (heart icon)</a:t>
            </a:r>
          </a:p>
        </p:txBody>
      </p:sp>
      <p:sp>
        <p:nvSpPr>
          <p:cNvPr id="5468" name="TextBox 7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469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0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71" name="Connector 80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2" name="TextBox 81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473" name="TextBox 82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Subscribe banner</a:t>
            </a:r>
          </a:p>
        </p:txBody>
      </p:sp>
      <p:sp>
        <p:nvSpPr>
          <p:cNvPr id="5474" name="TextBox 83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475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6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77" name="TextBox 86"/>
          <p:cNvSpPr txBox="1"/>
          <p:nvPr/>
        </p:nvSpPr>
        <p:spPr>
          <a:xfrm>
            <a:off x="14504212" y="1162343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Will be free</a:t>
            </a:r>
          </a:p>
        </p:txBody>
      </p:sp>
      <p:sp>
        <p:nvSpPr>
          <p:cNvPr id="5478" name="Connector 87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9" name="TextBox 88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480" name="TextBox 89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Quarterly / Annual toggle (Financial)</a:t>
            </a:r>
          </a:p>
        </p:txBody>
      </p:sp>
      <p:sp>
        <p:nvSpPr>
          <p:cNvPr id="5481" name="TextBox 90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482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3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484" name="Connector 93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48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069 / 111</a:t>
            </a:r>
          </a:p>
        </p:txBody>
      </p:sp>
      <p:sp>
        <p:nvSpPr>
          <p:cNvPr id="548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48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549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49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49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49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49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49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49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49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49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9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500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health score</a:t>
            </a:r>
          </a:p>
        </p:txBody>
      </p:sp>
      <p:sp>
        <p:nvSpPr>
          <p:cNvPr id="5501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0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0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04" name="TextBox 19"/>
          <p:cNvSpPr txBox="1"/>
          <p:nvPr/>
        </p:nvSpPr>
        <p:spPr>
          <a:xfrm>
            <a:off x="18832982" y="5665763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505" name="Connector 20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6" name="TextBox 21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507" name="TextBox 22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concentration analysis</a:t>
            </a:r>
          </a:p>
        </p:txBody>
      </p:sp>
      <p:sp>
        <p:nvSpPr>
          <p:cNvPr id="5508" name="TextBox 23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0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0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11" name="TextBox 26"/>
          <p:cNvSpPr txBox="1"/>
          <p:nvPr/>
        </p:nvSpPr>
        <p:spPr>
          <a:xfrm>
            <a:off x="18832982" y="620736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512" name="Connector 27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13" name="TextBox 28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514" name="TextBox 29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Diversification score</a:t>
            </a:r>
          </a:p>
        </p:txBody>
      </p:sp>
      <p:sp>
        <p:nvSpPr>
          <p:cNvPr id="5515" name="TextBox 30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16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7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18" name="TextBox 33"/>
          <p:cNvSpPr txBox="1"/>
          <p:nvPr/>
        </p:nvSpPr>
        <p:spPr>
          <a:xfrm>
            <a:off x="18832982" y="6748974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519" name="Connector 34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0" name="TextBox 35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521" name="TextBox 36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vs benchmark</a:t>
            </a:r>
          </a:p>
        </p:txBody>
      </p:sp>
      <p:sp>
        <p:nvSpPr>
          <p:cNvPr id="5522" name="TextBox 37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23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24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25" name="TextBox 40"/>
          <p:cNvSpPr txBox="1"/>
          <p:nvPr/>
        </p:nvSpPr>
        <p:spPr>
          <a:xfrm>
            <a:off x="18832982" y="7290581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526" name="Connector 41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7" name="TextBox 42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528" name="TextBox 43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volatility analysis</a:t>
            </a:r>
          </a:p>
        </p:txBody>
      </p:sp>
      <p:sp>
        <p:nvSpPr>
          <p:cNvPr id="5529" name="TextBox 4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30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31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32" name="TextBox 47"/>
          <p:cNvSpPr txBox="1"/>
          <p:nvPr/>
        </p:nvSpPr>
        <p:spPr>
          <a:xfrm>
            <a:off x="18832982" y="7832187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533" name="Connector 48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4" name="TextBox 49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535" name="TextBox 50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diagnostics summary</a:t>
            </a:r>
          </a:p>
        </p:txBody>
      </p:sp>
      <p:sp>
        <p:nvSpPr>
          <p:cNvPr id="5536" name="TextBox 51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37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38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39" name="TextBox 54"/>
          <p:cNvSpPr txBox="1"/>
          <p:nvPr/>
        </p:nvSpPr>
        <p:spPr>
          <a:xfrm>
            <a:off x="18832982" y="8373792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540" name="Connector 55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1" name="TextBox 56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542" name="TextBox 57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Peer portfolio comparison</a:t>
            </a:r>
          </a:p>
        </p:txBody>
      </p:sp>
      <p:sp>
        <p:nvSpPr>
          <p:cNvPr id="5543" name="TextBox 58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44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5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46" name="TextBox 61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547" name="Connector 62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8" name="TextBox 63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549" name="TextBox 64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5550" name="TextBox 65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51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2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53" name="TextBox 68"/>
          <p:cNvSpPr txBox="1"/>
          <p:nvPr/>
        </p:nvSpPr>
        <p:spPr>
          <a:xfrm>
            <a:off x="18832982" y="9457005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554" name="Connector 69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5" name="TextBox 70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556" name="TextBox 71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risk exposure</a:t>
            </a:r>
          </a:p>
        </p:txBody>
      </p:sp>
      <p:sp>
        <p:nvSpPr>
          <p:cNvPr id="5557" name="TextBox 72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58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9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60" name="Connector 75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1" name="TextBox 76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562" name="TextBox 77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attribution</a:t>
            </a:r>
          </a:p>
        </p:txBody>
      </p:sp>
      <p:sp>
        <p:nvSpPr>
          <p:cNvPr id="5563" name="TextBox 78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64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5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66" name="TextBox 81"/>
          <p:cNvSpPr txBox="1"/>
          <p:nvPr/>
        </p:nvSpPr>
        <p:spPr>
          <a:xfrm>
            <a:off x="18832982" y="10540217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567" name="Connector 82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8" name="TextBox 83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569" name="TextBox 84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recommendations / insights</a:t>
            </a:r>
          </a:p>
        </p:txBody>
      </p:sp>
      <p:sp>
        <p:nvSpPr>
          <p:cNvPr id="5570" name="TextBox 85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71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2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9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73" name="Connector 88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4" name="TextBox 89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575" name="TextBox 90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rebalance suggestion</a:t>
            </a:r>
          </a:p>
        </p:txBody>
      </p:sp>
      <p:sp>
        <p:nvSpPr>
          <p:cNvPr id="5576" name="TextBox 9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577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8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79" name="Connector 94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0" name="TextBox 95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581" name="TextBox 96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preference settings</a:t>
            </a:r>
          </a:p>
        </p:txBody>
      </p:sp>
      <p:sp>
        <p:nvSpPr>
          <p:cNvPr id="5582" name="TextBox 97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583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584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585" name="Connector 100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58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070 / 111</a:t>
            </a:r>
          </a:p>
        </p:txBody>
      </p:sp>
      <p:sp>
        <p:nvSpPr>
          <p:cNvPr id="558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59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559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59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59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59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59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59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59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59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59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0" name="TextBox 14"/>
          <p:cNvSpPr txBox="1"/>
          <p:nvPr/>
        </p:nvSpPr>
        <p:spPr>
          <a:xfrm>
            <a:off x="1517903" y="57150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601" name="TextBox 15"/>
          <p:cNvSpPr txBox="1"/>
          <p:nvPr/>
        </p:nvSpPr>
        <p:spPr>
          <a:xfrm>
            <a:off x="2600095" y="57150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5602" name="TextBox 16"/>
          <p:cNvSpPr txBox="1"/>
          <p:nvPr/>
        </p:nvSpPr>
        <p:spPr>
          <a:xfrm>
            <a:off x="9093250" y="57150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0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0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05" name="TextBox 19"/>
          <p:cNvSpPr txBox="1"/>
          <p:nvPr/>
        </p:nvSpPr>
        <p:spPr>
          <a:xfrm>
            <a:off x="18832982" y="57150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606" name="Connector 20"/>
          <p:cNvSpPr/>
          <p:nvPr/>
        </p:nvSpPr>
        <p:spPr>
          <a:xfrm>
            <a:off x="1371600" y="621792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7" name="TextBox 21"/>
          <p:cNvSpPr txBox="1"/>
          <p:nvPr/>
        </p:nvSpPr>
        <p:spPr>
          <a:xfrm>
            <a:off x="1517903" y="635507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608" name="TextBox 22"/>
          <p:cNvSpPr txBox="1"/>
          <p:nvPr/>
        </p:nvSpPr>
        <p:spPr>
          <a:xfrm>
            <a:off x="2600095" y="635507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gainers / losers analysis</a:t>
            </a:r>
          </a:p>
        </p:txBody>
      </p:sp>
      <p:sp>
        <p:nvSpPr>
          <p:cNvPr id="5609" name="TextBox 23"/>
          <p:cNvSpPr txBox="1"/>
          <p:nvPr/>
        </p:nvSpPr>
        <p:spPr>
          <a:xfrm>
            <a:off x="9093250" y="635507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1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11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12" name="TextBox 26"/>
          <p:cNvSpPr txBox="1"/>
          <p:nvPr/>
        </p:nvSpPr>
        <p:spPr>
          <a:xfrm>
            <a:off x="18832982" y="635507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613" name="Connector 27"/>
          <p:cNvSpPr/>
          <p:nvPr/>
        </p:nvSpPr>
        <p:spPr>
          <a:xfrm>
            <a:off x="1371600" y="68580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4" name="TextBox 28"/>
          <p:cNvSpPr txBox="1"/>
          <p:nvPr/>
        </p:nvSpPr>
        <p:spPr>
          <a:xfrm>
            <a:off x="1517903" y="69951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615" name="TextBox 29"/>
          <p:cNvSpPr txBox="1"/>
          <p:nvPr/>
        </p:nvSpPr>
        <p:spPr>
          <a:xfrm>
            <a:off x="2600095" y="69951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gain analysis</a:t>
            </a:r>
          </a:p>
        </p:txBody>
      </p:sp>
      <p:sp>
        <p:nvSpPr>
          <p:cNvPr id="5616" name="TextBox 30"/>
          <p:cNvSpPr txBox="1"/>
          <p:nvPr/>
        </p:nvSpPr>
        <p:spPr>
          <a:xfrm>
            <a:off x="9093250" y="69951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17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18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19" name="TextBox 33"/>
          <p:cNvSpPr txBox="1"/>
          <p:nvPr/>
        </p:nvSpPr>
        <p:spPr>
          <a:xfrm>
            <a:off x="18832982" y="69951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620" name="Connector 34"/>
          <p:cNvSpPr/>
          <p:nvPr/>
        </p:nvSpPr>
        <p:spPr>
          <a:xfrm>
            <a:off x="1371600" y="74980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1" name="TextBox 35"/>
          <p:cNvSpPr txBox="1"/>
          <p:nvPr/>
        </p:nvSpPr>
        <p:spPr>
          <a:xfrm>
            <a:off x="1517903" y="7635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22" name="TextBox 36"/>
          <p:cNvSpPr txBox="1"/>
          <p:nvPr/>
        </p:nvSpPr>
        <p:spPr>
          <a:xfrm>
            <a:off x="2600095" y="7635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5623" name="TextBox 37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24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25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26" name="TextBox 40"/>
          <p:cNvSpPr txBox="1"/>
          <p:nvPr/>
        </p:nvSpPr>
        <p:spPr>
          <a:xfrm>
            <a:off x="18832982" y="763524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627" name="Connector 41"/>
          <p:cNvSpPr/>
          <p:nvPr/>
        </p:nvSpPr>
        <p:spPr>
          <a:xfrm>
            <a:off x="1371600" y="81381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8" name="TextBox 42"/>
          <p:cNvSpPr txBox="1"/>
          <p:nvPr/>
        </p:nvSpPr>
        <p:spPr>
          <a:xfrm>
            <a:off x="1517903" y="82753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629" name="TextBox 43"/>
          <p:cNvSpPr txBox="1"/>
          <p:nvPr/>
        </p:nvSpPr>
        <p:spPr>
          <a:xfrm>
            <a:off x="2600095" y="82753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exposure analysis</a:t>
            </a:r>
          </a:p>
        </p:txBody>
      </p:sp>
      <p:sp>
        <p:nvSpPr>
          <p:cNvPr id="5630" name="TextBox 44"/>
          <p:cNvSpPr txBox="1"/>
          <p:nvPr/>
        </p:nvSpPr>
        <p:spPr>
          <a:xfrm>
            <a:off x="9093250" y="82753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31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2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33" name="TextBox 47"/>
          <p:cNvSpPr txBox="1"/>
          <p:nvPr/>
        </p:nvSpPr>
        <p:spPr>
          <a:xfrm>
            <a:off x="18832982" y="827531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634" name="Connector 48"/>
          <p:cNvSpPr/>
          <p:nvPr/>
        </p:nvSpPr>
        <p:spPr>
          <a:xfrm>
            <a:off x="1371600" y="8778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5" name="TextBox 49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636" name="TextBox 50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period analysis</a:t>
            </a:r>
          </a:p>
        </p:txBody>
      </p:sp>
      <p:sp>
        <p:nvSpPr>
          <p:cNvPr id="5637" name="TextBox 51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38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9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40" name="TextBox 54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641" name="Connector 55"/>
          <p:cNvSpPr/>
          <p:nvPr/>
        </p:nvSpPr>
        <p:spPr>
          <a:xfrm>
            <a:off x="1371600" y="9418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2" name="TextBox 56"/>
          <p:cNvSpPr txBox="1"/>
          <p:nvPr/>
        </p:nvSpPr>
        <p:spPr>
          <a:xfrm>
            <a:off x="1517903" y="95554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643" name="TextBox 57"/>
          <p:cNvSpPr txBox="1"/>
          <p:nvPr/>
        </p:nvSpPr>
        <p:spPr>
          <a:xfrm>
            <a:off x="2600095" y="95554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trend analysis</a:t>
            </a:r>
          </a:p>
        </p:txBody>
      </p:sp>
      <p:sp>
        <p:nvSpPr>
          <p:cNvPr id="5644" name="TextBox 58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45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6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47" name="TextBox 61"/>
          <p:cNvSpPr txBox="1"/>
          <p:nvPr/>
        </p:nvSpPr>
        <p:spPr>
          <a:xfrm>
            <a:off x="18832982" y="955548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648" name="Connector 62"/>
          <p:cNvSpPr/>
          <p:nvPr/>
        </p:nvSpPr>
        <p:spPr>
          <a:xfrm>
            <a:off x="1371600" y="10058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9" name="TextBox 63"/>
          <p:cNvSpPr txBox="1"/>
          <p:nvPr/>
        </p:nvSpPr>
        <p:spPr>
          <a:xfrm>
            <a:off x="1517903" y="101955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650" name="TextBox 64"/>
          <p:cNvSpPr txBox="1"/>
          <p:nvPr/>
        </p:nvSpPr>
        <p:spPr>
          <a:xfrm>
            <a:off x="2600095" y="101955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change insights</a:t>
            </a:r>
          </a:p>
        </p:txBody>
      </p:sp>
      <p:sp>
        <p:nvSpPr>
          <p:cNvPr id="5651" name="TextBox 65"/>
          <p:cNvSpPr txBox="1"/>
          <p:nvPr/>
        </p:nvSpPr>
        <p:spPr>
          <a:xfrm>
            <a:off x="9093250" y="101955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52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3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54" name="TextBox 68"/>
          <p:cNvSpPr txBox="1"/>
          <p:nvPr/>
        </p:nvSpPr>
        <p:spPr>
          <a:xfrm>
            <a:off x="18832982" y="101955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655" name="Connector 69"/>
          <p:cNvSpPr/>
          <p:nvPr/>
        </p:nvSpPr>
        <p:spPr>
          <a:xfrm>
            <a:off x="1371600" y="106984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56" name="TextBox 70"/>
          <p:cNvSpPr txBox="1"/>
          <p:nvPr/>
        </p:nvSpPr>
        <p:spPr>
          <a:xfrm>
            <a:off x="1517903" y="108356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657" name="TextBox 71"/>
          <p:cNvSpPr txBox="1"/>
          <p:nvPr/>
        </p:nvSpPr>
        <p:spPr>
          <a:xfrm>
            <a:off x="2600095" y="108356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insights summary</a:t>
            </a:r>
          </a:p>
        </p:txBody>
      </p:sp>
      <p:sp>
        <p:nvSpPr>
          <p:cNvPr id="5658" name="TextBox 72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59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0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61" name="Connector 75"/>
          <p:cNvSpPr/>
          <p:nvPr/>
        </p:nvSpPr>
        <p:spPr>
          <a:xfrm>
            <a:off x="1371600" y="113385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2" name="TextBox 76"/>
          <p:cNvSpPr txBox="1"/>
          <p:nvPr/>
        </p:nvSpPr>
        <p:spPr>
          <a:xfrm>
            <a:off x="1517903" y="114757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663" name="TextBox 77"/>
          <p:cNvSpPr txBox="1"/>
          <p:nvPr/>
        </p:nvSpPr>
        <p:spPr>
          <a:xfrm>
            <a:off x="2600095" y="114757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Insight-driven alerts</a:t>
            </a:r>
          </a:p>
        </p:txBody>
      </p:sp>
      <p:sp>
        <p:nvSpPr>
          <p:cNvPr id="5664" name="TextBox 78"/>
          <p:cNvSpPr txBox="1"/>
          <p:nvPr/>
        </p:nvSpPr>
        <p:spPr>
          <a:xfrm>
            <a:off x="9093250" y="114757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665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6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67" name="TextBox 81"/>
          <p:cNvSpPr txBox="1"/>
          <p:nvPr/>
        </p:nvSpPr>
        <p:spPr>
          <a:xfrm>
            <a:off x="18832982" y="1147571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668" name="Connector 82"/>
          <p:cNvSpPr/>
          <p:nvPr/>
        </p:nvSpPr>
        <p:spPr>
          <a:xfrm>
            <a:off x="1371600" y="11978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9" name="TextBox 83"/>
          <p:cNvSpPr txBox="1"/>
          <p:nvPr/>
        </p:nvSpPr>
        <p:spPr>
          <a:xfrm>
            <a:off x="1517903" y="12115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670" name="TextBox 84"/>
          <p:cNvSpPr txBox="1"/>
          <p:nvPr/>
        </p:nvSpPr>
        <p:spPr>
          <a:xfrm>
            <a:off x="2600095" y="12115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 preferences</a:t>
            </a:r>
          </a:p>
        </p:txBody>
      </p:sp>
      <p:sp>
        <p:nvSpPr>
          <p:cNvPr id="5671" name="TextBox 85"/>
          <p:cNvSpPr txBox="1"/>
          <p:nvPr/>
        </p:nvSpPr>
        <p:spPr>
          <a:xfrm>
            <a:off x="9093250" y="12115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672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3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74" name="Connector 88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67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071 / 111</a:t>
            </a:r>
          </a:p>
        </p:txBody>
      </p:sp>
      <p:sp>
        <p:nvSpPr>
          <p:cNvPr id="567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67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568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68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68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68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68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68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68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68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68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9" name="TextBox 14"/>
          <p:cNvSpPr txBox="1"/>
          <p:nvPr/>
        </p:nvSpPr>
        <p:spPr>
          <a:xfrm>
            <a:off x="1517903" y="57150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690" name="TextBox 15"/>
          <p:cNvSpPr txBox="1"/>
          <p:nvPr/>
        </p:nvSpPr>
        <p:spPr>
          <a:xfrm>
            <a:off x="2600095" y="57150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5691" name="TextBox 16"/>
          <p:cNvSpPr txBox="1"/>
          <p:nvPr/>
        </p:nvSpPr>
        <p:spPr>
          <a:xfrm>
            <a:off x="9093250" y="57150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9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694" name="Connector 19"/>
          <p:cNvSpPr/>
          <p:nvPr/>
        </p:nvSpPr>
        <p:spPr>
          <a:xfrm>
            <a:off x="1371600" y="621792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5" name="TextBox 20"/>
          <p:cNvSpPr txBox="1"/>
          <p:nvPr/>
        </p:nvSpPr>
        <p:spPr>
          <a:xfrm>
            <a:off x="1517903" y="635507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696" name="TextBox 21"/>
          <p:cNvSpPr txBox="1"/>
          <p:nvPr/>
        </p:nvSpPr>
        <p:spPr>
          <a:xfrm>
            <a:off x="2600095" y="635507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dividends (1 month within a year)</a:t>
            </a:r>
          </a:p>
        </p:txBody>
      </p:sp>
      <p:sp>
        <p:nvSpPr>
          <p:cNvPr id="5697" name="TextBox 22"/>
          <p:cNvSpPr txBox="1"/>
          <p:nvPr/>
        </p:nvSpPr>
        <p:spPr>
          <a:xfrm>
            <a:off x="9093250" y="635507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9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00" name="TextBox 25"/>
          <p:cNvSpPr txBox="1"/>
          <p:nvPr/>
        </p:nvSpPr>
        <p:spPr>
          <a:xfrm>
            <a:off x="14504212" y="635507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5701" name="TextBox 26"/>
          <p:cNvSpPr txBox="1"/>
          <p:nvPr/>
        </p:nvSpPr>
        <p:spPr>
          <a:xfrm>
            <a:off x="18832982" y="635507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702" name="Connector 27"/>
          <p:cNvSpPr/>
          <p:nvPr/>
        </p:nvSpPr>
        <p:spPr>
          <a:xfrm>
            <a:off x="1371600" y="68580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3" name="TextBox 28"/>
          <p:cNvSpPr txBox="1"/>
          <p:nvPr/>
        </p:nvSpPr>
        <p:spPr>
          <a:xfrm>
            <a:off x="1517903" y="69951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704" name="TextBox 29"/>
          <p:cNvSpPr txBox="1"/>
          <p:nvPr/>
        </p:nvSpPr>
        <p:spPr>
          <a:xfrm>
            <a:off x="2600095" y="69951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Online statement (1 month within a year)</a:t>
            </a:r>
          </a:p>
        </p:txBody>
      </p:sp>
      <p:sp>
        <p:nvSpPr>
          <p:cNvPr id="5705" name="TextBox 30"/>
          <p:cNvSpPr txBox="1"/>
          <p:nvPr/>
        </p:nvSpPr>
        <p:spPr>
          <a:xfrm>
            <a:off x="9093250" y="69951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06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07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08" name="TextBox 33"/>
          <p:cNvSpPr txBox="1"/>
          <p:nvPr/>
        </p:nvSpPr>
        <p:spPr>
          <a:xfrm>
            <a:off x="14504212" y="69951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5709" name="Connector 34"/>
          <p:cNvSpPr/>
          <p:nvPr/>
        </p:nvSpPr>
        <p:spPr>
          <a:xfrm>
            <a:off x="1371600" y="74980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0" name="TextBox 35"/>
          <p:cNvSpPr txBox="1"/>
          <p:nvPr/>
        </p:nvSpPr>
        <p:spPr>
          <a:xfrm>
            <a:off x="1517903" y="7635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711" name="TextBox 36"/>
          <p:cNvSpPr txBox="1"/>
          <p:nvPr/>
        </p:nvSpPr>
        <p:spPr>
          <a:xfrm>
            <a:off x="2600095" y="7635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(1 month within a year)</a:t>
            </a:r>
          </a:p>
        </p:txBody>
      </p:sp>
      <p:sp>
        <p:nvSpPr>
          <p:cNvPr id="5712" name="TextBox 37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13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4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15" name="TextBox 40"/>
          <p:cNvSpPr txBox="1"/>
          <p:nvPr/>
        </p:nvSpPr>
        <p:spPr>
          <a:xfrm>
            <a:off x="14504212" y="763524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5716" name="Connector 41"/>
          <p:cNvSpPr/>
          <p:nvPr/>
        </p:nvSpPr>
        <p:spPr>
          <a:xfrm>
            <a:off x="1371600" y="81381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7" name="TextBox 42"/>
          <p:cNvSpPr txBox="1"/>
          <p:nvPr/>
        </p:nvSpPr>
        <p:spPr>
          <a:xfrm>
            <a:off x="1517903" y="82753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718" name="TextBox 43"/>
          <p:cNvSpPr txBox="1"/>
          <p:nvPr/>
        </p:nvSpPr>
        <p:spPr>
          <a:xfrm>
            <a:off x="2600095" y="82753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statement report (1 month within a year)</a:t>
            </a:r>
          </a:p>
        </p:txBody>
      </p:sp>
      <p:sp>
        <p:nvSpPr>
          <p:cNvPr id="5719" name="TextBox 44"/>
          <p:cNvSpPr txBox="1"/>
          <p:nvPr/>
        </p:nvSpPr>
        <p:spPr>
          <a:xfrm>
            <a:off x="9093250" y="82753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20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21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22" name="TextBox 47"/>
          <p:cNvSpPr txBox="1"/>
          <p:nvPr/>
        </p:nvSpPr>
        <p:spPr>
          <a:xfrm>
            <a:off x="14504212" y="8275319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5723" name="TextBox 48"/>
          <p:cNvSpPr txBox="1"/>
          <p:nvPr/>
        </p:nvSpPr>
        <p:spPr>
          <a:xfrm>
            <a:off x="18832982" y="8275319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724" name="Connector 49"/>
          <p:cNvSpPr/>
          <p:nvPr/>
        </p:nvSpPr>
        <p:spPr>
          <a:xfrm>
            <a:off x="1371600" y="8778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5" name="TextBox 50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726" name="TextBox 51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Transaction report (Today and yesterday only)</a:t>
            </a:r>
          </a:p>
        </p:txBody>
      </p:sp>
      <p:sp>
        <p:nvSpPr>
          <p:cNvPr id="5727" name="TextBox 52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28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2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30" name="TextBox 55"/>
          <p:cNvSpPr txBox="1"/>
          <p:nvPr/>
        </p:nvSpPr>
        <p:spPr>
          <a:xfrm>
            <a:off x="14504212" y="891540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5731" name="TextBox 56"/>
          <p:cNvSpPr txBox="1"/>
          <p:nvPr/>
        </p:nvSpPr>
        <p:spPr>
          <a:xfrm>
            <a:off x="18832982" y="891540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732" name="Connector 57"/>
          <p:cNvSpPr/>
          <p:nvPr/>
        </p:nvSpPr>
        <p:spPr>
          <a:xfrm>
            <a:off x="1371600" y="9418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3" name="TextBox 58"/>
          <p:cNvSpPr txBox="1"/>
          <p:nvPr/>
        </p:nvSpPr>
        <p:spPr>
          <a:xfrm>
            <a:off x="1517903" y="95554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734" name="TextBox 59"/>
          <p:cNvSpPr txBox="1"/>
          <p:nvPr/>
        </p:nvSpPr>
        <p:spPr>
          <a:xfrm>
            <a:off x="2600095" y="95554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Profit/loss Report</a:t>
            </a:r>
          </a:p>
        </p:txBody>
      </p:sp>
      <p:sp>
        <p:nvSpPr>
          <p:cNvPr id="5735" name="TextBox 60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36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7" name="Picture 62" descr="Picture 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38" name="Connector 63"/>
          <p:cNvSpPr/>
          <p:nvPr/>
        </p:nvSpPr>
        <p:spPr>
          <a:xfrm>
            <a:off x="1371600" y="10058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9" name="TextBox 64"/>
          <p:cNvSpPr txBox="1"/>
          <p:nvPr/>
        </p:nvSpPr>
        <p:spPr>
          <a:xfrm>
            <a:off x="1517903" y="101955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740" name="TextBox 65"/>
          <p:cNvSpPr txBox="1"/>
          <p:nvPr/>
        </p:nvSpPr>
        <p:spPr>
          <a:xfrm>
            <a:off x="2600095" y="101955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5741" name="TextBox 66"/>
          <p:cNvSpPr txBox="1"/>
          <p:nvPr/>
        </p:nvSpPr>
        <p:spPr>
          <a:xfrm>
            <a:off x="9093250" y="101955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42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3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44" name="TextBox 69"/>
          <p:cNvSpPr txBox="1"/>
          <p:nvPr/>
        </p:nvSpPr>
        <p:spPr>
          <a:xfrm>
            <a:off x="18832982" y="101955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745" name="Connector 70"/>
          <p:cNvSpPr/>
          <p:nvPr/>
        </p:nvSpPr>
        <p:spPr>
          <a:xfrm>
            <a:off x="1371600" y="106984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6" name="TextBox 71"/>
          <p:cNvSpPr txBox="1"/>
          <p:nvPr/>
        </p:nvSpPr>
        <p:spPr>
          <a:xfrm>
            <a:off x="1517903" y="108356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747" name="TextBox 72"/>
          <p:cNvSpPr txBox="1"/>
          <p:nvPr/>
        </p:nvSpPr>
        <p:spPr>
          <a:xfrm>
            <a:off x="2600095" y="108356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5748" name="TextBox 73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49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0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51" name="TextBox 76"/>
          <p:cNvSpPr txBox="1"/>
          <p:nvPr/>
        </p:nvSpPr>
        <p:spPr>
          <a:xfrm>
            <a:off x="18832982" y="10835640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5752" name="Connector 77"/>
          <p:cNvSpPr/>
          <p:nvPr/>
        </p:nvSpPr>
        <p:spPr>
          <a:xfrm>
            <a:off x="1371600" y="113385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3" name="TextBox 78"/>
          <p:cNvSpPr txBox="1"/>
          <p:nvPr/>
        </p:nvSpPr>
        <p:spPr>
          <a:xfrm>
            <a:off x="1517903" y="114757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754" name="TextBox 79"/>
          <p:cNvSpPr txBox="1"/>
          <p:nvPr/>
        </p:nvSpPr>
        <p:spPr>
          <a:xfrm>
            <a:off x="2600095" y="114757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Download account statement</a:t>
            </a:r>
          </a:p>
        </p:txBody>
      </p:sp>
      <p:sp>
        <p:nvSpPr>
          <p:cNvPr id="5755" name="TextBox 80"/>
          <p:cNvSpPr txBox="1"/>
          <p:nvPr/>
        </p:nvSpPr>
        <p:spPr>
          <a:xfrm>
            <a:off x="9093250" y="114757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56" name="Picture 81" descr="Picture 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7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58" name="Connector 83"/>
          <p:cNvSpPr/>
          <p:nvPr/>
        </p:nvSpPr>
        <p:spPr>
          <a:xfrm>
            <a:off x="1371600" y="11978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9" name="TextBox 84"/>
          <p:cNvSpPr txBox="1"/>
          <p:nvPr/>
        </p:nvSpPr>
        <p:spPr>
          <a:xfrm>
            <a:off x="1517903" y="12115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760" name="TextBox 85"/>
          <p:cNvSpPr txBox="1"/>
          <p:nvPr/>
        </p:nvSpPr>
        <p:spPr>
          <a:xfrm>
            <a:off x="2600095" y="12115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5761" name="TextBox 86"/>
          <p:cNvSpPr txBox="1"/>
          <p:nvPr/>
        </p:nvSpPr>
        <p:spPr>
          <a:xfrm>
            <a:off x="9093250" y="12115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762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3" name="Picture 88" descr="Picture 8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64" name="TextBox 89"/>
          <p:cNvSpPr txBox="1"/>
          <p:nvPr/>
        </p:nvSpPr>
        <p:spPr>
          <a:xfrm>
            <a:off x="14504212" y="1211580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5765" name="Connector 90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76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072 / 111</a:t>
            </a:r>
          </a:p>
        </p:txBody>
      </p:sp>
      <p:sp>
        <p:nvSpPr>
          <p:cNvPr id="576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77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Type</a:t>
            </a:r>
          </a:p>
        </p:txBody>
      </p:sp>
      <p:sp>
        <p:nvSpPr>
          <p:cNvPr id="577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77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77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77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77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77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77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77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77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0" name="TextBox 14"/>
          <p:cNvSpPr txBox="1"/>
          <p:nvPr/>
        </p:nvSpPr>
        <p:spPr>
          <a:xfrm>
            <a:off x="1517903" y="56149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781" name="TextBox 15"/>
          <p:cNvSpPr txBox="1"/>
          <p:nvPr/>
        </p:nvSpPr>
        <p:spPr>
          <a:xfrm>
            <a:off x="2600095" y="56149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5782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8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8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85" name="Connector 19"/>
          <p:cNvSpPr/>
          <p:nvPr/>
        </p:nvSpPr>
        <p:spPr>
          <a:xfrm>
            <a:off x="1371600" y="60178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6" name="TextBox 20"/>
          <p:cNvSpPr txBox="1"/>
          <p:nvPr/>
        </p:nvSpPr>
        <p:spPr>
          <a:xfrm>
            <a:off x="1517903" y="605504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787" name="TextBox 21"/>
          <p:cNvSpPr txBox="1"/>
          <p:nvPr/>
        </p:nvSpPr>
        <p:spPr>
          <a:xfrm>
            <a:off x="2600095" y="605504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Limit</a:t>
            </a:r>
          </a:p>
        </p:txBody>
      </p:sp>
      <p:sp>
        <p:nvSpPr>
          <p:cNvPr id="5788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8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91" name="Connector 25"/>
          <p:cNvSpPr/>
          <p:nvPr/>
        </p:nvSpPr>
        <p:spPr>
          <a:xfrm>
            <a:off x="1371600" y="645795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2" name="TextBox 26"/>
          <p:cNvSpPr txBox="1"/>
          <p:nvPr/>
        </p:nvSpPr>
        <p:spPr>
          <a:xfrm>
            <a:off x="1517903" y="649509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793" name="TextBox 27"/>
          <p:cNvSpPr txBox="1"/>
          <p:nvPr/>
        </p:nvSpPr>
        <p:spPr>
          <a:xfrm>
            <a:off x="2600095" y="649509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Conditional (per stock/ sector/ market) movement</a:t>
            </a:r>
          </a:p>
        </p:txBody>
      </p:sp>
      <p:sp>
        <p:nvSpPr>
          <p:cNvPr id="5794" name="TextBox 28"/>
          <p:cNvSpPr txBox="1"/>
          <p:nvPr/>
        </p:nvSpPr>
        <p:spPr>
          <a:xfrm>
            <a:off x="9093250" y="649509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95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6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797" name="Connector 31"/>
          <p:cNvSpPr/>
          <p:nvPr/>
        </p:nvSpPr>
        <p:spPr>
          <a:xfrm>
            <a:off x="1371600" y="689800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8" name="TextBox 32"/>
          <p:cNvSpPr txBox="1"/>
          <p:nvPr/>
        </p:nvSpPr>
        <p:spPr>
          <a:xfrm>
            <a:off x="1517903" y="693515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799" name="TextBox 33"/>
          <p:cNvSpPr txBox="1"/>
          <p:nvPr/>
        </p:nvSpPr>
        <p:spPr>
          <a:xfrm>
            <a:off x="2600095" y="693515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Disclosed order (more than 50K stocks )</a:t>
            </a:r>
          </a:p>
        </p:txBody>
      </p:sp>
      <p:sp>
        <p:nvSpPr>
          <p:cNvPr id="5800" name="TextBox 34"/>
          <p:cNvSpPr txBox="1"/>
          <p:nvPr/>
        </p:nvSpPr>
        <p:spPr>
          <a:xfrm>
            <a:off x="9093250" y="693515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01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2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03" name="Connector 37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4" name="TextBox 38"/>
          <p:cNvSpPr txBox="1"/>
          <p:nvPr/>
        </p:nvSpPr>
        <p:spPr>
          <a:xfrm>
            <a:off x="1517903" y="737520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05" name="TextBox 39"/>
          <p:cNvSpPr txBox="1"/>
          <p:nvPr/>
        </p:nvSpPr>
        <p:spPr>
          <a:xfrm>
            <a:off x="2600095" y="73752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Basket</a:t>
            </a:r>
          </a:p>
        </p:txBody>
      </p:sp>
      <p:sp>
        <p:nvSpPr>
          <p:cNvPr id="5806" name="TextBox 40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07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8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09" name="Connector 43"/>
          <p:cNvSpPr/>
          <p:nvPr/>
        </p:nvSpPr>
        <p:spPr>
          <a:xfrm>
            <a:off x="1371600" y="777811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0" name="TextBox 44"/>
          <p:cNvSpPr txBox="1"/>
          <p:nvPr/>
        </p:nvSpPr>
        <p:spPr>
          <a:xfrm>
            <a:off x="1517903" y="781526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811" name="TextBox 45"/>
          <p:cNvSpPr txBox="1"/>
          <p:nvPr/>
        </p:nvSpPr>
        <p:spPr>
          <a:xfrm>
            <a:off x="2600095" y="781526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Take profit (sell)</a:t>
            </a:r>
          </a:p>
        </p:txBody>
      </p:sp>
      <p:sp>
        <p:nvSpPr>
          <p:cNvPr id="5812" name="TextBox 46"/>
          <p:cNvSpPr txBox="1"/>
          <p:nvPr/>
        </p:nvSpPr>
        <p:spPr>
          <a:xfrm>
            <a:off x="9093250" y="781526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13" name="Picture 47" descr="Picture 4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14" name="Picture 48" descr="Picture 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15" name="Connector 49"/>
          <p:cNvSpPr/>
          <p:nvPr/>
        </p:nvSpPr>
        <p:spPr>
          <a:xfrm>
            <a:off x="1371600" y="821816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6" name="TextBox 50"/>
          <p:cNvSpPr txBox="1"/>
          <p:nvPr/>
        </p:nvSpPr>
        <p:spPr>
          <a:xfrm>
            <a:off x="1517903" y="825531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817" name="TextBox 51"/>
          <p:cNvSpPr txBox="1"/>
          <p:nvPr/>
        </p:nvSpPr>
        <p:spPr>
          <a:xfrm>
            <a:off x="2600095" y="82553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Stop loss (sell)</a:t>
            </a:r>
          </a:p>
        </p:txBody>
      </p:sp>
      <p:sp>
        <p:nvSpPr>
          <p:cNvPr id="5818" name="TextBox 52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19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20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21" name="Connector 55"/>
          <p:cNvSpPr/>
          <p:nvPr/>
        </p:nvSpPr>
        <p:spPr>
          <a:xfrm>
            <a:off x="1371600" y="8658225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2" name="TextBox 56"/>
          <p:cNvSpPr txBox="1"/>
          <p:nvPr/>
        </p:nvSpPr>
        <p:spPr>
          <a:xfrm>
            <a:off x="1517903" y="869537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823" name="TextBox 57"/>
          <p:cNvSpPr txBox="1"/>
          <p:nvPr/>
        </p:nvSpPr>
        <p:spPr>
          <a:xfrm>
            <a:off x="2600095" y="869537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Attached order</a:t>
            </a:r>
          </a:p>
        </p:txBody>
      </p:sp>
      <p:sp>
        <p:nvSpPr>
          <p:cNvPr id="5824" name="TextBox 58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25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26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27" name="Connector 61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8" name="TextBox 62"/>
          <p:cNvSpPr txBox="1"/>
          <p:nvPr/>
        </p:nvSpPr>
        <p:spPr>
          <a:xfrm>
            <a:off x="1517903" y="913542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829" name="TextBox 63"/>
          <p:cNvSpPr txBox="1"/>
          <p:nvPr/>
        </p:nvSpPr>
        <p:spPr>
          <a:xfrm>
            <a:off x="2600095" y="913542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Slicing order</a:t>
            </a:r>
          </a:p>
        </p:txBody>
      </p:sp>
      <p:sp>
        <p:nvSpPr>
          <p:cNvPr id="5830" name="TextBox 64"/>
          <p:cNvSpPr txBox="1"/>
          <p:nvPr/>
        </p:nvSpPr>
        <p:spPr>
          <a:xfrm>
            <a:off x="9093250" y="913542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31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32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33" name="TextBox 67"/>
          <p:cNvSpPr txBox="1"/>
          <p:nvPr/>
        </p:nvSpPr>
        <p:spPr>
          <a:xfrm>
            <a:off x="18832982" y="9135426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ARCD-1532</a:t>
            </a:r>
          </a:p>
        </p:txBody>
      </p:sp>
      <p:sp>
        <p:nvSpPr>
          <p:cNvPr id="5834" name="Connector 68"/>
          <p:cNvSpPr/>
          <p:nvPr/>
        </p:nvSpPr>
        <p:spPr>
          <a:xfrm>
            <a:off x="1371600" y="953833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5" name="TextBox 69"/>
          <p:cNvSpPr txBox="1"/>
          <p:nvPr/>
        </p:nvSpPr>
        <p:spPr>
          <a:xfrm>
            <a:off x="1517903" y="957548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836" name="TextBox 70"/>
          <p:cNvSpPr txBox="1"/>
          <p:nvPr/>
        </p:nvSpPr>
        <p:spPr>
          <a:xfrm>
            <a:off x="2600095" y="957548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Chain order</a:t>
            </a:r>
          </a:p>
        </p:txBody>
      </p:sp>
      <p:sp>
        <p:nvSpPr>
          <p:cNvPr id="5837" name="TextBox 71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38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1205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39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1205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40" name="TextBox 74"/>
          <p:cNvSpPr txBox="1"/>
          <p:nvPr/>
        </p:nvSpPr>
        <p:spPr>
          <a:xfrm>
            <a:off x="18832982" y="957548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ARCD-2652</a:t>
            </a:r>
          </a:p>
        </p:txBody>
      </p:sp>
      <p:sp>
        <p:nvSpPr>
          <p:cNvPr id="5841" name="Connector 75"/>
          <p:cNvSpPr/>
          <p:nvPr/>
        </p:nvSpPr>
        <p:spPr>
          <a:xfrm>
            <a:off x="1371600" y="997839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2" name="TextBox 76"/>
          <p:cNvSpPr txBox="1"/>
          <p:nvPr/>
        </p:nvSpPr>
        <p:spPr>
          <a:xfrm>
            <a:off x="1517903" y="1001553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843" name="TextBox 77"/>
          <p:cNvSpPr txBox="1"/>
          <p:nvPr/>
        </p:nvSpPr>
        <p:spPr>
          <a:xfrm>
            <a:off x="2600095" y="1001553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Bracket order</a:t>
            </a:r>
          </a:p>
        </p:txBody>
      </p:sp>
      <p:sp>
        <p:nvSpPr>
          <p:cNvPr id="5844" name="TextBox 78"/>
          <p:cNvSpPr txBox="1"/>
          <p:nvPr/>
        </p:nvSpPr>
        <p:spPr>
          <a:xfrm>
            <a:off x="9093250" y="1001553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45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5211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46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5211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47" name="TextBox 81"/>
          <p:cNvSpPr txBox="1"/>
          <p:nvPr/>
        </p:nvSpPr>
        <p:spPr>
          <a:xfrm>
            <a:off x="18832982" y="10015536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ARCD-1708</a:t>
            </a:r>
          </a:p>
        </p:txBody>
      </p:sp>
      <p:sp>
        <p:nvSpPr>
          <p:cNvPr id="5848" name="Connector 82"/>
          <p:cNvSpPr/>
          <p:nvPr/>
        </p:nvSpPr>
        <p:spPr>
          <a:xfrm>
            <a:off x="1371600" y="1041844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9" name="TextBox 83"/>
          <p:cNvSpPr txBox="1"/>
          <p:nvPr/>
        </p:nvSpPr>
        <p:spPr>
          <a:xfrm>
            <a:off x="1517903" y="1045559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850" name="TextBox 84"/>
          <p:cNvSpPr txBox="1"/>
          <p:nvPr/>
        </p:nvSpPr>
        <p:spPr>
          <a:xfrm>
            <a:off x="2600095" y="104555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on close (MOC)</a:t>
            </a:r>
          </a:p>
        </p:txBody>
      </p:sp>
      <p:sp>
        <p:nvSpPr>
          <p:cNvPr id="5851" name="TextBox 85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52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3" name="Picture 87" descr="Picture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54" name="TextBox 88"/>
          <p:cNvSpPr txBox="1"/>
          <p:nvPr/>
        </p:nvSpPr>
        <p:spPr>
          <a:xfrm>
            <a:off x="18832982" y="1045559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ARCD-9245</a:t>
            </a:r>
          </a:p>
        </p:txBody>
      </p:sp>
      <p:sp>
        <p:nvSpPr>
          <p:cNvPr id="5855" name="Connector 89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6" name="TextBox 90"/>
          <p:cNvSpPr txBox="1"/>
          <p:nvPr/>
        </p:nvSpPr>
        <p:spPr>
          <a:xfrm>
            <a:off x="1517903" y="108956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857" name="TextBox 91"/>
          <p:cNvSpPr txBox="1"/>
          <p:nvPr/>
        </p:nvSpPr>
        <p:spPr>
          <a:xfrm>
            <a:off x="2600095" y="108956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Trailing order</a:t>
            </a:r>
          </a:p>
        </p:txBody>
      </p:sp>
      <p:sp>
        <p:nvSpPr>
          <p:cNvPr id="5858" name="TextBox 92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59" name="Picture 93" descr="Picture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0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61" name="Connector 95"/>
          <p:cNvSpPr/>
          <p:nvPr/>
        </p:nvSpPr>
        <p:spPr>
          <a:xfrm>
            <a:off x="1371600" y="1129855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2" name="TextBox 96"/>
          <p:cNvSpPr txBox="1"/>
          <p:nvPr/>
        </p:nvSpPr>
        <p:spPr>
          <a:xfrm>
            <a:off x="1517903" y="1133570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863" name="TextBox 97"/>
          <p:cNvSpPr txBox="1"/>
          <p:nvPr/>
        </p:nvSpPr>
        <p:spPr>
          <a:xfrm>
            <a:off x="2600095" y="1133570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session (regular/pre market/ post market)</a:t>
            </a:r>
          </a:p>
        </p:txBody>
      </p:sp>
      <p:sp>
        <p:nvSpPr>
          <p:cNvPr id="5864" name="TextBox 98"/>
          <p:cNvSpPr txBox="1"/>
          <p:nvPr/>
        </p:nvSpPr>
        <p:spPr>
          <a:xfrm>
            <a:off x="9093250" y="1133570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65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7227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6" name="Picture 100" descr="Picture 10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7227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67" name="Connector 101"/>
          <p:cNvSpPr/>
          <p:nvPr/>
        </p:nvSpPr>
        <p:spPr>
          <a:xfrm>
            <a:off x="1371600" y="1173860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8" name="TextBox 102"/>
          <p:cNvSpPr txBox="1"/>
          <p:nvPr/>
        </p:nvSpPr>
        <p:spPr>
          <a:xfrm>
            <a:off x="1517903" y="1177575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869" name="TextBox 103"/>
          <p:cNvSpPr txBox="1"/>
          <p:nvPr/>
        </p:nvSpPr>
        <p:spPr>
          <a:xfrm>
            <a:off x="2600095" y="1177575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Overnight trading</a:t>
            </a:r>
          </a:p>
        </p:txBody>
      </p:sp>
      <p:sp>
        <p:nvSpPr>
          <p:cNvPr id="5870" name="TextBox 104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71" name="Picture 105" descr="Picture 10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81233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2" name="Picture 106" descr="Picture 10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81233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73" name="Connector 107"/>
          <p:cNvSpPr/>
          <p:nvPr/>
        </p:nvSpPr>
        <p:spPr>
          <a:xfrm>
            <a:off x="1371600" y="1217866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4" name="TextBox 108"/>
          <p:cNvSpPr txBox="1"/>
          <p:nvPr/>
        </p:nvSpPr>
        <p:spPr>
          <a:xfrm>
            <a:off x="1517903" y="122158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875" name="TextBox 109"/>
          <p:cNvSpPr txBox="1"/>
          <p:nvPr/>
        </p:nvSpPr>
        <p:spPr>
          <a:xfrm>
            <a:off x="2600095" y="122158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Frication Shares</a:t>
            </a:r>
          </a:p>
        </p:txBody>
      </p:sp>
      <p:sp>
        <p:nvSpPr>
          <p:cNvPr id="5876" name="TextBox 110"/>
          <p:cNvSpPr txBox="1"/>
          <p:nvPr/>
        </p:nvSpPr>
        <p:spPr>
          <a:xfrm>
            <a:off x="9093250" y="122158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77" name="Picture 111" descr="Picture 1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5238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8" name="Picture 112" descr="Picture 1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5238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79" name="Connector 113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88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073 / 111</a:t>
            </a:r>
          </a:p>
        </p:txBody>
      </p:sp>
      <p:sp>
        <p:nvSpPr>
          <p:cNvPr id="588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88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Validity</a:t>
            </a:r>
          </a:p>
        </p:txBody>
      </p:sp>
      <p:sp>
        <p:nvSpPr>
          <p:cNvPr id="588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88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88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88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88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89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89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89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89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4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95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5896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9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89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899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0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901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date (up to 30 days)</a:t>
            </a:r>
          </a:p>
        </p:txBody>
      </p:sp>
      <p:sp>
        <p:nvSpPr>
          <p:cNvPr id="5902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903" name="TextBox 23"/>
          <p:cNvSpPr txBox="1"/>
          <p:nvPr/>
        </p:nvSpPr>
        <p:spPr>
          <a:xfrm>
            <a:off x="10894893" y="642365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904" name="TextBox 24"/>
          <p:cNvSpPr txBox="1"/>
          <p:nvPr/>
        </p:nvSpPr>
        <p:spPr>
          <a:xfrm>
            <a:off x="12626399" y="642365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905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6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907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Fill or kill</a:t>
            </a:r>
          </a:p>
        </p:txBody>
      </p:sp>
      <p:sp>
        <p:nvSpPr>
          <p:cNvPr id="5908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0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1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11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2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913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cancellation (up to 30 days)</a:t>
            </a:r>
          </a:p>
        </p:txBody>
      </p:sp>
      <p:sp>
        <p:nvSpPr>
          <p:cNvPr id="5914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1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1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17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8" name="TextBox 38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919" name="TextBox 39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Immediate or cancel</a:t>
            </a:r>
          </a:p>
        </p:txBody>
      </p:sp>
      <p:sp>
        <p:nvSpPr>
          <p:cNvPr id="5920" name="TextBox 40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21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2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23" name="Connector 4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592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074 / 111</a:t>
            </a:r>
          </a:p>
        </p:txBody>
      </p:sp>
      <p:sp>
        <p:nvSpPr>
          <p:cNvPr id="592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928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in to US portfolio</a:t>
            </a:r>
          </a:p>
        </p:txBody>
      </p:sp>
      <p:sp>
        <p:nvSpPr>
          <p:cNvPr id="5929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930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931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932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933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934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935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936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93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8" name="TextBox 14"/>
          <p:cNvSpPr txBox="1"/>
          <p:nvPr/>
        </p:nvSpPr>
        <p:spPr>
          <a:xfrm>
            <a:off x="1517903" y="568832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939" name="TextBox 15"/>
          <p:cNvSpPr txBox="1"/>
          <p:nvPr/>
        </p:nvSpPr>
        <p:spPr>
          <a:xfrm>
            <a:off x="2600095" y="568832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5940" name="TextBox 16"/>
          <p:cNvSpPr txBox="1"/>
          <p:nvPr/>
        </p:nvSpPr>
        <p:spPr>
          <a:xfrm>
            <a:off x="9093250" y="568832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4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2490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2490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43" name="Connector 19"/>
          <p:cNvSpPr/>
          <p:nvPr/>
        </p:nvSpPr>
        <p:spPr>
          <a:xfrm>
            <a:off x="1371600" y="616457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4" name="TextBox 20"/>
          <p:cNvSpPr txBox="1"/>
          <p:nvPr/>
        </p:nvSpPr>
        <p:spPr>
          <a:xfrm>
            <a:off x="1517903" y="627507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945" name="TextBox 21"/>
          <p:cNvSpPr txBox="1"/>
          <p:nvPr/>
        </p:nvSpPr>
        <p:spPr>
          <a:xfrm>
            <a:off x="2600095" y="627507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5946" name="TextBox 22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4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1164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1164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49" name="Connector 25"/>
          <p:cNvSpPr/>
          <p:nvPr/>
        </p:nvSpPr>
        <p:spPr>
          <a:xfrm>
            <a:off x="1371600" y="6751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0" name="TextBox 26"/>
          <p:cNvSpPr txBox="1"/>
          <p:nvPr/>
        </p:nvSpPr>
        <p:spPr>
          <a:xfrm>
            <a:off x="1517903" y="68618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951" name="TextBox 27"/>
          <p:cNvSpPr txBox="1"/>
          <p:nvPr/>
        </p:nvSpPr>
        <p:spPr>
          <a:xfrm>
            <a:off x="2600095" y="68618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5952" name="TextBox 28"/>
          <p:cNvSpPr txBox="1"/>
          <p:nvPr/>
        </p:nvSpPr>
        <p:spPr>
          <a:xfrm>
            <a:off x="9093250" y="68618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5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89838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89838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55" name="Connector 31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6" name="TextBox 32"/>
          <p:cNvSpPr txBox="1"/>
          <p:nvPr/>
        </p:nvSpPr>
        <p:spPr>
          <a:xfrm>
            <a:off x="1517903" y="74485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957" name="TextBox 33"/>
          <p:cNvSpPr txBox="1"/>
          <p:nvPr/>
        </p:nvSpPr>
        <p:spPr>
          <a:xfrm>
            <a:off x="2600095" y="74485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5958" name="TextBox 34"/>
          <p:cNvSpPr txBox="1"/>
          <p:nvPr/>
        </p:nvSpPr>
        <p:spPr>
          <a:xfrm>
            <a:off x="9093250" y="74485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59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8512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60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8512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61" name="Connector 37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2" name="TextBox 38"/>
          <p:cNvSpPr txBox="1"/>
          <p:nvPr/>
        </p:nvSpPr>
        <p:spPr>
          <a:xfrm>
            <a:off x="1517903" y="80352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963" name="TextBox 39"/>
          <p:cNvSpPr txBox="1"/>
          <p:nvPr/>
        </p:nvSpPr>
        <p:spPr>
          <a:xfrm>
            <a:off x="2600095" y="80352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5964" name="TextBox 40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65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07186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66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07186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67" name="Connector 43"/>
          <p:cNvSpPr/>
          <p:nvPr/>
        </p:nvSpPr>
        <p:spPr>
          <a:xfrm>
            <a:off x="1371600" y="85115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8" name="TextBox 44"/>
          <p:cNvSpPr txBox="1"/>
          <p:nvPr/>
        </p:nvSpPr>
        <p:spPr>
          <a:xfrm>
            <a:off x="1517903" y="86220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969" name="TextBox 45"/>
          <p:cNvSpPr txBox="1"/>
          <p:nvPr/>
        </p:nvSpPr>
        <p:spPr>
          <a:xfrm>
            <a:off x="2600095" y="86220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5970" name="TextBox 4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7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6586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7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6586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73" name="Connector 49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4" name="TextBox 50"/>
          <p:cNvSpPr txBox="1"/>
          <p:nvPr/>
        </p:nvSpPr>
        <p:spPr>
          <a:xfrm>
            <a:off x="1517903" y="92087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975" name="TextBox 51"/>
          <p:cNvSpPr txBox="1"/>
          <p:nvPr/>
        </p:nvSpPr>
        <p:spPr>
          <a:xfrm>
            <a:off x="2600095" y="92087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5976" name="TextBox 52"/>
          <p:cNvSpPr txBox="1"/>
          <p:nvPr/>
        </p:nvSpPr>
        <p:spPr>
          <a:xfrm>
            <a:off x="9093250" y="92087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77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4534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78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4534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79" name="Connector 55"/>
          <p:cNvSpPr/>
          <p:nvPr/>
        </p:nvSpPr>
        <p:spPr>
          <a:xfrm>
            <a:off x="1371600" y="96850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0" name="TextBox 56"/>
          <p:cNvSpPr txBox="1"/>
          <p:nvPr/>
        </p:nvSpPr>
        <p:spPr>
          <a:xfrm>
            <a:off x="1517903" y="97955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981" name="TextBox 57"/>
          <p:cNvSpPr txBox="1"/>
          <p:nvPr/>
        </p:nvSpPr>
        <p:spPr>
          <a:xfrm>
            <a:off x="2600095" y="97955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5982" name="TextBox 58"/>
          <p:cNvSpPr txBox="1"/>
          <p:nvPr/>
        </p:nvSpPr>
        <p:spPr>
          <a:xfrm>
            <a:off x="9093250" y="97955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83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3208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84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3208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85" name="Connector 61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6" name="TextBox 62"/>
          <p:cNvSpPr txBox="1"/>
          <p:nvPr/>
        </p:nvSpPr>
        <p:spPr>
          <a:xfrm>
            <a:off x="1517903" y="103822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987" name="TextBox 63"/>
          <p:cNvSpPr txBox="1"/>
          <p:nvPr/>
        </p:nvSpPr>
        <p:spPr>
          <a:xfrm>
            <a:off x="2600095" y="103822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5988" name="TextBox 64"/>
          <p:cNvSpPr txBox="1"/>
          <p:nvPr/>
        </p:nvSpPr>
        <p:spPr>
          <a:xfrm>
            <a:off x="9093250" y="103822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989" name="TextBox 65"/>
          <p:cNvSpPr txBox="1"/>
          <p:nvPr/>
        </p:nvSpPr>
        <p:spPr>
          <a:xfrm>
            <a:off x="10894893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990" name="TextBox 66"/>
          <p:cNvSpPr txBox="1"/>
          <p:nvPr/>
        </p:nvSpPr>
        <p:spPr>
          <a:xfrm>
            <a:off x="12626399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991" name="Connector 67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2" name="TextBox 68"/>
          <p:cNvSpPr txBox="1"/>
          <p:nvPr/>
        </p:nvSpPr>
        <p:spPr>
          <a:xfrm>
            <a:off x="1517903" y="109689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993" name="TextBox 69"/>
          <p:cNvSpPr txBox="1"/>
          <p:nvPr/>
        </p:nvSpPr>
        <p:spPr>
          <a:xfrm>
            <a:off x="2600095" y="109689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5994" name="TextBox 70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95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00556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6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00556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5997" name="Connector 73"/>
          <p:cNvSpPr/>
          <p:nvPr/>
        </p:nvSpPr>
        <p:spPr>
          <a:xfrm>
            <a:off x="1371600" y="1144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8" name="TextBox 74"/>
          <p:cNvSpPr txBox="1"/>
          <p:nvPr/>
        </p:nvSpPr>
        <p:spPr>
          <a:xfrm>
            <a:off x="1517903" y="115557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999" name="TextBox 75"/>
          <p:cNvSpPr txBox="1"/>
          <p:nvPr/>
        </p:nvSpPr>
        <p:spPr>
          <a:xfrm>
            <a:off x="2600095" y="115557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6000" name="TextBox 7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01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5923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2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5923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03" name="Connector 79"/>
          <p:cNvSpPr/>
          <p:nvPr/>
        </p:nvSpPr>
        <p:spPr>
          <a:xfrm>
            <a:off x="1371600" y="120319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4" name="TextBox 80"/>
          <p:cNvSpPr txBox="1"/>
          <p:nvPr/>
        </p:nvSpPr>
        <p:spPr>
          <a:xfrm>
            <a:off x="1517903" y="121424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005" name="TextBox 81"/>
          <p:cNvSpPr txBox="1"/>
          <p:nvPr/>
        </p:nvSpPr>
        <p:spPr>
          <a:xfrm>
            <a:off x="2600095" y="121424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6006" name="TextBox 82"/>
          <p:cNvSpPr txBox="1"/>
          <p:nvPr/>
        </p:nvSpPr>
        <p:spPr>
          <a:xfrm>
            <a:off x="9093250" y="121424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07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17904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8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17904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09" name="Connector 85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01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075 / 111</a:t>
            </a:r>
          </a:p>
        </p:txBody>
      </p:sp>
      <p:sp>
        <p:nvSpPr>
          <p:cNvPr id="601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601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out to US portfolio</a:t>
            </a:r>
          </a:p>
        </p:txBody>
      </p:sp>
      <p:sp>
        <p:nvSpPr>
          <p:cNvPr id="601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01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01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01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01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02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02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02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02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4" name="TextBox 14"/>
          <p:cNvSpPr txBox="1"/>
          <p:nvPr/>
        </p:nvSpPr>
        <p:spPr>
          <a:xfrm>
            <a:off x="1517903" y="568832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025" name="TextBox 15"/>
          <p:cNvSpPr txBox="1"/>
          <p:nvPr/>
        </p:nvSpPr>
        <p:spPr>
          <a:xfrm>
            <a:off x="2600095" y="568832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6026" name="TextBox 16"/>
          <p:cNvSpPr txBox="1"/>
          <p:nvPr/>
        </p:nvSpPr>
        <p:spPr>
          <a:xfrm>
            <a:off x="9093250" y="568832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2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2490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2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2490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29" name="Connector 19"/>
          <p:cNvSpPr/>
          <p:nvPr/>
        </p:nvSpPr>
        <p:spPr>
          <a:xfrm>
            <a:off x="1371600" y="616457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0" name="TextBox 20"/>
          <p:cNvSpPr txBox="1"/>
          <p:nvPr/>
        </p:nvSpPr>
        <p:spPr>
          <a:xfrm>
            <a:off x="1517903" y="627507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031" name="TextBox 21"/>
          <p:cNvSpPr txBox="1"/>
          <p:nvPr/>
        </p:nvSpPr>
        <p:spPr>
          <a:xfrm>
            <a:off x="2600095" y="627507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6032" name="TextBox 22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3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1164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3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1164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35" name="Connector 25"/>
          <p:cNvSpPr/>
          <p:nvPr/>
        </p:nvSpPr>
        <p:spPr>
          <a:xfrm>
            <a:off x="1371600" y="6751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6" name="TextBox 26"/>
          <p:cNvSpPr txBox="1"/>
          <p:nvPr/>
        </p:nvSpPr>
        <p:spPr>
          <a:xfrm>
            <a:off x="1517903" y="68618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37" name="TextBox 27"/>
          <p:cNvSpPr txBox="1"/>
          <p:nvPr/>
        </p:nvSpPr>
        <p:spPr>
          <a:xfrm>
            <a:off x="2600095" y="68618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6038" name="TextBox 28"/>
          <p:cNvSpPr txBox="1"/>
          <p:nvPr/>
        </p:nvSpPr>
        <p:spPr>
          <a:xfrm>
            <a:off x="9093250" y="68618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39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89838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40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89838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41" name="Connector 31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2" name="TextBox 32"/>
          <p:cNvSpPr txBox="1"/>
          <p:nvPr/>
        </p:nvSpPr>
        <p:spPr>
          <a:xfrm>
            <a:off x="1517903" y="74485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043" name="TextBox 33"/>
          <p:cNvSpPr txBox="1"/>
          <p:nvPr/>
        </p:nvSpPr>
        <p:spPr>
          <a:xfrm>
            <a:off x="2600095" y="74485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6044" name="TextBox 34"/>
          <p:cNvSpPr txBox="1"/>
          <p:nvPr/>
        </p:nvSpPr>
        <p:spPr>
          <a:xfrm>
            <a:off x="9093250" y="74485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045" name="TextBox 35"/>
          <p:cNvSpPr txBox="1"/>
          <p:nvPr/>
        </p:nvSpPr>
        <p:spPr>
          <a:xfrm>
            <a:off x="10894893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46" name="TextBox 36"/>
          <p:cNvSpPr txBox="1"/>
          <p:nvPr/>
        </p:nvSpPr>
        <p:spPr>
          <a:xfrm>
            <a:off x="12626399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47" name="Connector 37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8" name="TextBox 38"/>
          <p:cNvSpPr txBox="1"/>
          <p:nvPr/>
        </p:nvSpPr>
        <p:spPr>
          <a:xfrm>
            <a:off x="1517903" y="80352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049" name="TextBox 39"/>
          <p:cNvSpPr txBox="1"/>
          <p:nvPr/>
        </p:nvSpPr>
        <p:spPr>
          <a:xfrm>
            <a:off x="2600095" y="80352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6050" name="TextBox 40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051" name="TextBox 41"/>
          <p:cNvSpPr txBox="1"/>
          <p:nvPr/>
        </p:nvSpPr>
        <p:spPr>
          <a:xfrm>
            <a:off x="10894893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52" name="TextBox 42"/>
          <p:cNvSpPr txBox="1"/>
          <p:nvPr/>
        </p:nvSpPr>
        <p:spPr>
          <a:xfrm>
            <a:off x="12626399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53" name="Connector 43"/>
          <p:cNvSpPr/>
          <p:nvPr/>
        </p:nvSpPr>
        <p:spPr>
          <a:xfrm>
            <a:off x="1371600" y="85115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4" name="TextBox 44"/>
          <p:cNvSpPr txBox="1"/>
          <p:nvPr/>
        </p:nvSpPr>
        <p:spPr>
          <a:xfrm>
            <a:off x="1517903" y="86220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055" name="TextBox 45"/>
          <p:cNvSpPr txBox="1"/>
          <p:nvPr/>
        </p:nvSpPr>
        <p:spPr>
          <a:xfrm>
            <a:off x="2600095" y="86220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6056" name="TextBox 4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057" name="TextBox 47"/>
          <p:cNvSpPr txBox="1"/>
          <p:nvPr/>
        </p:nvSpPr>
        <p:spPr>
          <a:xfrm>
            <a:off x="10894893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58" name="TextBox 48"/>
          <p:cNvSpPr txBox="1"/>
          <p:nvPr/>
        </p:nvSpPr>
        <p:spPr>
          <a:xfrm>
            <a:off x="12626399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59" name="Connector 49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0" name="TextBox 50"/>
          <p:cNvSpPr txBox="1"/>
          <p:nvPr/>
        </p:nvSpPr>
        <p:spPr>
          <a:xfrm>
            <a:off x="1517903" y="92087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061" name="TextBox 51"/>
          <p:cNvSpPr txBox="1"/>
          <p:nvPr/>
        </p:nvSpPr>
        <p:spPr>
          <a:xfrm>
            <a:off x="2600095" y="92087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6062" name="TextBox 52"/>
          <p:cNvSpPr txBox="1"/>
          <p:nvPr/>
        </p:nvSpPr>
        <p:spPr>
          <a:xfrm>
            <a:off x="9093250" y="92087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63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4534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6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4534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65" name="Connector 55"/>
          <p:cNvSpPr/>
          <p:nvPr/>
        </p:nvSpPr>
        <p:spPr>
          <a:xfrm>
            <a:off x="1371600" y="96850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6" name="TextBox 56"/>
          <p:cNvSpPr txBox="1"/>
          <p:nvPr/>
        </p:nvSpPr>
        <p:spPr>
          <a:xfrm>
            <a:off x="1517903" y="97955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067" name="TextBox 57"/>
          <p:cNvSpPr txBox="1"/>
          <p:nvPr/>
        </p:nvSpPr>
        <p:spPr>
          <a:xfrm>
            <a:off x="2600095" y="97955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6068" name="TextBox 58"/>
          <p:cNvSpPr txBox="1"/>
          <p:nvPr/>
        </p:nvSpPr>
        <p:spPr>
          <a:xfrm>
            <a:off x="9093250" y="97955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69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3208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70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3208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71" name="Connector 61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2" name="TextBox 62"/>
          <p:cNvSpPr txBox="1"/>
          <p:nvPr/>
        </p:nvSpPr>
        <p:spPr>
          <a:xfrm>
            <a:off x="1517903" y="103822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073" name="TextBox 63"/>
          <p:cNvSpPr txBox="1"/>
          <p:nvPr/>
        </p:nvSpPr>
        <p:spPr>
          <a:xfrm>
            <a:off x="2600095" y="103822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6074" name="TextBox 64"/>
          <p:cNvSpPr txBox="1"/>
          <p:nvPr/>
        </p:nvSpPr>
        <p:spPr>
          <a:xfrm>
            <a:off x="9093250" y="103822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075" name="TextBox 65"/>
          <p:cNvSpPr txBox="1"/>
          <p:nvPr/>
        </p:nvSpPr>
        <p:spPr>
          <a:xfrm>
            <a:off x="10894893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76" name="TextBox 66"/>
          <p:cNvSpPr txBox="1"/>
          <p:nvPr/>
        </p:nvSpPr>
        <p:spPr>
          <a:xfrm>
            <a:off x="12626399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077" name="Connector 67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8" name="TextBox 68"/>
          <p:cNvSpPr txBox="1"/>
          <p:nvPr/>
        </p:nvSpPr>
        <p:spPr>
          <a:xfrm>
            <a:off x="1517903" y="109689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079" name="TextBox 69"/>
          <p:cNvSpPr txBox="1"/>
          <p:nvPr/>
        </p:nvSpPr>
        <p:spPr>
          <a:xfrm>
            <a:off x="2600095" y="109689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6080" name="TextBox 70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81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00556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82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00556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83" name="Connector 73"/>
          <p:cNvSpPr/>
          <p:nvPr/>
        </p:nvSpPr>
        <p:spPr>
          <a:xfrm>
            <a:off x="1371600" y="1144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4" name="TextBox 74"/>
          <p:cNvSpPr txBox="1"/>
          <p:nvPr/>
        </p:nvSpPr>
        <p:spPr>
          <a:xfrm>
            <a:off x="1517903" y="115557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085" name="TextBox 75"/>
          <p:cNvSpPr txBox="1"/>
          <p:nvPr/>
        </p:nvSpPr>
        <p:spPr>
          <a:xfrm>
            <a:off x="2600095" y="115557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6086" name="TextBox 7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87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9230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88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9230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89" name="Connector 79"/>
          <p:cNvSpPr/>
          <p:nvPr/>
        </p:nvSpPr>
        <p:spPr>
          <a:xfrm>
            <a:off x="1371600" y="120319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90" name="TextBox 80"/>
          <p:cNvSpPr txBox="1"/>
          <p:nvPr/>
        </p:nvSpPr>
        <p:spPr>
          <a:xfrm>
            <a:off x="1517903" y="121424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091" name="TextBox 81"/>
          <p:cNvSpPr txBox="1"/>
          <p:nvPr/>
        </p:nvSpPr>
        <p:spPr>
          <a:xfrm>
            <a:off x="2600095" y="121424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6092" name="TextBox 82"/>
          <p:cNvSpPr txBox="1"/>
          <p:nvPr/>
        </p:nvSpPr>
        <p:spPr>
          <a:xfrm>
            <a:off x="9093250" y="121424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93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7904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94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7904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95" name="Connector 85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7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6098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9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Mashurah </a:t>
            </a:r>
            <a:r>
              <a:rPr>
                <a:solidFill>
                  <a:srgbClr val="0333E8"/>
                </a:solidFill>
              </a:rPr>
              <a:t>(Robo)</a:t>
            </a:r>
          </a:p>
        </p:txBody>
      </p:sp>
      <p:sp>
        <p:nvSpPr>
          <p:cNvPr id="6100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Automated robo-advisory portfolios</a:t>
            </a:r>
          </a:p>
        </p:txBody>
      </p:sp>
      <p:sp>
        <p:nvSpPr>
          <p:cNvPr id="6101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6102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076 / 111</a:t>
            </a:r>
          </a:p>
        </p:txBody>
      </p:sp>
      <p:pic>
        <p:nvPicPr>
          <p:cNvPr id="6103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10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077 / 111</a:t>
            </a:r>
          </a:p>
        </p:txBody>
      </p:sp>
      <p:sp>
        <p:nvSpPr>
          <p:cNvPr id="610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SECTION SUMMARY</a:t>
            </a:r>
          </a:p>
        </p:txBody>
      </p:sp>
      <p:sp>
        <p:nvSpPr>
          <p:cNvPr id="6108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74 capabilities assessed. 39 already live.</a:t>
            </a:r>
          </a:p>
        </p:txBody>
      </p:sp>
      <p:sp>
        <p:nvSpPr>
          <p:cNvPr id="6109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6110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6111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2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6113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(53% OF 74)</a:t>
            </a:r>
          </a:p>
        </p:txBody>
      </p:sp>
      <p:sp>
        <p:nvSpPr>
          <p:cNvPr id="6114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5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116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(0% OF 74)</a:t>
            </a:r>
          </a:p>
        </p:txBody>
      </p:sp>
      <p:sp>
        <p:nvSpPr>
          <p:cNvPr id="6117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8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9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6120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35 capabilities not live on the app yet.</a:t>
            </a:r>
          </a:p>
        </p:txBody>
      </p:sp>
      <p:sp>
        <p:nvSpPr>
          <p:cNvPr id="6121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Zero Jira coverage — no work is being tracked.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4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6124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127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6125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26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6128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3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9" name="Picture 910" descr="Picture 9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130" name="TextBox 911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078 / 111</a:t>
            </a:r>
          </a:p>
        </p:txBody>
      </p:sp>
      <p:sp>
        <p:nvSpPr>
          <p:cNvPr id="6131" name="TextBox 912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</a:t>
            </a:r>
          </a:p>
        </p:txBody>
      </p:sp>
      <p:sp>
        <p:nvSpPr>
          <p:cNvPr id="6132" name="TextBox 913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6133" name="Connector 914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4" name="Connector 915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5" name="Connector 916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6" name="Connector 917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7" name="Connector 918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8" name="Connector 919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9" name="Connector 920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0" name="Connector 921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1" name="Connector 922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2" name="Connector 923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3" name="Connector 924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4" name="Connector 925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5" name="Connector 926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6" name="Connector 927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7" name="Connector 928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8" name="Connector 929"/>
          <p:cNvSpPr/>
          <p:nvPr/>
        </p:nvSpPr>
        <p:spPr>
          <a:xfrm>
            <a:off x="2926079" y="8503919"/>
            <a:ext cx="227234" cy="866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9" name="Connector 930"/>
          <p:cNvSpPr/>
          <p:nvPr/>
        </p:nvSpPr>
        <p:spPr>
          <a:xfrm>
            <a:off x="3153312" y="8590594"/>
            <a:ext cx="213439" cy="136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0" name="Connector 931"/>
          <p:cNvSpPr/>
          <p:nvPr/>
        </p:nvSpPr>
        <p:spPr>
          <a:xfrm>
            <a:off x="3366751" y="8727054"/>
            <a:ext cx="202642" cy="1772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1" name="Connector 932"/>
          <p:cNvSpPr/>
          <p:nvPr/>
        </p:nvSpPr>
        <p:spPr>
          <a:xfrm>
            <a:off x="3569391" y="8904302"/>
            <a:ext cx="194844" cy="2090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2" name="Connector 933"/>
          <p:cNvSpPr/>
          <p:nvPr/>
        </p:nvSpPr>
        <p:spPr>
          <a:xfrm>
            <a:off x="3764235" y="9113342"/>
            <a:ext cx="190046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3" name="Connector 934"/>
          <p:cNvSpPr/>
          <p:nvPr/>
        </p:nvSpPr>
        <p:spPr>
          <a:xfrm>
            <a:off x="3954279" y="9345173"/>
            <a:ext cx="188246" cy="2456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4" name="Connector 935"/>
          <p:cNvSpPr/>
          <p:nvPr/>
        </p:nvSpPr>
        <p:spPr>
          <a:xfrm>
            <a:off x="4142525" y="9590802"/>
            <a:ext cx="189446" cy="250428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5" name="Connector 936"/>
          <p:cNvSpPr/>
          <p:nvPr/>
        </p:nvSpPr>
        <p:spPr>
          <a:xfrm>
            <a:off x="4331970" y="9841230"/>
            <a:ext cx="193644" cy="2462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6" name="Connector 937"/>
          <p:cNvSpPr/>
          <p:nvPr/>
        </p:nvSpPr>
        <p:spPr>
          <a:xfrm>
            <a:off x="4525613" y="10087458"/>
            <a:ext cx="200842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7" name="Connector 938"/>
          <p:cNvSpPr/>
          <p:nvPr/>
        </p:nvSpPr>
        <p:spPr>
          <a:xfrm>
            <a:off x="4726454" y="10320490"/>
            <a:ext cx="211040" cy="21083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8" name="Connector 939"/>
          <p:cNvSpPr/>
          <p:nvPr/>
        </p:nvSpPr>
        <p:spPr>
          <a:xfrm>
            <a:off x="4937492" y="10531327"/>
            <a:ext cx="224236" cy="17964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9" name="Connector 940"/>
          <p:cNvSpPr/>
          <p:nvPr/>
        </p:nvSpPr>
        <p:spPr>
          <a:xfrm>
            <a:off x="5161727" y="10710976"/>
            <a:ext cx="240430" cy="13946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0" name="Connector 941"/>
          <p:cNvSpPr/>
          <p:nvPr/>
        </p:nvSpPr>
        <p:spPr>
          <a:xfrm>
            <a:off x="5402156" y="10850435"/>
            <a:ext cx="259626" cy="902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1" name="Connector 942"/>
          <p:cNvSpPr/>
          <p:nvPr/>
        </p:nvSpPr>
        <p:spPr>
          <a:xfrm>
            <a:off x="5661781" y="10940708"/>
            <a:ext cx="281819" cy="3209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2" name="Connector 943"/>
          <p:cNvSpPr/>
          <p:nvPr/>
        </p:nvSpPr>
        <p:spPr>
          <a:xfrm>
            <a:off x="5943600" y="10972800"/>
            <a:ext cx="12344400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3" name="Oval 944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4" name="Oval 945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5" name="TextBox 946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6166" name="TextBox 947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6167" name="Oval 948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8" name="TextBox 949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169" name="TextBox 950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Mashura Market</a:t>
            </a:r>
          </a:p>
        </p:txBody>
      </p:sp>
      <p:sp>
        <p:nvSpPr>
          <p:cNvPr id="6170" name="Oval 951"/>
          <p:cNvSpPr/>
          <p:nvPr/>
        </p:nvSpPr>
        <p:spPr>
          <a:xfrm>
            <a:off x="118186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1" name="TextBox 952"/>
          <p:cNvSpPr txBox="1"/>
          <p:nvPr/>
        </p:nvSpPr>
        <p:spPr>
          <a:xfrm>
            <a:off x="98298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172" name="TextBox 953"/>
          <p:cNvSpPr txBox="1"/>
          <p:nvPr/>
        </p:nvSpPr>
        <p:spPr>
          <a:xfrm>
            <a:off x="98298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Strategy</a:t>
            </a:r>
          </a:p>
        </p:txBody>
      </p:sp>
      <p:sp>
        <p:nvSpPr>
          <p:cNvPr id="6173" name="Oval 954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4" name="TextBox 955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175" name="TextBox 956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Create Portfolio</a:t>
            </a:r>
          </a:p>
        </p:txBody>
      </p:sp>
      <p:sp>
        <p:nvSpPr>
          <p:cNvPr id="6176" name="Oval 957"/>
          <p:cNvSpPr/>
          <p:nvPr/>
        </p:nvSpPr>
        <p:spPr>
          <a:xfrm>
            <a:off x="5646420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7" name="TextBox 958"/>
          <p:cNvSpPr txBox="1"/>
          <p:nvPr/>
        </p:nvSpPr>
        <p:spPr>
          <a:xfrm>
            <a:off x="36576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178" name="TextBox 959"/>
          <p:cNvSpPr txBox="1"/>
          <p:nvPr/>
        </p:nvSpPr>
        <p:spPr>
          <a:xfrm>
            <a:off x="36576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6179" name="Oval 960"/>
          <p:cNvSpPr/>
          <p:nvPr/>
        </p:nvSpPr>
        <p:spPr>
          <a:xfrm>
            <a:off x="179908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0" name="TextBox 961"/>
          <p:cNvSpPr txBox="1"/>
          <p:nvPr/>
        </p:nvSpPr>
        <p:spPr>
          <a:xfrm>
            <a:off x="160020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181" name="TextBox 962"/>
          <p:cNvSpPr txBox="1"/>
          <p:nvPr/>
        </p:nvSpPr>
        <p:spPr>
          <a:xfrm>
            <a:off x="160020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Mashura Portfolios</a:t>
            </a:r>
          </a:p>
        </p:txBody>
      </p:sp>
      <p:sp>
        <p:nvSpPr>
          <p:cNvPr id="6182" name="Rounded Rectangle 963"/>
          <p:cNvSpPr/>
          <p:nvPr/>
        </p:nvSpPr>
        <p:spPr>
          <a:xfrm>
            <a:off x="19659600" y="4389120"/>
            <a:ext cx="3474721" cy="14630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3" name="Connector 964"/>
          <p:cNvSpPr/>
          <p:nvPr/>
        </p:nvSpPr>
        <p:spPr>
          <a:xfrm>
            <a:off x="19933919" y="4800600"/>
            <a:ext cx="640081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4" name="TextBox 965"/>
          <p:cNvSpPr txBox="1"/>
          <p:nvPr/>
        </p:nvSpPr>
        <p:spPr>
          <a:xfrm>
            <a:off x="20756880" y="46634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6185" name="Connector 966"/>
          <p:cNvSpPr/>
          <p:nvPr/>
        </p:nvSpPr>
        <p:spPr>
          <a:xfrm>
            <a:off x="19933919" y="5486400"/>
            <a:ext cx="640081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6" name="TextBox 967"/>
          <p:cNvSpPr txBox="1"/>
          <p:nvPr/>
        </p:nvSpPr>
        <p:spPr>
          <a:xfrm>
            <a:off x="20756880" y="53492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18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079 / 111</a:t>
            </a:r>
          </a:p>
        </p:txBody>
      </p:sp>
      <p:sp>
        <p:nvSpPr>
          <p:cNvPr id="619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19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619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19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19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19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19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19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19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19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20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1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02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6203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04" name="Connector 17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5" name="TextBox 18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206" name="TextBox 19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6207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08" name="Connector 21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9" name="TextBox 22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10" name="TextBox 23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6211" name="TextBox 24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12" name="TextBox 25"/>
          <p:cNvSpPr txBox="1"/>
          <p:nvPr/>
        </p:nvSpPr>
        <p:spPr>
          <a:xfrm>
            <a:off x="14504212" y="6748974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213" name="Connector 26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4" name="TextBox 27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15" name="TextBox 28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6216" name="TextBox 29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17" name="Connector 30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8" name="TextBox 31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219" name="TextBox 32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6220" name="TextBox 33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21" name="TextBox 34"/>
          <p:cNvSpPr txBox="1"/>
          <p:nvPr/>
        </p:nvSpPr>
        <p:spPr>
          <a:xfrm>
            <a:off x="14504212" y="7832187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6222" name="Connector 35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3" name="TextBox 36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224" name="TextBox 37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6225" name="TextBox 38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26" name="TextBox 39"/>
          <p:cNvSpPr txBox="1"/>
          <p:nvPr/>
        </p:nvSpPr>
        <p:spPr>
          <a:xfrm>
            <a:off x="10894893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227" name="TextBox 40"/>
          <p:cNvSpPr txBox="1"/>
          <p:nvPr/>
        </p:nvSpPr>
        <p:spPr>
          <a:xfrm>
            <a:off x="12626399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228" name="Connector 41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9" name="TextBox 42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230" name="TextBox 43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6231" name="TextBox 44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32" name="Connector 45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3" name="TextBox 46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234" name="TextBox 47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6235" name="TextBox 48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36" name="TextBox 49"/>
          <p:cNvSpPr txBox="1"/>
          <p:nvPr/>
        </p:nvSpPr>
        <p:spPr>
          <a:xfrm>
            <a:off x="14504212" y="9457005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chart in SDK</a:t>
            </a:r>
          </a:p>
        </p:txBody>
      </p:sp>
      <p:sp>
        <p:nvSpPr>
          <p:cNvPr id="6237" name="Connector 50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8" name="TextBox 51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239" name="TextBox 52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6240" name="TextBox 53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41" name="Connector 54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2" name="TextBox 55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243" name="TextBox 56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6244" name="TextBox 57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45" name="Connector 58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6" name="TextBox 59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247" name="TextBox 60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6248" name="TextBox 61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249" name="Connector 62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0" name="TextBox 63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251" name="TextBox 64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creation</a:t>
            </a:r>
          </a:p>
        </p:txBody>
      </p:sp>
      <p:sp>
        <p:nvSpPr>
          <p:cNvPr id="6252" name="TextBox 65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253" name="Connector 66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4" name="TextBox 67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255" name="TextBox 68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6256" name="TextBox 69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257" name="Connector 70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260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080 / 111</a:t>
            </a:r>
          </a:p>
        </p:txBody>
      </p:sp>
      <p:sp>
        <p:nvSpPr>
          <p:cNvPr id="6261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262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6263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264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265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266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267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268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269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270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271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2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73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ETFs List</a:t>
            </a:r>
          </a:p>
        </p:txBody>
      </p:sp>
      <p:sp>
        <p:nvSpPr>
          <p:cNvPr id="6274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27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27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277" name="Connector 19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8" name="TextBox 20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279" name="TextBox 21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ETFS market value</a:t>
            </a:r>
          </a:p>
        </p:txBody>
      </p:sp>
      <p:sp>
        <p:nvSpPr>
          <p:cNvPr id="6280" name="TextBox 22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28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28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283" name="Connector 25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4" name="TextBox 26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85" name="TextBox 27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ETF Holding percentage</a:t>
            </a:r>
          </a:p>
        </p:txBody>
      </p:sp>
      <p:sp>
        <p:nvSpPr>
          <p:cNvPr id="6286" name="TextBox 28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28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28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289" name="Connector 31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0" name="TextBox 32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91" name="TextBox 33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6292" name="TextBox 34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293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29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295" name="Connector 37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29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081 / 111</a:t>
            </a:r>
          </a:p>
        </p:txBody>
      </p:sp>
      <p:sp>
        <p:nvSpPr>
          <p:cNvPr id="629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30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630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30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30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30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30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30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30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30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30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0" name="TextBox 14"/>
          <p:cNvSpPr txBox="1"/>
          <p:nvPr/>
        </p:nvSpPr>
        <p:spPr>
          <a:xfrm>
            <a:off x="1517903" y="57150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11" name="TextBox 15"/>
          <p:cNvSpPr txBox="1"/>
          <p:nvPr/>
        </p:nvSpPr>
        <p:spPr>
          <a:xfrm>
            <a:off x="2600095" y="57150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6312" name="TextBox 16"/>
          <p:cNvSpPr txBox="1"/>
          <p:nvPr/>
        </p:nvSpPr>
        <p:spPr>
          <a:xfrm>
            <a:off x="9093250" y="57150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13" name="Connector 17"/>
          <p:cNvSpPr/>
          <p:nvPr/>
        </p:nvSpPr>
        <p:spPr>
          <a:xfrm>
            <a:off x="1371600" y="621792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4" name="TextBox 18"/>
          <p:cNvSpPr txBox="1"/>
          <p:nvPr/>
        </p:nvSpPr>
        <p:spPr>
          <a:xfrm>
            <a:off x="1517903" y="635507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15" name="TextBox 19"/>
          <p:cNvSpPr txBox="1"/>
          <p:nvPr/>
        </p:nvSpPr>
        <p:spPr>
          <a:xfrm>
            <a:off x="2600095" y="635507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6316" name="TextBox 20"/>
          <p:cNvSpPr txBox="1"/>
          <p:nvPr/>
        </p:nvSpPr>
        <p:spPr>
          <a:xfrm>
            <a:off x="9093250" y="635507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17" name="TextBox 21"/>
          <p:cNvSpPr txBox="1"/>
          <p:nvPr/>
        </p:nvSpPr>
        <p:spPr>
          <a:xfrm>
            <a:off x="10894893" y="635507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18" name="TextBox 22"/>
          <p:cNvSpPr txBox="1"/>
          <p:nvPr/>
        </p:nvSpPr>
        <p:spPr>
          <a:xfrm>
            <a:off x="12626399" y="635507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19" name="Connector 23"/>
          <p:cNvSpPr/>
          <p:nvPr/>
        </p:nvSpPr>
        <p:spPr>
          <a:xfrm>
            <a:off x="1371600" y="68580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20" name="TextBox 24"/>
          <p:cNvSpPr txBox="1"/>
          <p:nvPr/>
        </p:nvSpPr>
        <p:spPr>
          <a:xfrm>
            <a:off x="1517903" y="69951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321" name="TextBox 25"/>
          <p:cNvSpPr txBox="1"/>
          <p:nvPr/>
        </p:nvSpPr>
        <p:spPr>
          <a:xfrm>
            <a:off x="2600095" y="69951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6322" name="TextBox 26"/>
          <p:cNvSpPr txBox="1"/>
          <p:nvPr/>
        </p:nvSpPr>
        <p:spPr>
          <a:xfrm>
            <a:off x="9093250" y="69951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23" name="TextBox 27"/>
          <p:cNvSpPr txBox="1"/>
          <p:nvPr/>
        </p:nvSpPr>
        <p:spPr>
          <a:xfrm>
            <a:off x="10894893" y="699515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24" name="TextBox 28"/>
          <p:cNvSpPr txBox="1"/>
          <p:nvPr/>
        </p:nvSpPr>
        <p:spPr>
          <a:xfrm>
            <a:off x="12626399" y="699515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25" name="Connector 29"/>
          <p:cNvSpPr/>
          <p:nvPr/>
        </p:nvSpPr>
        <p:spPr>
          <a:xfrm>
            <a:off x="1371600" y="74980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26" name="TextBox 30"/>
          <p:cNvSpPr txBox="1"/>
          <p:nvPr/>
        </p:nvSpPr>
        <p:spPr>
          <a:xfrm>
            <a:off x="1517903" y="7635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327" name="TextBox 31"/>
          <p:cNvSpPr txBox="1"/>
          <p:nvPr/>
        </p:nvSpPr>
        <p:spPr>
          <a:xfrm>
            <a:off x="2600095" y="7635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 value</a:t>
            </a:r>
          </a:p>
        </p:txBody>
      </p:sp>
      <p:sp>
        <p:nvSpPr>
          <p:cNvPr id="6328" name="TextBox 32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329" name="Picture 33" descr="Picture 3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330" name="Picture 34" descr="Picture 3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331" name="TextBox 35"/>
          <p:cNvSpPr txBox="1"/>
          <p:nvPr/>
        </p:nvSpPr>
        <p:spPr>
          <a:xfrm>
            <a:off x="14504212" y="763524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6332" name="Connector 36"/>
          <p:cNvSpPr/>
          <p:nvPr/>
        </p:nvSpPr>
        <p:spPr>
          <a:xfrm>
            <a:off x="1371600" y="81381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33" name="TextBox 37"/>
          <p:cNvSpPr txBox="1"/>
          <p:nvPr/>
        </p:nvSpPr>
        <p:spPr>
          <a:xfrm>
            <a:off x="1517903" y="82753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334" name="TextBox 38"/>
          <p:cNvSpPr txBox="1"/>
          <p:nvPr/>
        </p:nvSpPr>
        <p:spPr>
          <a:xfrm>
            <a:off x="2600095" y="82753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traded price</a:t>
            </a:r>
          </a:p>
        </p:txBody>
      </p:sp>
      <p:sp>
        <p:nvSpPr>
          <p:cNvPr id="6335" name="TextBox 39"/>
          <p:cNvSpPr txBox="1"/>
          <p:nvPr/>
        </p:nvSpPr>
        <p:spPr>
          <a:xfrm>
            <a:off x="9093250" y="82753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36" name="TextBox 40"/>
          <p:cNvSpPr txBox="1"/>
          <p:nvPr/>
        </p:nvSpPr>
        <p:spPr>
          <a:xfrm>
            <a:off x="10894893" y="827531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37" name="TextBox 41"/>
          <p:cNvSpPr txBox="1"/>
          <p:nvPr/>
        </p:nvSpPr>
        <p:spPr>
          <a:xfrm>
            <a:off x="12626399" y="827531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38" name="Connector 42"/>
          <p:cNvSpPr/>
          <p:nvPr/>
        </p:nvSpPr>
        <p:spPr>
          <a:xfrm>
            <a:off x="1371600" y="8778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39" name="TextBox 43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340" name="TextBox 44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6341" name="TextBox 45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342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343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344" name="TextBox 48"/>
          <p:cNvSpPr txBox="1"/>
          <p:nvPr/>
        </p:nvSpPr>
        <p:spPr>
          <a:xfrm>
            <a:off x="14504212" y="891540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345" name="Connector 49"/>
          <p:cNvSpPr/>
          <p:nvPr/>
        </p:nvSpPr>
        <p:spPr>
          <a:xfrm>
            <a:off x="1371600" y="9418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6" name="TextBox 50"/>
          <p:cNvSpPr txBox="1"/>
          <p:nvPr/>
        </p:nvSpPr>
        <p:spPr>
          <a:xfrm>
            <a:off x="1517903" y="95554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347" name="TextBox 51"/>
          <p:cNvSpPr txBox="1"/>
          <p:nvPr/>
        </p:nvSpPr>
        <p:spPr>
          <a:xfrm>
            <a:off x="2600095" y="95554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6348" name="TextBox 52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349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350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351" name="TextBox 55"/>
          <p:cNvSpPr txBox="1"/>
          <p:nvPr/>
        </p:nvSpPr>
        <p:spPr>
          <a:xfrm>
            <a:off x="14504212" y="955548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352" name="Connector 56"/>
          <p:cNvSpPr/>
          <p:nvPr/>
        </p:nvSpPr>
        <p:spPr>
          <a:xfrm>
            <a:off x="1371600" y="10058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3" name="TextBox 57"/>
          <p:cNvSpPr txBox="1"/>
          <p:nvPr/>
        </p:nvSpPr>
        <p:spPr>
          <a:xfrm>
            <a:off x="1517903" y="101955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354" name="TextBox 58"/>
          <p:cNvSpPr txBox="1"/>
          <p:nvPr/>
        </p:nvSpPr>
        <p:spPr>
          <a:xfrm>
            <a:off x="2600095" y="101955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P/L</a:t>
            </a:r>
          </a:p>
        </p:txBody>
      </p:sp>
      <p:sp>
        <p:nvSpPr>
          <p:cNvPr id="6355" name="TextBox 59"/>
          <p:cNvSpPr txBox="1"/>
          <p:nvPr/>
        </p:nvSpPr>
        <p:spPr>
          <a:xfrm>
            <a:off x="9093250" y="101955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356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6357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358" name="TextBox 62"/>
          <p:cNvSpPr txBox="1"/>
          <p:nvPr/>
        </p:nvSpPr>
        <p:spPr>
          <a:xfrm>
            <a:off x="14504212" y="101955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359" name="Connector 63"/>
          <p:cNvSpPr/>
          <p:nvPr/>
        </p:nvSpPr>
        <p:spPr>
          <a:xfrm>
            <a:off x="1371600" y="106984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0" name="TextBox 64"/>
          <p:cNvSpPr txBox="1"/>
          <p:nvPr/>
        </p:nvSpPr>
        <p:spPr>
          <a:xfrm>
            <a:off x="1517903" y="108356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361" name="TextBox 65"/>
          <p:cNvSpPr txBox="1"/>
          <p:nvPr/>
        </p:nvSpPr>
        <p:spPr>
          <a:xfrm>
            <a:off x="2600095" y="108356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Avg price P/L</a:t>
            </a:r>
          </a:p>
        </p:txBody>
      </p:sp>
      <p:sp>
        <p:nvSpPr>
          <p:cNvPr id="6362" name="TextBox 66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63" name="TextBox 67"/>
          <p:cNvSpPr txBox="1"/>
          <p:nvPr/>
        </p:nvSpPr>
        <p:spPr>
          <a:xfrm>
            <a:off x="10894893" y="1083564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64" name="TextBox 68"/>
          <p:cNvSpPr txBox="1"/>
          <p:nvPr/>
        </p:nvSpPr>
        <p:spPr>
          <a:xfrm>
            <a:off x="12626399" y="1083564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65" name="Connector 69"/>
          <p:cNvSpPr/>
          <p:nvPr/>
        </p:nvSpPr>
        <p:spPr>
          <a:xfrm>
            <a:off x="1371600" y="113385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6" name="TextBox 70"/>
          <p:cNvSpPr txBox="1"/>
          <p:nvPr/>
        </p:nvSpPr>
        <p:spPr>
          <a:xfrm>
            <a:off x="1517903" y="114757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367" name="TextBox 71"/>
          <p:cNvSpPr txBox="1"/>
          <p:nvPr/>
        </p:nvSpPr>
        <p:spPr>
          <a:xfrm>
            <a:off x="2600095" y="114757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P/L (UPL)</a:t>
            </a:r>
          </a:p>
        </p:txBody>
      </p:sp>
      <p:sp>
        <p:nvSpPr>
          <p:cNvPr id="6368" name="TextBox 72"/>
          <p:cNvSpPr txBox="1"/>
          <p:nvPr/>
        </p:nvSpPr>
        <p:spPr>
          <a:xfrm>
            <a:off x="9093250" y="114757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69" name="TextBox 73"/>
          <p:cNvSpPr txBox="1"/>
          <p:nvPr/>
        </p:nvSpPr>
        <p:spPr>
          <a:xfrm>
            <a:off x="10894893" y="1147571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70" name="TextBox 74"/>
          <p:cNvSpPr txBox="1"/>
          <p:nvPr/>
        </p:nvSpPr>
        <p:spPr>
          <a:xfrm>
            <a:off x="12626399" y="1147571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71" name="Connector 75"/>
          <p:cNvSpPr/>
          <p:nvPr/>
        </p:nvSpPr>
        <p:spPr>
          <a:xfrm>
            <a:off x="1371600" y="11978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2" name="TextBox 76"/>
          <p:cNvSpPr txBox="1"/>
          <p:nvPr/>
        </p:nvSpPr>
        <p:spPr>
          <a:xfrm>
            <a:off x="1517903" y="12115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373" name="TextBox 77"/>
          <p:cNvSpPr txBox="1"/>
          <p:nvPr/>
        </p:nvSpPr>
        <p:spPr>
          <a:xfrm>
            <a:off x="2600095" y="12115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Invest/withdraw</a:t>
            </a:r>
          </a:p>
        </p:txBody>
      </p:sp>
      <p:sp>
        <p:nvSpPr>
          <p:cNvPr id="6374" name="TextBox 78"/>
          <p:cNvSpPr txBox="1"/>
          <p:nvPr/>
        </p:nvSpPr>
        <p:spPr>
          <a:xfrm>
            <a:off x="9093250" y="12115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375" name="Connector 79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378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082 / 111</a:t>
            </a:r>
          </a:p>
        </p:txBody>
      </p:sp>
      <p:sp>
        <p:nvSpPr>
          <p:cNvPr id="6379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380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6381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382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383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384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385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386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387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388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389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0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91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6392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93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4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95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6396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97" name="TextBox 21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6398" name="Connector 22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9" name="TextBox 23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00" name="TextBox 24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6401" name="TextBox 25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02" name="TextBox 26"/>
          <p:cNvSpPr txBox="1"/>
          <p:nvPr/>
        </p:nvSpPr>
        <p:spPr>
          <a:xfrm>
            <a:off x="10894893" y="710945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03" name="TextBox 27"/>
          <p:cNvSpPr txBox="1"/>
          <p:nvPr/>
        </p:nvSpPr>
        <p:spPr>
          <a:xfrm>
            <a:off x="12626399" y="7109459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04" name="Connector 28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5" name="TextBox 29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06" name="TextBox 30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6407" name="TextBox 31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08" name="TextBox 32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6409" name="Connector 33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0" name="TextBox 34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411" name="TextBox 35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6412" name="TextBox 36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13" name="Connector 37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4" name="TextBox 38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415" name="TextBox 39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6416" name="TextBox 40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17" name="Connector 41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8" name="TextBox 42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419" name="TextBox 43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6420" name="TextBox 44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421" name="Connector 4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2" name="TextBox 46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423" name="TextBox 47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display preferences</a:t>
            </a:r>
          </a:p>
        </p:txBody>
      </p:sp>
      <p:sp>
        <p:nvSpPr>
          <p:cNvPr id="6424" name="TextBox 48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425" name="TextBox 49"/>
          <p:cNvSpPr txBox="1"/>
          <p:nvPr/>
        </p:nvSpPr>
        <p:spPr>
          <a:xfrm>
            <a:off x="14504212" y="10538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6426" name="Connector 50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42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083 / 111</a:t>
            </a:r>
          </a:p>
        </p:txBody>
      </p:sp>
      <p:sp>
        <p:nvSpPr>
          <p:cNvPr id="643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43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643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43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43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43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43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43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43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43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44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1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442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6443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44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5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446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6447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48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9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50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6451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52" name="Connector 25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3" name="TextBox 26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54" name="TextBox 27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6455" name="TextBox 28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56" name="Connector 2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7" name="TextBox 3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458" name="TextBox 3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6459" name="TextBox 3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60" name="Connector 3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1" name="TextBox 3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462" name="TextBox 3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6463" name="TextBox 3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464" name="Connector 37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5" name="TextBox 38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466" name="TextBox 39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6467" name="TextBox 40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468" name="Connector 41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47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084 / 111</a:t>
            </a:r>
          </a:p>
        </p:txBody>
      </p:sp>
      <p:sp>
        <p:nvSpPr>
          <p:cNvPr id="647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47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647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47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47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47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47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47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48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48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48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3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484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6485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86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7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488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 (1 month within a year)</a:t>
            </a:r>
          </a:p>
        </p:txBody>
      </p:sp>
      <p:sp>
        <p:nvSpPr>
          <p:cNvPr id="6489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90" name="TextBox 21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491" name="Connector 22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2" name="TextBox 23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93" name="TextBox 24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 (1 month within a year)</a:t>
            </a:r>
          </a:p>
        </p:txBody>
      </p:sp>
      <p:sp>
        <p:nvSpPr>
          <p:cNvPr id="6494" name="TextBox 25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95" name="TextBox 26"/>
          <p:cNvSpPr txBox="1"/>
          <p:nvPr/>
        </p:nvSpPr>
        <p:spPr>
          <a:xfrm>
            <a:off x="14504212" y="7109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496" name="Connector 27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7" name="TextBox 28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98" name="TextBox 29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report (1 month within a year)</a:t>
            </a:r>
          </a:p>
        </p:txBody>
      </p:sp>
      <p:sp>
        <p:nvSpPr>
          <p:cNvPr id="6499" name="TextBox 30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00" name="TextBox 31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501" name="Connector 32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2" name="TextBox 33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503" name="TextBox 34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Dividend report (1 month within a year)</a:t>
            </a:r>
          </a:p>
        </p:txBody>
      </p:sp>
      <p:sp>
        <p:nvSpPr>
          <p:cNvPr id="6504" name="TextBox 35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05" name="TextBox 36"/>
          <p:cNvSpPr txBox="1"/>
          <p:nvPr/>
        </p:nvSpPr>
        <p:spPr>
          <a:xfrm>
            <a:off x="14504212" y="84810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506" name="Connector 37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7" name="TextBox 38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508" name="TextBox 39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6509" name="TextBox 40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10" name="Connector 41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1" name="TextBox 42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512" name="TextBox 43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6513" name="TextBox 44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14" name="Connector 45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5" name="TextBox 46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516" name="TextBox 47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6517" name="TextBox 48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518" name="TextBox 49"/>
          <p:cNvSpPr txBox="1"/>
          <p:nvPr/>
        </p:nvSpPr>
        <p:spPr>
          <a:xfrm>
            <a:off x="14504212" y="10538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6519" name="Connector 50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522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085 / 111</a:t>
            </a:r>
          </a:p>
        </p:txBody>
      </p:sp>
      <p:sp>
        <p:nvSpPr>
          <p:cNvPr id="6523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524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6525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526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527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528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529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530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531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532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533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4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35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Strategies (Balanced / Growth / High Growth)</a:t>
            </a:r>
          </a:p>
        </p:txBody>
      </p:sp>
      <p:sp>
        <p:nvSpPr>
          <p:cNvPr id="6536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37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8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39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Actions tab (Dividends)</a:t>
            </a:r>
          </a:p>
        </p:txBody>
      </p:sp>
      <p:sp>
        <p:nvSpPr>
          <p:cNvPr id="6540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41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2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43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Performance%</a:t>
            </a:r>
          </a:p>
        </p:txBody>
      </p:sp>
      <p:sp>
        <p:nvSpPr>
          <p:cNvPr id="6544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45" name="Connector 25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6" name="TextBox 26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547" name="TextBox 27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details</a:t>
            </a:r>
          </a:p>
        </p:txBody>
      </p:sp>
      <p:sp>
        <p:nvSpPr>
          <p:cNvPr id="6548" name="TextBox 28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49" name="Connector 2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0" name="TextBox 3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551" name="TextBox 3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6552" name="TextBox 3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53" name="Connector 3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4" name="TextBox 3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555" name="TextBox 3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subscription</a:t>
            </a:r>
          </a:p>
        </p:txBody>
      </p:sp>
      <p:sp>
        <p:nvSpPr>
          <p:cNvPr id="6556" name="TextBox 3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57" name="Connector 37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8" name="TextBox 38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559" name="TextBox 39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level</a:t>
            </a:r>
          </a:p>
        </p:txBody>
      </p:sp>
      <p:sp>
        <p:nvSpPr>
          <p:cNvPr id="6560" name="TextBox 40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61" name="Connector 41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62" name="TextBox 42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563" name="TextBox 43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alerts</a:t>
            </a:r>
          </a:p>
        </p:txBody>
      </p:sp>
      <p:sp>
        <p:nvSpPr>
          <p:cNvPr id="6564" name="TextBox 44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65" name="Connector 45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66" name="TextBox 46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567" name="TextBox 47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</a:t>
            </a:r>
          </a:p>
        </p:txBody>
      </p:sp>
      <p:sp>
        <p:nvSpPr>
          <p:cNvPr id="6568" name="TextBox 48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69" name="TextBox 49"/>
          <p:cNvSpPr txBox="1"/>
          <p:nvPr/>
        </p:nvSpPr>
        <p:spPr>
          <a:xfrm>
            <a:off x="14504212" y="11224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570" name="Connector 50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57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086 / 111</a:t>
            </a:r>
          </a:p>
        </p:txBody>
      </p:sp>
      <p:sp>
        <p:nvSpPr>
          <p:cNvPr id="657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57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in to local portfolio</a:t>
            </a:r>
          </a:p>
        </p:txBody>
      </p:sp>
      <p:sp>
        <p:nvSpPr>
          <p:cNvPr id="657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57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57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57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58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58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58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58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58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5" name="TextBox 14"/>
          <p:cNvSpPr txBox="1"/>
          <p:nvPr/>
        </p:nvSpPr>
        <p:spPr>
          <a:xfrm>
            <a:off x="1517903" y="568832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86" name="TextBox 15"/>
          <p:cNvSpPr txBox="1"/>
          <p:nvPr/>
        </p:nvSpPr>
        <p:spPr>
          <a:xfrm>
            <a:off x="2600095" y="568832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6587" name="TextBox 16"/>
          <p:cNvSpPr txBox="1"/>
          <p:nvPr/>
        </p:nvSpPr>
        <p:spPr>
          <a:xfrm>
            <a:off x="9093250" y="568832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88" name="Connector 17"/>
          <p:cNvSpPr/>
          <p:nvPr/>
        </p:nvSpPr>
        <p:spPr>
          <a:xfrm>
            <a:off x="1371600" y="616457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9" name="TextBox 18"/>
          <p:cNvSpPr txBox="1"/>
          <p:nvPr/>
        </p:nvSpPr>
        <p:spPr>
          <a:xfrm>
            <a:off x="1517903" y="627507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90" name="TextBox 19"/>
          <p:cNvSpPr txBox="1"/>
          <p:nvPr/>
        </p:nvSpPr>
        <p:spPr>
          <a:xfrm>
            <a:off x="2600095" y="627507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6591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92" name="Connector 21"/>
          <p:cNvSpPr/>
          <p:nvPr/>
        </p:nvSpPr>
        <p:spPr>
          <a:xfrm>
            <a:off x="1371600" y="6751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3" name="TextBox 22"/>
          <p:cNvSpPr txBox="1"/>
          <p:nvPr/>
        </p:nvSpPr>
        <p:spPr>
          <a:xfrm>
            <a:off x="1517903" y="68618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594" name="TextBox 23"/>
          <p:cNvSpPr txBox="1"/>
          <p:nvPr/>
        </p:nvSpPr>
        <p:spPr>
          <a:xfrm>
            <a:off x="2600095" y="68618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6595" name="TextBox 24"/>
          <p:cNvSpPr txBox="1"/>
          <p:nvPr/>
        </p:nvSpPr>
        <p:spPr>
          <a:xfrm>
            <a:off x="9093250" y="68618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96" name="Connector 25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7" name="TextBox 26"/>
          <p:cNvSpPr txBox="1"/>
          <p:nvPr/>
        </p:nvSpPr>
        <p:spPr>
          <a:xfrm>
            <a:off x="1517903" y="74485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598" name="TextBox 27"/>
          <p:cNvSpPr txBox="1"/>
          <p:nvPr/>
        </p:nvSpPr>
        <p:spPr>
          <a:xfrm>
            <a:off x="2600095" y="74485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6599" name="TextBox 28"/>
          <p:cNvSpPr txBox="1"/>
          <p:nvPr/>
        </p:nvSpPr>
        <p:spPr>
          <a:xfrm>
            <a:off x="9093250" y="74485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00" name="Connector 29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1" name="TextBox 30"/>
          <p:cNvSpPr txBox="1"/>
          <p:nvPr/>
        </p:nvSpPr>
        <p:spPr>
          <a:xfrm>
            <a:off x="1517903" y="80352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602" name="TextBox 31"/>
          <p:cNvSpPr txBox="1"/>
          <p:nvPr/>
        </p:nvSpPr>
        <p:spPr>
          <a:xfrm>
            <a:off x="2600095" y="80352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6603" name="TextBox 32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04" name="Connector 33"/>
          <p:cNvSpPr/>
          <p:nvPr/>
        </p:nvSpPr>
        <p:spPr>
          <a:xfrm>
            <a:off x="1371600" y="85115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5" name="TextBox 34"/>
          <p:cNvSpPr txBox="1"/>
          <p:nvPr/>
        </p:nvSpPr>
        <p:spPr>
          <a:xfrm>
            <a:off x="1517903" y="86220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606" name="TextBox 35"/>
          <p:cNvSpPr txBox="1"/>
          <p:nvPr/>
        </p:nvSpPr>
        <p:spPr>
          <a:xfrm>
            <a:off x="2600095" y="86220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6607" name="TextBox 3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08" name="Connector 37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9" name="TextBox 38"/>
          <p:cNvSpPr txBox="1"/>
          <p:nvPr/>
        </p:nvSpPr>
        <p:spPr>
          <a:xfrm>
            <a:off x="1517903" y="92087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610" name="TextBox 39"/>
          <p:cNvSpPr txBox="1"/>
          <p:nvPr/>
        </p:nvSpPr>
        <p:spPr>
          <a:xfrm>
            <a:off x="2600095" y="92087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6611" name="TextBox 40"/>
          <p:cNvSpPr txBox="1"/>
          <p:nvPr/>
        </p:nvSpPr>
        <p:spPr>
          <a:xfrm>
            <a:off x="9093250" y="92087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12" name="Connector 41"/>
          <p:cNvSpPr/>
          <p:nvPr/>
        </p:nvSpPr>
        <p:spPr>
          <a:xfrm>
            <a:off x="1371600" y="96850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3" name="TextBox 42"/>
          <p:cNvSpPr txBox="1"/>
          <p:nvPr/>
        </p:nvSpPr>
        <p:spPr>
          <a:xfrm>
            <a:off x="1517903" y="97955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614" name="TextBox 43"/>
          <p:cNvSpPr txBox="1"/>
          <p:nvPr/>
        </p:nvSpPr>
        <p:spPr>
          <a:xfrm>
            <a:off x="2600095" y="97955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6615" name="TextBox 44"/>
          <p:cNvSpPr txBox="1"/>
          <p:nvPr/>
        </p:nvSpPr>
        <p:spPr>
          <a:xfrm>
            <a:off x="9093250" y="97955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16" name="Connector 45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7" name="TextBox 46"/>
          <p:cNvSpPr txBox="1"/>
          <p:nvPr/>
        </p:nvSpPr>
        <p:spPr>
          <a:xfrm>
            <a:off x="1517903" y="103822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618" name="TextBox 47"/>
          <p:cNvSpPr txBox="1"/>
          <p:nvPr/>
        </p:nvSpPr>
        <p:spPr>
          <a:xfrm>
            <a:off x="2600095" y="103822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6619" name="TextBox 48"/>
          <p:cNvSpPr txBox="1"/>
          <p:nvPr/>
        </p:nvSpPr>
        <p:spPr>
          <a:xfrm>
            <a:off x="9093250" y="103822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20" name="Connector 49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1" name="TextBox 50"/>
          <p:cNvSpPr txBox="1"/>
          <p:nvPr/>
        </p:nvSpPr>
        <p:spPr>
          <a:xfrm>
            <a:off x="1517903" y="109689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622" name="TextBox 51"/>
          <p:cNvSpPr txBox="1"/>
          <p:nvPr/>
        </p:nvSpPr>
        <p:spPr>
          <a:xfrm>
            <a:off x="2600095" y="109689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6623" name="TextBox 52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24" name="Connector 53"/>
          <p:cNvSpPr/>
          <p:nvPr/>
        </p:nvSpPr>
        <p:spPr>
          <a:xfrm>
            <a:off x="1371600" y="1144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5" name="TextBox 54"/>
          <p:cNvSpPr txBox="1"/>
          <p:nvPr/>
        </p:nvSpPr>
        <p:spPr>
          <a:xfrm>
            <a:off x="1517903" y="115557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626" name="TextBox 55"/>
          <p:cNvSpPr txBox="1"/>
          <p:nvPr/>
        </p:nvSpPr>
        <p:spPr>
          <a:xfrm>
            <a:off x="2600095" y="115557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6627" name="TextBox 5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28" name="Connector 57"/>
          <p:cNvSpPr/>
          <p:nvPr/>
        </p:nvSpPr>
        <p:spPr>
          <a:xfrm>
            <a:off x="1371600" y="120319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9" name="TextBox 58"/>
          <p:cNvSpPr txBox="1"/>
          <p:nvPr/>
        </p:nvSpPr>
        <p:spPr>
          <a:xfrm>
            <a:off x="1517903" y="121424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630" name="TextBox 59"/>
          <p:cNvSpPr txBox="1"/>
          <p:nvPr/>
        </p:nvSpPr>
        <p:spPr>
          <a:xfrm>
            <a:off x="2600095" y="121424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6631" name="TextBox 60"/>
          <p:cNvSpPr txBox="1"/>
          <p:nvPr/>
        </p:nvSpPr>
        <p:spPr>
          <a:xfrm>
            <a:off x="9093250" y="121424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32" name="Connector 6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63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087 / 111</a:t>
            </a:r>
          </a:p>
        </p:txBody>
      </p:sp>
      <p:sp>
        <p:nvSpPr>
          <p:cNvPr id="663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63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out to local portfolio</a:t>
            </a:r>
          </a:p>
        </p:txBody>
      </p:sp>
      <p:sp>
        <p:nvSpPr>
          <p:cNvPr id="663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63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64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64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64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64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64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64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64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7" name="TextBox 14"/>
          <p:cNvSpPr txBox="1"/>
          <p:nvPr/>
        </p:nvSpPr>
        <p:spPr>
          <a:xfrm>
            <a:off x="1517903" y="568832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48" name="TextBox 15"/>
          <p:cNvSpPr txBox="1"/>
          <p:nvPr/>
        </p:nvSpPr>
        <p:spPr>
          <a:xfrm>
            <a:off x="2600095" y="568832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6649" name="TextBox 16"/>
          <p:cNvSpPr txBox="1"/>
          <p:nvPr/>
        </p:nvSpPr>
        <p:spPr>
          <a:xfrm>
            <a:off x="9093250" y="568832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50" name="Connector 17"/>
          <p:cNvSpPr/>
          <p:nvPr/>
        </p:nvSpPr>
        <p:spPr>
          <a:xfrm>
            <a:off x="1371600" y="616457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1" name="TextBox 18"/>
          <p:cNvSpPr txBox="1"/>
          <p:nvPr/>
        </p:nvSpPr>
        <p:spPr>
          <a:xfrm>
            <a:off x="1517903" y="627507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652" name="TextBox 19"/>
          <p:cNvSpPr txBox="1"/>
          <p:nvPr/>
        </p:nvSpPr>
        <p:spPr>
          <a:xfrm>
            <a:off x="2600095" y="627507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6653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54" name="Connector 21"/>
          <p:cNvSpPr/>
          <p:nvPr/>
        </p:nvSpPr>
        <p:spPr>
          <a:xfrm>
            <a:off x="1371600" y="6751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5" name="TextBox 22"/>
          <p:cNvSpPr txBox="1"/>
          <p:nvPr/>
        </p:nvSpPr>
        <p:spPr>
          <a:xfrm>
            <a:off x="1517903" y="68618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656" name="TextBox 23"/>
          <p:cNvSpPr txBox="1"/>
          <p:nvPr/>
        </p:nvSpPr>
        <p:spPr>
          <a:xfrm>
            <a:off x="2600095" y="68618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6657" name="TextBox 24"/>
          <p:cNvSpPr txBox="1"/>
          <p:nvPr/>
        </p:nvSpPr>
        <p:spPr>
          <a:xfrm>
            <a:off x="9093250" y="68618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58" name="Connector 25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9" name="TextBox 26"/>
          <p:cNvSpPr txBox="1"/>
          <p:nvPr/>
        </p:nvSpPr>
        <p:spPr>
          <a:xfrm>
            <a:off x="1517903" y="74485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660" name="TextBox 27"/>
          <p:cNvSpPr txBox="1"/>
          <p:nvPr/>
        </p:nvSpPr>
        <p:spPr>
          <a:xfrm>
            <a:off x="2600095" y="74485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6661" name="TextBox 28"/>
          <p:cNvSpPr txBox="1"/>
          <p:nvPr/>
        </p:nvSpPr>
        <p:spPr>
          <a:xfrm>
            <a:off x="9093250" y="74485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62" name="TextBox 29"/>
          <p:cNvSpPr txBox="1"/>
          <p:nvPr/>
        </p:nvSpPr>
        <p:spPr>
          <a:xfrm>
            <a:off x="10894893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663" name="TextBox 30"/>
          <p:cNvSpPr txBox="1"/>
          <p:nvPr/>
        </p:nvSpPr>
        <p:spPr>
          <a:xfrm>
            <a:off x="12626399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664" name="Connector 31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5" name="TextBox 32"/>
          <p:cNvSpPr txBox="1"/>
          <p:nvPr/>
        </p:nvSpPr>
        <p:spPr>
          <a:xfrm>
            <a:off x="1517903" y="80352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666" name="TextBox 33"/>
          <p:cNvSpPr txBox="1"/>
          <p:nvPr/>
        </p:nvSpPr>
        <p:spPr>
          <a:xfrm>
            <a:off x="2600095" y="80352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6667" name="TextBox 34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68" name="TextBox 35"/>
          <p:cNvSpPr txBox="1"/>
          <p:nvPr/>
        </p:nvSpPr>
        <p:spPr>
          <a:xfrm>
            <a:off x="10894893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669" name="TextBox 36"/>
          <p:cNvSpPr txBox="1"/>
          <p:nvPr/>
        </p:nvSpPr>
        <p:spPr>
          <a:xfrm>
            <a:off x="12626399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670" name="Connector 37"/>
          <p:cNvSpPr/>
          <p:nvPr/>
        </p:nvSpPr>
        <p:spPr>
          <a:xfrm>
            <a:off x="1371600" y="85115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71" name="TextBox 38"/>
          <p:cNvSpPr txBox="1"/>
          <p:nvPr/>
        </p:nvSpPr>
        <p:spPr>
          <a:xfrm>
            <a:off x="1517903" y="86220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672" name="TextBox 39"/>
          <p:cNvSpPr txBox="1"/>
          <p:nvPr/>
        </p:nvSpPr>
        <p:spPr>
          <a:xfrm>
            <a:off x="2600095" y="86220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6673" name="TextBox 40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74" name="TextBox 41"/>
          <p:cNvSpPr txBox="1"/>
          <p:nvPr/>
        </p:nvSpPr>
        <p:spPr>
          <a:xfrm>
            <a:off x="10894893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675" name="TextBox 42"/>
          <p:cNvSpPr txBox="1"/>
          <p:nvPr/>
        </p:nvSpPr>
        <p:spPr>
          <a:xfrm>
            <a:off x="12626399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676" name="Connector 43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77" name="TextBox 44"/>
          <p:cNvSpPr txBox="1"/>
          <p:nvPr/>
        </p:nvSpPr>
        <p:spPr>
          <a:xfrm>
            <a:off x="1517903" y="92087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678" name="TextBox 45"/>
          <p:cNvSpPr txBox="1"/>
          <p:nvPr/>
        </p:nvSpPr>
        <p:spPr>
          <a:xfrm>
            <a:off x="2600095" y="92087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6679" name="TextBox 46"/>
          <p:cNvSpPr txBox="1"/>
          <p:nvPr/>
        </p:nvSpPr>
        <p:spPr>
          <a:xfrm>
            <a:off x="9093250" y="92087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80" name="Connector 47"/>
          <p:cNvSpPr/>
          <p:nvPr/>
        </p:nvSpPr>
        <p:spPr>
          <a:xfrm>
            <a:off x="1371600" y="96850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1" name="TextBox 48"/>
          <p:cNvSpPr txBox="1"/>
          <p:nvPr/>
        </p:nvSpPr>
        <p:spPr>
          <a:xfrm>
            <a:off x="1517903" y="97955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682" name="TextBox 49"/>
          <p:cNvSpPr txBox="1"/>
          <p:nvPr/>
        </p:nvSpPr>
        <p:spPr>
          <a:xfrm>
            <a:off x="2600095" y="97955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6683" name="TextBox 50"/>
          <p:cNvSpPr txBox="1"/>
          <p:nvPr/>
        </p:nvSpPr>
        <p:spPr>
          <a:xfrm>
            <a:off x="9093250" y="97955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84" name="Connector 51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5" name="TextBox 52"/>
          <p:cNvSpPr txBox="1"/>
          <p:nvPr/>
        </p:nvSpPr>
        <p:spPr>
          <a:xfrm>
            <a:off x="1517903" y="103822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686" name="TextBox 53"/>
          <p:cNvSpPr txBox="1"/>
          <p:nvPr/>
        </p:nvSpPr>
        <p:spPr>
          <a:xfrm>
            <a:off x="2600095" y="103822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6687" name="TextBox 54"/>
          <p:cNvSpPr txBox="1"/>
          <p:nvPr/>
        </p:nvSpPr>
        <p:spPr>
          <a:xfrm>
            <a:off x="9093250" y="103822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88" name="Connector 55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9" name="TextBox 56"/>
          <p:cNvSpPr txBox="1"/>
          <p:nvPr/>
        </p:nvSpPr>
        <p:spPr>
          <a:xfrm>
            <a:off x="1517903" y="109689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690" name="TextBox 57"/>
          <p:cNvSpPr txBox="1"/>
          <p:nvPr/>
        </p:nvSpPr>
        <p:spPr>
          <a:xfrm>
            <a:off x="2600095" y="109689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6691" name="TextBox 58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92" name="Connector 59"/>
          <p:cNvSpPr/>
          <p:nvPr/>
        </p:nvSpPr>
        <p:spPr>
          <a:xfrm>
            <a:off x="1371600" y="1144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3" name="TextBox 60"/>
          <p:cNvSpPr txBox="1"/>
          <p:nvPr/>
        </p:nvSpPr>
        <p:spPr>
          <a:xfrm>
            <a:off x="1517903" y="115557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694" name="TextBox 61"/>
          <p:cNvSpPr txBox="1"/>
          <p:nvPr/>
        </p:nvSpPr>
        <p:spPr>
          <a:xfrm>
            <a:off x="2600095" y="115557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6695" name="TextBox 62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96" name="Connector 63"/>
          <p:cNvSpPr/>
          <p:nvPr/>
        </p:nvSpPr>
        <p:spPr>
          <a:xfrm>
            <a:off x="1371600" y="120319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7" name="TextBox 64"/>
          <p:cNvSpPr txBox="1"/>
          <p:nvPr/>
        </p:nvSpPr>
        <p:spPr>
          <a:xfrm>
            <a:off x="1517903" y="121424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698" name="TextBox 65"/>
          <p:cNvSpPr txBox="1"/>
          <p:nvPr/>
        </p:nvSpPr>
        <p:spPr>
          <a:xfrm>
            <a:off x="2600095" y="121424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6699" name="TextBox 66"/>
          <p:cNvSpPr txBox="1"/>
          <p:nvPr/>
        </p:nvSpPr>
        <p:spPr>
          <a:xfrm>
            <a:off x="9093250" y="121424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00" name="Connector 67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2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6703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04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Crowd </a:t>
            </a:r>
            <a:r>
              <a:rPr>
                <a:solidFill>
                  <a:srgbClr val="0333E8"/>
                </a:solidFill>
              </a:rPr>
              <a:t>Fund</a:t>
            </a:r>
          </a:p>
        </p:txBody>
      </p:sp>
      <p:sp>
        <p:nvSpPr>
          <p:cNvPr id="6705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Alternative investments and crowdfunding</a:t>
            </a:r>
          </a:p>
        </p:txBody>
      </p:sp>
      <p:sp>
        <p:nvSpPr>
          <p:cNvPr id="6706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6707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088 / 111</a:t>
            </a:r>
          </a:p>
        </p:txBody>
      </p:sp>
      <p:pic>
        <p:nvPicPr>
          <p:cNvPr id="6708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71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089 / 111</a:t>
            </a:r>
          </a:p>
        </p:txBody>
      </p:sp>
      <p:sp>
        <p:nvSpPr>
          <p:cNvPr id="671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SECTION SUMMARY</a:t>
            </a:r>
          </a:p>
        </p:txBody>
      </p:sp>
      <p:sp>
        <p:nvSpPr>
          <p:cNvPr id="6713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112 capabilities assessed. 86 already live.</a:t>
            </a:r>
          </a:p>
        </p:txBody>
      </p:sp>
      <p:sp>
        <p:nvSpPr>
          <p:cNvPr id="6714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112</a:t>
            </a:r>
          </a:p>
        </p:txBody>
      </p:sp>
      <p:sp>
        <p:nvSpPr>
          <p:cNvPr id="6715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6716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7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86</a:t>
            </a:r>
          </a:p>
        </p:txBody>
      </p:sp>
      <p:sp>
        <p:nvSpPr>
          <p:cNvPr id="6718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(77% OF 112)</a:t>
            </a:r>
          </a:p>
        </p:txBody>
      </p:sp>
      <p:sp>
        <p:nvSpPr>
          <p:cNvPr id="6719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0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721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(0% OF 112)</a:t>
            </a:r>
          </a:p>
        </p:txBody>
      </p:sp>
      <p:sp>
        <p:nvSpPr>
          <p:cNvPr id="6722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3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24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6725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77% live on app — strong foundation.</a:t>
            </a:r>
          </a:p>
        </p:txBody>
      </p:sp>
      <p:sp>
        <p:nvSpPr>
          <p:cNvPr id="6726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Zero Jira coverage across all planned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4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6729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732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6730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31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6733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3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34" name="Picture 1043" descr="Picture 10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735" name="TextBox 1044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090 / 111</a:t>
            </a:r>
          </a:p>
        </p:txBody>
      </p:sp>
      <p:sp>
        <p:nvSpPr>
          <p:cNvPr id="6736" name="TextBox 1045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</a:t>
            </a:r>
          </a:p>
        </p:txBody>
      </p:sp>
      <p:sp>
        <p:nvSpPr>
          <p:cNvPr id="6737" name="TextBox 1046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6738" name="Connector 1047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9" name="Connector 1048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0" name="Connector 1049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1" name="Connector 1050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2" name="Connector 1051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3" name="Connector 1052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4" name="Connector 1053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5" name="Connector 1054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6" name="Connector 1055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7" name="Connector 1056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8" name="Connector 1057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9" name="Connector 1058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0" name="Connector 1059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1" name="Connector 1060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2" name="Connector 1061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3" name="Connector 1062"/>
          <p:cNvSpPr/>
          <p:nvPr/>
        </p:nvSpPr>
        <p:spPr>
          <a:xfrm>
            <a:off x="2926079" y="8503919"/>
            <a:ext cx="227234" cy="866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4" name="Connector 1063"/>
          <p:cNvSpPr/>
          <p:nvPr/>
        </p:nvSpPr>
        <p:spPr>
          <a:xfrm>
            <a:off x="3153312" y="8590594"/>
            <a:ext cx="213439" cy="136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5" name="Connector 1064"/>
          <p:cNvSpPr/>
          <p:nvPr/>
        </p:nvSpPr>
        <p:spPr>
          <a:xfrm>
            <a:off x="3366751" y="8727054"/>
            <a:ext cx="202642" cy="1772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6" name="Connector 1065"/>
          <p:cNvSpPr/>
          <p:nvPr/>
        </p:nvSpPr>
        <p:spPr>
          <a:xfrm>
            <a:off x="3569391" y="8904302"/>
            <a:ext cx="194844" cy="2090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7" name="Connector 1066"/>
          <p:cNvSpPr/>
          <p:nvPr/>
        </p:nvSpPr>
        <p:spPr>
          <a:xfrm>
            <a:off x="3764235" y="9113342"/>
            <a:ext cx="190046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8" name="Connector 1067"/>
          <p:cNvSpPr/>
          <p:nvPr/>
        </p:nvSpPr>
        <p:spPr>
          <a:xfrm>
            <a:off x="3954279" y="9345173"/>
            <a:ext cx="188246" cy="2456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9" name="Connector 1068"/>
          <p:cNvSpPr/>
          <p:nvPr/>
        </p:nvSpPr>
        <p:spPr>
          <a:xfrm>
            <a:off x="4142525" y="9590802"/>
            <a:ext cx="189446" cy="250428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0" name="Connector 1069"/>
          <p:cNvSpPr/>
          <p:nvPr/>
        </p:nvSpPr>
        <p:spPr>
          <a:xfrm>
            <a:off x="4331970" y="9841230"/>
            <a:ext cx="193644" cy="2462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1" name="Connector 1070"/>
          <p:cNvSpPr/>
          <p:nvPr/>
        </p:nvSpPr>
        <p:spPr>
          <a:xfrm>
            <a:off x="4525613" y="10087458"/>
            <a:ext cx="200842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2" name="Connector 1071"/>
          <p:cNvSpPr/>
          <p:nvPr/>
        </p:nvSpPr>
        <p:spPr>
          <a:xfrm>
            <a:off x="4726454" y="10320490"/>
            <a:ext cx="211040" cy="21083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3" name="Connector 1072"/>
          <p:cNvSpPr/>
          <p:nvPr/>
        </p:nvSpPr>
        <p:spPr>
          <a:xfrm>
            <a:off x="4937492" y="10531327"/>
            <a:ext cx="224236" cy="17964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4" name="Connector 1073"/>
          <p:cNvSpPr/>
          <p:nvPr/>
        </p:nvSpPr>
        <p:spPr>
          <a:xfrm>
            <a:off x="5161727" y="10710976"/>
            <a:ext cx="240430" cy="13946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5" name="Connector 1074"/>
          <p:cNvSpPr/>
          <p:nvPr/>
        </p:nvSpPr>
        <p:spPr>
          <a:xfrm>
            <a:off x="5402156" y="10850435"/>
            <a:ext cx="259626" cy="902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6" name="Connector 1075"/>
          <p:cNvSpPr/>
          <p:nvPr/>
        </p:nvSpPr>
        <p:spPr>
          <a:xfrm>
            <a:off x="5661781" y="10940708"/>
            <a:ext cx="281819" cy="3209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7" name="Connector 1076"/>
          <p:cNvSpPr/>
          <p:nvPr/>
        </p:nvSpPr>
        <p:spPr>
          <a:xfrm>
            <a:off x="5943600" y="10972800"/>
            <a:ext cx="12344400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8" name="Oval 1077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9" name="Oval 1078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0" name="TextBox 1079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6771" name="TextBox 1080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6772" name="Oval 1081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3" name="TextBox 1082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774" name="TextBox 1083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Crowd Market</a:t>
            </a:r>
          </a:p>
        </p:txBody>
      </p:sp>
      <p:sp>
        <p:nvSpPr>
          <p:cNvPr id="6775" name="Oval 1084"/>
          <p:cNvSpPr/>
          <p:nvPr/>
        </p:nvSpPr>
        <p:spPr>
          <a:xfrm>
            <a:off x="118186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6" name="TextBox 1085"/>
          <p:cNvSpPr txBox="1"/>
          <p:nvPr/>
        </p:nvSpPr>
        <p:spPr>
          <a:xfrm>
            <a:off x="98298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777" name="TextBox 1086"/>
          <p:cNvSpPr txBox="1"/>
          <p:nvPr/>
        </p:nvSpPr>
        <p:spPr>
          <a:xfrm>
            <a:off x="98298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Fund Details</a:t>
            </a:r>
          </a:p>
        </p:txBody>
      </p:sp>
      <p:sp>
        <p:nvSpPr>
          <p:cNvPr id="6778" name="Oval 1087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9" name="TextBox 1088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780" name="TextBox 1089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Invest</a:t>
            </a:r>
          </a:p>
        </p:txBody>
      </p:sp>
      <p:sp>
        <p:nvSpPr>
          <p:cNvPr id="6781" name="Oval 1090"/>
          <p:cNvSpPr/>
          <p:nvPr/>
        </p:nvSpPr>
        <p:spPr>
          <a:xfrm>
            <a:off x="5646420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2" name="TextBox 1091"/>
          <p:cNvSpPr txBox="1"/>
          <p:nvPr/>
        </p:nvSpPr>
        <p:spPr>
          <a:xfrm>
            <a:off x="36576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783" name="TextBox 1092"/>
          <p:cNvSpPr txBox="1"/>
          <p:nvPr/>
        </p:nvSpPr>
        <p:spPr>
          <a:xfrm>
            <a:off x="36576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6784" name="Oval 1093"/>
          <p:cNvSpPr/>
          <p:nvPr/>
        </p:nvSpPr>
        <p:spPr>
          <a:xfrm>
            <a:off x="179908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5" name="TextBox 1094"/>
          <p:cNvSpPr txBox="1"/>
          <p:nvPr/>
        </p:nvSpPr>
        <p:spPr>
          <a:xfrm>
            <a:off x="160020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786" name="TextBox 1095"/>
          <p:cNvSpPr txBox="1"/>
          <p:nvPr/>
        </p:nvSpPr>
        <p:spPr>
          <a:xfrm>
            <a:off x="160020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Crowd Portfolios</a:t>
            </a:r>
          </a:p>
        </p:txBody>
      </p:sp>
      <p:sp>
        <p:nvSpPr>
          <p:cNvPr id="6787" name="Rounded Rectangle 1096"/>
          <p:cNvSpPr/>
          <p:nvPr/>
        </p:nvSpPr>
        <p:spPr>
          <a:xfrm>
            <a:off x="19659600" y="4389120"/>
            <a:ext cx="3474721" cy="14630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8" name="Connector 1097"/>
          <p:cNvSpPr/>
          <p:nvPr/>
        </p:nvSpPr>
        <p:spPr>
          <a:xfrm>
            <a:off x="19933919" y="4800600"/>
            <a:ext cx="640081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9" name="TextBox 1098"/>
          <p:cNvSpPr txBox="1"/>
          <p:nvPr/>
        </p:nvSpPr>
        <p:spPr>
          <a:xfrm>
            <a:off x="20756880" y="46634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6790" name="Connector 1099"/>
          <p:cNvSpPr/>
          <p:nvPr/>
        </p:nvSpPr>
        <p:spPr>
          <a:xfrm>
            <a:off x="19933919" y="5486400"/>
            <a:ext cx="640081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1" name="TextBox 1100"/>
          <p:cNvSpPr txBox="1"/>
          <p:nvPr/>
        </p:nvSpPr>
        <p:spPr>
          <a:xfrm>
            <a:off x="20756880" y="53492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794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091 / 111</a:t>
            </a:r>
          </a:p>
        </p:txBody>
      </p:sp>
      <p:sp>
        <p:nvSpPr>
          <p:cNvPr id="6795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6796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6797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798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799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800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801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802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803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804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805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6" name="TextBox 14"/>
          <p:cNvSpPr txBox="1"/>
          <p:nvPr/>
        </p:nvSpPr>
        <p:spPr>
          <a:xfrm>
            <a:off x="1517903" y="568832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807" name="TextBox 15"/>
          <p:cNvSpPr txBox="1"/>
          <p:nvPr/>
        </p:nvSpPr>
        <p:spPr>
          <a:xfrm>
            <a:off x="2600095" y="568832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6808" name="TextBox 16"/>
          <p:cNvSpPr txBox="1"/>
          <p:nvPr/>
        </p:nvSpPr>
        <p:spPr>
          <a:xfrm>
            <a:off x="9093250" y="568832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09" name="Connector 17"/>
          <p:cNvSpPr/>
          <p:nvPr/>
        </p:nvSpPr>
        <p:spPr>
          <a:xfrm>
            <a:off x="1371600" y="616457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0" name="TextBox 18"/>
          <p:cNvSpPr txBox="1"/>
          <p:nvPr/>
        </p:nvSpPr>
        <p:spPr>
          <a:xfrm>
            <a:off x="1517903" y="627507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811" name="TextBox 19"/>
          <p:cNvSpPr txBox="1"/>
          <p:nvPr/>
        </p:nvSpPr>
        <p:spPr>
          <a:xfrm>
            <a:off x="2600095" y="627507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6812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13" name="TextBox 21"/>
          <p:cNvSpPr txBox="1"/>
          <p:nvPr/>
        </p:nvSpPr>
        <p:spPr>
          <a:xfrm>
            <a:off x="14504212" y="6275070"/>
            <a:ext cx="40361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6814" name="Connector 22"/>
          <p:cNvSpPr/>
          <p:nvPr/>
        </p:nvSpPr>
        <p:spPr>
          <a:xfrm>
            <a:off x="1371600" y="6751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5" name="TextBox 23"/>
          <p:cNvSpPr txBox="1"/>
          <p:nvPr/>
        </p:nvSpPr>
        <p:spPr>
          <a:xfrm>
            <a:off x="1517903" y="68618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816" name="TextBox 24"/>
          <p:cNvSpPr txBox="1"/>
          <p:nvPr/>
        </p:nvSpPr>
        <p:spPr>
          <a:xfrm>
            <a:off x="2600095" y="68618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6817" name="TextBox 25"/>
          <p:cNvSpPr txBox="1"/>
          <p:nvPr/>
        </p:nvSpPr>
        <p:spPr>
          <a:xfrm>
            <a:off x="9093250" y="68618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18" name="Connector 26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9" name="TextBox 27"/>
          <p:cNvSpPr txBox="1"/>
          <p:nvPr/>
        </p:nvSpPr>
        <p:spPr>
          <a:xfrm>
            <a:off x="1517903" y="74485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820" name="TextBox 28"/>
          <p:cNvSpPr txBox="1"/>
          <p:nvPr/>
        </p:nvSpPr>
        <p:spPr>
          <a:xfrm>
            <a:off x="2600095" y="74485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6821" name="TextBox 29"/>
          <p:cNvSpPr txBox="1"/>
          <p:nvPr/>
        </p:nvSpPr>
        <p:spPr>
          <a:xfrm>
            <a:off x="9093250" y="74485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22" name="Connector 30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3" name="TextBox 31"/>
          <p:cNvSpPr txBox="1"/>
          <p:nvPr/>
        </p:nvSpPr>
        <p:spPr>
          <a:xfrm>
            <a:off x="1517903" y="80352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24" name="TextBox 32"/>
          <p:cNvSpPr txBox="1"/>
          <p:nvPr/>
        </p:nvSpPr>
        <p:spPr>
          <a:xfrm>
            <a:off x="2600095" y="80352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</a:t>
            </a:r>
          </a:p>
        </p:txBody>
      </p:sp>
      <p:sp>
        <p:nvSpPr>
          <p:cNvPr id="6825" name="TextBox 33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26" name="Connector 34"/>
          <p:cNvSpPr/>
          <p:nvPr/>
        </p:nvSpPr>
        <p:spPr>
          <a:xfrm>
            <a:off x="1371600" y="85115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7" name="TextBox 35"/>
          <p:cNvSpPr txBox="1"/>
          <p:nvPr/>
        </p:nvSpPr>
        <p:spPr>
          <a:xfrm>
            <a:off x="1517903" y="86220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828" name="TextBox 36"/>
          <p:cNvSpPr txBox="1"/>
          <p:nvPr/>
        </p:nvSpPr>
        <p:spPr>
          <a:xfrm>
            <a:off x="2600095" y="86220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6829" name="TextBox 37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30" name="Connector 38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1" name="TextBox 39"/>
          <p:cNvSpPr txBox="1"/>
          <p:nvPr/>
        </p:nvSpPr>
        <p:spPr>
          <a:xfrm>
            <a:off x="1517903" y="92087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832" name="TextBox 40"/>
          <p:cNvSpPr txBox="1"/>
          <p:nvPr/>
        </p:nvSpPr>
        <p:spPr>
          <a:xfrm>
            <a:off x="2600095" y="92087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6833" name="TextBox 41"/>
          <p:cNvSpPr txBox="1"/>
          <p:nvPr/>
        </p:nvSpPr>
        <p:spPr>
          <a:xfrm>
            <a:off x="9093250" y="92087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34" name="Connector 42"/>
          <p:cNvSpPr/>
          <p:nvPr/>
        </p:nvSpPr>
        <p:spPr>
          <a:xfrm>
            <a:off x="1371600" y="96850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5" name="TextBox 43"/>
          <p:cNvSpPr txBox="1"/>
          <p:nvPr/>
        </p:nvSpPr>
        <p:spPr>
          <a:xfrm>
            <a:off x="1517903" y="97955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836" name="TextBox 44"/>
          <p:cNvSpPr txBox="1"/>
          <p:nvPr/>
        </p:nvSpPr>
        <p:spPr>
          <a:xfrm>
            <a:off x="2600095" y="97955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6837" name="TextBox 45"/>
          <p:cNvSpPr txBox="1"/>
          <p:nvPr/>
        </p:nvSpPr>
        <p:spPr>
          <a:xfrm>
            <a:off x="9093250" y="97955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38" name="Connector 46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9" name="TextBox 47"/>
          <p:cNvSpPr txBox="1"/>
          <p:nvPr/>
        </p:nvSpPr>
        <p:spPr>
          <a:xfrm>
            <a:off x="1517903" y="103822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840" name="TextBox 48"/>
          <p:cNvSpPr txBox="1"/>
          <p:nvPr/>
        </p:nvSpPr>
        <p:spPr>
          <a:xfrm>
            <a:off x="2600095" y="103822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6841" name="TextBox 49"/>
          <p:cNvSpPr txBox="1"/>
          <p:nvPr/>
        </p:nvSpPr>
        <p:spPr>
          <a:xfrm>
            <a:off x="9093250" y="103822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42" name="Connector 50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43" name="TextBox 51"/>
          <p:cNvSpPr txBox="1"/>
          <p:nvPr/>
        </p:nvSpPr>
        <p:spPr>
          <a:xfrm>
            <a:off x="1517903" y="109689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844" name="TextBox 52"/>
          <p:cNvSpPr txBox="1"/>
          <p:nvPr/>
        </p:nvSpPr>
        <p:spPr>
          <a:xfrm>
            <a:off x="2600095" y="109689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6845" name="TextBox 53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46" name="Connector 54"/>
          <p:cNvSpPr/>
          <p:nvPr/>
        </p:nvSpPr>
        <p:spPr>
          <a:xfrm>
            <a:off x="1371600" y="1144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47" name="TextBox 55"/>
          <p:cNvSpPr txBox="1"/>
          <p:nvPr/>
        </p:nvSpPr>
        <p:spPr>
          <a:xfrm>
            <a:off x="1517903" y="115557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848" name="TextBox 56"/>
          <p:cNvSpPr txBox="1"/>
          <p:nvPr/>
        </p:nvSpPr>
        <p:spPr>
          <a:xfrm>
            <a:off x="2600095" y="115557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6849" name="TextBox 57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50" name="Connector 58"/>
          <p:cNvSpPr/>
          <p:nvPr/>
        </p:nvSpPr>
        <p:spPr>
          <a:xfrm>
            <a:off x="1371600" y="120319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1" name="TextBox 59"/>
          <p:cNvSpPr txBox="1"/>
          <p:nvPr/>
        </p:nvSpPr>
        <p:spPr>
          <a:xfrm>
            <a:off x="1517903" y="121424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852" name="TextBox 60"/>
          <p:cNvSpPr txBox="1"/>
          <p:nvPr/>
        </p:nvSpPr>
        <p:spPr>
          <a:xfrm>
            <a:off x="2600095" y="121424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6853" name="TextBox 61"/>
          <p:cNvSpPr txBox="1"/>
          <p:nvPr/>
        </p:nvSpPr>
        <p:spPr>
          <a:xfrm>
            <a:off x="9093250" y="121424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54" name="Connector 62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85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092 / 111</a:t>
            </a:r>
          </a:p>
        </p:txBody>
      </p:sp>
      <p:sp>
        <p:nvSpPr>
          <p:cNvPr id="685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685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686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86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86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86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86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86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86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86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86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9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870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6871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72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3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874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type/name</a:t>
            </a:r>
          </a:p>
        </p:txBody>
      </p:sp>
      <p:sp>
        <p:nvSpPr>
          <p:cNvPr id="6875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76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7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878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 per fund</a:t>
            </a:r>
          </a:p>
        </p:txBody>
      </p:sp>
      <p:sp>
        <p:nvSpPr>
          <p:cNvPr id="6879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80" name="Connector 25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1" name="TextBox 26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882" name="TextBox 27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6883" name="TextBox 28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84" name="Connector 2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5" name="TextBox 3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86" name="TextBox 3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gain/loss</a:t>
            </a:r>
          </a:p>
        </p:txBody>
      </p:sp>
      <p:sp>
        <p:nvSpPr>
          <p:cNvPr id="6887" name="TextBox 3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88" name="Connector 3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9" name="TextBox 3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890" name="TextBox 3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6891" name="TextBox 3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92" name="Connector 37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93" name="TextBox 38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894" name="TextBox 39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6895" name="TextBox 40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896" name="Connector 41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97" name="TextBox 42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898" name="TextBox 43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6899" name="TextBox 44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900" name="Connector 45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90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093 / 111</a:t>
            </a:r>
          </a:p>
        </p:txBody>
      </p:sp>
      <p:sp>
        <p:nvSpPr>
          <p:cNvPr id="690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690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690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90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90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90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91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91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91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91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91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15" name="TextBox 14"/>
          <p:cNvSpPr txBox="1"/>
          <p:nvPr/>
        </p:nvSpPr>
        <p:spPr>
          <a:xfrm>
            <a:off x="1517903" y="57150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916" name="TextBox 15"/>
          <p:cNvSpPr txBox="1"/>
          <p:nvPr/>
        </p:nvSpPr>
        <p:spPr>
          <a:xfrm>
            <a:off x="2600095" y="57150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name/ Type</a:t>
            </a:r>
          </a:p>
        </p:txBody>
      </p:sp>
      <p:sp>
        <p:nvSpPr>
          <p:cNvPr id="6917" name="TextBox 16"/>
          <p:cNvSpPr txBox="1"/>
          <p:nvPr/>
        </p:nvSpPr>
        <p:spPr>
          <a:xfrm>
            <a:off x="9093250" y="57150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18" name="Connector 17"/>
          <p:cNvSpPr/>
          <p:nvPr/>
        </p:nvSpPr>
        <p:spPr>
          <a:xfrm>
            <a:off x="1371600" y="621792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19" name="TextBox 18"/>
          <p:cNvSpPr txBox="1"/>
          <p:nvPr/>
        </p:nvSpPr>
        <p:spPr>
          <a:xfrm>
            <a:off x="1517903" y="635507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20" name="TextBox 19"/>
          <p:cNvSpPr txBox="1"/>
          <p:nvPr/>
        </p:nvSpPr>
        <p:spPr>
          <a:xfrm>
            <a:off x="2600095" y="635507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Deal Size</a:t>
            </a:r>
          </a:p>
        </p:txBody>
      </p:sp>
      <p:sp>
        <p:nvSpPr>
          <p:cNvPr id="6921" name="TextBox 20"/>
          <p:cNvSpPr txBox="1"/>
          <p:nvPr/>
        </p:nvSpPr>
        <p:spPr>
          <a:xfrm>
            <a:off x="9093250" y="635507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22" name="Connector 21"/>
          <p:cNvSpPr/>
          <p:nvPr/>
        </p:nvSpPr>
        <p:spPr>
          <a:xfrm>
            <a:off x="1371600" y="68580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3" name="TextBox 22"/>
          <p:cNvSpPr txBox="1"/>
          <p:nvPr/>
        </p:nvSpPr>
        <p:spPr>
          <a:xfrm>
            <a:off x="1517903" y="69951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24" name="TextBox 23"/>
          <p:cNvSpPr txBox="1"/>
          <p:nvPr/>
        </p:nvSpPr>
        <p:spPr>
          <a:xfrm>
            <a:off x="2600095" y="69951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6925" name="TextBox 24"/>
          <p:cNvSpPr txBox="1"/>
          <p:nvPr/>
        </p:nvSpPr>
        <p:spPr>
          <a:xfrm>
            <a:off x="9093250" y="69951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26" name="Connector 25"/>
          <p:cNvSpPr/>
          <p:nvPr/>
        </p:nvSpPr>
        <p:spPr>
          <a:xfrm>
            <a:off x="1371600" y="74980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7" name="TextBox 26"/>
          <p:cNvSpPr txBox="1"/>
          <p:nvPr/>
        </p:nvSpPr>
        <p:spPr>
          <a:xfrm>
            <a:off x="1517903" y="76352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928" name="TextBox 27"/>
          <p:cNvSpPr txBox="1"/>
          <p:nvPr/>
        </p:nvSpPr>
        <p:spPr>
          <a:xfrm>
            <a:off x="2600095" y="76352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 ROI</a:t>
            </a:r>
          </a:p>
        </p:txBody>
      </p:sp>
      <p:sp>
        <p:nvSpPr>
          <p:cNvPr id="6929" name="TextBox 28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30" name="Connector 29"/>
          <p:cNvSpPr/>
          <p:nvPr/>
        </p:nvSpPr>
        <p:spPr>
          <a:xfrm>
            <a:off x="1371600" y="81381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1" name="TextBox 30"/>
          <p:cNvSpPr txBox="1"/>
          <p:nvPr/>
        </p:nvSpPr>
        <p:spPr>
          <a:xfrm>
            <a:off x="1517903" y="82753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932" name="TextBox 31"/>
          <p:cNvSpPr txBox="1"/>
          <p:nvPr/>
        </p:nvSpPr>
        <p:spPr>
          <a:xfrm>
            <a:off x="2600095" y="82753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Unit price</a:t>
            </a:r>
          </a:p>
        </p:txBody>
      </p:sp>
      <p:sp>
        <p:nvSpPr>
          <p:cNvPr id="6933" name="TextBox 32"/>
          <p:cNvSpPr txBox="1"/>
          <p:nvPr/>
        </p:nvSpPr>
        <p:spPr>
          <a:xfrm>
            <a:off x="9093250" y="82753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34" name="Connector 33"/>
          <p:cNvSpPr/>
          <p:nvPr/>
        </p:nvSpPr>
        <p:spPr>
          <a:xfrm>
            <a:off x="1371600" y="8778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5" name="TextBox 34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936" name="TextBox 35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Amount</a:t>
            </a:r>
          </a:p>
        </p:txBody>
      </p:sp>
      <p:sp>
        <p:nvSpPr>
          <p:cNvPr id="6937" name="TextBox 36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38" name="Connector 37"/>
          <p:cNvSpPr/>
          <p:nvPr/>
        </p:nvSpPr>
        <p:spPr>
          <a:xfrm>
            <a:off x="1371600" y="9418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9" name="TextBox 38"/>
          <p:cNvSpPr txBox="1"/>
          <p:nvPr/>
        </p:nvSpPr>
        <p:spPr>
          <a:xfrm>
            <a:off x="1517903" y="955548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940" name="TextBox 39"/>
          <p:cNvSpPr txBox="1"/>
          <p:nvPr/>
        </p:nvSpPr>
        <p:spPr>
          <a:xfrm>
            <a:off x="2600095" y="955548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Durations</a:t>
            </a:r>
          </a:p>
        </p:txBody>
      </p:sp>
      <p:sp>
        <p:nvSpPr>
          <p:cNvPr id="6941" name="TextBox 40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42" name="Connector 41"/>
          <p:cNvSpPr/>
          <p:nvPr/>
        </p:nvSpPr>
        <p:spPr>
          <a:xfrm>
            <a:off x="1371600" y="10058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43" name="TextBox 42"/>
          <p:cNvSpPr txBox="1"/>
          <p:nvPr/>
        </p:nvSpPr>
        <p:spPr>
          <a:xfrm>
            <a:off x="1517903" y="101955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944" name="TextBox 43"/>
          <p:cNvSpPr txBox="1"/>
          <p:nvPr/>
        </p:nvSpPr>
        <p:spPr>
          <a:xfrm>
            <a:off x="2600095" y="101955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</a:t>
            </a:r>
          </a:p>
        </p:txBody>
      </p:sp>
      <p:sp>
        <p:nvSpPr>
          <p:cNvPr id="6945" name="TextBox 44"/>
          <p:cNvSpPr txBox="1"/>
          <p:nvPr/>
        </p:nvSpPr>
        <p:spPr>
          <a:xfrm>
            <a:off x="9093250" y="101955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46" name="Connector 45"/>
          <p:cNvSpPr/>
          <p:nvPr/>
        </p:nvSpPr>
        <p:spPr>
          <a:xfrm>
            <a:off x="1371600" y="106984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47" name="TextBox 46"/>
          <p:cNvSpPr txBox="1"/>
          <p:nvPr/>
        </p:nvSpPr>
        <p:spPr>
          <a:xfrm>
            <a:off x="1517903" y="108356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948" name="TextBox 47"/>
          <p:cNvSpPr txBox="1"/>
          <p:nvPr/>
        </p:nvSpPr>
        <p:spPr>
          <a:xfrm>
            <a:off x="2600095" y="108356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Start Date</a:t>
            </a:r>
          </a:p>
        </p:txBody>
      </p:sp>
      <p:sp>
        <p:nvSpPr>
          <p:cNvPr id="6949" name="TextBox 48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50" name="Connector 49"/>
          <p:cNvSpPr/>
          <p:nvPr/>
        </p:nvSpPr>
        <p:spPr>
          <a:xfrm>
            <a:off x="1371600" y="113385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51" name="TextBox 50"/>
          <p:cNvSpPr txBox="1"/>
          <p:nvPr/>
        </p:nvSpPr>
        <p:spPr>
          <a:xfrm>
            <a:off x="1517903" y="1147571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952" name="TextBox 51"/>
          <p:cNvSpPr txBox="1"/>
          <p:nvPr/>
        </p:nvSpPr>
        <p:spPr>
          <a:xfrm>
            <a:off x="2600095" y="1147571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End Date</a:t>
            </a:r>
          </a:p>
        </p:txBody>
      </p:sp>
      <p:sp>
        <p:nvSpPr>
          <p:cNvPr id="6953" name="TextBox 52"/>
          <p:cNvSpPr txBox="1"/>
          <p:nvPr/>
        </p:nvSpPr>
        <p:spPr>
          <a:xfrm>
            <a:off x="9093250" y="114757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54" name="Connector 53"/>
          <p:cNvSpPr/>
          <p:nvPr/>
        </p:nvSpPr>
        <p:spPr>
          <a:xfrm>
            <a:off x="1371600" y="11978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55" name="TextBox 54"/>
          <p:cNvSpPr txBox="1"/>
          <p:nvPr/>
        </p:nvSpPr>
        <p:spPr>
          <a:xfrm>
            <a:off x="1517903" y="121158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956" name="TextBox 55"/>
          <p:cNvSpPr txBox="1"/>
          <p:nvPr/>
        </p:nvSpPr>
        <p:spPr>
          <a:xfrm>
            <a:off x="2600095" y="121158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6957" name="TextBox 56"/>
          <p:cNvSpPr txBox="1"/>
          <p:nvPr/>
        </p:nvSpPr>
        <p:spPr>
          <a:xfrm>
            <a:off x="9093250" y="12115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958" name="Connector 57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6961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094 / 111</a:t>
            </a:r>
          </a:p>
        </p:txBody>
      </p:sp>
      <p:sp>
        <p:nvSpPr>
          <p:cNvPr id="6962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6963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6964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965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966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967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968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969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970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971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972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3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974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6975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76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7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78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6979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80" name="TextBox 21"/>
          <p:cNvSpPr txBox="1"/>
          <p:nvPr/>
        </p:nvSpPr>
        <p:spPr>
          <a:xfrm>
            <a:off x="14504212" y="64236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6981" name="Connector 22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2" name="TextBox 23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83" name="TextBox 24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6984" name="TextBox 25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85" name="Connector 26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6" name="TextBox 27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987" name="TextBox 28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6988" name="TextBox 29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89" name="TextBox 30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6990" name="Connector 31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1" name="TextBox 32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992" name="TextBox 33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6993" name="TextBox 34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94" name="Connector 35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5" name="TextBox 36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996" name="TextBox 37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6997" name="TextBox 38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998" name="Connector 39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9" name="TextBox 40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000" name="TextBox 41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7001" name="TextBox 42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02" name="Connector 43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00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095 / 111</a:t>
            </a:r>
          </a:p>
        </p:txBody>
      </p:sp>
      <p:sp>
        <p:nvSpPr>
          <p:cNvPr id="700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00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700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00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01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01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01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01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01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01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01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7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018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7019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20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1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22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7023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24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5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026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7027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28" name="Connector 25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9" name="TextBox 26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030" name="TextBox 27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</a:t>
            </a:r>
          </a:p>
        </p:txBody>
      </p:sp>
      <p:sp>
        <p:nvSpPr>
          <p:cNvPr id="7031" name="TextBox 28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32" name="TextBox 29"/>
          <p:cNvSpPr txBox="1"/>
          <p:nvPr/>
        </p:nvSpPr>
        <p:spPr>
          <a:xfrm>
            <a:off x="14504212" y="77952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7033" name="Connector 30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4" name="TextBox 31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035" name="TextBox 32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price/amount visibility</a:t>
            </a:r>
          </a:p>
        </p:txBody>
      </p:sp>
      <p:sp>
        <p:nvSpPr>
          <p:cNvPr id="7036" name="TextBox 33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37" name="Connector 34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8" name="TextBox 35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039" name="TextBox 36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Place/Modify order</a:t>
            </a:r>
          </a:p>
        </p:txBody>
      </p:sp>
      <p:sp>
        <p:nvSpPr>
          <p:cNvPr id="7040" name="TextBox 37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41" name="Connector 38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2" name="TextBox 39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043" name="TextBox 40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/Reorder order</a:t>
            </a:r>
          </a:p>
        </p:txBody>
      </p:sp>
      <p:sp>
        <p:nvSpPr>
          <p:cNvPr id="7044" name="TextBox 41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45" name="Connector 42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6" name="TextBox 43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047" name="TextBox 44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7048" name="TextBox 45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049" name="Connector 46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0" name="TextBox 47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051" name="TextBox 48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7052" name="TextBox 49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053" name="Connector 50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056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096 / 111</a:t>
            </a:r>
          </a:p>
        </p:txBody>
      </p:sp>
      <p:sp>
        <p:nvSpPr>
          <p:cNvPr id="7057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058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7059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060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061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062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063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064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065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066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06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8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069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7070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71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2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73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7074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75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6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077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7078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79" name="TextBox 25"/>
          <p:cNvSpPr txBox="1"/>
          <p:nvPr/>
        </p:nvSpPr>
        <p:spPr>
          <a:xfrm>
            <a:off x="14504212" y="71094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7080" name="Connector 26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1" name="TextBox 27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082" name="TextBox 28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7083" name="TextBox 29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84" name="Connector 30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5" name="TextBox 31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086" name="TextBox 32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7087" name="TextBox 33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088" name="Connector 34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9" name="TextBox 35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090" name="TextBox 36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7091" name="TextBox 37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92" name="Connector 38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3" name="TextBox 39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094" name="TextBox 40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7095" name="TextBox 41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96" name="Connector 42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09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097 / 111</a:t>
            </a:r>
          </a:p>
        </p:txBody>
      </p:sp>
      <p:sp>
        <p:nvSpPr>
          <p:cNvPr id="710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10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710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10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10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10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10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10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10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10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11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1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12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7113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14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5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116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</a:t>
            </a:r>
          </a:p>
        </p:txBody>
      </p:sp>
      <p:sp>
        <p:nvSpPr>
          <p:cNvPr id="7117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18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9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20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</a:t>
            </a:r>
          </a:p>
        </p:txBody>
      </p:sp>
      <p:sp>
        <p:nvSpPr>
          <p:cNvPr id="7121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22" name="Connector 25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3" name="TextBox 26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24" name="TextBox 27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(3 months in a year)</a:t>
            </a:r>
          </a:p>
        </p:txBody>
      </p:sp>
      <p:sp>
        <p:nvSpPr>
          <p:cNvPr id="7125" name="TextBox 28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26" name="Connector 2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7" name="TextBox 3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128" name="TextBox 3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Report</a:t>
            </a:r>
          </a:p>
        </p:txBody>
      </p:sp>
      <p:sp>
        <p:nvSpPr>
          <p:cNvPr id="7129" name="TextBox 3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30" name="Connector 3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1" name="TextBox 3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32" name="TextBox 3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report (1 year)</a:t>
            </a:r>
          </a:p>
        </p:txBody>
      </p:sp>
      <p:sp>
        <p:nvSpPr>
          <p:cNvPr id="7133" name="TextBox 3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34" name="TextBox 37"/>
          <p:cNvSpPr txBox="1"/>
          <p:nvPr/>
        </p:nvSpPr>
        <p:spPr>
          <a:xfrm>
            <a:off x="14504212" y="91668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7135" name="Connector 38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6" name="TextBox 39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137" name="TextBox 40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7138" name="TextBox 41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39" name="Connector 42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0" name="TextBox 43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141" name="TextBox 44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7142" name="TextBox 45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43" name="Connector 46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4" name="TextBox 47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145" name="TextBox 48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Download account statement</a:t>
            </a:r>
          </a:p>
        </p:txBody>
      </p:sp>
      <p:sp>
        <p:nvSpPr>
          <p:cNvPr id="7146" name="TextBox 49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47" name="Connector 50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8" name="TextBox 51"/>
          <p:cNvSpPr txBox="1"/>
          <p:nvPr/>
        </p:nvSpPr>
        <p:spPr>
          <a:xfrm>
            <a:off x="1517903" y="11910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149" name="TextBox 52"/>
          <p:cNvSpPr txBox="1"/>
          <p:nvPr/>
        </p:nvSpPr>
        <p:spPr>
          <a:xfrm>
            <a:off x="2600095" y="11910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7150" name="TextBox 53"/>
          <p:cNvSpPr txBox="1"/>
          <p:nvPr/>
        </p:nvSpPr>
        <p:spPr>
          <a:xfrm>
            <a:off x="9093250" y="11910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151" name="TextBox 54"/>
          <p:cNvSpPr txBox="1"/>
          <p:nvPr/>
        </p:nvSpPr>
        <p:spPr>
          <a:xfrm>
            <a:off x="14504212" y="11910059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7152" name="Connector 55"/>
          <p:cNvSpPr/>
          <p:nvPr/>
        </p:nvSpPr>
        <p:spPr>
          <a:xfrm>
            <a:off x="1371600" y="12435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15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098 / 111</a:t>
            </a:r>
          </a:p>
        </p:txBody>
      </p:sp>
      <p:sp>
        <p:nvSpPr>
          <p:cNvPr id="715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15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715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15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16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16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16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16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16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16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16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7" name="TextBox 14"/>
          <p:cNvSpPr txBox="1"/>
          <p:nvPr/>
        </p:nvSpPr>
        <p:spPr>
          <a:xfrm>
            <a:off x="1517903" y="56149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68" name="TextBox 15"/>
          <p:cNvSpPr txBox="1"/>
          <p:nvPr/>
        </p:nvSpPr>
        <p:spPr>
          <a:xfrm>
            <a:off x="2600095" y="56149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list view</a:t>
            </a:r>
          </a:p>
        </p:txBody>
      </p:sp>
      <p:sp>
        <p:nvSpPr>
          <p:cNvPr id="7169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70" name="Connector 17"/>
          <p:cNvSpPr/>
          <p:nvPr/>
        </p:nvSpPr>
        <p:spPr>
          <a:xfrm>
            <a:off x="1371600" y="60178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1" name="TextBox 18"/>
          <p:cNvSpPr txBox="1"/>
          <p:nvPr/>
        </p:nvSpPr>
        <p:spPr>
          <a:xfrm>
            <a:off x="1517903" y="605504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172" name="TextBox 19"/>
          <p:cNvSpPr txBox="1"/>
          <p:nvPr/>
        </p:nvSpPr>
        <p:spPr>
          <a:xfrm>
            <a:off x="2600095" y="605504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Filter fund by type</a:t>
            </a:r>
          </a:p>
        </p:txBody>
      </p:sp>
      <p:sp>
        <p:nvSpPr>
          <p:cNvPr id="7173" name="TextBox 20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74" name="Connector 21"/>
          <p:cNvSpPr/>
          <p:nvPr/>
        </p:nvSpPr>
        <p:spPr>
          <a:xfrm>
            <a:off x="1371600" y="645795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5" name="TextBox 22"/>
          <p:cNvSpPr txBox="1"/>
          <p:nvPr/>
        </p:nvSpPr>
        <p:spPr>
          <a:xfrm>
            <a:off x="1517903" y="649509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76" name="TextBox 23"/>
          <p:cNvSpPr txBox="1"/>
          <p:nvPr/>
        </p:nvSpPr>
        <p:spPr>
          <a:xfrm>
            <a:off x="2600095" y="649509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Sort by performance/ price / risk</a:t>
            </a:r>
          </a:p>
        </p:txBody>
      </p:sp>
      <p:sp>
        <p:nvSpPr>
          <p:cNvPr id="7177" name="TextBox 24"/>
          <p:cNvSpPr txBox="1"/>
          <p:nvPr/>
        </p:nvSpPr>
        <p:spPr>
          <a:xfrm>
            <a:off x="9093250" y="649509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78" name="Connector 25"/>
          <p:cNvSpPr/>
          <p:nvPr/>
        </p:nvSpPr>
        <p:spPr>
          <a:xfrm>
            <a:off x="1371600" y="689800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9" name="TextBox 26"/>
          <p:cNvSpPr txBox="1"/>
          <p:nvPr/>
        </p:nvSpPr>
        <p:spPr>
          <a:xfrm>
            <a:off x="1517903" y="693515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80" name="TextBox 27"/>
          <p:cNvSpPr txBox="1"/>
          <p:nvPr/>
        </p:nvSpPr>
        <p:spPr>
          <a:xfrm>
            <a:off x="2600095" y="693515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Unit price</a:t>
            </a:r>
          </a:p>
        </p:txBody>
      </p:sp>
      <p:sp>
        <p:nvSpPr>
          <p:cNvPr id="7181" name="TextBox 28"/>
          <p:cNvSpPr txBox="1"/>
          <p:nvPr/>
        </p:nvSpPr>
        <p:spPr>
          <a:xfrm>
            <a:off x="9093250" y="693515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82" name="Connector 29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3" name="TextBox 30"/>
          <p:cNvSpPr txBox="1"/>
          <p:nvPr/>
        </p:nvSpPr>
        <p:spPr>
          <a:xfrm>
            <a:off x="1517903" y="737520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84" name="TextBox 31"/>
          <p:cNvSpPr txBox="1"/>
          <p:nvPr/>
        </p:nvSpPr>
        <p:spPr>
          <a:xfrm>
            <a:off x="2600095" y="73752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Expected ROI %</a:t>
            </a:r>
          </a:p>
        </p:txBody>
      </p:sp>
      <p:sp>
        <p:nvSpPr>
          <p:cNvPr id="7185" name="TextBox 32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86" name="Connector 33"/>
          <p:cNvSpPr/>
          <p:nvPr/>
        </p:nvSpPr>
        <p:spPr>
          <a:xfrm>
            <a:off x="1371600" y="777811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7" name="TextBox 34"/>
          <p:cNvSpPr txBox="1"/>
          <p:nvPr/>
        </p:nvSpPr>
        <p:spPr>
          <a:xfrm>
            <a:off x="1517903" y="781526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188" name="TextBox 35"/>
          <p:cNvSpPr txBox="1"/>
          <p:nvPr/>
        </p:nvSpPr>
        <p:spPr>
          <a:xfrm>
            <a:off x="2600095" y="781526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Duration</a:t>
            </a:r>
          </a:p>
        </p:txBody>
      </p:sp>
      <p:sp>
        <p:nvSpPr>
          <p:cNvPr id="7189" name="TextBox 36"/>
          <p:cNvSpPr txBox="1"/>
          <p:nvPr/>
        </p:nvSpPr>
        <p:spPr>
          <a:xfrm>
            <a:off x="9093250" y="781526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90" name="Connector 37"/>
          <p:cNvSpPr/>
          <p:nvPr/>
        </p:nvSpPr>
        <p:spPr>
          <a:xfrm>
            <a:off x="1371600" y="821816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1" name="TextBox 38"/>
          <p:cNvSpPr txBox="1"/>
          <p:nvPr/>
        </p:nvSpPr>
        <p:spPr>
          <a:xfrm>
            <a:off x="1517903" y="825531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192" name="TextBox 39"/>
          <p:cNvSpPr txBox="1"/>
          <p:nvPr/>
        </p:nvSpPr>
        <p:spPr>
          <a:xfrm>
            <a:off x="2600095" y="82553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Deal Size</a:t>
            </a:r>
          </a:p>
        </p:txBody>
      </p:sp>
      <p:sp>
        <p:nvSpPr>
          <p:cNvPr id="7193" name="TextBox 40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94" name="Connector 41"/>
          <p:cNvSpPr/>
          <p:nvPr/>
        </p:nvSpPr>
        <p:spPr>
          <a:xfrm>
            <a:off x="1371600" y="8658225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5" name="TextBox 42"/>
          <p:cNvSpPr txBox="1"/>
          <p:nvPr/>
        </p:nvSpPr>
        <p:spPr>
          <a:xfrm>
            <a:off x="1517903" y="869537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196" name="TextBox 43"/>
          <p:cNvSpPr txBox="1"/>
          <p:nvPr/>
        </p:nvSpPr>
        <p:spPr>
          <a:xfrm>
            <a:off x="2600095" y="869537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Start Date</a:t>
            </a:r>
          </a:p>
        </p:txBody>
      </p:sp>
      <p:sp>
        <p:nvSpPr>
          <p:cNvPr id="7197" name="TextBox 44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198" name="Connector 45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9" name="TextBox 46"/>
          <p:cNvSpPr txBox="1"/>
          <p:nvPr/>
        </p:nvSpPr>
        <p:spPr>
          <a:xfrm>
            <a:off x="1517903" y="913542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200" name="TextBox 47"/>
          <p:cNvSpPr txBox="1"/>
          <p:nvPr/>
        </p:nvSpPr>
        <p:spPr>
          <a:xfrm>
            <a:off x="2600095" y="913542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End Date</a:t>
            </a:r>
          </a:p>
        </p:txBody>
      </p:sp>
      <p:sp>
        <p:nvSpPr>
          <p:cNvPr id="7201" name="TextBox 48"/>
          <p:cNvSpPr txBox="1"/>
          <p:nvPr/>
        </p:nvSpPr>
        <p:spPr>
          <a:xfrm>
            <a:off x="9093250" y="913542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02" name="Connector 49"/>
          <p:cNvSpPr/>
          <p:nvPr/>
        </p:nvSpPr>
        <p:spPr>
          <a:xfrm>
            <a:off x="1371600" y="953833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3" name="TextBox 50"/>
          <p:cNvSpPr txBox="1"/>
          <p:nvPr/>
        </p:nvSpPr>
        <p:spPr>
          <a:xfrm>
            <a:off x="1517903" y="957548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204" name="TextBox 51"/>
          <p:cNvSpPr txBox="1"/>
          <p:nvPr/>
        </p:nvSpPr>
        <p:spPr>
          <a:xfrm>
            <a:off x="2600095" y="957548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Policy</a:t>
            </a:r>
          </a:p>
        </p:txBody>
      </p:sp>
      <p:sp>
        <p:nvSpPr>
          <p:cNvPr id="7205" name="TextBox 52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06" name="Connector 53"/>
          <p:cNvSpPr/>
          <p:nvPr/>
        </p:nvSpPr>
        <p:spPr>
          <a:xfrm>
            <a:off x="1371600" y="997839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7" name="TextBox 54"/>
          <p:cNvSpPr txBox="1"/>
          <p:nvPr/>
        </p:nvSpPr>
        <p:spPr>
          <a:xfrm>
            <a:off x="1517903" y="1001553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208" name="TextBox 55"/>
          <p:cNvSpPr txBox="1"/>
          <p:nvPr/>
        </p:nvSpPr>
        <p:spPr>
          <a:xfrm>
            <a:off x="2600095" y="1001553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Upcoming Crowd fund</a:t>
            </a:r>
          </a:p>
        </p:txBody>
      </p:sp>
      <p:sp>
        <p:nvSpPr>
          <p:cNvPr id="7209" name="TextBox 56"/>
          <p:cNvSpPr txBox="1"/>
          <p:nvPr/>
        </p:nvSpPr>
        <p:spPr>
          <a:xfrm>
            <a:off x="9093250" y="1001553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10" name="Connector 57"/>
          <p:cNvSpPr/>
          <p:nvPr/>
        </p:nvSpPr>
        <p:spPr>
          <a:xfrm>
            <a:off x="1371600" y="1041844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1" name="TextBox 58"/>
          <p:cNvSpPr txBox="1"/>
          <p:nvPr/>
        </p:nvSpPr>
        <p:spPr>
          <a:xfrm>
            <a:off x="1517903" y="1045559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212" name="TextBox 59"/>
          <p:cNvSpPr txBox="1"/>
          <p:nvPr/>
        </p:nvSpPr>
        <p:spPr>
          <a:xfrm>
            <a:off x="2600095" y="104555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Objective</a:t>
            </a:r>
          </a:p>
        </p:txBody>
      </p:sp>
      <p:sp>
        <p:nvSpPr>
          <p:cNvPr id="7213" name="TextBox 60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14" name="Connector 61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5" name="TextBox 62"/>
          <p:cNvSpPr txBox="1"/>
          <p:nvPr/>
        </p:nvSpPr>
        <p:spPr>
          <a:xfrm>
            <a:off x="1517903" y="108956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216" name="TextBox 63"/>
          <p:cNvSpPr txBox="1"/>
          <p:nvPr/>
        </p:nvSpPr>
        <p:spPr>
          <a:xfrm>
            <a:off x="2600095" y="108956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Attachments</a:t>
            </a:r>
          </a:p>
        </p:txBody>
      </p:sp>
      <p:sp>
        <p:nvSpPr>
          <p:cNvPr id="7217" name="TextBox 64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18" name="Connector 65"/>
          <p:cNvSpPr/>
          <p:nvPr/>
        </p:nvSpPr>
        <p:spPr>
          <a:xfrm>
            <a:off x="1371600" y="1129855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9" name="TextBox 66"/>
          <p:cNvSpPr txBox="1"/>
          <p:nvPr/>
        </p:nvSpPr>
        <p:spPr>
          <a:xfrm>
            <a:off x="1517903" y="1133570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7220" name="TextBox 67"/>
          <p:cNvSpPr txBox="1"/>
          <p:nvPr/>
        </p:nvSpPr>
        <p:spPr>
          <a:xfrm>
            <a:off x="2600095" y="1133570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</a:t>
            </a:r>
          </a:p>
        </p:txBody>
      </p:sp>
      <p:sp>
        <p:nvSpPr>
          <p:cNvPr id="7221" name="TextBox 68"/>
          <p:cNvSpPr txBox="1"/>
          <p:nvPr/>
        </p:nvSpPr>
        <p:spPr>
          <a:xfrm>
            <a:off x="9093250" y="1133570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22" name="Connector 69"/>
          <p:cNvSpPr/>
          <p:nvPr/>
        </p:nvSpPr>
        <p:spPr>
          <a:xfrm>
            <a:off x="1371600" y="1173860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3" name="TextBox 70"/>
          <p:cNvSpPr txBox="1"/>
          <p:nvPr/>
        </p:nvSpPr>
        <p:spPr>
          <a:xfrm>
            <a:off x="1517903" y="1177575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224" name="TextBox 71"/>
          <p:cNvSpPr txBox="1"/>
          <p:nvPr/>
        </p:nvSpPr>
        <p:spPr>
          <a:xfrm>
            <a:off x="2600095" y="1177575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 Buy/Sell order</a:t>
            </a:r>
          </a:p>
        </p:txBody>
      </p:sp>
      <p:sp>
        <p:nvSpPr>
          <p:cNvPr id="7225" name="TextBox 72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26" name="Connector 73"/>
          <p:cNvSpPr/>
          <p:nvPr/>
        </p:nvSpPr>
        <p:spPr>
          <a:xfrm>
            <a:off x="1371600" y="1217866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7" name="TextBox 74"/>
          <p:cNvSpPr txBox="1"/>
          <p:nvPr/>
        </p:nvSpPr>
        <p:spPr>
          <a:xfrm>
            <a:off x="1517903" y="122158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7228" name="TextBox 75"/>
          <p:cNvSpPr txBox="1"/>
          <p:nvPr/>
        </p:nvSpPr>
        <p:spPr>
          <a:xfrm>
            <a:off x="2600095" y="122158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Calculate investment</a:t>
            </a:r>
          </a:p>
        </p:txBody>
      </p:sp>
      <p:sp>
        <p:nvSpPr>
          <p:cNvPr id="7229" name="TextBox 76"/>
          <p:cNvSpPr txBox="1"/>
          <p:nvPr/>
        </p:nvSpPr>
        <p:spPr>
          <a:xfrm>
            <a:off x="9093250" y="122158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30" name="Connector 77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23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099 / 111</a:t>
            </a:r>
          </a:p>
        </p:txBody>
      </p:sp>
      <p:sp>
        <p:nvSpPr>
          <p:cNvPr id="723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23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723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23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23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23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24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24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24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24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24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5" name="TextBox 14"/>
          <p:cNvSpPr txBox="1"/>
          <p:nvPr/>
        </p:nvSpPr>
        <p:spPr>
          <a:xfrm>
            <a:off x="1517903" y="5737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246" name="TextBox 15"/>
          <p:cNvSpPr txBox="1"/>
          <p:nvPr/>
        </p:nvSpPr>
        <p:spPr>
          <a:xfrm>
            <a:off x="2600095" y="5737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 display</a:t>
            </a:r>
          </a:p>
        </p:txBody>
      </p:sp>
      <p:sp>
        <p:nvSpPr>
          <p:cNvPr id="7247" name="TextBox 16"/>
          <p:cNvSpPr txBox="1"/>
          <p:nvPr/>
        </p:nvSpPr>
        <p:spPr>
          <a:xfrm>
            <a:off x="9093250" y="5737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48" name="Connector 17"/>
          <p:cNvSpPr/>
          <p:nvPr/>
        </p:nvSpPr>
        <p:spPr>
          <a:xfrm>
            <a:off x="1371600" y="6263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9" name="TextBox 18"/>
          <p:cNvSpPr txBox="1"/>
          <p:nvPr/>
        </p:nvSpPr>
        <p:spPr>
          <a:xfrm>
            <a:off x="1517903" y="6423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250" name="TextBox 19"/>
          <p:cNvSpPr txBox="1"/>
          <p:nvPr/>
        </p:nvSpPr>
        <p:spPr>
          <a:xfrm>
            <a:off x="2600095" y="6423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(Crowd Fund Portfolio)</a:t>
            </a:r>
          </a:p>
        </p:txBody>
      </p:sp>
      <p:sp>
        <p:nvSpPr>
          <p:cNvPr id="7251" name="TextBox 20"/>
          <p:cNvSpPr txBox="1"/>
          <p:nvPr/>
        </p:nvSpPr>
        <p:spPr>
          <a:xfrm>
            <a:off x="9093250" y="6423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52" name="Connector 21"/>
          <p:cNvSpPr/>
          <p:nvPr/>
        </p:nvSpPr>
        <p:spPr>
          <a:xfrm>
            <a:off x="1371600" y="6949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3" name="TextBox 22"/>
          <p:cNvSpPr txBox="1"/>
          <p:nvPr/>
        </p:nvSpPr>
        <p:spPr>
          <a:xfrm>
            <a:off x="1517903" y="7109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254" name="TextBox 23"/>
          <p:cNvSpPr txBox="1"/>
          <p:nvPr/>
        </p:nvSpPr>
        <p:spPr>
          <a:xfrm>
            <a:off x="2600095" y="7109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balance</a:t>
            </a:r>
          </a:p>
        </p:txBody>
      </p:sp>
      <p:sp>
        <p:nvSpPr>
          <p:cNvPr id="7255" name="TextBox 24"/>
          <p:cNvSpPr txBox="1"/>
          <p:nvPr/>
        </p:nvSpPr>
        <p:spPr>
          <a:xfrm>
            <a:off x="9093250" y="7109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256" name="Connector 25"/>
          <p:cNvSpPr/>
          <p:nvPr/>
        </p:nvSpPr>
        <p:spPr>
          <a:xfrm>
            <a:off x="1371600" y="763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7" name="TextBox 26"/>
          <p:cNvSpPr txBox="1"/>
          <p:nvPr/>
        </p:nvSpPr>
        <p:spPr>
          <a:xfrm>
            <a:off x="1517903" y="7795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258" name="TextBox 27"/>
          <p:cNvSpPr txBox="1"/>
          <p:nvPr/>
        </p:nvSpPr>
        <p:spPr>
          <a:xfrm>
            <a:off x="2600095" y="7795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7259" name="TextBox 28"/>
          <p:cNvSpPr txBox="1"/>
          <p:nvPr/>
        </p:nvSpPr>
        <p:spPr>
          <a:xfrm>
            <a:off x="9093250" y="7795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60" name="Connector 29"/>
          <p:cNvSpPr/>
          <p:nvPr/>
        </p:nvSpPr>
        <p:spPr>
          <a:xfrm>
            <a:off x="1371600" y="8321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1" name="TextBox 30"/>
          <p:cNvSpPr txBox="1"/>
          <p:nvPr/>
        </p:nvSpPr>
        <p:spPr>
          <a:xfrm>
            <a:off x="1517903" y="84810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262" name="TextBox 31"/>
          <p:cNvSpPr txBox="1"/>
          <p:nvPr/>
        </p:nvSpPr>
        <p:spPr>
          <a:xfrm>
            <a:off x="2600095" y="84810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 instant (5 min)</a:t>
            </a:r>
          </a:p>
        </p:txBody>
      </p:sp>
      <p:sp>
        <p:nvSpPr>
          <p:cNvPr id="7263" name="TextBox 32"/>
          <p:cNvSpPr txBox="1"/>
          <p:nvPr/>
        </p:nvSpPr>
        <p:spPr>
          <a:xfrm>
            <a:off x="9093250" y="84810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64" name="Connector 33"/>
          <p:cNvSpPr/>
          <p:nvPr/>
        </p:nvSpPr>
        <p:spPr>
          <a:xfrm>
            <a:off x="1371600" y="90068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5" name="TextBox 34"/>
          <p:cNvSpPr txBox="1"/>
          <p:nvPr/>
        </p:nvSpPr>
        <p:spPr>
          <a:xfrm>
            <a:off x="1517903" y="91668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266" name="TextBox 35"/>
          <p:cNvSpPr txBox="1"/>
          <p:nvPr/>
        </p:nvSpPr>
        <p:spPr>
          <a:xfrm>
            <a:off x="2600095" y="91668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Multiple portfolios</a:t>
            </a:r>
          </a:p>
        </p:txBody>
      </p:sp>
      <p:sp>
        <p:nvSpPr>
          <p:cNvPr id="7267" name="TextBox 36"/>
          <p:cNvSpPr txBox="1"/>
          <p:nvPr/>
        </p:nvSpPr>
        <p:spPr>
          <a:xfrm>
            <a:off x="9093250" y="91668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68" name="Connector 37"/>
          <p:cNvSpPr/>
          <p:nvPr/>
        </p:nvSpPr>
        <p:spPr>
          <a:xfrm>
            <a:off x="1371600" y="96926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9" name="TextBox 38"/>
          <p:cNvSpPr txBox="1"/>
          <p:nvPr/>
        </p:nvSpPr>
        <p:spPr>
          <a:xfrm>
            <a:off x="1517903" y="98526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270" name="TextBox 39"/>
          <p:cNvSpPr txBox="1"/>
          <p:nvPr/>
        </p:nvSpPr>
        <p:spPr>
          <a:xfrm>
            <a:off x="2600095" y="98526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transfer/withdraw</a:t>
            </a:r>
          </a:p>
        </p:txBody>
      </p:sp>
      <p:sp>
        <p:nvSpPr>
          <p:cNvPr id="7271" name="TextBox 40"/>
          <p:cNvSpPr txBox="1"/>
          <p:nvPr/>
        </p:nvSpPr>
        <p:spPr>
          <a:xfrm>
            <a:off x="9093250" y="98526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72" name="Connector 41"/>
          <p:cNvSpPr/>
          <p:nvPr/>
        </p:nvSpPr>
        <p:spPr>
          <a:xfrm>
            <a:off x="1371600" y="103784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3" name="TextBox 42"/>
          <p:cNvSpPr txBox="1"/>
          <p:nvPr/>
        </p:nvSpPr>
        <p:spPr>
          <a:xfrm>
            <a:off x="1517903" y="105384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274" name="TextBox 43"/>
          <p:cNvSpPr txBox="1"/>
          <p:nvPr/>
        </p:nvSpPr>
        <p:spPr>
          <a:xfrm>
            <a:off x="2600095" y="105384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portfolio number</a:t>
            </a:r>
          </a:p>
        </p:txBody>
      </p:sp>
      <p:sp>
        <p:nvSpPr>
          <p:cNvPr id="7275" name="TextBox 44"/>
          <p:cNvSpPr txBox="1"/>
          <p:nvPr/>
        </p:nvSpPr>
        <p:spPr>
          <a:xfrm>
            <a:off x="9093250" y="105384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76" name="Connector 45"/>
          <p:cNvSpPr/>
          <p:nvPr/>
        </p:nvSpPr>
        <p:spPr>
          <a:xfrm>
            <a:off x="1371600" y="11064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7" name="TextBox 46"/>
          <p:cNvSpPr txBox="1"/>
          <p:nvPr/>
        </p:nvSpPr>
        <p:spPr>
          <a:xfrm>
            <a:off x="1517903" y="112242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278" name="TextBox 47"/>
          <p:cNvSpPr txBox="1"/>
          <p:nvPr/>
        </p:nvSpPr>
        <p:spPr>
          <a:xfrm>
            <a:off x="2600095" y="112242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7279" name="TextBox 48"/>
          <p:cNvSpPr txBox="1"/>
          <p:nvPr/>
        </p:nvSpPr>
        <p:spPr>
          <a:xfrm>
            <a:off x="9093250" y="112242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80" name="Connector 49"/>
          <p:cNvSpPr/>
          <p:nvPr/>
        </p:nvSpPr>
        <p:spPr>
          <a:xfrm>
            <a:off x="1371600" y="117500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283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 / 111</a:t>
            </a:r>
          </a:p>
        </p:txBody>
      </p:sp>
      <p:sp>
        <p:nvSpPr>
          <p:cNvPr id="7284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285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in to Crowd Fund portfolio</a:t>
            </a:r>
          </a:p>
        </p:txBody>
      </p:sp>
      <p:sp>
        <p:nvSpPr>
          <p:cNvPr id="7286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287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288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289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290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291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292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293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294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5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296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7297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98" name="Connector 17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9" name="TextBox 18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00" name="TextBox 19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7301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02" name="Connector 21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3" name="TextBox 22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04" name="TextBox 23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7305" name="TextBox 24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06" name="Connector 25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7" name="TextBox 26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308" name="TextBox 27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7309" name="TextBox 28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10" name="Connector 29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1" name="TextBox 30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312" name="TextBox 31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7313" name="TextBox 32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14" name="Connector 33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5" name="TextBox 34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316" name="TextBox 35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7317" name="TextBox 36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18" name="Connector 37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9" name="TextBox 38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320" name="TextBox 39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7321" name="TextBox 40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22" name="Connector 41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3" name="TextBox 42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324" name="TextBox 43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7325" name="TextBox 44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26" name="Connector 45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7" name="TextBox 46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328" name="TextBox 47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7329" name="TextBox 48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30" name="Connector 49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1" name="TextBox 50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332" name="TextBox 51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7333" name="TextBox 52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34" name="Connector 53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5" name="TextBox 54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336" name="TextBox 55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7337" name="TextBox 5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38" name="Connector 57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9" name="TextBox 58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340" name="TextBox 59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7341" name="TextBox 60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42" name="Connector 61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3" name="TextBox 62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344" name="TextBox 63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7345" name="TextBox 64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46" name="Connector 65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34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101 / 111</a:t>
            </a:r>
          </a:p>
        </p:txBody>
      </p:sp>
      <p:sp>
        <p:nvSpPr>
          <p:cNvPr id="735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351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Cash out from Crowd fund portfolio</a:t>
            </a:r>
          </a:p>
        </p:txBody>
      </p:sp>
      <p:sp>
        <p:nvSpPr>
          <p:cNvPr id="7352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353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354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355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356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357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358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359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360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1" name="TextBox 14"/>
          <p:cNvSpPr txBox="1"/>
          <p:nvPr/>
        </p:nvSpPr>
        <p:spPr>
          <a:xfrm>
            <a:off x="1517903" y="5665763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362" name="TextBox 15"/>
          <p:cNvSpPr txBox="1"/>
          <p:nvPr/>
        </p:nvSpPr>
        <p:spPr>
          <a:xfrm>
            <a:off x="2600095" y="566576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7363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64" name="Connector 17"/>
          <p:cNvSpPr/>
          <p:nvPr/>
        </p:nvSpPr>
        <p:spPr>
          <a:xfrm>
            <a:off x="1371600" y="611944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5" name="TextBox 18"/>
          <p:cNvSpPr txBox="1"/>
          <p:nvPr/>
        </p:nvSpPr>
        <p:spPr>
          <a:xfrm>
            <a:off x="1517903" y="6207369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66" name="TextBox 19"/>
          <p:cNvSpPr txBox="1"/>
          <p:nvPr/>
        </p:nvSpPr>
        <p:spPr>
          <a:xfrm>
            <a:off x="2600095" y="62073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7367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68" name="Connector 21"/>
          <p:cNvSpPr/>
          <p:nvPr/>
        </p:nvSpPr>
        <p:spPr>
          <a:xfrm>
            <a:off x="1371600" y="66610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9" name="TextBox 22"/>
          <p:cNvSpPr txBox="1"/>
          <p:nvPr/>
        </p:nvSpPr>
        <p:spPr>
          <a:xfrm>
            <a:off x="1517903" y="674897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70" name="TextBox 23"/>
          <p:cNvSpPr txBox="1"/>
          <p:nvPr/>
        </p:nvSpPr>
        <p:spPr>
          <a:xfrm>
            <a:off x="2600095" y="674897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7371" name="TextBox 24"/>
          <p:cNvSpPr txBox="1"/>
          <p:nvPr/>
        </p:nvSpPr>
        <p:spPr>
          <a:xfrm>
            <a:off x="9093250" y="674897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72" name="Connector 25"/>
          <p:cNvSpPr/>
          <p:nvPr/>
        </p:nvSpPr>
        <p:spPr>
          <a:xfrm>
            <a:off x="1371600" y="720265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3" name="TextBox 26"/>
          <p:cNvSpPr txBox="1"/>
          <p:nvPr/>
        </p:nvSpPr>
        <p:spPr>
          <a:xfrm>
            <a:off x="1517903" y="729058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374" name="TextBox 27"/>
          <p:cNvSpPr txBox="1"/>
          <p:nvPr/>
        </p:nvSpPr>
        <p:spPr>
          <a:xfrm>
            <a:off x="2600095" y="729058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7375" name="TextBox 28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76" name="TextBox 29"/>
          <p:cNvSpPr txBox="1"/>
          <p:nvPr/>
        </p:nvSpPr>
        <p:spPr>
          <a:xfrm>
            <a:off x="10894893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377" name="TextBox 30"/>
          <p:cNvSpPr txBox="1"/>
          <p:nvPr/>
        </p:nvSpPr>
        <p:spPr>
          <a:xfrm>
            <a:off x="12626399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378" name="Connector 31"/>
          <p:cNvSpPr/>
          <p:nvPr/>
        </p:nvSpPr>
        <p:spPr>
          <a:xfrm>
            <a:off x="1371600" y="774426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9" name="TextBox 32"/>
          <p:cNvSpPr txBox="1"/>
          <p:nvPr/>
        </p:nvSpPr>
        <p:spPr>
          <a:xfrm>
            <a:off x="1517903" y="78321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380" name="TextBox 33"/>
          <p:cNvSpPr txBox="1"/>
          <p:nvPr/>
        </p:nvSpPr>
        <p:spPr>
          <a:xfrm>
            <a:off x="2600095" y="78321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7381" name="TextBox 3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82" name="TextBox 35"/>
          <p:cNvSpPr txBox="1"/>
          <p:nvPr/>
        </p:nvSpPr>
        <p:spPr>
          <a:xfrm>
            <a:off x="10894893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383" name="TextBox 36"/>
          <p:cNvSpPr txBox="1"/>
          <p:nvPr/>
        </p:nvSpPr>
        <p:spPr>
          <a:xfrm>
            <a:off x="12626399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384" name="Connector 37"/>
          <p:cNvSpPr/>
          <p:nvPr/>
        </p:nvSpPr>
        <p:spPr>
          <a:xfrm>
            <a:off x="1371600" y="828587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5" name="TextBox 38"/>
          <p:cNvSpPr txBox="1"/>
          <p:nvPr/>
        </p:nvSpPr>
        <p:spPr>
          <a:xfrm>
            <a:off x="1517903" y="8373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386" name="TextBox 39"/>
          <p:cNvSpPr txBox="1"/>
          <p:nvPr/>
        </p:nvSpPr>
        <p:spPr>
          <a:xfrm>
            <a:off x="2600095" y="8373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7387" name="TextBox 40"/>
          <p:cNvSpPr txBox="1"/>
          <p:nvPr/>
        </p:nvSpPr>
        <p:spPr>
          <a:xfrm>
            <a:off x="9093250" y="837379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88" name="TextBox 41"/>
          <p:cNvSpPr txBox="1"/>
          <p:nvPr/>
        </p:nvSpPr>
        <p:spPr>
          <a:xfrm>
            <a:off x="10894893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389" name="TextBox 42"/>
          <p:cNvSpPr txBox="1"/>
          <p:nvPr/>
        </p:nvSpPr>
        <p:spPr>
          <a:xfrm>
            <a:off x="12626399" y="8373792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390" name="Connector 43"/>
          <p:cNvSpPr/>
          <p:nvPr/>
        </p:nvSpPr>
        <p:spPr>
          <a:xfrm>
            <a:off x="1371600" y="882747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1" name="TextBox 44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392" name="TextBox 45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7393" name="TextBox 46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94" name="Connector 47"/>
          <p:cNvSpPr/>
          <p:nvPr/>
        </p:nvSpPr>
        <p:spPr>
          <a:xfrm>
            <a:off x="1371600" y="93690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5" name="TextBox 48"/>
          <p:cNvSpPr txBox="1"/>
          <p:nvPr/>
        </p:nvSpPr>
        <p:spPr>
          <a:xfrm>
            <a:off x="1517903" y="945700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396" name="TextBox 49"/>
          <p:cNvSpPr txBox="1"/>
          <p:nvPr/>
        </p:nvSpPr>
        <p:spPr>
          <a:xfrm>
            <a:off x="2600095" y="945700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7397" name="TextBox 50"/>
          <p:cNvSpPr txBox="1"/>
          <p:nvPr/>
        </p:nvSpPr>
        <p:spPr>
          <a:xfrm>
            <a:off x="9093250" y="945700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398" name="Connector 51"/>
          <p:cNvSpPr/>
          <p:nvPr/>
        </p:nvSpPr>
        <p:spPr>
          <a:xfrm>
            <a:off x="1371600" y="99106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9" name="TextBox 52"/>
          <p:cNvSpPr txBox="1"/>
          <p:nvPr/>
        </p:nvSpPr>
        <p:spPr>
          <a:xfrm>
            <a:off x="1517903" y="999861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400" name="TextBox 53"/>
          <p:cNvSpPr txBox="1"/>
          <p:nvPr/>
        </p:nvSpPr>
        <p:spPr>
          <a:xfrm>
            <a:off x="2600095" y="999861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7401" name="TextBox 5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02" name="Connector 55"/>
          <p:cNvSpPr/>
          <p:nvPr/>
        </p:nvSpPr>
        <p:spPr>
          <a:xfrm>
            <a:off x="1371600" y="104522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3" name="TextBox 56"/>
          <p:cNvSpPr txBox="1"/>
          <p:nvPr/>
        </p:nvSpPr>
        <p:spPr>
          <a:xfrm>
            <a:off x="1517903" y="1054021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404" name="TextBox 57"/>
          <p:cNvSpPr txBox="1"/>
          <p:nvPr/>
        </p:nvSpPr>
        <p:spPr>
          <a:xfrm>
            <a:off x="2600095" y="105402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7405" name="TextBox 58"/>
          <p:cNvSpPr txBox="1"/>
          <p:nvPr/>
        </p:nvSpPr>
        <p:spPr>
          <a:xfrm>
            <a:off x="9093250" y="1054021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06" name="Connector 59"/>
          <p:cNvSpPr/>
          <p:nvPr/>
        </p:nvSpPr>
        <p:spPr>
          <a:xfrm>
            <a:off x="1371600" y="1099390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7" name="TextBox 60"/>
          <p:cNvSpPr txBox="1"/>
          <p:nvPr/>
        </p:nvSpPr>
        <p:spPr>
          <a:xfrm>
            <a:off x="1517903" y="11081824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408" name="TextBox 61"/>
          <p:cNvSpPr txBox="1"/>
          <p:nvPr/>
        </p:nvSpPr>
        <p:spPr>
          <a:xfrm>
            <a:off x="2600095" y="11081824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7409" name="TextBox 62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10" name="Connector 63"/>
          <p:cNvSpPr/>
          <p:nvPr/>
        </p:nvSpPr>
        <p:spPr>
          <a:xfrm>
            <a:off x="1371600" y="1153550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1" name="TextBox 64"/>
          <p:cNvSpPr txBox="1"/>
          <p:nvPr/>
        </p:nvSpPr>
        <p:spPr>
          <a:xfrm>
            <a:off x="1517903" y="1162343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412" name="TextBox 65"/>
          <p:cNvSpPr txBox="1"/>
          <p:nvPr/>
        </p:nvSpPr>
        <p:spPr>
          <a:xfrm>
            <a:off x="2600095" y="116234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7413" name="TextBox 6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14" name="Connector 67"/>
          <p:cNvSpPr/>
          <p:nvPr/>
        </p:nvSpPr>
        <p:spPr>
          <a:xfrm>
            <a:off x="1371600" y="1207711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5" name="TextBox 68"/>
          <p:cNvSpPr txBox="1"/>
          <p:nvPr/>
        </p:nvSpPr>
        <p:spPr>
          <a:xfrm>
            <a:off x="1517903" y="1216503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416" name="TextBox 69"/>
          <p:cNvSpPr txBox="1"/>
          <p:nvPr/>
        </p:nvSpPr>
        <p:spPr>
          <a:xfrm>
            <a:off x="2600095" y="1216503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7417" name="TextBox 70"/>
          <p:cNvSpPr txBox="1"/>
          <p:nvPr/>
        </p:nvSpPr>
        <p:spPr>
          <a:xfrm>
            <a:off x="9093250" y="121650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18" name="Connector 7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0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7421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2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ARC </a:t>
            </a:r>
            <a:r>
              <a:rPr>
                <a:solidFill>
                  <a:srgbClr val="0333E8"/>
                </a:solidFill>
              </a:rPr>
              <a:t>IPO</a:t>
            </a:r>
          </a:p>
        </p:txBody>
      </p:sp>
      <p:sp>
        <p:nvSpPr>
          <p:cNvPr id="7423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Initial Public Offering subscriptions and allocations</a:t>
            </a:r>
          </a:p>
        </p:txBody>
      </p:sp>
      <p:sp>
        <p:nvSpPr>
          <p:cNvPr id="7424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7425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102 / 111</a:t>
            </a:r>
          </a:p>
        </p:txBody>
      </p:sp>
      <p:pic>
        <p:nvPicPr>
          <p:cNvPr id="7426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42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103 / 111</a:t>
            </a:r>
          </a:p>
        </p:txBody>
      </p:sp>
      <p:sp>
        <p:nvSpPr>
          <p:cNvPr id="743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IPO  ·  SECTION SUMMARY</a:t>
            </a:r>
          </a:p>
        </p:txBody>
      </p:sp>
      <p:sp>
        <p:nvSpPr>
          <p:cNvPr id="7431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16 capabilities assessed. 13 already live.</a:t>
            </a:r>
          </a:p>
        </p:txBody>
      </p:sp>
      <p:sp>
        <p:nvSpPr>
          <p:cNvPr id="7432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7433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7434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35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436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(81% OF 16)</a:t>
            </a:r>
          </a:p>
        </p:txBody>
      </p:sp>
      <p:sp>
        <p:nvSpPr>
          <p:cNvPr id="7437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38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39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(6% OF 16)</a:t>
            </a:r>
          </a:p>
        </p:txBody>
      </p:sp>
      <p:sp>
        <p:nvSpPr>
          <p:cNvPr id="7440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1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2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7443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Most mature product — 81% already live.</a:t>
            </a:r>
          </a:p>
        </p:txBody>
      </p:sp>
      <p:sp>
        <p:nvSpPr>
          <p:cNvPr id="7444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Only 1 Jira ticket across 3 open gaps.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4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7447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450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7448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449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7451" name="Picture 1139" descr="Picture 11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452" name="TextBox 1140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104 / 111</a:t>
            </a:r>
          </a:p>
        </p:txBody>
      </p:sp>
      <p:sp>
        <p:nvSpPr>
          <p:cNvPr id="7453" name="TextBox 1141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IPO</a:t>
            </a:r>
          </a:p>
        </p:txBody>
      </p:sp>
      <p:sp>
        <p:nvSpPr>
          <p:cNvPr id="7454" name="TextBox 1142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7455" name="Connector 1143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6" name="Connector 1144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7" name="Connector 1145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8" name="Connector 1146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9" name="Connector 1147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0" name="Connector 1148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1" name="Connector 1149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2" name="Connector 1150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3" name="Connector 1151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4" name="Connector 1152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5" name="Connector 1153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6" name="Connector 1154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7" name="Connector 1155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8" name="Connector 1156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9" name="Connector 1157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0" name="Oval 1158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1" name="Oval 1159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2" name="TextBox 1160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7473" name="TextBox 1161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7474" name="Oval 1162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5" name="TextBox 1163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476" name="TextBox 1164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Search</a:t>
            </a:r>
          </a:p>
        </p:txBody>
      </p:sp>
      <p:sp>
        <p:nvSpPr>
          <p:cNvPr id="7477" name="Oval 1165"/>
          <p:cNvSpPr/>
          <p:nvPr/>
        </p:nvSpPr>
        <p:spPr>
          <a:xfrm>
            <a:off x="118186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8" name="TextBox 1166"/>
          <p:cNvSpPr txBox="1"/>
          <p:nvPr/>
        </p:nvSpPr>
        <p:spPr>
          <a:xfrm>
            <a:off x="98298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479" name="TextBox 1167"/>
          <p:cNvSpPr txBox="1"/>
          <p:nvPr/>
        </p:nvSpPr>
        <p:spPr>
          <a:xfrm>
            <a:off x="98298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7480" name="Oval 1168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81" name="TextBox 1169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482" name="TextBox 1170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IPO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48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105 / 111</a:t>
            </a:r>
          </a:p>
        </p:txBody>
      </p:sp>
      <p:sp>
        <p:nvSpPr>
          <p:cNvPr id="748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IPO  ·  CAPABILITY ASSESSMENT</a:t>
            </a:r>
          </a:p>
        </p:txBody>
      </p:sp>
      <p:sp>
        <p:nvSpPr>
          <p:cNvPr id="748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IPO Services Structure &amp; Subscription</a:t>
            </a:r>
          </a:p>
        </p:txBody>
      </p:sp>
      <p:sp>
        <p:nvSpPr>
          <p:cNvPr id="748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48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49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49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49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49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49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49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49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7" name="TextBox 14"/>
          <p:cNvSpPr txBox="1"/>
          <p:nvPr/>
        </p:nvSpPr>
        <p:spPr>
          <a:xfrm>
            <a:off x="1517903" y="561498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98" name="TextBox 15"/>
          <p:cNvSpPr txBox="1"/>
          <p:nvPr/>
        </p:nvSpPr>
        <p:spPr>
          <a:xfrm>
            <a:off x="2600095" y="561498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Tab Navigation (Listing / Listed / History)</a:t>
            </a:r>
          </a:p>
        </p:txBody>
      </p:sp>
      <p:sp>
        <p:nvSpPr>
          <p:cNvPr id="7499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0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0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02" name="Connector 19"/>
          <p:cNvSpPr/>
          <p:nvPr/>
        </p:nvSpPr>
        <p:spPr>
          <a:xfrm>
            <a:off x="1371600" y="601789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03" name="TextBox 20"/>
          <p:cNvSpPr txBox="1"/>
          <p:nvPr/>
        </p:nvSpPr>
        <p:spPr>
          <a:xfrm>
            <a:off x="1517903" y="605504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504" name="TextBox 21"/>
          <p:cNvSpPr txBox="1"/>
          <p:nvPr/>
        </p:nvSpPr>
        <p:spPr>
          <a:xfrm>
            <a:off x="2600095" y="605504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type segmentation (Sukuk / TASI / Nomu)</a:t>
            </a:r>
          </a:p>
        </p:txBody>
      </p:sp>
      <p:sp>
        <p:nvSpPr>
          <p:cNvPr id="7505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0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0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08" name="Connector 25"/>
          <p:cNvSpPr/>
          <p:nvPr/>
        </p:nvSpPr>
        <p:spPr>
          <a:xfrm>
            <a:off x="1371600" y="645795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09" name="TextBox 26"/>
          <p:cNvSpPr txBox="1"/>
          <p:nvPr/>
        </p:nvSpPr>
        <p:spPr>
          <a:xfrm>
            <a:off x="1517903" y="649509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510" name="TextBox 27"/>
          <p:cNvSpPr txBox="1"/>
          <p:nvPr/>
        </p:nvSpPr>
        <p:spPr>
          <a:xfrm>
            <a:off x="2600095" y="649509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status visibility (Upcoming / Open / Closed)</a:t>
            </a:r>
          </a:p>
        </p:txBody>
      </p:sp>
      <p:sp>
        <p:nvSpPr>
          <p:cNvPr id="7511" name="TextBox 28"/>
          <p:cNvSpPr txBox="1"/>
          <p:nvPr/>
        </p:nvSpPr>
        <p:spPr>
          <a:xfrm>
            <a:off x="9093250" y="649509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1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1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3167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14" name="Connector 31"/>
          <p:cNvSpPr/>
          <p:nvPr/>
        </p:nvSpPr>
        <p:spPr>
          <a:xfrm>
            <a:off x="1371600" y="689800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5" name="TextBox 32"/>
          <p:cNvSpPr txBox="1"/>
          <p:nvPr/>
        </p:nvSpPr>
        <p:spPr>
          <a:xfrm>
            <a:off x="1517903" y="693515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516" name="TextBox 33"/>
          <p:cNvSpPr txBox="1"/>
          <p:nvPr/>
        </p:nvSpPr>
        <p:spPr>
          <a:xfrm>
            <a:off x="2600095" y="693515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Add IPO to calendar</a:t>
            </a:r>
          </a:p>
        </p:txBody>
      </p:sp>
      <p:sp>
        <p:nvSpPr>
          <p:cNvPr id="7517" name="TextBox 34"/>
          <p:cNvSpPr txBox="1"/>
          <p:nvPr/>
        </p:nvSpPr>
        <p:spPr>
          <a:xfrm>
            <a:off x="9093250" y="693515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18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1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7172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20" name="Connector 37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1" name="TextBox 38"/>
          <p:cNvSpPr txBox="1"/>
          <p:nvPr/>
        </p:nvSpPr>
        <p:spPr>
          <a:xfrm>
            <a:off x="1517903" y="737520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522" name="TextBox 39"/>
          <p:cNvSpPr txBox="1"/>
          <p:nvPr/>
        </p:nvSpPr>
        <p:spPr>
          <a:xfrm>
            <a:off x="2600095" y="73752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card summary</a:t>
            </a:r>
          </a:p>
        </p:txBody>
      </p:sp>
      <p:sp>
        <p:nvSpPr>
          <p:cNvPr id="7523" name="TextBox 40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24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2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117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26" name="Connector 43"/>
          <p:cNvSpPr/>
          <p:nvPr/>
        </p:nvSpPr>
        <p:spPr>
          <a:xfrm>
            <a:off x="1371600" y="777811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7" name="TextBox 44"/>
          <p:cNvSpPr txBox="1"/>
          <p:nvPr/>
        </p:nvSpPr>
        <p:spPr>
          <a:xfrm>
            <a:off x="1517903" y="781526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528" name="TextBox 45"/>
          <p:cNvSpPr txBox="1"/>
          <p:nvPr/>
        </p:nvSpPr>
        <p:spPr>
          <a:xfrm>
            <a:off x="2600095" y="781526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subscription countdown</a:t>
            </a:r>
          </a:p>
        </p:txBody>
      </p:sp>
      <p:sp>
        <p:nvSpPr>
          <p:cNvPr id="7529" name="TextBox 46"/>
          <p:cNvSpPr txBox="1"/>
          <p:nvPr/>
        </p:nvSpPr>
        <p:spPr>
          <a:xfrm>
            <a:off x="9093250" y="781526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30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31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5183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32" name="Connector 49"/>
          <p:cNvSpPr/>
          <p:nvPr/>
        </p:nvSpPr>
        <p:spPr>
          <a:xfrm>
            <a:off x="1371600" y="821816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3" name="TextBox 50"/>
          <p:cNvSpPr txBox="1"/>
          <p:nvPr/>
        </p:nvSpPr>
        <p:spPr>
          <a:xfrm>
            <a:off x="1517903" y="825531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534" name="TextBox 51"/>
          <p:cNvSpPr txBox="1"/>
          <p:nvPr/>
        </p:nvSpPr>
        <p:spPr>
          <a:xfrm>
            <a:off x="2600095" y="825531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overview</a:t>
            </a:r>
          </a:p>
        </p:txBody>
      </p:sp>
      <p:sp>
        <p:nvSpPr>
          <p:cNvPr id="7535" name="TextBox 52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3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3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9189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38" name="Connector 55"/>
          <p:cNvSpPr/>
          <p:nvPr/>
        </p:nvSpPr>
        <p:spPr>
          <a:xfrm>
            <a:off x="1371600" y="8658225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9" name="TextBox 56"/>
          <p:cNvSpPr txBox="1"/>
          <p:nvPr/>
        </p:nvSpPr>
        <p:spPr>
          <a:xfrm>
            <a:off x="1517903" y="869537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540" name="TextBox 57"/>
          <p:cNvSpPr txBox="1"/>
          <p:nvPr/>
        </p:nvSpPr>
        <p:spPr>
          <a:xfrm>
            <a:off x="2600095" y="869537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Offering company overview</a:t>
            </a:r>
          </a:p>
        </p:txBody>
      </p:sp>
      <p:sp>
        <p:nvSpPr>
          <p:cNvPr id="7541" name="TextBox 58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754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4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3194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44" name="Connector 61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5" name="TextBox 62"/>
          <p:cNvSpPr txBox="1"/>
          <p:nvPr/>
        </p:nvSpPr>
        <p:spPr>
          <a:xfrm>
            <a:off x="1517903" y="913542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546" name="TextBox 63"/>
          <p:cNvSpPr txBox="1"/>
          <p:nvPr/>
        </p:nvSpPr>
        <p:spPr>
          <a:xfrm>
            <a:off x="2600095" y="913542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to IPO</a:t>
            </a:r>
          </a:p>
        </p:txBody>
      </p:sp>
      <p:sp>
        <p:nvSpPr>
          <p:cNvPr id="7547" name="TextBox 64"/>
          <p:cNvSpPr txBox="1"/>
          <p:nvPr/>
        </p:nvSpPr>
        <p:spPr>
          <a:xfrm>
            <a:off x="9093250" y="913542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7548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4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7200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50" name="Connector 67"/>
          <p:cNvSpPr/>
          <p:nvPr/>
        </p:nvSpPr>
        <p:spPr>
          <a:xfrm>
            <a:off x="1371600" y="953833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1" name="TextBox 68"/>
          <p:cNvSpPr txBox="1"/>
          <p:nvPr/>
        </p:nvSpPr>
        <p:spPr>
          <a:xfrm>
            <a:off x="1517903" y="957548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552" name="TextBox 69"/>
          <p:cNvSpPr txBox="1"/>
          <p:nvPr/>
        </p:nvSpPr>
        <p:spPr>
          <a:xfrm>
            <a:off x="2600095" y="957548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to Sukuk Saah</a:t>
            </a:r>
          </a:p>
        </p:txBody>
      </p:sp>
      <p:sp>
        <p:nvSpPr>
          <p:cNvPr id="7553" name="TextBox 70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54" name="TextBox 71"/>
          <p:cNvSpPr txBox="1"/>
          <p:nvPr/>
        </p:nvSpPr>
        <p:spPr>
          <a:xfrm>
            <a:off x="18832982" y="957548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ARCD-72385</a:t>
            </a:r>
          </a:p>
        </p:txBody>
      </p:sp>
      <p:sp>
        <p:nvSpPr>
          <p:cNvPr id="7555" name="Connector 72"/>
          <p:cNvSpPr/>
          <p:nvPr/>
        </p:nvSpPr>
        <p:spPr>
          <a:xfrm>
            <a:off x="1371600" y="997839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6" name="TextBox 73"/>
          <p:cNvSpPr txBox="1"/>
          <p:nvPr/>
        </p:nvSpPr>
        <p:spPr>
          <a:xfrm>
            <a:off x="1517903" y="10015536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557" name="TextBox 74"/>
          <p:cNvSpPr txBox="1"/>
          <p:nvPr/>
        </p:nvSpPr>
        <p:spPr>
          <a:xfrm>
            <a:off x="2600095" y="1001553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destination routing</a:t>
            </a:r>
          </a:p>
        </p:txBody>
      </p:sp>
      <p:sp>
        <p:nvSpPr>
          <p:cNvPr id="7558" name="TextBox 75"/>
          <p:cNvSpPr txBox="1"/>
          <p:nvPr/>
        </p:nvSpPr>
        <p:spPr>
          <a:xfrm>
            <a:off x="9093250" y="1001553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59" name="TextBox 76"/>
          <p:cNvSpPr txBox="1"/>
          <p:nvPr/>
        </p:nvSpPr>
        <p:spPr>
          <a:xfrm>
            <a:off x="14504212" y="10015536"/>
            <a:ext cx="403616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 make it easier</a:t>
            </a:r>
          </a:p>
        </p:txBody>
      </p:sp>
      <p:sp>
        <p:nvSpPr>
          <p:cNvPr id="7560" name="Connector 77"/>
          <p:cNvSpPr/>
          <p:nvPr/>
        </p:nvSpPr>
        <p:spPr>
          <a:xfrm>
            <a:off x="1371600" y="1041844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1" name="TextBox 78"/>
          <p:cNvSpPr txBox="1"/>
          <p:nvPr/>
        </p:nvSpPr>
        <p:spPr>
          <a:xfrm>
            <a:off x="1517903" y="1045559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562" name="TextBox 79"/>
          <p:cNvSpPr txBox="1"/>
          <p:nvPr/>
        </p:nvSpPr>
        <p:spPr>
          <a:xfrm>
            <a:off x="2600095" y="104555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Dynamic order input logic (based on IPO type)</a:t>
            </a:r>
          </a:p>
        </p:txBody>
      </p:sp>
      <p:sp>
        <p:nvSpPr>
          <p:cNvPr id="7563" name="TextBox 80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7564" name="Picture 81" descr="Picture 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65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92168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66" name="Connector 83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7" name="TextBox 84"/>
          <p:cNvSpPr txBox="1"/>
          <p:nvPr/>
        </p:nvSpPr>
        <p:spPr>
          <a:xfrm>
            <a:off x="1517903" y="108956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568" name="TextBox 85"/>
          <p:cNvSpPr txBox="1"/>
          <p:nvPr/>
        </p:nvSpPr>
        <p:spPr>
          <a:xfrm>
            <a:off x="2600095" y="108956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Dependent allocation support</a:t>
            </a:r>
          </a:p>
        </p:txBody>
      </p:sp>
      <p:sp>
        <p:nvSpPr>
          <p:cNvPr id="7569" name="TextBox 86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757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71" name="Picture 88" descr="Picture 8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3222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72" name="Connector 89"/>
          <p:cNvSpPr/>
          <p:nvPr/>
        </p:nvSpPr>
        <p:spPr>
          <a:xfrm>
            <a:off x="1371600" y="1129855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3" name="TextBox 90"/>
          <p:cNvSpPr txBox="1"/>
          <p:nvPr/>
        </p:nvSpPr>
        <p:spPr>
          <a:xfrm>
            <a:off x="1517903" y="1133570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7574" name="TextBox 91"/>
          <p:cNvSpPr txBox="1"/>
          <p:nvPr/>
        </p:nvSpPr>
        <p:spPr>
          <a:xfrm>
            <a:off x="2600095" y="1133570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Dependent registry (ID-based)</a:t>
            </a:r>
          </a:p>
        </p:txBody>
      </p:sp>
      <p:sp>
        <p:nvSpPr>
          <p:cNvPr id="7575" name="TextBox 92"/>
          <p:cNvSpPr txBox="1"/>
          <p:nvPr/>
        </p:nvSpPr>
        <p:spPr>
          <a:xfrm>
            <a:off x="9093250" y="1133570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7576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72277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77" name="Picture 94" descr="Picture 9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72277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78" name="Connector 95"/>
          <p:cNvSpPr/>
          <p:nvPr/>
        </p:nvSpPr>
        <p:spPr>
          <a:xfrm>
            <a:off x="1371600" y="1173860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9" name="TextBox 96"/>
          <p:cNvSpPr txBox="1"/>
          <p:nvPr/>
        </p:nvSpPr>
        <p:spPr>
          <a:xfrm>
            <a:off x="1517903" y="11775757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580" name="TextBox 97"/>
          <p:cNvSpPr txBox="1"/>
          <p:nvPr/>
        </p:nvSpPr>
        <p:spPr>
          <a:xfrm>
            <a:off x="2600095" y="1177575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Dependent editing &amp; management</a:t>
            </a:r>
          </a:p>
        </p:txBody>
      </p:sp>
      <p:sp>
        <p:nvSpPr>
          <p:cNvPr id="7581" name="TextBox 98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7582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812333"/>
            <a:ext cx="292609" cy="292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83" name="Picture 100" descr="Picture 10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81233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7584" name="Connector 101"/>
          <p:cNvSpPr/>
          <p:nvPr/>
        </p:nvSpPr>
        <p:spPr>
          <a:xfrm>
            <a:off x="1371600" y="1217866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5" name="TextBox 102"/>
          <p:cNvSpPr txBox="1"/>
          <p:nvPr/>
        </p:nvSpPr>
        <p:spPr>
          <a:xfrm>
            <a:off x="1517903" y="1221581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7586" name="TextBox 103"/>
          <p:cNvSpPr txBox="1"/>
          <p:nvPr/>
        </p:nvSpPr>
        <p:spPr>
          <a:xfrm>
            <a:off x="2600095" y="1221581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IPO</a:t>
            </a:r>
          </a:p>
        </p:txBody>
      </p:sp>
      <p:sp>
        <p:nvSpPr>
          <p:cNvPr id="7587" name="TextBox 104"/>
          <p:cNvSpPr txBox="1"/>
          <p:nvPr/>
        </p:nvSpPr>
        <p:spPr>
          <a:xfrm>
            <a:off x="9093250" y="1221581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88" name="Connector 105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0" name="TextBox 3"/>
          <p:cNvSpPr txBox="1"/>
          <p:nvPr/>
        </p:nvSpPr>
        <p:spPr>
          <a:xfrm>
            <a:off x="18900647" y="1097280"/>
            <a:ext cx="4114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7591" name="Rectangle 4"/>
          <p:cNvSpPr/>
          <p:nvPr/>
        </p:nvSpPr>
        <p:spPr>
          <a:xfrm>
            <a:off x="1371600" y="411480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92" name="TextBox 5"/>
          <p:cNvSpPr txBox="1"/>
          <p:nvPr/>
        </p:nvSpPr>
        <p:spPr>
          <a:xfrm>
            <a:off x="1371600" y="4389120"/>
            <a:ext cx="20116800" cy="14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ARC </a:t>
            </a:r>
            <a:r>
              <a:rPr>
                <a:solidFill>
                  <a:srgbClr val="0333E8"/>
                </a:solidFill>
              </a:rPr>
              <a:t>LMS</a:t>
            </a:r>
          </a:p>
        </p:txBody>
      </p:sp>
      <p:sp>
        <p:nvSpPr>
          <p:cNvPr id="7593" name="TextBox 6"/>
          <p:cNvSpPr txBox="1"/>
          <p:nvPr/>
        </p:nvSpPr>
        <p:spPr>
          <a:xfrm>
            <a:off x="1371600" y="7863840"/>
            <a:ext cx="201168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Lending and financing services</a:t>
            </a:r>
          </a:p>
        </p:txBody>
      </p:sp>
      <p:sp>
        <p:nvSpPr>
          <p:cNvPr id="7594" name="TextBox 7"/>
          <p:cNvSpPr txBox="1"/>
          <p:nvPr/>
        </p:nvSpPr>
        <p:spPr>
          <a:xfrm>
            <a:off x="1371600" y="9144000"/>
            <a:ext cx="201168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7595" name="TextBox 8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106 / 111</a:t>
            </a:r>
          </a:p>
        </p:txBody>
      </p:sp>
      <p:pic>
        <p:nvPicPr>
          <p:cNvPr id="7596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606040" cy="960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599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107 / 111</a:t>
            </a:r>
          </a:p>
        </p:txBody>
      </p:sp>
      <p:sp>
        <p:nvSpPr>
          <p:cNvPr id="7600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  ·  SECTION SUMMARY</a:t>
            </a:r>
          </a:p>
        </p:txBody>
      </p:sp>
      <p:sp>
        <p:nvSpPr>
          <p:cNvPr id="7601" name="TextBox 4"/>
          <p:cNvSpPr txBox="1"/>
          <p:nvPr/>
        </p:nvSpPr>
        <p:spPr>
          <a:xfrm>
            <a:off x="1371600" y="2834639"/>
            <a:ext cx="201168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27 capabilities assessed. 15 already live.</a:t>
            </a:r>
          </a:p>
        </p:txBody>
      </p:sp>
      <p:sp>
        <p:nvSpPr>
          <p:cNvPr id="7602" name="TextBox 5"/>
          <p:cNvSpPr txBox="1"/>
          <p:nvPr/>
        </p:nvSpPr>
        <p:spPr>
          <a:xfrm>
            <a:off x="1371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7603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7604" name="Rectangle 7"/>
          <p:cNvSpPr/>
          <p:nvPr/>
        </p:nvSpPr>
        <p:spPr>
          <a:xfrm>
            <a:off x="1371600" y="9098280"/>
            <a:ext cx="1371600" cy="36577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05" name="TextBox 8"/>
          <p:cNvSpPr txBox="1"/>
          <p:nvPr/>
        </p:nvSpPr>
        <p:spPr>
          <a:xfrm>
            <a:off x="8229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606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(56% OF 27)</a:t>
            </a:r>
          </a:p>
        </p:txBody>
      </p:sp>
      <p:sp>
        <p:nvSpPr>
          <p:cNvPr id="7607" name="Rectangle 10"/>
          <p:cNvSpPr/>
          <p:nvPr/>
        </p:nvSpPr>
        <p:spPr>
          <a:xfrm>
            <a:off x="8229600" y="9098280"/>
            <a:ext cx="1371600" cy="36577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08" name="TextBox 11"/>
          <p:cNvSpPr txBox="1"/>
          <p:nvPr/>
        </p:nvSpPr>
        <p:spPr>
          <a:xfrm>
            <a:off x="15087600" y="5760720"/>
            <a:ext cx="6400800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8000">
                <a:solidFill>
                  <a:srgbClr val="0333E8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09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(15% OF 27)</a:t>
            </a:r>
          </a:p>
        </p:txBody>
      </p:sp>
      <p:sp>
        <p:nvSpPr>
          <p:cNvPr id="7610" name="Rectangle 13"/>
          <p:cNvSpPr/>
          <p:nvPr/>
        </p:nvSpPr>
        <p:spPr>
          <a:xfrm>
            <a:off x="15087600" y="9098280"/>
            <a:ext cx="1371600" cy="36577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11" name="Connector 14"/>
          <p:cNvSpPr/>
          <p:nvPr/>
        </p:nvSpPr>
        <p:spPr>
          <a:xfrm>
            <a:off x="1371600" y="10789919"/>
            <a:ext cx="21643848" cy="1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2" name="TextBox 15"/>
          <p:cNvSpPr txBox="1"/>
          <p:nvPr/>
        </p:nvSpPr>
        <p:spPr>
          <a:xfrm>
            <a:off x="1371600" y="1110995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7613" name="TextBox 16"/>
          <p:cNvSpPr txBox="1"/>
          <p:nvPr/>
        </p:nvSpPr>
        <p:spPr>
          <a:xfrm>
            <a:off x="1371600" y="11612880"/>
            <a:ext cx="10058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12 capabilities still in delivery — 44% of the stack.</a:t>
            </a:r>
          </a:p>
        </p:txBody>
      </p:sp>
      <p:sp>
        <p:nvSpPr>
          <p:cNvPr id="7614" name="TextBox 17"/>
          <p:cNvSpPr txBox="1"/>
          <p:nvPr/>
        </p:nvSpPr>
        <p:spPr>
          <a:xfrm>
            <a:off x="11978640" y="11612880"/>
            <a:ext cx="10058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15% Jira coverage — healthy for a half-built product.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4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7617" name="Rectangle 6"/>
          <p:cNvSpPr/>
          <p:nvPr/>
        </p:nvSpPr>
        <p:spPr>
          <a:xfrm>
            <a:off x="117674" y="14407852"/>
            <a:ext cx="4450085" cy="50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620" name="Rectangle 7"/>
          <p:cNvGrpSpPr/>
          <p:nvPr/>
        </p:nvGrpSpPr>
        <p:grpSpPr>
          <a:xfrm>
            <a:off x="117675" y="14475115"/>
            <a:ext cx="6478780" cy="440740"/>
            <a:chOff x="0" y="-1"/>
            <a:chExt cx="6478778" cy="440738"/>
          </a:xfrm>
        </p:grpSpPr>
        <p:sp>
          <p:nvSpPr>
            <p:cNvPr id="7618" name="Rectangle"/>
            <p:cNvSpPr/>
            <p:nvPr/>
          </p:nvSpPr>
          <p:spPr>
            <a:xfrm>
              <a:off x="-1" y="-2"/>
              <a:ext cx="6478780" cy="4407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619" name="* Last numbers for International, ROBO are at Q3, Q4 2025"/>
            <p:cNvSpPr txBox="1"/>
            <p:nvPr/>
          </p:nvSpPr>
          <p:spPr>
            <a:xfrm>
              <a:off x="45720" y="53822"/>
              <a:ext cx="6387337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7621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3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2" name="Picture 1215" descr="Picture 12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623" name="TextBox 1216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108 / 111</a:t>
            </a:r>
          </a:p>
        </p:txBody>
      </p:sp>
      <p:sp>
        <p:nvSpPr>
          <p:cNvPr id="7624" name="TextBox 1217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</a:t>
            </a:r>
          </a:p>
        </p:txBody>
      </p:sp>
      <p:sp>
        <p:nvSpPr>
          <p:cNvPr id="7625" name="TextBox 1218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7626" name="Connector 1219"/>
          <p:cNvSpPr/>
          <p:nvPr/>
        </p:nvSpPr>
        <p:spPr>
          <a:xfrm flipV="1">
            <a:off x="2926080" y="8415912"/>
            <a:ext cx="227234" cy="8800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7" name="Connector 1220"/>
          <p:cNvSpPr/>
          <p:nvPr/>
        </p:nvSpPr>
        <p:spPr>
          <a:xfrm flipV="1">
            <a:off x="3153313" y="8275718"/>
            <a:ext cx="213438" cy="14019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8" name="Connector 1221"/>
          <p:cNvSpPr/>
          <p:nvPr/>
        </p:nvSpPr>
        <p:spPr>
          <a:xfrm flipV="1">
            <a:off x="3366750" y="8092739"/>
            <a:ext cx="202642" cy="182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9" name="Connector 1222"/>
          <p:cNvSpPr/>
          <p:nvPr/>
        </p:nvSpPr>
        <p:spPr>
          <a:xfrm flipV="1">
            <a:off x="3569391" y="7876368"/>
            <a:ext cx="194844" cy="21637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0" name="Connector 1223"/>
          <p:cNvSpPr/>
          <p:nvPr/>
        </p:nvSpPr>
        <p:spPr>
          <a:xfrm flipV="1">
            <a:off x="3764235" y="7636006"/>
            <a:ext cx="190046" cy="240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1" name="Connector 1224"/>
          <p:cNvSpPr/>
          <p:nvPr/>
        </p:nvSpPr>
        <p:spPr>
          <a:xfrm flipV="1">
            <a:off x="3954279" y="7381047"/>
            <a:ext cx="188246" cy="25496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2" name="Connector 1225"/>
          <p:cNvSpPr/>
          <p:nvPr/>
        </p:nvSpPr>
        <p:spPr>
          <a:xfrm flipV="1">
            <a:off x="4142525" y="7120891"/>
            <a:ext cx="189446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3" name="Connector 1226"/>
          <p:cNvSpPr/>
          <p:nvPr/>
        </p:nvSpPr>
        <p:spPr>
          <a:xfrm flipV="1">
            <a:off x="4331969" y="6864932"/>
            <a:ext cx="193644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4" name="Connector 1227"/>
          <p:cNvSpPr/>
          <p:nvPr/>
        </p:nvSpPr>
        <p:spPr>
          <a:xfrm flipV="1">
            <a:off x="4525612" y="6622568"/>
            <a:ext cx="200842" cy="24236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5" name="Connector 1228"/>
          <p:cNvSpPr/>
          <p:nvPr/>
        </p:nvSpPr>
        <p:spPr>
          <a:xfrm flipV="1">
            <a:off x="4726454" y="6403199"/>
            <a:ext cx="211040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6" name="Connector 1229"/>
          <p:cNvSpPr/>
          <p:nvPr/>
        </p:nvSpPr>
        <p:spPr>
          <a:xfrm flipV="1">
            <a:off x="4937492" y="6216220"/>
            <a:ext cx="224236" cy="18698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7" name="Connector 1230"/>
          <p:cNvSpPr/>
          <p:nvPr/>
        </p:nvSpPr>
        <p:spPr>
          <a:xfrm flipV="1">
            <a:off x="5161727" y="6071029"/>
            <a:ext cx="240430" cy="14519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8" name="Connector 1231"/>
          <p:cNvSpPr/>
          <p:nvPr/>
        </p:nvSpPr>
        <p:spPr>
          <a:xfrm flipV="1">
            <a:off x="5402157" y="5977023"/>
            <a:ext cx="259626" cy="9400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9" name="Connector 1232"/>
          <p:cNvSpPr/>
          <p:nvPr/>
        </p:nvSpPr>
        <p:spPr>
          <a:xfrm flipV="1">
            <a:off x="5661781" y="5943599"/>
            <a:ext cx="281819" cy="33424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0" name="Connector 1233"/>
          <p:cNvSpPr/>
          <p:nvPr/>
        </p:nvSpPr>
        <p:spPr>
          <a:xfrm>
            <a:off x="5943600" y="5943600"/>
            <a:ext cx="12344400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1" name="Connector 1234"/>
          <p:cNvSpPr/>
          <p:nvPr/>
        </p:nvSpPr>
        <p:spPr>
          <a:xfrm>
            <a:off x="2926079" y="8503919"/>
            <a:ext cx="227234" cy="866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2" name="Connector 1235"/>
          <p:cNvSpPr/>
          <p:nvPr/>
        </p:nvSpPr>
        <p:spPr>
          <a:xfrm>
            <a:off x="3153312" y="8590594"/>
            <a:ext cx="213439" cy="136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3" name="Connector 1236"/>
          <p:cNvSpPr/>
          <p:nvPr/>
        </p:nvSpPr>
        <p:spPr>
          <a:xfrm>
            <a:off x="3366751" y="8727054"/>
            <a:ext cx="202642" cy="1772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4" name="Connector 1237"/>
          <p:cNvSpPr/>
          <p:nvPr/>
        </p:nvSpPr>
        <p:spPr>
          <a:xfrm>
            <a:off x="3569391" y="8904302"/>
            <a:ext cx="194844" cy="2090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5" name="Connector 1238"/>
          <p:cNvSpPr/>
          <p:nvPr/>
        </p:nvSpPr>
        <p:spPr>
          <a:xfrm>
            <a:off x="3764235" y="9113342"/>
            <a:ext cx="190046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6" name="Connector 1239"/>
          <p:cNvSpPr/>
          <p:nvPr/>
        </p:nvSpPr>
        <p:spPr>
          <a:xfrm>
            <a:off x="3954279" y="9345173"/>
            <a:ext cx="188246" cy="2456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7" name="Connector 1240"/>
          <p:cNvSpPr/>
          <p:nvPr/>
        </p:nvSpPr>
        <p:spPr>
          <a:xfrm>
            <a:off x="4142525" y="9590802"/>
            <a:ext cx="189446" cy="250428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8" name="Connector 1241"/>
          <p:cNvSpPr/>
          <p:nvPr/>
        </p:nvSpPr>
        <p:spPr>
          <a:xfrm>
            <a:off x="4331970" y="9841230"/>
            <a:ext cx="193644" cy="2462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9" name="Connector 1242"/>
          <p:cNvSpPr/>
          <p:nvPr/>
        </p:nvSpPr>
        <p:spPr>
          <a:xfrm>
            <a:off x="4525613" y="10087458"/>
            <a:ext cx="200842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0" name="Connector 1243"/>
          <p:cNvSpPr/>
          <p:nvPr/>
        </p:nvSpPr>
        <p:spPr>
          <a:xfrm>
            <a:off x="4726454" y="10320490"/>
            <a:ext cx="211040" cy="21083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1" name="Connector 1244"/>
          <p:cNvSpPr/>
          <p:nvPr/>
        </p:nvSpPr>
        <p:spPr>
          <a:xfrm>
            <a:off x="4937492" y="10531327"/>
            <a:ext cx="224236" cy="17964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2" name="Connector 1245"/>
          <p:cNvSpPr/>
          <p:nvPr/>
        </p:nvSpPr>
        <p:spPr>
          <a:xfrm>
            <a:off x="5161727" y="10710976"/>
            <a:ext cx="240430" cy="13946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3" name="Connector 1246"/>
          <p:cNvSpPr/>
          <p:nvPr/>
        </p:nvSpPr>
        <p:spPr>
          <a:xfrm>
            <a:off x="5402156" y="10850435"/>
            <a:ext cx="259626" cy="90275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4" name="Connector 1247"/>
          <p:cNvSpPr/>
          <p:nvPr/>
        </p:nvSpPr>
        <p:spPr>
          <a:xfrm>
            <a:off x="5661781" y="10940708"/>
            <a:ext cx="281819" cy="3209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5" name="Connector 1248"/>
          <p:cNvSpPr/>
          <p:nvPr/>
        </p:nvSpPr>
        <p:spPr>
          <a:xfrm>
            <a:off x="5943600" y="10972800"/>
            <a:ext cx="12344400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6" name="Oval 1249"/>
          <p:cNvSpPr/>
          <p:nvPr/>
        </p:nvSpPr>
        <p:spPr>
          <a:xfrm>
            <a:off x="2148839" y="7726680"/>
            <a:ext cx="1554481" cy="1554481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57" name="Oval 1250"/>
          <p:cNvSpPr/>
          <p:nvPr/>
        </p:nvSpPr>
        <p:spPr>
          <a:xfrm>
            <a:off x="2286000" y="7863840"/>
            <a:ext cx="1280161" cy="128016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58" name="TextBox 1251"/>
          <p:cNvSpPr txBox="1"/>
          <p:nvPr/>
        </p:nvSpPr>
        <p:spPr>
          <a:xfrm>
            <a:off x="640080" y="9281159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7659" name="TextBox 1252"/>
          <p:cNvSpPr txBox="1"/>
          <p:nvPr/>
        </p:nvSpPr>
        <p:spPr>
          <a:xfrm>
            <a:off x="640080" y="9646919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7660" name="Oval 1253"/>
          <p:cNvSpPr/>
          <p:nvPr/>
        </p:nvSpPr>
        <p:spPr>
          <a:xfrm>
            <a:off x="5646420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1" name="TextBox 1254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662" name="TextBox 1255"/>
          <p:cNvSpPr txBox="1"/>
          <p:nvPr/>
        </p:nvSpPr>
        <p:spPr>
          <a:xfrm>
            <a:off x="36576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7663" name="Oval 1256"/>
          <p:cNvSpPr/>
          <p:nvPr/>
        </p:nvSpPr>
        <p:spPr>
          <a:xfrm>
            <a:off x="97612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4" name="TextBox 1257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665" name="TextBox 1258"/>
          <p:cNvSpPr txBox="1"/>
          <p:nvPr/>
        </p:nvSpPr>
        <p:spPr>
          <a:xfrm>
            <a:off x="77724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Financing</a:t>
            </a:r>
          </a:p>
        </p:txBody>
      </p:sp>
      <p:sp>
        <p:nvSpPr>
          <p:cNvPr id="7666" name="Oval 1259"/>
          <p:cNvSpPr/>
          <p:nvPr/>
        </p:nvSpPr>
        <p:spPr>
          <a:xfrm>
            <a:off x="138760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7" name="TextBox 1260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668" name="TextBox 1261"/>
          <p:cNvSpPr txBox="1"/>
          <p:nvPr/>
        </p:nvSpPr>
        <p:spPr>
          <a:xfrm>
            <a:off x="118872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Apply Finance</a:t>
            </a:r>
          </a:p>
        </p:txBody>
      </p:sp>
      <p:sp>
        <p:nvSpPr>
          <p:cNvPr id="7669" name="Oval 1262"/>
          <p:cNvSpPr/>
          <p:nvPr/>
        </p:nvSpPr>
        <p:spPr>
          <a:xfrm>
            <a:off x="17990819" y="5646420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0" name="TextBox 1263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71" name="TextBox 1264"/>
          <p:cNvSpPr txBox="1"/>
          <p:nvPr/>
        </p:nvSpPr>
        <p:spPr>
          <a:xfrm>
            <a:off x="16002000" y="521207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Requests</a:t>
            </a:r>
          </a:p>
        </p:txBody>
      </p:sp>
      <p:sp>
        <p:nvSpPr>
          <p:cNvPr id="7672" name="Oval 1265"/>
          <p:cNvSpPr/>
          <p:nvPr/>
        </p:nvSpPr>
        <p:spPr>
          <a:xfrm>
            <a:off x="5646420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3" name="TextBox 1266"/>
          <p:cNvSpPr txBox="1"/>
          <p:nvPr/>
        </p:nvSpPr>
        <p:spPr>
          <a:xfrm>
            <a:off x="36576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674" name="TextBox 1267"/>
          <p:cNvSpPr txBox="1"/>
          <p:nvPr/>
        </p:nvSpPr>
        <p:spPr>
          <a:xfrm>
            <a:off x="36576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7675" name="Oval 1268"/>
          <p:cNvSpPr/>
          <p:nvPr/>
        </p:nvSpPr>
        <p:spPr>
          <a:xfrm>
            <a:off x="17990819" y="10675619"/>
            <a:ext cx="594361" cy="594361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6" name="TextBox 1269"/>
          <p:cNvSpPr txBox="1"/>
          <p:nvPr/>
        </p:nvSpPr>
        <p:spPr>
          <a:xfrm>
            <a:off x="16002000" y="11475719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677" name="TextBox 1270"/>
          <p:cNvSpPr txBox="1"/>
          <p:nvPr/>
        </p:nvSpPr>
        <p:spPr>
          <a:xfrm>
            <a:off x="16002000" y="1179575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Murabaha Portfolio</a:t>
            </a:r>
          </a:p>
        </p:txBody>
      </p:sp>
      <p:sp>
        <p:nvSpPr>
          <p:cNvPr id="7678" name="Rounded Rectangle 1271"/>
          <p:cNvSpPr/>
          <p:nvPr/>
        </p:nvSpPr>
        <p:spPr>
          <a:xfrm>
            <a:off x="19659600" y="4389120"/>
            <a:ext cx="3474721" cy="14630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9" name="Connector 1272"/>
          <p:cNvSpPr/>
          <p:nvPr/>
        </p:nvSpPr>
        <p:spPr>
          <a:xfrm>
            <a:off x="19933919" y="4800600"/>
            <a:ext cx="640081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0" name="TextBox 1273"/>
          <p:cNvSpPr txBox="1"/>
          <p:nvPr/>
        </p:nvSpPr>
        <p:spPr>
          <a:xfrm>
            <a:off x="20756880" y="46634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7681" name="Connector 1274"/>
          <p:cNvSpPr/>
          <p:nvPr/>
        </p:nvSpPr>
        <p:spPr>
          <a:xfrm>
            <a:off x="19933919" y="5486400"/>
            <a:ext cx="640081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2" name="TextBox 1275"/>
          <p:cNvSpPr txBox="1"/>
          <p:nvPr/>
        </p:nvSpPr>
        <p:spPr>
          <a:xfrm>
            <a:off x="20756880" y="5349240"/>
            <a:ext cx="2743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685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109 / 111</a:t>
            </a:r>
          </a:p>
        </p:txBody>
      </p:sp>
      <p:sp>
        <p:nvSpPr>
          <p:cNvPr id="7686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  ·  CAPABILITY ASSESSMENT</a:t>
            </a:r>
          </a:p>
        </p:txBody>
      </p:sp>
      <p:sp>
        <p:nvSpPr>
          <p:cNvPr id="7687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LMS Creation</a:t>
            </a:r>
          </a:p>
        </p:txBody>
      </p:sp>
      <p:sp>
        <p:nvSpPr>
          <p:cNvPr id="7688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689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690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691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692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693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694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695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69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7" name="TextBox 14"/>
          <p:cNvSpPr txBox="1"/>
          <p:nvPr/>
        </p:nvSpPr>
        <p:spPr>
          <a:xfrm>
            <a:off x="1517903" y="568832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98" name="TextBox 15"/>
          <p:cNvSpPr txBox="1"/>
          <p:nvPr/>
        </p:nvSpPr>
        <p:spPr>
          <a:xfrm>
            <a:off x="2600095" y="568832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Select Murabaha</a:t>
            </a:r>
          </a:p>
        </p:txBody>
      </p:sp>
      <p:sp>
        <p:nvSpPr>
          <p:cNvPr id="7699" name="TextBox 16"/>
          <p:cNvSpPr txBox="1"/>
          <p:nvPr/>
        </p:nvSpPr>
        <p:spPr>
          <a:xfrm>
            <a:off x="9093250" y="568832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00" name="Connector 17"/>
          <p:cNvSpPr/>
          <p:nvPr/>
        </p:nvSpPr>
        <p:spPr>
          <a:xfrm>
            <a:off x="1371600" y="616457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1" name="TextBox 18"/>
          <p:cNvSpPr txBox="1"/>
          <p:nvPr/>
        </p:nvSpPr>
        <p:spPr>
          <a:xfrm>
            <a:off x="1517903" y="627507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02" name="TextBox 19"/>
          <p:cNvSpPr txBox="1"/>
          <p:nvPr/>
        </p:nvSpPr>
        <p:spPr>
          <a:xfrm>
            <a:off x="2600095" y="627507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Requested Amount</a:t>
            </a:r>
          </a:p>
        </p:txBody>
      </p:sp>
      <p:sp>
        <p:nvSpPr>
          <p:cNvPr id="7703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04" name="Connector 21"/>
          <p:cNvSpPr/>
          <p:nvPr/>
        </p:nvSpPr>
        <p:spPr>
          <a:xfrm>
            <a:off x="1371600" y="67513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5" name="TextBox 22"/>
          <p:cNvSpPr txBox="1"/>
          <p:nvPr/>
        </p:nvSpPr>
        <p:spPr>
          <a:xfrm>
            <a:off x="1517903" y="68618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06" name="TextBox 23"/>
          <p:cNvSpPr txBox="1"/>
          <p:nvPr/>
        </p:nvSpPr>
        <p:spPr>
          <a:xfrm>
            <a:off x="2600095" y="68618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Select Portfolio</a:t>
            </a:r>
          </a:p>
        </p:txBody>
      </p:sp>
      <p:sp>
        <p:nvSpPr>
          <p:cNvPr id="7707" name="TextBox 24"/>
          <p:cNvSpPr txBox="1"/>
          <p:nvPr/>
        </p:nvSpPr>
        <p:spPr>
          <a:xfrm>
            <a:off x="9093250" y="68618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08" name="Connector 25"/>
          <p:cNvSpPr/>
          <p:nvPr/>
        </p:nvSpPr>
        <p:spPr>
          <a:xfrm>
            <a:off x="1371600" y="73380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9" name="TextBox 26"/>
          <p:cNvSpPr txBox="1"/>
          <p:nvPr/>
        </p:nvSpPr>
        <p:spPr>
          <a:xfrm>
            <a:off x="1517903" y="74485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10" name="TextBox 27"/>
          <p:cNvSpPr txBox="1"/>
          <p:nvPr/>
        </p:nvSpPr>
        <p:spPr>
          <a:xfrm>
            <a:off x="2600095" y="74485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Suitability</a:t>
            </a:r>
          </a:p>
        </p:txBody>
      </p:sp>
      <p:sp>
        <p:nvSpPr>
          <p:cNvPr id="7711" name="TextBox 28"/>
          <p:cNvSpPr txBox="1"/>
          <p:nvPr/>
        </p:nvSpPr>
        <p:spPr>
          <a:xfrm>
            <a:off x="9093250" y="74485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12" name="Connector 29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3" name="TextBox 30"/>
          <p:cNvSpPr txBox="1"/>
          <p:nvPr/>
        </p:nvSpPr>
        <p:spPr>
          <a:xfrm>
            <a:off x="1517903" y="80352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714" name="TextBox 31"/>
          <p:cNvSpPr txBox="1"/>
          <p:nvPr/>
        </p:nvSpPr>
        <p:spPr>
          <a:xfrm>
            <a:off x="2600095" y="80352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Murabaha Requests</a:t>
            </a:r>
          </a:p>
        </p:txBody>
      </p:sp>
      <p:sp>
        <p:nvSpPr>
          <p:cNvPr id="7715" name="TextBox 32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16" name="Connector 33"/>
          <p:cNvSpPr/>
          <p:nvPr/>
        </p:nvSpPr>
        <p:spPr>
          <a:xfrm>
            <a:off x="1371600" y="85115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7" name="TextBox 34"/>
          <p:cNvSpPr txBox="1"/>
          <p:nvPr/>
        </p:nvSpPr>
        <p:spPr>
          <a:xfrm>
            <a:off x="1517903" y="86220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718" name="TextBox 35"/>
          <p:cNvSpPr txBox="1"/>
          <p:nvPr/>
        </p:nvSpPr>
        <p:spPr>
          <a:xfrm>
            <a:off x="2600095" y="86220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Get New Finance</a:t>
            </a:r>
          </a:p>
        </p:txBody>
      </p:sp>
      <p:sp>
        <p:nvSpPr>
          <p:cNvPr id="7719" name="TextBox 3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20" name="Connector 37"/>
          <p:cNvSpPr/>
          <p:nvPr/>
        </p:nvSpPr>
        <p:spPr>
          <a:xfrm>
            <a:off x="1371600" y="90982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1" name="TextBox 38"/>
          <p:cNvSpPr txBox="1"/>
          <p:nvPr/>
        </p:nvSpPr>
        <p:spPr>
          <a:xfrm>
            <a:off x="1517903" y="92087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722" name="TextBox 39"/>
          <p:cNvSpPr txBox="1"/>
          <p:nvPr/>
        </p:nvSpPr>
        <p:spPr>
          <a:xfrm>
            <a:off x="2600095" y="92087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Collaterals Submission</a:t>
            </a:r>
          </a:p>
        </p:txBody>
      </p:sp>
      <p:sp>
        <p:nvSpPr>
          <p:cNvPr id="7723" name="TextBox 40"/>
          <p:cNvSpPr txBox="1"/>
          <p:nvPr/>
        </p:nvSpPr>
        <p:spPr>
          <a:xfrm>
            <a:off x="9093250" y="92087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24" name="Connector 41"/>
          <p:cNvSpPr/>
          <p:nvPr/>
        </p:nvSpPr>
        <p:spPr>
          <a:xfrm>
            <a:off x="1371600" y="96850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5" name="TextBox 42"/>
          <p:cNvSpPr txBox="1"/>
          <p:nvPr/>
        </p:nvSpPr>
        <p:spPr>
          <a:xfrm>
            <a:off x="1517903" y="979550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726" name="TextBox 43"/>
          <p:cNvSpPr txBox="1"/>
          <p:nvPr/>
        </p:nvSpPr>
        <p:spPr>
          <a:xfrm>
            <a:off x="2600095" y="979550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Finance Allocation</a:t>
            </a:r>
          </a:p>
        </p:txBody>
      </p:sp>
      <p:sp>
        <p:nvSpPr>
          <p:cNvPr id="7727" name="TextBox 44"/>
          <p:cNvSpPr txBox="1"/>
          <p:nvPr/>
        </p:nvSpPr>
        <p:spPr>
          <a:xfrm>
            <a:off x="9093250" y="979550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28" name="Connector 45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9" name="TextBox 46"/>
          <p:cNvSpPr txBox="1"/>
          <p:nvPr/>
        </p:nvSpPr>
        <p:spPr>
          <a:xfrm>
            <a:off x="1517903" y="1038225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730" name="TextBox 47"/>
          <p:cNvSpPr txBox="1"/>
          <p:nvPr/>
        </p:nvSpPr>
        <p:spPr>
          <a:xfrm>
            <a:off x="2600095" y="1038225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Opening Portfolio</a:t>
            </a:r>
          </a:p>
        </p:txBody>
      </p:sp>
      <p:sp>
        <p:nvSpPr>
          <p:cNvPr id="7731" name="TextBox 48"/>
          <p:cNvSpPr txBox="1"/>
          <p:nvPr/>
        </p:nvSpPr>
        <p:spPr>
          <a:xfrm>
            <a:off x="9093250" y="1038225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32" name="Connector 49"/>
          <p:cNvSpPr/>
          <p:nvPr/>
        </p:nvSpPr>
        <p:spPr>
          <a:xfrm>
            <a:off x="1371600" y="108585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3" name="TextBox 50"/>
          <p:cNvSpPr txBox="1"/>
          <p:nvPr/>
        </p:nvSpPr>
        <p:spPr>
          <a:xfrm>
            <a:off x="1517903" y="1096899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734" name="TextBox 51"/>
          <p:cNvSpPr txBox="1"/>
          <p:nvPr/>
        </p:nvSpPr>
        <p:spPr>
          <a:xfrm>
            <a:off x="2600095" y="1096899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Submit PO</a:t>
            </a:r>
          </a:p>
        </p:txBody>
      </p:sp>
      <p:sp>
        <p:nvSpPr>
          <p:cNvPr id="7735" name="TextBox 52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36" name="Connector 53"/>
          <p:cNvSpPr/>
          <p:nvPr/>
        </p:nvSpPr>
        <p:spPr>
          <a:xfrm>
            <a:off x="1371600" y="1144524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7" name="TextBox 54"/>
          <p:cNvSpPr txBox="1"/>
          <p:nvPr/>
        </p:nvSpPr>
        <p:spPr>
          <a:xfrm>
            <a:off x="1517903" y="11555730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738" name="TextBox 55"/>
          <p:cNvSpPr txBox="1"/>
          <p:nvPr/>
        </p:nvSpPr>
        <p:spPr>
          <a:xfrm>
            <a:off x="2600095" y="1155573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Purchasing Stocks</a:t>
            </a:r>
          </a:p>
        </p:txBody>
      </p:sp>
      <p:sp>
        <p:nvSpPr>
          <p:cNvPr id="7739" name="TextBox 5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40" name="Connector 57"/>
          <p:cNvSpPr/>
          <p:nvPr/>
        </p:nvSpPr>
        <p:spPr>
          <a:xfrm>
            <a:off x="1371600" y="12031980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1" name="TextBox 58"/>
          <p:cNvSpPr txBox="1"/>
          <p:nvPr/>
        </p:nvSpPr>
        <p:spPr>
          <a:xfrm>
            <a:off x="1517903" y="1214246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742" name="TextBox 59"/>
          <p:cNvSpPr txBox="1"/>
          <p:nvPr/>
        </p:nvSpPr>
        <p:spPr>
          <a:xfrm>
            <a:off x="2600095" y="1214246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Accept Contract</a:t>
            </a:r>
          </a:p>
        </p:txBody>
      </p:sp>
      <p:sp>
        <p:nvSpPr>
          <p:cNvPr id="7743" name="TextBox 60"/>
          <p:cNvSpPr txBox="1"/>
          <p:nvPr/>
        </p:nvSpPr>
        <p:spPr>
          <a:xfrm>
            <a:off x="9093250" y="121424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44" name="Connector 61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7747" name="TextBox 2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110 / 111</a:t>
            </a:r>
          </a:p>
        </p:txBody>
      </p:sp>
      <p:sp>
        <p:nvSpPr>
          <p:cNvPr id="7748" name="TextBox 3"/>
          <p:cNvSpPr txBox="1"/>
          <p:nvPr/>
        </p:nvSpPr>
        <p:spPr>
          <a:xfrm>
            <a:off x="1371600" y="2377439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  ·  CAPABILITY ASSESSMENT</a:t>
            </a:r>
          </a:p>
        </p:txBody>
      </p:sp>
      <p:sp>
        <p:nvSpPr>
          <p:cNvPr id="7749" name="TextBox 4"/>
          <p:cNvSpPr txBox="1"/>
          <p:nvPr/>
        </p:nvSpPr>
        <p:spPr>
          <a:xfrm>
            <a:off x="1371600" y="2834639"/>
            <a:ext cx="20116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LMS capability</a:t>
            </a:r>
          </a:p>
        </p:txBody>
      </p:sp>
      <p:sp>
        <p:nvSpPr>
          <p:cNvPr id="7750" name="TextBox 5"/>
          <p:cNvSpPr txBox="1"/>
          <p:nvPr/>
        </p:nvSpPr>
        <p:spPr>
          <a:xfrm>
            <a:off x="1517903" y="5166359"/>
            <a:ext cx="78958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751" name="TextBox 6"/>
          <p:cNvSpPr txBox="1"/>
          <p:nvPr/>
        </p:nvSpPr>
        <p:spPr>
          <a:xfrm>
            <a:off x="2600095" y="5166359"/>
            <a:ext cx="620054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752" name="TextBox 7"/>
          <p:cNvSpPr txBox="1"/>
          <p:nvPr/>
        </p:nvSpPr>
        <p:spPr>
          <a:xfrm>
            <a:off x="9093250" y="5166359"/>
            <a:ext cx="165533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753" name="TextBox 8"/>
          <p:cNvSpPr txBox="1"/>
          <p:nvPr/>
        </p:nvSpPr>
        <p:spPr>
          <a:xfrm>
            <a:off x="11041197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754" name="TextBox 9"/>
          <p:cNvSpPr txBox="1"/>
          <p:nvPr/>
        </p:nvSpPr>
        <p:spPr>
          <a:xfrm>
            <a:off x="12772704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755" name="TextBox 10"/>
          <p:cNvSpPr txBox="1"/>
          <p:nvPr/>
        </p:nvSpPr>
        <p:spPr>
          <a:xfrm>
            <a:off x="14504212" y="5166359"/>
            <a:ext cx="40361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756" name="TextBox 11"/>
          <p:cNvSpPr txBox="1"/>
          <p:nvPr/>
        </p:nvSpPr>
        <p:spPr>
          <a:xfrm>
            <a:off x="18832982" y="5166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757" name="TextBox 12"/>
          <p:cNvSpPr txBox="1"/>
          <p:nvPr/>
        </p:nvSpPr>
        <p:spPr>
          <a:xfrm>
            <a:off x="21430243" y="5166359"/>
            <a:ext cx="14389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758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9" name="TextBox 14"/>
          <p:cNvSpPr txBox="1"/>
          <p:nvPr/>
        </p:nvSpPr>
        <p:spPr>
          <a:xfrm>
            <a:off x="1517903" y="5629655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760" name="TextBox 15"/>
          <p:cNvSpPr txBox="1"/>
          <p:nvPr/>
        </p:nvSpPr>
        <p:spPr>
          <a:xfrm>
            <a:off x="2600095" y="5629655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Saudi Market</a:t>
            </a:r>
          </a:p>
        </p:txBody>
      </p:sp>
      <p:sp>
        <p:nvSpPr>
          <p:cNvPr id="7761" name="TextBox 16"/>
          <p:cNvSpPr txBox="1"/>
          <p:nvPr/>
        </p:nvSpPr>
        <p:spPr>
          <a:xfrm>
            <a:off x="9093250" y="562965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62" name="Connector 17"/>
          <p:cNvSpPr/>
          <p:nvPr/>
        </p:nvSpPr>
        <p:spPr>
          <a:xfrm>
            <a:off x="1371600" y="604723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3" name="TextBox 18"/>
          <p:cNvSpPr txBox="1"/>
          <p:nvPr/>
        </p:nvSpPr>
        <p:spPr>
          <a:xfrm>
            <a:off x="1517903" y="609904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64" name="TextBox 19"/>
          <p:cNvSpPr txBox="1"/>
          <p:nvPr/>
        </p:nvSpPr>
        <p:spPr>
          <a:xfrm>
            <a:off x="2600095" y="609904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7765" name="TextBox 20"/>
          <p:cNvSpPr txBox="1"/>
          <p:nvPr/>
        </p:nvSpPr>
        <p:spPr>
          <a:xfrm>
            <a:off x="9093250" y="609904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66" name="Connector 21"/>
          <p:cNvSpPr/>
          <p:nvPr/>
        </p:nvSpPr>
        <p:spPr>
          <a:xfrm>
            <a:off x="1371600" y="65166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7" name="TextBox 22"/>
          <p:cNvSpPr txBox="1"/>
          <p:nvPr/>
        </p:nvSpPr>
        <p:spPr>
          <a:xfrm>
            <a:off x="1517903" y="656844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68" name="TextBox 23"/>
          <p:cNvSpPr txBox="1"/>
          <p:nvPr/>
        </p:nvSpPr>
        <p:spPr>
          <a:xfrm>
            <a:off x="2600095" y="6568440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7769" name="TextBox 24"/>
          <p:cNvSpPr txBox="1"/>
          <p:nvPr/>
        </p:nvSpPr>
        <p:spPr>
          <a:xfrm>
            <a:off x="9093250" y="65684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70" name="Connector 25"/>
          <p:cNvSpPr/>
          <p:nvPr/>
        </p:nvSpPr>
        <p:spPr>
          <a:xfrm>
            <a:off x="1371600" y="698601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1" name="TextBox 26"/>
          <p:cNvSpPr txBox="1"/>
          <p:nvPr/>
        </p:nvSpPr>
        <p:spPr>
          <a:xfrm>
            <a:off x="1517903" y="7037831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72" name="TextBox 27"/>
          <p:cNvSpPr txBox="1"/>
          <p:nvPr/>
        </p:nvSpPr>
        <p:spPr>
          <a:xfrm>
            <a:off x="2600095" y="7037831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Crowed Fund</a:t>
            </a:r>
          </a:p>
        </p:txBody>
      </p:sp>
      <p:sp>
        <p:nvSpPr>
          <p:cNvPr id="7773" name="TextBox 28"/>
          <p:cNvSpPr txBox="1"/>
          <p:nvPr/>
        </p:nvSpPr>
        <p:spPr>
          <a:xfrm>
            <a:off x="9093250" y="703783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74" name="Connector 29"/>
          <p:cNvSpPr/>
          <p:nvPr/>
        </p:nvSpPr>
        <p:spPr>
          <a:xfrm>
            <a:off x="1371600" y="745540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5" name="TextBox 30"/>
          <p:cNvSpPr txBox="1"/>
          <p:nvPr/>
        </p:nvSpPr>
        <p:spPr>
          <a:xfrm>
            <a:off x="1517903" y="750722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776" name="TextBox 31"/>
          <p:cNvSpPr txBox="1"/>
          <p:nvPr/>
        </p:nvSpPr>
        <p:spPr>
          <a:xfrm>
            <a:off x="2600095" y="750722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</a:t>
            </a:r>
          </a:p>
        </p:txBody>
      </p:sp>
      <p:sp>
        <p:nvSpPr>
          <p:cNvPr id="7777" name="TextBox 32"/>
          <p:cNvSpPr txBox="1"/>
          <p:nvPr/>
        </p:nvSpPr>
        <p:spPr>
          <a:xfrm>
            <a:off x="9093250" y="750722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78" name="Connector 33"/>
          <p:cNvSpPr/>
          <p:nvPr/>
        </p:nvSpPr>
        <p:spPr>
          <a:xfrm>
            <a:off x="1371600" y="79248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9" name="TextBox 34"/>
          <p:cNvSpPr txBox="1"/>
          <p:nvPr/>
        </p:nvSpPr>
        <p:spPr>
          <a:xfrm>
            <a:off x="1517903" y="797661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780" name="TextBox 35"/>
          <p:cNvSpPr txBox="1"/>
          <p:nvPr/>
        </p:nvSpPr>
        <p:spPr>
          <a:xfrm>
            <a:off x="2600095" y="797661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Early settlement</a:t>
            </a:r>
          </a:p>
        </p:txBody>
      </p:sp>
      <p:sp>
        <p:nvSpPr>
          <p:cNvPr id="7781" name="TextBox 36"/>
          <p:cNvSpPr txBox="1"/>
          <p:nvPr/>
        </p:nvSpPr>
        <p:spPr>
          <a:xfrm>
            <a:off x="9093250" y="797661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82" name="Connector 37"/>
          <p:cNvSpPr/>
          <p:nvPr/>
        </p:nvSpPr>
        <p:spPr>
          <a:xfrm>
            <a:off x="1371600" y="839419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3" name="TextBox 38"/>
          <p:cNvSpPr txBox="1"/>
          <p:nvPr/>
        </p:nvSpPr>
        <p:spPr>
          <a:xfrm>
            <a:off x="1517903" y="8446007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784" name="TextBox 39"/>
          <p:cNvSpPr txBox="1"/>
          <p:nvPr/>
        </p:nvSpPr>
        <p:spPr>
          <a:xfrm>
            <a:off x="2600095" y="8446007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Renwal</a:t>
            </a:r>
          </a:p>
        </p:txBody>
      </p:sp>
      <p:sp>
        <p:nvSpPr>
          <p:cNvPr id="7785" name="TextBox 40"/>
          <p:cNvSpPr txBox="1"/>
          <p:nvPr/>
        </p:nvSpPr>
        <p:spPr>
          <a:xfrm>
            <a:off x="9093250" y="8446007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86" name="Connector 41"/>
          <p:cNvSpPr/>
          <p:nvPr/>
        </p:nvSpPr>
        <p:spPr>
          <a:xfrm>
            <a:off x="1371600" y="88635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7" name="TextBox 42"/>
          <p:cNvSpPr txBox="1"/>
          <p:nvPr/>
        </p:nvSpPr>
        <p:spPr>
          <a:xfrm>
            <a:off x="1517903" y="8915400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788" name="TextBox 43"/>
          <p:cNvSpPr txBox="1"/>
          <p:nvPr/>
        </p:nvSpPr>
        <p:spPr>
          <a:xfrm>
            <a:off x="2600095" y="8915400"/>
            <a:ext cx="620054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Request expiation rate</a:t>
            </a:r>
          </a:p>
        </p:txBody>
      </p:sp>
      <p:sp>
        <p:nvSpPr>
          <p:cNvPr id="7789" name="TextBox 44"/>
          <p:cNvSpPr txBox="1"/>
          <p:nvPr/>
        </p:nvSpPr>
        <p:spPr>
          <a:xfrm>
            <a:off x="9093250" y="89154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90" name="Connector 45"/>
          <p:cNvSpPr/>
          <p:nvPr/>
        </p:nvSpPr>
        <p:spPr>
          <a:xfrm>
            <a:off x="1371600" y="93329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1" name="TextBox 46"/>
          <p:cNvSpPr txBox="1"/>
          <p:nvPr/>
        </p:nvSpPr>
        <p:spPr>
          <a:xfrm>
            <a:off x="1517903" y="9384792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792" name="TextBox 47"/>
          <p:cNvSpPr txBox="1"/>
          <p:nvPr/>
        </p:nvSpPr>
        <p:spPr>
          <a:xfrm>
            <a:off x="2600095" y="938479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 approval</a:t>
            </a:r>
          </a:p>
        </p:txBody>
      </p:sp>
      <p:sp>
        <p:nvSpPr>
          <p:cNvPr id="7793" name="TextBox 48"/>
          <p:cNvSpPr txBox="1"/>
          <p:nvPr/>
        </p:nvSpPr>
        <p:spPr>
          <a:xfrm>
            <a:off x="9093250" y="93847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94" name="Connector 49"/>
          <p:cNvSpPr/>
          <p:nvPr/>
        </p:nvSpPr>
        <p:spPr>
          <a:xfrm>
            <a:off x="1371600" y="980236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5" name="TextBox 50"/>
          <p:cNvSpPr txBox="1"/>
          <p:nvPr/>
        </p:nvSpPr>
        <p:spPr>
          <a:xfrm>
            <a:off x="1517903" y="985418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796" name="TextBox 51"/>
          <p:cNvSpPr txBox="1"/>
          <p:nvPr/>
        </p:nvSpPr>
        <p:spPr>
          <a:xfrm>
            <a:off x="2600095" y="985418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Collrotal form other product</a:t>
            </a:r>
          </a:p>
        </p:txBody>
      </p:sp>
      <p:sp>
        <p:nvSpPr>
          <p:cNvPr id="7797" name="TextBox 52"/>
          <p:cNvSpPr txBox="1"/>
          <p:nvPr/>
        </p:nvSpPr>
        <p:spPr>
          <a:xfrm>
            <a:off x="9093250" y="9854183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98" name="Connector 53"/>
          <p:cNvSpPr/>
          <p:nvPr/>
        </p:nvSpPr>
        <p:spPr>
          <a:xfrm>
            <a:off x="1371600" y="102717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9" name="TextBox 54"/>
          <p:cNvSpPr txBox="1"/>
          <p:nvPr/>
        </p:nvSpPr>
        <p:spPr>
          <a:xfrm>
            <a:off x="1517903" y="10323576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800" name="TextBox 55"/>
          <p:cNvSpPr txBox="1"/>
          <p:nvPr/>
        </p:nvSpPr>
        <p:spPr>
          <a:xfrm>
            <a:off x="2600095" y="10323576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Leverage instantly</a:t>
            </a:r>
          </a:p>
        </p:txBody>
      </p:sp>
      <p:sp>
        <p:nvSpPr>
          <p:cNvPr id="7801" name="TextBox 56"/>
          <p:cNvSpPr txBox="1"/>
          <p:nvPr/>
        </p:nvSpPr>
        <p:spPr>
          <a:xfrm>
            <a:off x="9093250" y="103235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02" name="Connector 57"/>
          <p:cNvSpPr/>
          <p:nvPr/>
        </p:nvSpPr>
        <p:spPr>
          <a:xfrm>
            <a:off x="1371600" y="107411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3" name="TextBox 58"/>
          <p:cNvSpPr txBox="1"/>
          <p:nvPr/>
        </p:nvSpPr>
        <p:spPr>
          <a:xfrm>
            <a:off x="1517903" y="10792968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804" name="TextBox 59"/>
          <p:cNvSpPr txBox="1"/>
          <p:nvPr/>
        </p:nvSpPr>
        <p:spPr>
          <a:xfrm>
            <a:off x="2600095" y="10792968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 approved</a:t>
            </a:r>
          </a:p>
        </p:txBody>
      </p:sp>
      <p:sp>
        <p:nvSpPr>
          <p:cNvPr id="7805" name="TextBox 60"/>
          <p:cNvSpPr txBox="1"/>
          <p:nvPr/>
        </p:nvSpPr>
        <p:spPr>
          <a:xfrm>
            <a:off x="9093250" y="1079296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06" name="TextBox 61"/>
          <p:cNvSpPr txBox="1"/>
          <p:nvPr/>
        </p:nvSpPr>
        <p:spPr>
          <a:xfrm>
            <a:off x="18832982" y="10792968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ARCD-86236</a:t>
            </a:r>
          </a:p>
        </p:txBody>
      </p:sp>
      <p:sp>
        <p:nvSpPr>
          <p:cNvPr id="7807" name="Connector 62"/>
          <p:cNvSpPr/>
          <p:nvPr/>
        </p:nvSpPr>
        <p:spPr>
          <a:xfrm>
            <a:off x="1371600" y="1121054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8" name="TextBox 63"/>
          <p:cNvSpPr txBox="1"/>
          <p:nvPr/>
        </p:nvSpPr>
        <p:spPr>
          <a:xfrm>
            <a:off x="1517903" y="11262359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809" name="TextBox 64"/>
          <p:cNvSpPr txBox="1"/>
          <p:nvPr/>
        </p:nvSpPr>
        <p:spPr>
          <a:xfrm>
            <a:off x="2600095" y="11262359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Instant opening OD margin lending for all clients</a:t>
            </a:r>
          </a:p>
        </p:txBody>
      </p:sp>
      <p:sp>
        <p:nvSpPr>
          <p:cNvPr id="7810" name="TextBox 65"/>
          <p:cNvSpPr txBox="1"/>
          <p:nvPr/>
        </p:nvSpPr>
        <p:spPr>
          <a:xfrm>
            <a:off x="9093250" y="1126235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11" name="TextBox 66"/>
          <p:cNvSpPr txBox="1"/>
          <p:nvPr/>
        </p:nvSpPr>
        <p:spPr>
          <a:xfrm>
            <a:off x="18832982" y="11262359"/>
            <a:ext cx="2304654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ARCD-85843</a:t>
            </a:r>
          </a:p>
        </p:txBody>
      </p:sp>
      <p:sp>
        <p:nvSpPr>
          <p:cNvPr id="7812" name="Connector 67"/>
          <p:cNvSpPr/>
          <p:nvPr/>
        </p:nvSpPr>
        <p:spPr>
          <a:xfrm>
            <a:off x="1371600" y="116799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3" name="TextBox 68"/>
          <p:cNvSpPr txBox="1"/>
          <p:nvPr/>
        </p:nvSpPr>
        <p:spPr>
          <a:xfrm>
            <a:off x="1517903" y="11731752"/>
            <a:ext cx="789585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814" name="TextBox 69"/>
          <p:cNvSpPr txBox="1"/>
          <p:nvPr/>
        </p:nvSpPr>
        <p:spPr>
          <a:xfrm>
            <a:off x="2600095" y="11731752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Audit trail</a:t>
            </a:r>
          </a:p>
        </p:txBody>
      </p:sp>
      <p:sp>
        <p:nvSpPr>
          <p:cNvPr id="7815" name="TextBox 70"/>
          <p:cNvSpPr txBox="1"/>
          <p:nvPr/>
        </p:nvSpPr>
        <p:spPr>
          <a:xfrm>
            <a:off x="9093250" y="117317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16" name="TextBox 71"/>
          <p:cNvSpPr txBox="1"/>
          <p:nvPr/>
        </p:nvSpPr>
        <p:spPr>
          <a:xfrm>
            <a:off x="18832982" y="11731752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ARCD-2639</a:t>
            </a:r>
          </a:p>
        </p:txBody>
      </p:sp>
      <p:sp>
        <p:nvSpPr>
          <p:cNvPr id="7817" name="Connector 72"/>
          <p:cNvSpPr/>
          <p:nvPr/>
        </p:nvSpPr>
        <p:spPr>
          <a:xfrm>
            <a:off x="1371600" y="1214932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8" name="TextBox 73"/>
          <p:cNvSpPr txBox="1"/>
          <p:nvPr/>
        </p:nvSpPr>
        <p:spPr>
          <a:xfrm>
            <a:off x="1517903" y="12201143"/>
            <a:ext cx="789585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819" name="TextBox 74"/>
          <p:cNvSpPr txBox="1"/>
          <p:nvPr/>
        </p:nvSpPr>
        <p:spPr>
          <a:xfrm>
            <a:off x="2600095" y="12201143"/>
            <a:ext cx="620054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Purchase order automation</a:t>
            </a:r>
          </a:p>
        </p:txBody>
      </p:sp>
      <p:sp>
        <p:nvSpPr>
          <p:cNvPr id="7820" name="TextBox 75"/>
          <p:cNvSpPr txBox="1"/>
          <p:nvPr/>
        </p:nvSpPr>
        <p:spPr>
          <a:xfrm>
            <a:off x="9093250" y="1220114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21" name="TextBox 76"/>
          <p:cNvSpPr txBox="1"/>
          <p:nvPr/>
        </p:nvSpPr>
        <p:spPr>
          <a:xfrm>
            <a:off x="18832982" y="12201143"/>
            <a:ext cx="23046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ARCD-2638</a:t>
            </a:r>
          </a:p>
        </p:txBody>
      </p:sp>
      <p:sp>
        <p:nvSpPr>
          <p:cNvPr id="7822" name="Connector 77"/>
          <p:cNvSpPr/>
          <p:nvPr/>
        </p:nvSpPr>
        <p:spPr>
          <a:xfrm>
            <a:off x="1371600" y="1261871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4" name="TextBox 1"/>
          <p:cNvSpPr txBox="1"/>
          <p:nvPr/>
        </p:nvSpPr>
        <p:spPr>
          <a:xfrm>
            <a:off x="0" y="5943600"/>
            <a:ext cx="24387048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Thank </a:t>
            </a:r>
            <a:r>
              <a:rPr>
                <a:solidFill>
                  <a:srgbClr val="0333E8"/>
                </a:solidFill>
              </a:rPr>
              <a:t>You</a:t>
            </a:r>
          </a:p>
        </p:txBody>
      </p:sp>
      <p:pic>
        <p:nvPicPr>
          <p:cNvPr id="782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6972" y="9601200"/>
            <a:ext cx="3153104" cy="1097281"/>
          </a:xfrm>
          <a:prstGeom prst="rect">
            <a:avLst/>
          </a:prstGeom>
          <a:ln w="12700">
            <a:miter lim="400000"/>
          </a:ln>
        </p:spPr>
      </p:pic>
      <p:sp>
        <p:nvSpPr>
          <p:cNvPr id="7826" name="TextBox 3"/>
          <p:cNvSpPr txBox="1"/>
          <p:nvPr/>
        </p:nvSpPr>
        <p:spPr>
          <a:xfrm>
            <a:off x="22101047" y="13167360"/>
            <a:ext cx="18288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111 / 111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Lucida Grand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