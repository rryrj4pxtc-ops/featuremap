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70" r:id="rId16"/>
    <p:sldId id="271" r:id="rId15"/>
    <p:sldId id="272" r:id="rId18"/>
    <p:sldId id="273" r:id="rId14"/>
    <p:sldId id="274" r:id="rId13"/>
    <p:sldId id="275" r:id="rId12"/>
    <p:sldId id="276" r:id="rId22"/>
    <p:sldId id="277" r:id="rId23"/>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standalone='yes'?>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12" Type="http://schemas.openxmlformats.org/officeDocument/2006/relationships/slide" Target="slides/slide14.xml"/><Relationship Id="rId13" Type="http://schemas.openxmlformats.org/officeDocument/2006/relationships/slide" Target="slides/slide13.xml"/><Relationship Id="rId14" Type="http://schemas.openxmlformats.org/officeDocument/2006/relationships/slide" Target="slides/slide12.xml"/><Relationship Id="rId15" Type="http://schemas.openxmlformats.org/officeDocument/2006/relationships/slide" Target="slides/slide10.xml"/><Relationship Id="rId16" Type="http://schemas.openxmlformats.org/officeDocument/2006/relationships/slide" Target="slides/slide9.xml"/><Relationship Id="rId18" Type="http://schemas.openxmlformats.org/officeDocument/2006/relationships/slide" Target="slides/slide11.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1826683" y="769937"/>
            <a:ext cx="9753601" cy="166846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lstStyle/>
          <a:p>
            <a:pPr/>
            <a:r>
              <a:t>Title Text</a:t>
            </a:r>
          </a:p>
        </p:txBody>
      </p:sp>
      <p:sp>
        <p:nvSpPr>
          <p:cNvPr id="3" name="Body Level One…"/>
          <p:cNvSpPr txBox="1"/>
          <p:nvPr>
            <p:ph type="body" idx="1"/>
          </p:nvPr>
        </p:nvSpPr>
        <p:spPr>
          <a:xfrm>
            <a:off x="6805083" y="2438400"/>
            <a:ext cx="4775201" cy="44196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78981" y="6232199"/>
            <a:ext cx="258620" cy="248302"/>
          </a:xfrm>
          <a:prstGeom prst="rect">
            <a:avLst/>
          </a:prstGeom>
          <a:ln w="12700">
            <a:miter lim="400000"/>
          </a:ln>
        </p:spPr>
        <p:txBody>
          <a:bodyPr wrap="none" lIns="45718" tIns="45718" rIns="45718" bIns="45718" anchor="ctr">
            <a:spAutoFit/>
          </a:bodyPr>
          <a:lstStyle>
            <a:lvl1pPr algn="r">
              <a:defRPr sz="1200">
                <a:latin typeface="+mj-lt"/>
                <a:ea typeface="+mj-ea"/>
                <a:cs typeface="+mj-cs"/>
                <a:sym typeface="Calibri"/>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jpeg"/><Relationship Id="rId4" Type="http://schemas.openxmlformats.org/officeDocument/2006/relationships/image" Target="../media/image2.jpeg"/><Relationship Id="rId5" Type="http://schemas.openxmlformats.org/officeDocument/2006/relationships/image" Target="../media/image3.jpeg"/><Relationship Id="rId6" Type="http://schemas.openxmlformats.org/officeDocument/2006/relationships/image" Target="../media/image4.jpeg"/><Relationship Id="rId7" Type="http://schemas.openxmlformats.org/officeDocument/2006/relationships/image" Target="../media/image5.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0" name="Image 0" descr="Image 0"/>
          <p:cNvPicPr>
            <a:picLocks noChangeAspect="1"/>
          </p:cNvPicPr>
          <p:nvPr/>
        </p:nvPicPr>
        <p:blipFill>
          <a:blip r:embed="rId2">
            <a:extLst/>
          </a:blip>
          <a:stretch>
            <a:fillRect/>
          </a:stretch>
        </p:blipFill>
        <p:spPr>
          <a:xfrm>
            <a:off x="0" y="0"/>
            <a:ext cx="12191697" cy="6858000"/>
          </a:xfrm>
          <a:prstGeom prst="rect">
            <a:avLst/>
          </a:prstGeom>
          <a:ln w="12700">
            <a:miter lim="400000"/>
          </a:ln>
        </p:spPr>
      </p:pic>
      <p:sp>
        <p:nvSpPr>
          <p:cNvPr id="21" name="Text 0"/>
          <p:cNvSpPr txBox="1"/>
          <p:nvPr/>
        </p:nvSpPr>
        <p:spPr>
          <a:xfrm>
            <a:off x="457200" y="2390445"/>
            <a:ext cx="640080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50" sz="1200">
                <a:solidFill>
                  <a:srgbClr val="0029FF"/>
                </a:solidFill>
                <a:latin typeface="+mj-lt"/>
                <a:ea typeface="+mj-ea"/>
                <a:cs typeface="+mj-cs"/>
                <a:sym typeface="Calibri"/>
              </a:defRPr>
            </a:lvl1pPr>
          </a:lstStyle>
          <a:p>
            <a:pPr/>
            <a:r>
              <a:t>BENCHMARK  ·  RESEARCH SURFACE</a:t>
            </a:r>
          </a:p>
        </p:txBody>
      </p:sp>
      <p:sp>
        <p:nvSpPr>
          <p:cNvPr id="22" name="Text 1"/>
          <p:cNvSpPr txBox="1"/>
          <p:nvPr/>
        </p:nvSpPr>
        <p:spPr>
          <a:xfrm>
            <a:off x="457200" y="2886623"/>
            <a:ext cx="8229600" cy="49038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800">
                <a:solidFill>
                  <a:srgbClr val="000045"/>
                </a:solidFill>
                <a:latin typeface="+mj-lt"/>
                <a:ea typeface="+mj-ea"/>
                <a:cs typeface="+mj-cs"/>
                <a:sym typeface="Calibri"/>
              </a:defRPr>
            </a:lvl1pPr>
          </a:lstStyle>
          <a:p>
            <a:pPr/>
            <a:r>
              <a:t>ARC vs Yahoo</a:t>
            </a:r>
          </a:p>
        </p:txBody>
      </p:sp>
      <p:sp>
        <p:nvSpPr>
          <p:cNvPr id="23" name="Text 2"/>
          <p:cNvSpPr txBox="1"/>
          <p:nvPr/>
        </p:nvSpPr>
        <p:spPr>
          <a:xfrm>
            <a:off x="457200" y="3709582"/>
            <a:ext cx="8229600" cy="49039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800">
                <a:solidFill>
                  <a:srgbClr val="221AFB"/>
                </a:solidFill>
                <a:latin typeface="+mj-lt"/>
                <a:ea typeface="+mj-ea"/>
                <a:cs typeface="+mj-cs"/>
                <a:sym typeface="Calibri"/>
              </a:defRPr>
            </a:lvl1pPr>
          </a:lstStyle>
          <a:p>
            <a:pPr/>
            <a:r>
              <a:t>Finance</a:t>
            </a:r>
          </a:p>
        </p:txBody>
      </p:sp>
      <p:sp>
        <p:nvSpPr>
          <p:cNvPr id="24" name="Text 3"/>
          <p:cNvSpPr txBox="1"/>
          <p:nvPr/>
        </p:nvSpPr>
        <p:spPr>
          <a:xfrm>
            <a:off x="457200" y="4615879"/>
            <a:ext cx="5486400"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475569"/>
                </a:solidFill>
                <a:latin typeface="+mj-lt"/>
                <a:ea typeface="+mj-ea"/>
                <a:cs typeface="+mj-cs"/>
                <a:sym typeface="Calibri"/>
              </a:defRPr>
            </a:lvl1pPr>
          </a:lstStyle>
          <a:p>
            <a:pPr/>
            <a:r>
              <a:t>30 August 2026  ·  Digital Experience Department</a:t>
            </a:r>
          </a:p>
        </p:txBody>
      </p:sp>
      <p:sp>
        <p:nvSpPr>
          <p:cNvPr id="25" name="Shape 4"/>
          <p:cNvSpPr/>
          <p:nvPr/>
        </p:nvSpPr>
        <p:spPr>
          <a:xfrm>
            <a:off x="457196" y="5074918"/>
            <a:ext cx="3474729" cy="6"/>
          </a:xfrm>
          <a:prstGeom prst="line">
            <a:avLst/>
          </a:prstGeom>
          <a:ln w="25400">
            <a:solidFill>
              <a:srgbClr val="0029FF"/>
            </a:solidFill>
          </a:ln>
        </p:spPr>
        <p:txBody>
          <a:bodyPr lIns="45718" tIns="45718" rIns="45718" bIns="45718"/>
          <a:lstStyle/>
          <a:p>
            <a:p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7" name="Shape 2"/>
          <p:cNvSpPr/>
          <p:nvPr/>
        </p:nvSpPr>
        <p:spPr>
          <a:xfrm>
            <a:off x="1508760" y="347472"/>
            <a:ext cx="5" cy="384053"/>
          </a:xfrm>
          <a:prstGeom prst="line">
            <a:avLst/>
          </a:prstGeom>
          <a:ln>
            <a:solidFill>
              <a:srgbClr val="E2E8F0"/>
            </a:solidFill>
          </a:ln>
        </p:spPr>
        <p:txBody>
          <a:bodyPr lIns="45718" tIns="45718" rIns="45718" bIns="45718"/>
          <a:lstStyle/>
          <a:p>
            <a:pPr/>
          </a:p>
        </p:txBody>
      </p:sp>
      <p:sp>
        <p:nvSpPr>
          <p:cNvPr id="28" name="Title"/>
          <p:cNvSpPr txBox="1"/>
          <p:nvPr/>
        </p:nvSpPr>
        <p:spPr>
          <a:xfrm>
            <a:off x="1645920" y="523940"/>
            <a:ext cx="91440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A7A7A7"/>
                </a:solidFill>
                <a:latin typeface="+mj-lt"/>
                <a:ea typeface="+mj-ea"/>
                <a:cs typeface="+mj-cs"/>
                <a:sym typeface="Calibri"/>
              </a:defRPr>
            </a:lvl1pPr>
          </a:lstStyle>
          <a:p>
            <a:pPr/>
            <a:r>
              <a:t>The Scorecard</a:t>
            </a:r>
          </a:p>
        </p:txBody>
      </p:sp>
      <p:sp>
        <p:nvSpPr>
          <p:cNvPr id="29" name="Text 5"/>
          <p:cNvSpPr txBox="1"/>
          <p:nvPr/>
        </p:nvSpPr>
        <p:spPr>
          <a:xfrm>
            <a:off x="10362895" y="475532"/>
            <a:ext cx="1371605"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000">
                <a:solidFill>
                  <a:srgbClr val="141421"/>
                </a:solidFill>
                <a:latin typeface="+mj-lt"/>
                <a:ea typeface="+mj-ea"/>
                <a:cs typeface="+mj-cs"/>
                <a:sym typeface="Calibri"/>
              </a:defRPr>
            </a:lvl1pPr>
          </a:lstStyle>
          <a:p>
            <a:pPr/>
            <a:r>
              <a:t>02  /  8</a:t>
            </a:r>
          </a:p>
        </p:txBody>
      </p:sp>
      <p:sp>
        <p:nvSpPr>
          <p:cNvPr id="30" name="Shape 6"/>
          <p:cNvSpPr/>
          <p:nvPr/>
        </p:nvSpPr>
        <p:spPr>
          <a:xfrm>
            <a:off x="457196" y="868680"/>
            <a:ext cx="11277302" cy="5"/>
          </a:xfrm>
          <a:prstGeom prst="line">
            <a:avLst/>
          </a:prstGeom>
          <a:ln>
            <a:solidFill>
              <a:srgbClr val="E2E8F0"/>
            </a:solidFill>
          </a:ln>
        </p:spPr>
        <p:txBody>
          <a:bodyPr lIns="45718" tIns="45718" rIns="45718" bIns="45718"/>
          <a:lstStyle/>
          <a:p>
            <a:pPr/>
          </a:p>
        </p:txBody>
      </p:sp>
      <p:sp>
        <p:nvSpPr>
          <p:cNvPr id="31" name="Rectangle 8"/>
          <p:cNvSpPr/>
          <p:nvPr/>
        </p:nvSpPr>
        <p:spPr>
          <a:xfrm>
            <a:off x="457195" y="1005838"/>
            <a:ext cx="3698142" cy="1508765"/>
          </a:xfrm>
          <a:prstGeom prst="rect">
            <a:avLst/>
          </a:prstGeom>
          <a:solidFill>
            <a:srgbClr val="FFFFFF"/>
          </a:solidFill>
          <a:ln>
            <a:solidFill>
              <a:srgbClr val="E2E5EA"/>
            </a:solidFill>
            <a:miter/>
          </a:ln>
        </p:spPr>
        <p:txBody>
          <a:bodyPr lIns="45718" tIns="45718" rIns="45718" bIns="45718" anchor="ctr"/>
          <a:lstStyle/>
          <a:p>
            <a:pPr algn="ctr">
              <a:defRPr>
                <a:solidFill>
                  <a:srgbClr val="FFFFFF"/>
                </a:solidFill>
                <a:latin typeface="+mj-lt"/>
                <a:ea typeface="+mj-ea"/>
                <a:cs typeface="+mj-cs"/>
                <a:sym typeface="Calibri"/>
              </a:defRPr>
            </a:pPr>
          </a:p>
        </p:txBody>
      </p:sp>
      <p:sp>
        <p:nvSpPr>
          <p:cNvPr id="32" name="Rectangle 9"/>
          <p:cNvSpPr/>
          <p:nvPr/>
        </p:nvSpPr>
        <p:spPr>
          <a:xfrm>
            <a:off x="457195" y="1005838"/>
            <a:ext cx="64009" cy="1508765"/>
          </a:xfrm>
          <a:prstGeom prst="rect">
            <a:avLst/>
          </a:prstGeom>
          <a:solidFill>
            <a:srgbClr val="221AFB"/>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33" name="TextBox 10"/>
          <p:cNvSpPr txBox="1"/>
          <p:nvPr/>
        </p:nvSpPr>
        <p:spPr>
          <a:xfrm>
            <a:off x="777195" y="1170433"/>
            <a:ext cx="3278141" cy="73869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5000">
                <a:solidFill>
                  <a:srgbClr val="221AFB"/>
                </a:solidFill>
                <a:latin typeface="+mj-lt"/>
                <a:ea typeface="+mj-ea"/>
                <a:cs typeface="+mj-cs"/>
                <a:sym typeface="Calibri"/>
              </a:defRPr>
            </a:lvl1pPr>
          </a:lstStyle>
          <a:p>
            <a:pPr/>
            <a:r>
              <a:t>10</a:t>
            </a:r>
          </a:p>
        </p:txBody>
      </p:sp>
      <p:sp>
        <p:nvSpPr>
          <p:cNvPr id="34" name="TextBox 11"/>
          <p:cNvSpPr txBox="1"/>
          <p:nvPr/>
        </p:nvSpPr>
        <p:spPr>
          <a:xfrm>
            <a:off x="777195" y="1920238"/>
            <a:ext cx="3278141" cy="3908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sz="1100">
                <a:solidFill>
                  <a:srgbClr val="64748B"/>
                </a:solidFill>
                <a:latin typeface="+mj-lt"/>
                <a:ea typeface="+mj-ea"/>
                <a:cs typeface="+mj-cs"/>
                <a:sym typeface="Calibri"/>
              </a:defRPr>
            </a:pPr>
            <a:r>
              <a:t>LIVE</a:t>
            </a:r>
          </a:p>
          <a:p>
            <a:pPr>
              <a:defRPr b="1" sz="1100">
                <a:solidFill>
                  <a:srgbClr val="64748B"/>
                </a:solidFill>
                <a:latin typeface="+mj-lt"/>
                <a:ea typeface="+mj-ea"/>
                <a:cs typeface="+mj-cs"/>
                <a:sym typeface="Calibri"/>
              </a:defRPr>
            </a:pPr>
            <a:r>
              <a:t>capability groups</a:t>
            </a:r>
          </a:p>
        </p:txBody>
      </p:sp>
      <p:sp>
        <p:nvSpPr>
          <p:cNvPr id="35" name="Rectangle 12"/>
          <p:cNvSpPr/>
          <p:nvPr/>
        </p:nvSpPr>
        <p:spPr>
          <a:xfrm>
            <a:off x="4246775" y="1005838"/>
            <a:ext cx="3698142" cy="1508765"/>
          </a:xfrm>
          <a:prstGeom prst="rect">
            <a:avLst/>
          </a:prstGeom>
          <a:solidFill>
            <a:srgbClr val="FFFFFF"/>
          </a:solidFill>
          <a:ln>
            <a:solidFill>
              <a:srgbClr val="E2E5EA"/>
            </a:solidFill>
            <a:miter/>
          </a:ln>
        </p:spPr>
        <p:txBody>
          <a:bodyPr lIns="45718" tIns="45718" rIns="45718" bIns="45718" anchor="ctr"/>
          <a:lstStyle/>
          <a:p>
            <a:pPr algn="ctr">
              <a:defRPr>
                <a:solidFill>
                  <a:srgbClr val="FFFFFF"/>
                </a:solidFill>
                <a:latin typeface="+mj-lt"/>
                <a:ea typeface="+mj-ea"/>
                <a:cs typeface="+mj-cs"/>
                <a:sym typeface="Calibri"/>
              </a:defRPr>
            </a:pPr>
          </a:p>
        </p:txBody>
      </p:sp>
      <p:sp>
        <p:nvSpPr>
          <p:cNvPr id="36" name="Rectangle 13"/>
          <p:cNvSpPr/>
          <p:nvPr/>
        </p:nvSpPr>
        <p:spPr>
          <a:xfrm>
            <a:off x="4246776" y="1005838"/>
            <a:ext cx="64009" cy="1508765"/>
          </a:xfrm>
          <a:prstGeom prst="rect">
            <a:avLst/>
          </a:prstGeom>
          <a:solidFill>
            <a:srgbClr val="20C992"/>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37" name="TextBox 14"/>
          <p:cNvSpPr txBox="1"/>
          <p:nvPr/>
        </p:nvSpPr>
        <p:spPr>
          <a:xfrm>
            <a:off x="4566775" y="1170433"/>
            <a:ext cx="3278140" cy="73869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5000">
                <a:solidFill>
                  <a:srgbClr val="20C992"/>
                </a:solidFill>
                <a:latin typeface="+mj-lt"/>
                <a:ea typeface="+mj-ea"/>
                <a:cs typeface="+mj-cs"/>
                <a:sym typeface="Calibri"/>
              </a:defRPr>
            </a:lvl1pPr>
          </a:lstStyle>
          <a:p>
            <a:pPr/>
            <a:r>
              <a:t>2</a:t>
            </a:r>
          </a:p>
        </p:txBody>
      </p:sp>
      <p:sp>
        <p:nvSpPr>
          <p:cNvPr id="38" name="TextBox 15"/>
          <p:cNvSpPr txBox="1"/>
          <p:nvPr/>
        </p:nvSpPr>
        <p:spPr>
          <a:xfrm>
            <a:off x="4566775" y="1920238"/>
            <a:ext cx="3278140" cy="3908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sz="1100">
                <a:solidFill>
                  <a:srgbClr val="64748B"/>
                </a:solidFill>
                <a:latin typeface="+mj-lt"/>
                <a:ea typeface="+mj-ea"/>
                <a:cs typeface="+mj-cs"/>
                <a:sym typeface="Calibri"/>
              </a:defRPr>
            </a:pPr>
            <a:r>
              <a:t>PLANNED</a:t>
            </a:r>
          </a:p>
          <a:p>
            <a:pPr>
              <a:defRPr b="1" sz="1100">
                <a:solidFill>
                  <a:srgbClr val="64748B"/>
                </a:solidFill>
                <a:latin typeface="+mj-lt"/>
                <a:ea typeface="+mj-ea"/>
                <a:cs typeface="+mj-cs"/>
                <a:sym typeface="Calibri"/>
              </a:defRPr>
            </a:pPr>
            <a:r>
              <a:t>on the roadmap</a:t>
            </a:r>
          </a:p>
        </p:txBody>
      </p:sp>
      <p:sp>
        <p:nvSpPr>
          <p:cNvPr id="39" name="Rectangle 20"/>
          <p:cNvSpPr/>
          <p:nvPr/>
        </p:nvSpPr>
        <p:spPr>
          <a:xfrm>
            <a:off x="8036355" y="1005838"/>
            <a:ext cx="3698142" cy="1508765"/>
          </a:xfrm>
          <a:prstGeom prst="rect">
            <a:avLst/>
          </a:prstGeom>
          <a:solidFill>
            <a:srgbClr val="FFFFFF"/>
          </a:solidFill>
          <a:ln>
            <a:solidFill>
              <a:srgbClr val="E2E5EA"/>
            </a:solidFill>
            <a:miter/>
          </a:ln>
        </p:spPr>
        <p:txBody>
          <a:bodyPr lIns="45718" tIns="45718" rIns="45718" bIns="45718" anchor="ctr"/>
          <a:lstStyle/>
          <a:p>
            <a:pPr algn="ctr">
              <a:defRPr>
                <a:solidFill>
                  <a:srgbClr val="FFFFFF"/>
                </a:solidFill>
                <a:latin typeface="+mj-lt"/>
                <a:ea typeface="+mj-ea"/>
                <a:cs typeface="+mj-cs"/>
                <a:sym typeface="Calibri"/>
              </a:defRPr>
            </a:pPr>
          </a:p>
        </p:txBody>
      </p:sp>
      <p:sp>
        <p:nvSpPr>
          <p:cNvPr id="40" name="Rectangle 21"/>
          <p:cNvSpPr/>
          <p:nvPr/>
        </p:nvSpPr>
        <p:spPr>
          <a:xfrm>
            <a:off x="8036355" y="1005838"/>
            <a:ext cx="64009" cy="1508765"/>
          </a:xfrm>
          <a:prstGeom prst="rect">
            <a:avLst/>
          </a:prstGeom>
          <a:solidFill>
            <a:srgbClr val="808080"/>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41" name="TextBox 22"/>
          <p:cNvSpPr txBox="1"/>
          <p:nvPr/>
        </p:nvSpPr>
        <p:spPr>
          <a:xfrm>
            <a:off x="8356355" y="1170433"/>
            <a:ext cx="3278140" cy="73869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5000">
                <a:solidFill>
                  <a:srgbClr val="808080"/>
                </a:solidFill>
                <a:latin typeface="+mj-lt"/>
                <a:ea typeface="+mj-ea"/>
                <a:cs typeface="+mj-cs"/>
                <a:sym typeface="Calibri"/>
              </a:defRPr>
            </a:lvl1pPr>
          </a:lstStyle>
          <a:p>
            <a:pPr/>
            <a:r>
              <a:t>4</a:t>
            </a:r>
          </a:p>
        </p:txBody>
      </p:sp>
      <p:sp>
        <p:nvSpPr>
          <p:cNvPr id="42" name="TextBox 23"/>
          <p:cNvSpPr txBox="1"/>
          <p:nvPr/>
        </p:nvSpPr>
        <p:spPr>
          <a:xfrm>
            <a:off x="8356355" y="1920238"/>
            <a:ext cx="3278140" cy="3908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sz="1100">
                <a:solidFill>
                  <a:srgbClr val="64748B"/>
                </a:solidFill>
                <a:latin typeface="+mj-lt"/>
                <a:ea typeface="+mj-ea"/>
                <a:cs typeface="+mj-cs"/>
                <a:sym typeface="Calibri"/>
              </a:defRPr>
            </a:pPr>
            <a:r>
              <a:t>GAP</a:t>
            </a:r>
          </a:p>
          <a:p>
            <a:pPr>
              <a:defRPr b="1" sz="1100">
                <a:solidFill>
                  <a:srgbClr val="64748B"/>
                </a:solidFill>
                <a:latin typeface="+mj-lt"/>
                <a:ea typeface="+mj-ea"/>
                <a:cs typeface="+mj-cs"/>
                <a:sym typeface="Calibri"/>
              </a:defRPr>
            </a:pPr>
            <a:r>
              <a:t>not available</a:t>
            </a:r>
          </a:p>
        </p:txBody>
      </p:sp>
      <p:sp>
        <p:nvSpPr>
          <p:cNvPr id="43" name="Rectangle 24"/>
          <p:cNvSpPr/>
          <p:nvPr/>
        </p:nvSpPr>
        <p:spPr>
          <a:xfrm>
            <a:off x="457199" y="2743200"/>
            <a:ext cx="11277297" cy="1691640"/>
          </a:xfrm>
          <a:prstGeom prst="rect">
            <a:avLst/>
          </a:prstGeom>
          <a:solidFill>
            <a:srgbClr val="EEF2FF"/>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44" name="Rectangle 25"/>
          <p:cNvSpPr/>
          <p:nvPr/>
        </p:nvSpPr>
        <p:spPr>
          <a:xfrm>
            <a:off x="457200" y="2743200"/>
            <a:ext cx="54864" cy="1691640"/>
          </a:xfrm>
          <a:prstGeom prst="rect">
            <a:avLst/>
          </a:prstGeom>
          <a:solidFill>
            <a:srgbClr val="221AFB"/>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45" name="TextBox 26"/>
          <p:cNvSpPr txBox="1"/>
          <p:nvPr/>
        </p:nvSpPr>
        <p:spPr>
          <a:xfrm>
            <a:off x="777238" y="2880361"/>
            <a:ext cx="10637219" cy="2285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000">
                <a:solidFill>
                  <a:srgbClr val="221AFB"/>
                </a:solidFill>
                <a:latin typeface="+mj-lt"/>
                <a:ea typeface="+mj-ea"/>
                <a:cs typeface="+mj-cs"/>
                <a:sym typeface="Calibri"/>
              </a:defRPr>
            </a:lvl1pPr>
          </a:lstStyle>
          <a:p>
            <a:pPr/>
            <a:r>
              <a:t>THE FINDING</a:t>
            </a:r>
          </a:p>
        </p:txBody>
      </p:sp>
      <p:sp>
        <p:nvSpPr>
          <p:cNvPr id="46" name="TextBox 27"/>
          <p:cNvSpPr txBox="1"/>
          <p:nvPr/>
        </p:nvSpPr>
        <p:spPr>
          <a:xfrm>
            <a:off x="777238" y="3154677"/>
            <a:ext cx="10637219" cy="111058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700">
                <a:solidFill>
                  <a:srgbClr val="000045"/>
                </a:solidFill>
                <a:latin typeface="+mj-lt"/>
                <a:ea typeface="+mj-ea"/>
                <a:cs typeface="+mj-cs"/>
                <a:sym typeface="Calibri"/>
              </a:defRPr>
            </a:lvl1pPr>
          </a:lstStyle>
          <a:p>
            <a:pPr/>
            <a:r>
              <a:rPr sz="1300"/>
              <a:t>A Saudi US-market community account walked through Yahoo Finance and recommended it alongside a broker, not instead of one — assuming the broker does not do research. On the evidence that assumption is wrong: ARC's US Stock Page carries options chains, analyst ratings, market depth, insider and government trades and technical analysis, none of which Yahoo provides free.</a:t>
            </a:r>
          </a:p>
          <a:p>
            <a:pPr/>
            <a:r>
              <a:rPr sz="1300"/>
              <a:t/>
            </a:r>
          </a:p>
          <a:p>
            <a:pPr/>
            <a:r>
              <a:rPr sz="1300"/>
              <a:t>Sixteen capabilities from the post were checked. Ten are Live, two are on the roadmap, and four are genuine gaps — currencies, crypto, ETFs and the fund watchlist. Coverage, not depth, is what separates the two apps.</a:t>
            </a:r>
          </a:p>
        </p:txBody>
      </p:sp>
      <p:sp>
        <p:nvSpPr>
          <p:cNvPr id="54" name="TextBox 40"/>
          <p:cNvSpPr txBox="1"/>
          <p:nvPr/>
        </p:nvSpPr>
        <p:spPr>
          <a:xfrm>
            <a:off x="502917" y="6537959"/>
            <a:ext cx="11185861" cy="2285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i="1" sz="1000">
                <a:solidFill>
                  <a:srgbClr val="475569"/>
                </a:solidFill>
                <a:latin typeface="+mj-lt"/>
                <a:ea typeface="+mj-ea"/>
                <a:cs typeface="+mj-cs"/>
                <a:sym typeface="Calibri"/>
              </a:defRPr>
            </a:lvl1pPr>
          </a:lstStyle>
          <a:p>
            <a:pPr/>
            <a:r>
              <a:t>Source: X/@ypeooo · 30 Aug 2026 · Features Map · baseline v2.15</a:t>
            </a:r>
          </a:p>
        </p:txBody>
      </p:sp>
      <p:pic>
        <p:nvPicPr>
          <p:cNvPr id="55" name="Picture 1" descr="Picture 1"/>
          <p:cNvPicPr>
            <a:picLocks noChangeAspect="1"/>
          </p:cNvPicPr>
          <p:nvPr/>
        </p:nvPicPr>
        <p:blipFill>
          <a:blip r:embed="rId2">
            <a:extLst/>
          </a:blip>
          <a:stretch>
            <a:fillRect/>
          </a:stretch>
        </p:blipFill>
        <p:spPr>
          <a:xfrm>
            <a:off x="479144" y="371093"/>
            <a:ext cx="955130" cy="332389"/>
          </a:xfrm>
          <a:prstGeom prst="rect">
            <a:avLst/>
          </a:prstGeom>
          <a:ln w="12700">
            <a:miter lim="400000"/>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0" name="Shape 2"/>
          <p:cNvSpPr/>
          <p:nvPr/>
        </p:nvSpPr>
        <p:spPr>
          <a:xfrm>
            <a:off x="1508760" y="347472"/>
            <a:ext cx="5" cy="384053"/>
          </a:xfrm>
          <a:prstGeom prst="line">
            <a:avLst/>
          </a:prstGeom>
          <a:ln>
            <a:solidFill>
              <a:srgbClr val="E2E8F0"/>
            </a:solidFill>
          </a:ln>
        </p:spPr>
        <p:txBody>
          <a:bodyPr lIns="45718" tIns="45718" rIns="45718" bIns="45718"/>
          <a:lstStyle/>
          <a:p>
            <a:pPr/>
          </a:p>
        </p:txBody>
      </p:sp>
      <p:sp>
        <p:nvSpPr>
          <p:cNvPr id="261" name="Title"/>
          <p:cNvSpPr txBox="1"/>
          <p:nvPr/>
        </p:nvSpPr>
        <p:spPr>
          <a:xfrm>
            <a:off x="1645920" y="523940"/>
            <a:ext cx="91440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A7A7A7"/>
                </a:solidFill>
                <a:latin typeface="+mj-lt"/>
                <a:ea typeface="+mj-ea"/>
                <a:cs typeface="+mj-cs"/>
                <a:sym typeface="Calibri"/>
              </a:defRPr>
            </a:lvl1pPr>
          </a:lstStyle>
          <a:p>
            <a:pPr/>
            <a:r>
              <a:t>Where ARC Already Matches Yahoo</a:t>
            </a:r>
          </a:p>
        </p:txBody>
      </p:sp>
      <p:sp>
        <p:nvSpPr>
          <p:cNvPr id="262" name="Text 5"/>
          <p:cNvSpPr txBox="1"/>
          <p:nvPr/>
        </p:nvSpPr>
        <p:spPr>
          <a:xfrm>
            <a:off x="10362895" y="475532"/>
            <a:ext cx="1371605"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000">
                <a:solidFill>
                  <a:srgbClr val="141421"/>
                </a:solidFill>
                <a:latin typeface="+mj-lt"/>
                <a:ea typeface="+mj-ea"/>
                <a:cs typeface="+mj-cs"/>
                <a:sym typeface="Calibri"/>
              </a:defRPr>
            </a:lvl1pPr>
          </a:lstStyle>
          <a:p>
            <a:pPr/>
            <a:r>
              <a:t>03  /  8</a:t>
            </a:r>
          </a:p>
        </p:txBody>
      </p:sp>
      <p:sp>
        <p:nvSpPr>
          <p:cNvPr id="263" name="Shape 6"/>
          <p:cNvSpPr/>
          <p:nvPr/>
        </p:nvSpPr>
        <p:spPr>
          <a:xfrm>
            <a:off x="457196" y="868680"/>
            <a:ext cx="11277302" cy="5"/>
          </a:xfrm>
          <a:prstGeom prst="line">
            <a:avLst/>
          </a:prstGeom>
          <a:ln>
            <a:solidFill>
              <a:srgbClr val="E2E8F0"/>
            </a:solidFill>
          </a:ln>
        </p:spPr>
        <p:txBody>
          <a:bodyPr lIns="45718" tIns="45718" rIns="45718" bIns="45718"/>
          <a:lstStyle/>
          <a:p>
            <a:pPr/>
          </a:p>
        </p:txBody>
      </p:sp>
      <p:sp>
        <p:nvSpPr>
          <p:cNvPr id="264" name="Rectangle 8"/>
          <p:cNvSpPr/>
          <p:nvPr/>
        </p:nvSpPr>
        <p:spPr>
          <a:xfrm>
            <a:off x="457199" y="1005838"/>
            <a:ext cx="11277297" cy="347477"/>
          </a:xfrm>
          <a:prstGeom prst="rect">
            <a:avLst/>
          </a:prstGeom>
          <a:solidFill>
            <a:srgbClr val="000045"/>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65" name="TextBox 9"/>
          <p:cNvSpPr txBox="1"/>
          <p:nvPr/>
        </p:nvSpPr>
        <p:spPr>
          <a:xfrm>
            <a:off x="612646" y="1051561"/>
            <a:ext cx="16459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900">
                <a:solidFill>
                  <a:srgbClr val="FFFFFF"/>
                </a:solidFill>
                <a:latin typeface="+mj-lt"/>
                <a:ea typeface="+mj-ea"/>
                <a:cs typeface="+mj-cs"/>
                <a:sym typeface="Calibri"/>
              </a:defRPr>
            </a:lvl1pPr>
          </a:lstStyle>
          <a:p>
            <a:pPr/>
            <a:r>
              <a:rPr sz="1000"/>
              <a:t>CAPABILITY</a:t>
            </a:r>
          </a:p>
        </p:txBody>
      </p:sp>
      <p:sp>
        <p:nvSpPr>
          <p:cNvPr id="267" name="TextBox 11"/>
          <p:cNvSpPr txBox="1"/>
          <p:nvPr/>
        </p:nvSpPr>
        <p:spPr>
          <a:xfrm>
            <a:off x="2624326" y="1051561"/>
            <a:ext cx="7680966"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900">
                <a:solidFill>
                  <a:srgbClr val="FFFFFF"/>
                </a:solidFill>
                <a:latin typeface="+mj-lt"/>
                <a:ea typeface="+mj-ea"/>
                <a:cs typeface="+mj-cs"/>
                <a:sym typeface="Calibri"/>
              </a:defRPr>
            </a:lvl1pPr>
          </a:lstStyle>
          <a:p>
            <a:pPr/>
            <a:r>
              <a:rPr sz="1000"/>
              <a:t>WHAT IS IT</a:t>
            </a:r>
          </a:p>
        </p:txBody>
      </p:sp>
      <p:sp>
        <p:nvSpPr>
          <p:cNvPr id="268" name="TextBox 12"/>
          <p:cNvSpPr txBox="1"/>
          <p:nvPr/>
        </p:nvSpPr>
        <p:spPr>
          <a:xfrm>
            <a:off x="10671047" y="1051561"/>
            <a:ext cx="91440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900">
                <a:solidFill>
                  <a:srgbClr val="FFFFFF"/>
                </a:solidFill>
                <a:latin typeface="+mj-lt"/>
                <a:ea typeface="+mj-ea"/>
                <a:cs typeface="+mj-cs"/>
                <a:sym typeface="Calibri"/>
              </a:defRPr>
            </a:lvl1pPr>
          </a:lstStyle>
          <a:p>
            <a:pPr/>
            <a:r>
              <a:rPr sz="1000"/>
              <a:t>STATUS</a:t>
            </a:r>
          </a:p>
        </p:txBody>
      </p:sp>
      <p:sp>
        <p:nvSpPr>
          <p:cNvPr id="269" name="Rectangle 13"/>
          <p:cNvSpPr/>
          <p:nvPr/>
        </p:nvSpPr>
        <p:spPr>
          <a:xfrm>
            <a:off x="457199" y="1389888"/>
            <a:ext cx="11277297" cy="640086"/>
          </a:xfrm>
          <a:prstGeom prst="rect">
            <a:avLst/>
          </a:prstGeom>
          <a:solidFill>
            <a:srgbClr val="F8FAFC"/>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70" name="Rectangle 14"/>
          <p:cNvSpPr/>
          <p:nvPr/>
        </p:nvSpPr>
        <p:spPr>
          <a:xfrm>
            <a:off x="457198" y="1389888"/>
            <a:ext cx="45726" cy="640086"/>
          </a:xfrm>
          <a:prstGeom prst="rect">
            <a:avLst/>
          </a:prstGeom>
          <a:solidFill>
            <a:srgbClr val="F1B53D"/>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71" name="TextBox 15"/>
          <p:cNvSpPr txBox="1"/>
          <p:nvPr/>
        </p:nvSpPr>
        <p:spPr>
          <a:xfrm>
            <a:off x="630934" y="1444752"/>
            <a:ext cx="1645924" cy="2257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000045"/>
                </a:solidFill>
                <a:latin typeface="+mj-lt"/>
                <a:ea typeface="+mj-ea"/>
                <a:cs typeface="+mj-cs"/>
                <a:sym typeface="Calibri"/>
              </a:defRPr>
            </a:lvl1pPr>
          </a:lstStyle>
          <a:p>
            <a:pPr/>
            <a:r>
              <a:rPr sz="1100"/>
              <a:t>Key statistics</a:t>
            </a:r>
          </a:p>
        </p:txBody>
      </p:sp>
      <p:sp>
        <p:nvSpPr>
          <p:cNvPr id="273" name="TextBox 17"/>
          <p:cNvSpPr txBox="1"/>
          <p:nvPr/>
        </p:nvSpPr>
        <p:spPr>
          <a:xfrm>
            <a:off x="2624326" y="1444752"/>
            <a:ext cx="7680966"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000045"/>
                </a:solidFill>
                <a:latin typeface="+mj-lt"/>
                <a:ea typeface="+mj-ea"/>
                <a:cs typeface="+mj-cs"/>
                <a:sym typeface="Calibri"/>
              </a:defRPr>
            </a:lvl1pPr>
          </a:lstStyle>
          <a:p>
            <a:pPr/>
            <a:r>
              <a:rPr sz="1000"/>
              <a:t>Price, volume, market cap and 52-week range on the stock page</a:t>
            </a:r>
          </a:p>
        </p:txBody>
      </p:sp>
      <p:sp>
        <p:nvSpPr>
          <p:cNvPr id="274" name="Rectangle 18"/>
          <p:cNvSpPr/>
          <p:nvPr/>
        </p:nvSpPr>
        <p:spPr>
          <a:xfrm>
            <a:off x="10588752" y="1554481"/>
            <a:ext cx="1051565" cy="274322"/>
          </a:xfrm>
          <a:prstGeom prst="rect">
            <a:avLst/>
          </a:prstGeom>
          <a:solidFill>
            <a:srgbClr val="20C992"/>
          </a:solidFill>
          <a:ln w="12700">
            <a:noFill/>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75" name="TextBox 19"/>
          <p:cNvSpPr txBox="1"/>
          <p:nvPr/>
        </p:nvSpPr>
        <p:spPr>
          <a:xfrm>
            <a:off x="10634471" y="1554480"/>
            <a:ext cx="9601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000045"/>
                </a:solidFill>
                <a:latin typeface="+mj-lt"/>
                <a:ea typeface="+mj-ea"/>
                <a:cs typeface="+mj-cs"/>
                <a:sym typeface="Calibri"/>
              </a:defRPr>
            </a:lvl1pPr>
          </a:lstStyle>
          <a:p>
            <a:pPr/>
            <a:r>
              <a:rPr sz="1100">
                <a:solidFill>
                  <a:srgbClr val="FFFFFF"/>
                </a:solidFill>
              </a:rPr>
              <a:t>Live</a:t>
            </a:r>
          </a:p>
        </p:txBody>
      </p:sp>
      <p:sp>
        <p:nvSpPr>
          <p:cNvPr id="276" name="Rectangle 20"/>
          <p:cNvSpPr/>
          <p:nvPr/>
        </p:nvSpPr>
        <p:spPr>
          <a:xfrm>
            <a:off x="457199" y="2066543"/>
            <a:ext cx="11277297" cy="640085"/>
          </a:xfrm>
          <a:prstGeom prst="rect">
            <a:avLst/>
          </a:prstGeom>
          <a:solidFill>
            <a:srgbClr val="FFFFFF"/>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77" name="Rectangle 21"/>
          <p:cNvSpPr/>
          <p:nvPr/>
        </p:nvSpPr>
        <p:spPr>
          <a:xfrm>
            <a:off x="457198" y="2066543"/>
            <a:ext cx="45726" cy="640085"/>
          </a:xfrm>
          <a:prstGeom prst="rect">
            <a:avLst/>
          </a:prstGeom>
          <a:solidFill>
            <a:srgbClr val="F1B53D"/>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78" name="TextBox 22"/>
          <p:cNvSpPr txBox="1"/>
          <p:nvPr/>
        </p:nvSpPr>
        <p:spPr>
          <a:xfrm>
            <a:off x="630934" y="2121410"/>
            <a:ext cx="1645924" cy="2257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000045"/>
                </a:solidFill>
                <a:latin typeface="+mj-lt"/>
                <a:ea typeface="+mj-ea"/>
                <a:cs typeface="+mj-cs"/>
                <a:sym typeface="Calibri"/>
              </a:defRPr>
            </a:lvl1pPr>
          </a:lstStyle>
          <a:p>
            <a:pPr/>
            <a:r>
              <a:rPr sz="1100"/>
              <a:t>Financial statements</a:t>
            </a:r>
          </a:p>
        </p:txBody>
      </p:sp>
      <p:sp>
        <p:nvSpPr>
          <p:cNvPr id="280" name="TextBox 24"/>
          <p:cNvSpPr txBox="1"/>
          <p:nvPr/>
        </p:nvSpPr>
        <p:spPr>
          <a:xfrm>
            <a:off x="2624326" y="2121410"/>
            <a:ext cx="7680966"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000045"/>
                </a:solidFill>
                <a:latin typeface="+mj-lt"/>
                <a:ea typeface="+mj-ea"/>
                <a:cs typeface="+mj-cs"/>
                <a:sym typeface="Calibri"/>
              </a:defRPr>
            </a:lvl1pPr>
          </a:lstStyle>
          <a:p>
            <a:pPr/>
            <a:r>
              <a:rPr sz="1000"/>
              <a:t>Income statement, balance sheet and cash flow in full</a:t>
            </a:r>
          </a:p>
        </p:txBody>
      </p:sp>
      <p:sp>
        <p:nvSpPr>
          <p:cNvPr id="281" name="Rectangle 25"/>
          <p:cNvSpPr/>
          <p:nvPr/>
        </p:nvSpPr>
        <p:spPr>
          <a:xfrm>
            <a:off x="10588752" y="2231133"/>
            <a:ext cx="1051565" cy="274326"/>
          </a:xfrm>
          <a:prstGeom prst="rect">
            <a:avLst/>
          </a:prstGeom>
          <a:solidFill>
            <a:srgbClr val="20C992"/>
          </a:solidFill>
          <a:ln w="12700">
            <a:noFill/>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82" name="TextBox 26"/>
          <p:cNvSpPr txBox="1"/>
          <p:nvPr/>
        </p:nvSpPr>
        <p:spPr>
          <a:xfrm>
            <a:off x="10634471" y="2231137"/>
            <a:ext cx="9601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000045"/>
                </a:solidFill>
                <a:latin typeface="+mj-lt"/>
                <a:ea typeface="+mj-ea"/>
                <a:cs typeface="+mj-cs"/>
                <a:sym typeface="Calibri"/>
              </a:defRPr>
            </a:lvl1pPr>
          </a:lstStyle>
          <a:p>
            <a:pPr/>
            <a:r>
              <a:rPr sz="1100">
                <a:solidFill>
                  <a:srgbClr val="FFFFFF"/>
                </a:solidFill>
              </a:rPr>
              <a:t>Live</a:t>
            </a:r>
          </a:p>
        </p:txBody>
      </p:sp>
      <p:sp>
        <p:nvSpPr>
          <p:cNvPr id="283" name="Rectangle 34"/>
          <p:cNvSpPr/>
          <p:nvPr/>
        </p:nvSpPr>
        <p:spPr>
          <a:xfrm>
            <a:off x="457199" y="2743199"/>
            <a:ext cx="11277297" cy="640086"/>
          </a:xfrm>
          <a:prstGeom prst="rect">
            <a:avLst/>
          </a:prstGeom>
          <a:solidFill>
            <a:srgbClr val="FFFFFF"/>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84" name="Rectangle 35"/>
          <p:cNvSpPr/>
          <p:nvPr/>
        </p:nvSpPr>
        <p:spPr>
          <a:xfrm>
            <a:off x="457198" y="2743199"/>
            <a:ext cx="45726" cy="640086"/>
          </a:xfrm>
          <a:prstGeom prst="rect">
            <a:avLst/>
          </a:prstGeom>
          <a:solidFill>
            <a:srgbClr val="94A3B8"/>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85" name="TextBox 36"/>
          <p:cNvSpPr txBox="1"/>
          <p:nvPr/>
        </p:nvSpPr>
        <p:spPr>
          <a:xfrm>
            <a:off x="630934" y="2798066"/>
            <a:ext cx="1645924" cy="2257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000045"/>
                </a:solidFill>
                <a:latin typeface="+mj-lt"/>
                <a:ea typeface="+mj-ea"/>
                <a:cs typeface="+mj-cs"/>
                <a:sym typeface="Calibri"/>
              </a:defRPr>
            </a:lvl1pPr>
          </a:lstStyle>
          <a:p>
            <a:pPr/>
            <a:r>
              <a:rPr sz="1100"/>
              <a:t>Earnings and revenue</a:t>
            </a:r>
          </a:p>
        </p:txBody>
      </p:sp>
      <p:sp>
        <p:nvSpPr>
          <p:cNvPr id="287" name="TextBox 38"/>
          <p:cNvSpPr txBox="1"/>
          <p:nvPr/>
        </p:nvSpPr>
        <p:spPr>
          <a:xfrm>
            <a:off x="2624326" y="2798066"/>
            <a:ext cx="7680966"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000045"/>
                </a:solidFill>
                <a:latin typeface="+mj-lt"/>
                <a:ea typeface="+mj-ea"/>
                <a:cs typeface="+mj-cs"/>
                <a:sym typeface="Calibri"/>
              </a:defRPr>
            </a:lvl1pPr>
          </a:lstStyle>
          <a:p>
            <a:pPr/>
            <a:r>
              <a:rPr sz="1000"/>
              <a:t>Reported and estimated, annual and quarterly, with surprise</a:t>
            </a:r>
          </a:p>
        </p:txBody>
      </p:sp>
      <p:sp>
        <p:nvSpPr>
          <p:cNvPr id="288" name="Rectangle 39"/>
          <p:cNvSpPr/>
          <p:nvPr/>
        </p:nvSpPr>
        <p:spPr>
          <a:xfrm>
            <a:off x="10588752" y="2907788"/>
            <a:ext cx="1051565" cy="274325"/>
          </a:xfrm>
          <a:prstGeom prst="rect">
            <a:avLst/>
          </a:prstGeom>
          <a:solidFill>
            <a:srgbClr val="20C992"/>
          </a:solidFill>
          <a:ln w="12700">
            <a:noFill/>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89" name="TextBox 40"/>
          <p:cNvSpPr txBox="1"/>
          <p:nvPr/>
        </p:nvSpPr>
        <p:spPr>
          <a:xfrm>
            <a:off x="10634471" y="2907792"/>
            <a:ext cx="9601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FFFFFF"/>
                </a:solidFill>
                <a:latin typeface="+mj-lt"/>
                <a:ea typeface="+mj-ea"/>
                <a:cs typeface="+mj-cs"/>
                <a:sym typeface="Calibri"/>
              </a:defRPr>
            </a:lvl1pPr>
          </a:lstStyle>
          <a:p>
            <a:pPr/>
            <a:r>
              <a:rPr sz="1100">
                <a:solidFill>
                  <a:srgbClr val="FFFFFF"/>
                </a:solidFill>
              </a:rPr>
              <a:t>Live</a:t>
            </a:r>
          </a:p>
        </p:txBody>
      </p:sp>
      <p:sp>
        <p:nvSpPr>
          <p:cNvPr id="290" name="Rectangle 41"/>
          <p:cNvSpPr/>
          <p:nvPr/>
        </p:nvSpPr>
        <p:spPr>
          <a:xfrm>
            <a:off x="457199" y="3419857"/>
            <a:ext cx="11277297" cy="640085"/>
          </a:xfrm>
          <a:prstGeom prst="rect">
            <a:avLst/>
          </a:prstGeom>
          <a:solidFill>
            <a:srgbClr val="F8FAFC"/>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91" name="Rectangle 42"/>
          <p:cNvSpPr/>
          <p:nvPr/>
        </p:nvSpPr>
        <p:spPr>
          <a:xfrm>
            <a:off x="457198" y="3419857"/>
            <a:ext cx="45726" cy="640085"/>
          </a:xfrm>
          <a:prstGeom prst="rect">
            <a:avLst/>
          </a:prstGeom>
          <a:solidFill>
            <a:srgbClr val="94A3B8"/>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92" name="TextBox 43"/>
          <p:cNvSpPr txBox="1"/>
          <p:nvPr/>
        </p:nvSpPr>
        <p:spPr>
          <a:xfrm>
            <a:off x="630934" y="3474722"/>
            <a:ext cx="1645924" cy="2257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000045"/>
                </a:solidFill>
                <a:latin typeface="+mj-lt"/>
                <a:ea typeface="+mj-ea"/>
                <a:cs typeface="+mj-cs"/>
                <a:sym typeface="Calibri"/>
              </a:defRPr>
            </a:lvl1pPr>
          </a:lstStyle>
          <a:p>
            <a:pPr/>
            <a:r>
              <a:rPr sz="1100"/>
              <a:t>News</a:t>
            </a:r>
          </a:p>
        </p:txBody>
      </p:sp>
      <p:sp>
        <p:nvSpPr>
          <p:cNvPr id="294" name="TextBox 45"/>
          <p:cNvSpPr txBox="1"/>
          <p:nvPr/>
        </p:nvSpPr>
        <p:spPr>
          <a:xfrm>
            <a:off x="2624326" y="3474722"/>
            <a:ext cx="7680966" cy="2285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000045"/>
                </a:solidFill>
                <a:latin typeface="+mj-lt"/>
                <a:ea typeface="+mj-ea"/>
                <a:cs typeface="+mj-cs"/>
                <a:sym typeface="Calibri"/>
              </a:defRPr>
            </a:lvl1pPr>
          </a:lstStyle>
          <a:p>
            <a:pPr/>
            <a:r>
              <a:rPr sz="1000"/>
              <a:t>News on the stock, plus market, economy and central-bank news</a:t>
            </a:r>
          </a:p>
        </p:txBody>
      </p:sp>
      <p:sp>
        <p:nvSpPr>
          <p:cNvPr id="295" name="Rectangle 46"/>
          <p:cNvSpPr/>
          <p:nvPr/>
        </p:nvSpPr>
        <p:spPr>
          <a:xfrm>
            <a:off x="10588752" y="3584447"/>
            <a:ext cx="1051565" cy="274325"/>
          </a:xfrm>
          <a:prstGeom prst="rect">
            <a:avLst/>
          </a:prstGeom>
          <a:solidFill>
            <a:srgbClr val="20C992"/>
          </a:solidFill>
          <a:ln w="12700">
            <a:noFill/>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96" name="TextBox 47"/>
          <p:cNvSpPr txBox="1"/>
          <p:nvPr/>
        </p:nvSpPr>
        <p:spPr>
          <a:xfrm>
            <a:off x="10634471" y="3584449"/>
            <a:ext cx="9601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FFFFFF"/>
                </a:solidFill>
                <a:latin typeface="+mj-lt"/>
                <a:ea typeface="+mj-ea"/>
                <a:cs typeface="+mj-cs"/>
                <a:sym typeface="Calibri"/>
              </a:defRPr>
            </a:lvl1pPr>
          </a:lstStyle>
          <a:p>
            <a:pPr/>
            <a:r>
              <a:rPr sz="1100">
                <a:solidFill>
                  <a:srgbClr val="FFFFFF"/>
                </a:solidFill>
              </a:rPr>
              <a:t>Live</a:t>
            </a:r>
          </a:p>
        </p:txBody>
      </p:sp>
      <p:sp>
        <p:nvSpPr>
          <p:cNvPr id="297" name="Rectangle 55"/>
          <p:cNvSpPr/>
          <p:nvPr/>
        </p:nvSpPr>
        <p:spPr>
          <a:xfrm>
            <a:off x="457199" y="4096510"/>
            <a:ext cx="11277297" cy="640085"/>
          </a:xfrm>
          <a:prstGeom prst="rect">
            <a:avLst/>
          </a:prstGeom>
          <a:solidFill>
            <a:srgbClr val="F8FAFC"/>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98" name="Rectangle 56"/>
          <p:cNvSpPr/>
          <p:nvPr/>
        </p:nvSpPr>
        <p:spPr>
          <a:xfrm>
            <a:off x="457198" y="4096510"/>
            <a:ext cx="45726" cy="640085"/>
          </a:xfrm>
          <a:prstGeom prst="rect">
            <a:avLst/>
          </a:prstGeom>
          <a:solidFill>
            <a:srgbClr val="94A3B8"/>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99" name="TextBox 57"/>
          <p:cNvSpPr txBox="1"/>
          <p:nvPr/>
        </p:nvSpPr>
        <p:spPr>
          <a:xfrm>
            <a:off x="630934" y="4151376"/>
            <a:ext cx="1645924" cy="2257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000045"/>
                </a:solidFill>
                <a:latin typeface="+mj-lt"/>
                <a:ea typeface="+mj-ea"/>
                <a:cs typeface="+mj-cs"/>
                <a:sym typeface="Calibri"/>
              </a:defRPr>
            </a:lvl1pPr>
          </a:lstStyle>
          <a:p>
            <a:pPr/>
            <a:r>
              <a:rPr sz="1100"/>
              <a:t>Screener, watchlist and charts</a:t>
            </a:r>
          </a:p>
        </p:txBody>
      </p:sp>
      <p:sp>
        <p:nvSpPr>
          <p:cNvPr id="301" name="TextBox 59"/>
          <p:cNvSpPr txBox="1"/>
          <p:nvPr/>
        </p:nvSpPr>
        <p:spPr>
          <a:xfrm>
            <a:off x="2624326" y="4151376"/>
            <a:ext cx="7680966"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000045"/>
                </a:solidFill>
                <a:latin typeface="+mj-lt"/>
                <a:ea typeface="+mj-ea"/>
                <a:cs typeface="+mj-cs"/>
                <a:sym typeface="Calibri"/>
              </a:defRPr>
            </a:lvl1pPr>
          </a:lstStyle>
          <a:p>
            <a:pPr/>
            <a:r>
              <a:rPr sz="1000"/>
              <a:t>Find stocks, follow them, chart and compare them</a:t>
            </a:r>
          </a:p>
        </p:txBody>
      </p:sp>
      <p:sp>
        <p:nvSpPr>
          <p:cNvPr id="302" name="Rectangle 60"/>
          <p:cNvSpPr/>
          <p:nvPr/>
        </p:nvSpPr>
        <p:spPr>
          <a:xfrm>
            <a:off x="10588752" y="4261103"/>
            <a:ext cx="1051565" cy="274325"/>
          </a:xfrm>
          <a:prstGeom prst="rect">
            <a:avLst/>
          </a:prstGeom>
          <a:solidFill>
            <a:srgbClr val="20C992"/>
          </a:solidFill>
          <a:ln w="12700">
            <a:noFill/>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303" name="TextBox 61"/>
          <p:cNvSpPr txBox="1"/>
          <p:nvPr/>
        </p:nvSpPr>
        <p:spPr>
          <a:xfrm>
            <a:off x="10634471" y="4261103"/>
            <a:ext cx="9601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FFFFFF"/>
                </a:solidFill>
                <a:latin typeface="+mj-lt"/>
                <a:ea typeface="+mj-ea"/>
                <a:cs typeface="+mj-cs"/>
                <a:sym typeface="Calibri"/>
              </a:defRPr>
            </a:lvl1pPr>
          </a:lstStyle>
          <a:p>
            <a:pPr/>
            <a:r>
              <a:rPr sz="1100">
                <a:solidFill>
                  <a:srgbClr val="FFFFFF"/>
                </a:solidFill>
              </a:rPr>
              <a:t>Live</a:t>
            </a:r>
          </a:p>
        </p:txBody>
      </p:sp>
      <p:sp>
        <p:nvSpPr>
          <p:cNvPr id="304" name="TextBox 40"/>
          <p:cNvSpPr txBox="1"/>
          <p:nvPr/>
        </p:nvSpPr>
        <p:spPr>
          <a:xfrm>
            <a:off x="502917" y="6537959"/>
            <a:ext cx="11185861" cy="2285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i="1" sz="1000">
                <a:solidFill>
                  <a:srgbClr val="475569"/>
                </a:solidFill>
                <a:latin typeface="+mj-lt"/>
                <a:ea typeface="+mj-ea"/>
                <a:cs typeface="+mj-cs"/>
                <a:sym typeface="Calibri"/>
              </a:defRPr>
            </a:lvl1pPr>
          </a:lstStyle>
          <a:p>
            <a:pPr/>
            <a:r>
              <a:rPr sz="900"/>
              <a:t>Source: X/@ypeooo · 30 Aug 2026 · Features Map · baseline v2.15</a:t>
            </a:r>
          </a:p>
        </p:txBody>
      </p:sp>
      <p:pic>
        <p:nvPicPr>
          <p:cNvPr id="305" name="Picture 1" descr="Picture 1"/>
          <p:cNvPicPr>
            <a:picLocks noChangeAspect="1"/>
          </p:cNvPicPr>
          <p:nvPr/>
        </p:nvPicPr>
        <p:blipFill>
          <a:blip r:embed="rId2">
            <a:extLst/>
          </a:blip>
          <a:stretch>
            <a:fillRect/>
          </a:stretch>
        </p:blipFill>
        <p:spPr>
          <a:xfrm>
            <a:off x="479144" y="371093"/>
            <a:ext cx="955130" cy="332389"/>
          </a:xfrm>
          <a:prstGeom prst="rect">
            <a:avLst/>
          </a:prstGeom>
          <a:ln w="12700">
            <a:miter lim="400000"/>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0" name="Shape 2"/>
          <p:cNvSpPr/>
          <p:nvPr/>
        </p:nvSpPr>
        <p:spPr>
          <a:xfrm>
            <a:off x="1508760" y="347472"/>
            <a:ext cx="5" cy="384053"/>
          </a:xfrm>
          <a:prstGeom prst="line">
            <a:avLst/>
          </a:prstGeom>
          <a:ln>
            <a:solidFill>
              <a:srgbClr val="E2E8F0"/>
            </a:solidFill>
          </a:ln>
        </p:spPr>
        <p:txBody>
          <a:bodyPr lIns="45718" tIns="45718" rIns="45718" bIns="45718"/>
          <a:lstStyle/>
          <a:p>
            <a:pPr/>
          </a:p>
        </p:txBody>
      </p:sp>
      <p:sp>
        <p:nvSpPr>
          <p:cNvPr id="261" name="Title"/>
          <p:cNvSpPr txBox="1"/>
          <p:nvPr/>
        </p:nvSpPr>
        <p:spPr>
          <a:xfrm>
            <a:off x="1645920" y="523940"/>
            <a:ext cx="91440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A7A7A7"/>
                </a:solidFill>
                <a:latin typeface="+mj-lt"/>
                <a:ea typeface="+mj-ea"/>
                <a:cs typeface="+mj-cs"/>
                <a:sym typeface="Calibri"/>
              </a:defRPr>
            </a:lvl1pPr>
          </a:lstStyle>
          <a:p>
            <a:pPr/>
            <a:r>
              <a:t>Capability Status — Research and Alerting</a:t>
            </a:r>
          </a:p>
        </p:txBody>
      </p:sp>
      <p:sp>
        <p:nvSpPr>
          <p:cNvPr id="262" name="Text 5"/>
          <p:cNvSpPr txBox="1"/>
          <p:nvPr/>
        </p:nvSpPr>
        <p:spPr>
          <a:xfrm>
            <a:off x="10362895" y="475532"/>
            <a:ext cx="1371605"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000">
                <a:solidFill>
                  <a:srgbClr val="141421"/>
                </a:solidFill>
                <a:latin typeface="+mj-lt"/>
                <a:ea typeface="+mj-ea"/>
                <a:cs typeface="+mj-cs"/>
                <a:sym typeface="Calibri"/>
              </a:defRPr>
            </a:lvl1pPr>
          </a:lstStyle>
          <a:p>
            <a:pPr/>
            <a:r>
              <a:t>04  /  8</a:t>
            </a:r>
          </a:p>
        </p:txBody>
      </p:sp>
      <p:sp>
        <p:nvSpPr>
          <p:cNvPr id="263" name="Shape 6"/>
          <p:cNvSpPr/>
          <p:nvPr/>
        </p:nvSpPr>
        <p:spPr>
          <a:xfrm>
            <a:off x="457196" y="868680"/>
            <a:ext cx="11277302" cy="5"/>
          </a:xfrm>
          <a:prstGeom prst="line">
            <a:avLst/>
          </a:prstGeom>
          <a:ln>
            <a:solidFill>
              <a:srgbClr val="E2E8F0"/>
            </a:solidFill>
          </a:ln>
        </p:spPr>
        <p:txBody>
          <a:bodyPr lIns="45718" tIns="45718" rIns="45718" bIns="45718"/>
          <a:lstStyle/>
          <a:p>
            <a:pPr/>
          </a:p>
        </p:txBody>
      </p:sp>
      <p:sp>
        <p:nvSpPr>
          <p:cNvPr id="264" name="Rectangle 8"/>
          <p:cNvSpPr/>
          <p:nvPr/>
        </p:nvSpPr>
        <p:spPr>
          <a:xfrm>
            <a:off x="457199" y="1005838"/>
            <a:ext cx="11277297" cy="347477"/>
          </a:xfrm>
          <a:prstGeom prst="rect">
            <a:avLst/>
          </a:prstGeom>
          <a:solidFill>
            <a:srgbClr val="000045"/>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65" name="TextBox 9"/>
          <p:cNvSpPr txBox="1"/>
          <p:nvPr/>
        </p:nvSpPr>
        <p:spPr>
          <a:xfrm>
            <a:off x="612646" y="1051561"/>
            <a:ext cx="16459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900">
                <a:solidFill>
                  <a:srgbClr val="FFFFFF"/>
                </a:solidFill>
                <a:latin typeface="+mj-lt"/>
                <a:ea typeface="+mj-ea"/>
                <a:cs typeface="+mj-cs"/>
                <a:sym typeface="Calibri"/>
              </a:defRPr>
            </a:lvl1pPr>
          </a:lstStyle>
          <a:p>
            <a:pPr/>
            <a:r>
              <a:rPr sz="1000"/>
              <a:t>CAPABILITY</a:t>
            </a:r>
          </a:p>
        </p:txBody>
      </p:sp>
      <p:sp>
        <p:nvSpPr>
          <p:cNvPr id="267" name="TextBox 11"/>
          <p:cNvSpPr txBox="1"/>
          <p:nvPr/>
        </p:nvSpPr>
        <p:spPr>
          <a:xfrm>
            <a:off x="2624326" y="1051561"/>
            <a:ext cx="7680966"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900">
                <a:solidFill>
                  <a:srgbClr val="FFFFFF"/>
                </a:solidFill>
                <a:latin typeface="+mj-lt"/>
                <a:ea typeface="+mj-ea"/>
                <a:cs typeface="+mj-cs"/>
                <a:sym typeface="Calibri"/>
              </a:defRPr>
            </a:lvl1pPr>
          </a:lstStyle>
          <a:p>
            <a:pPr/>
            <a:r>
              <a:rPr sz="1000"/>
              <a:t>WHAT IS IT</a:t>
            </a:r>
          </a:p>
        </p:txBody>
      </p:sp>
      <p:sp>
        <p:nvSpPr>
          <p:cNvPr id="268" name="TextBox 12"/>
          <p:cNvSpPr txBox="1"/>
          <p:nvPr/>
        </p:nvSpPr>
        <p:spPr>
          <a:xfrm>
            <a:off x="10671047" y="1051561"/>
            <a:ext cx="91440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900">
                <a:solidFill>
                  <a:srgbClr val="FFFFFF"/>
                </a:solidFill>
                <a:latin typeface="+mj-lt"/>
                <a:ea typeface="+mj-ea"/>
                <a:cs typeface="+mj-cs"/>
                <a:sym typeface="Calibri"/>
              </a:defRPr>
            </a:lvl1pPr>
          </a:lstStyle>
          <a:p>
            <a:pPr/>
            <a:r>
              <a:rPr sz="1000"/>
              <a:t>STATUS</a:t>
            </a:r>
          </a:p>
        </p:txBody>
      </p:sp>
      <p:sp>
        <p:nvSpPr>
          <p:cNvPr id="269" name="Rectangle 13"/>
          <p:cNvSpPr/>
          <p:nvPr/>
        </p:nvSpPr>
        <p:spPr>
          <a:xfrm>
            <a:off x="457199" y="1389888"/>
            <a:ext cx="11277297" cy="640086"/>
          </a:xfrm>
          <a:prstGeom prst="rect">
            <a:avLst/>
          </a:prstGeom>
          <a:solidFill>
            <a:srgbClr val="F8FAFC"/>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70" name="Rectangle 14"/>
          <p:cNvSpPr/>
          <p:nvPr/>
        </p:nvSpPr>
        <p:spPr>
          <a:xfrm>
            <a:off x="457198" y="1389888"/>
            <a:ext cx="45726" cy="640086"/>
          </a:xfrm>
          <a:prstGeom prst="rect">
            <a:avLst/>
          </a:prstGeom>
          <a:solidFill>
            <a:srgbClr val="F1B53D"/>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71" name="TextBox 15"/>
          <p:cNvSpPr txBox="1"/>
          <p:nvPr/>
        </p:nvSpPr>
        <p:spPr>
          <a:xfrm>
            <a:off x="630934" y="1444752"/>
            <a:ext cx="1645924" cy="2257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000045"/>
                </a:solidFill>
                <a:latin typeface="+mj-lt"/>
                <a:ea typeface="+mj-ea"/>
                <a:cs typeface="+mj-cs"/>
                <a:sym typeface="Calibri"/>
              </a:defRPr>
            </a:lvl1pPr>
          </a:lstStyle>
          <a:p>
            <a:pPr/>
            <a:r>
              <a:rPr sz="1100"/>
              <a:t>US price alerts</a:t>
            </a:r>
          </a:p>
        </p:txBody>
      </p:sp>
      <p:sp>
        <p:nvSpPr>
          <p:cNvPr id="273" name="TextBox 17"/>
          <p:cNvSpPr txBox="1"/>
          <p:nvPr/>
        </p:nvSpPr>
        <p:spPr>
          <a:xfrm>
            <a:off x="2624326" y="1444752"/>
            <a:ext cx="7680966"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000045"/>
                </a:solidFill>
                <a:latin typeface="+mj-lt"/>
                <a:ea typeface="+mj-ea"/>
                <a:cs typeface="+mj-cs"/>
                <a:sym typeface="Calibri"/>
              </a:defRPr>
            </a:lvl1pPr>
          </a:lstStyle>
          <a:p>
            <a:pPr/>
            <a:r>
              <a:rPr sz="1000"/>
              <a:t>Alert when a US stock hits a target price</a:t>
            </a:r>
          </a:p>
        </p:txBody>
      </p:sp>
      <p:sp>
        <p:nvSpPr>
          <p:cNvPr id="274" name="Rectangle 18"/>
          <p:cNvSpPr/>
          <p:nvPr/>
        </p:nvSpPr>
        <p:spPr>
          <a:xfrm>
            <a:off x="10588752" y="1554481"/>
            <a:ext cx="1051565" cy="274322"/>
          </a:xfrm>
          <a:prstGeom prst="rect">
            <a:avLst/>
          </a:prstGeom>
          <a:solidFill>
            <a:srgbClr val="00B2FF"/>
          </a:solidFill>
          <a:ln w="12700">
            <a:noFill/>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75" name="TextBox 19"/>
          <p:cNvSpPr txBox="1"/>
          <p:nvPr/>
        </p:nvSpPr>
        <p:spPr>
          <a:xfrm>
            <a:off x="10634471" y="1554480"/>
            <a:ext cx="9601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000045"/>
                </a:solidFill>
                <a:latin typeface="+mj-lt"/>
                <a:ea typeface="+mj-ea"/>
                <a:cs typeface="+mj-cs"/>
                <a:sym typeface="Calibri"/>
              </a:defRPr>
            </a:lvl1pPr>
          </a:lstStyle>
          <a:p>
            <a:pPr/>
            <a:r>
              <a:rPr sz="1100">
                <a:solidFill>
                  <a:srgbClr val="FFFFFF"/>
                </a:solidFill>
              </a:rPr>
              <a:t>Planned</a:t>
            </a:r>
          </a:p>
        </p:txBody>
      </p:sp>
      <p:sp>
        <p:nvSpPr>
          <p:cNvPr id="276" name="Rectangle 20"/>
          <p:cNvSpPr/>
          <p:nvPr/>
        </p:nvSpPr>
        <p:spPr>
          <a:xfrm>
            <a:off x="457199" y="2066543"/>
            <a:ext cx="11277297" cy="640085"/>
          </a:xfrm>
          <a:prstGeom prst="rect">
            <a:avLst/>
          </a:prstGeom>
          <a:solidFill>
            <a:srgbClr val="FFFFFF"/>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77" name="Rectangle 21"/>
          <p:cNvSpPr/>
          <p:nvPr/>
        </p:nvSpPr>
        <p:spPr>
          <a:xfrm>
            <a:off x="457198" y="2066543"/>
            <a:ext cx="45726" cy="640085"/>
          </a:xfrm>
          <a:prstGeom prst="rect">
            <a:avLst/>
          </a:prstGeom>
          <a:solidFill>
            <a:srgbClr val="F1B53D"/>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78" name="TextBox 22"/>
          <p:cNvSpPr txBox="1"/>
          <p:nvPr/>
        </p:nvSpPr>
        <p:spPr>
          <a:xfrm>
            <a:off x="630934" y="2121410"/>
            <a:ext cx="1645924" cy="2257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000045"/>
                </a:solidFill>
                <a:latin typeface="+mj-lt"/>
                <a:ea typeface="+mj-ea"/>
                <a:cs typeface="+mj-cs"/>
                <a:sym typeface="Calibri"/>
              </a:defRPr>
            </a:lvl1pPr>
          </a:lstStyle>
          <a:p>
            <a:pPr/>
            <a:r>
              <a:rPr sz="1100"/>
              <a:t>News and earnings alerts</a:t>
            </a:r>
          </a:p>
        </p:txBody>
      </p:sp>
      <p:sp>
        <p:nvSpPr>
          <p:cNvPr id="280" name="TextBox 24"/>
          <p:cNvSpPr txBox="1"/>
          <p:nvPr/>
        </p:nvSpPr>
        <p:spPr>
          <a:xfrm>
            <a:off x="2624326" y="2121410"/>
            <a:ext cx="7680966"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000045"/>
                </a:solidFill>
                <a:latin typeface="+mj-lt"/>
                <a:ea typeface="+mj-ea"/>
                <a:cs typeface="+mj-cs"/>
                <a:sym typeface="Calibri"/>
              </a:defRPr>
            </a:lvl1pPr>
          </a:lstStyle>
          <a:p>
            <a:pPr/>
            <a:r>
              <a:rPr sz="1000"/>
              <a:t>Push when a holding makes news or reports</a:t>
            </a:r>
          </a:p>
        </p:txBody>
      </p:sp>
      <p:sp>
        <p:nvSpPr>
          <p:cNvPr id="281" name="Rectangle 25"/>
          <p:cNvSpPr/>
          <p:nvPr/>
        </p:nvSpPr>
        <p:spPr>
          <a:xfrm>
            <a:off x="10588752" y="2231133"/>
            <a:ext cx="1051565" cy="274326"/>
          </a:xfrm>
          <a:prstGeom prst="rect">
            <a:avLst/>
          </a:prstGeom>
          <a:solidFill>
            <a:srgbClr val="20C992"/>
          </a:solidFill>
          <a:ln w="12700">
            <a:noFill/>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82" name="TextBox 26"/>
          <p:cNvSpPr txBox="1"/>
          <p:nvPr/>
        </p:nvSpPr>
        <p:spPr>
          <a:xfrm>
            <a:off x="10634471" y="2231137"/>
            <a:ext cx="9601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000045"/>
                </a:solidFill>
                <a:latin typeface="+mj-lt"/>
                <a:ea typeface="+mj-ea"/>
                <a:cs typeface="+mj-cs"/>
                <a:sym typeface="Calibri"/>
              </a:defRPr>
            </a:lvl1pPr>
          </a:lstStyle>
          <a:p>
            <a:pPr/>
            <a:r>
              <a:rPr sz="1100">
                <a:solidFill>
                  <a:srgbClr val="FFFFFF"/>
                </a:solidFill>
              </a:rPr>
              <a:t>Live</a:t>
            </a:r>
          </a:p>
        </p:txBody>
      </p:sp>
      <p:sp>
        <p:nvSpPr>
          <p:cNvPr id="283" name="Rectangle 34"/>
          <p:cNvSpPr/>
          <p:nvPr/>
        </p:nvSpPr>
        <p:spPr>
          <a:xfrm>
            <a:off x="457199" y="2743199"/>
            <a:ext cx="11277297" cy="640086"/>
          </a:xfrm>
          <a:prstGeom prst="rect">
            <a:avLst/>
          </a:prstGeom>
          <a:solidFill>
            <a:srgbClr val="FFFFFF"/>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84" name="Rectangle 35"/>
          <p:cNvSpPr/>
          <p:nvPr/>
        </p:nvSpPr>
        <p:spPr>
          <a:xfrm>
            <a:off x="457198" y="2743199"/>
            <a:ext cx="45726" cy="640086"/>
          </a:xfrm>
          <a:prstGeom prst="rect">
            <a:avLst/>
          </a:prstGeom>
          <a:solidFill>
            <a:srgbClr val="94A3B8"/>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85" name="TextBox 36"/>
          <p:cNvSpPr txBox="1"/>
          <p:nvPr/>
        </p:nvSpPr>
        <p:spPr>
          <a:xfrm>
            <a:off x="630934" y="2798066"/>
            <a:ext cx="1645924" cy="2257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000045"/>
                </a:solidFill>
                <a:latin typeface="+mj-lt"/>
                <a:ea typeface="+mj-ea"/>
                <a:cs typeface="+mj-cs"/>
                <a:sym typeface="Calibri"/>
              </a:defRPr>
            </a:lvl1pPr>
          </a:lstStyle>
          <a:p>
            <a:pPr/>
            <a:r>
              <a:rPr sz="1100"/>
              <a:t>Valuation ratios — P/E, PEG</a:t>
            </a:r>
          </a:p>
        </p:txBody>
      </p:sp>
      <p:sp>
        <p:nvSpPr>
          <p:cNvPr id="287" name="TextBox 38"/>
          <p:cNvSpPr txBox="1"/>
          <p:nvPr/>
        </p:nvSpPr>
        <p:spPr>
          <a:xfrm>
            <a:off x="2624326" y="2798066"/>
            <a:ext cx="7680966"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000045"/>
                </a:solidFill>
                <a:latin typeface="+mj-lt"/>
                <a:ea typeface="+mj-ea"/>
                <a:cs typeface="+mj-cs"/>
                <a:sym typeface="Calibri"/>
              </a:defRPr>
            </a:lvl1pPr>
          </a:lstStyle>
          <a:p>
            <a:pPr/>
            <a:r>
              <a:rPr sz="1000"/>
              <a:t>Price-to-earnings and growth-adjusted multiples</a:t>
            </a:r>
          </a:p>
        </p:txBody>
      </p:sp>
      <p:sp>
        <p:nvSpPr>
          <p:cNvPr id="288" name="Rectangle 39"/>
          <p:cNvSpPr/>
          <p:nvPr/>
        </p:nvSpPr>
        <p:spPr>
          <a:xfrm>
            <a:off x="10588752" y="2907788"/>
            <a:ext cx="1051565" cy="274325"/>
          </a:xfrm>
          <a:prstGeom prst="rect">
            <a:avLst/>
          </a:prstGeom>
          <a:solidFill>
            <a:srgbClr val="00B2FF"/>
          </a:solidFill>
          <a:ln w="12700">
            <a:noFill/>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89" name="TextBox 40"/>
          <p:cNvSpPr txBox="1"/>
          <p:nvPr/>
        </p:nvSpPr>
        <p:spPr>
          <a:xfrm>
            <a:off x="10634471" y="2907792"/>
            <a:ext cx="9601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FFFFFF"/>
                </a:solidFill>
                <a:latin typeface="+mj-lt"/>
                <a:ea typeface="+mj-ea"/>
                <a:cs typeface="+mj-cs"/>
                <a:sym typeface="Calibri"/>
              </a:defRPr>
            </a:lvl1pPr>
          </a:lstStyle>
          <a:p>
            <a:pPr/>
            <a:r>
              <a:rPr sz="1100">
                <a:solidFill>
                  <a:srgbClr val="FFFFFF"/>
                </a:solidFill>
              </a:rPr>
              <a:t>Planned</a:t>
            </a:r>
          </a:p>
        </p:txBody>
      </p:sp>
      <p:sp>
        <p:nvSpPr>
          <p:cNvPr id="290" name="Rectangle 41"/>
          <p:cNvSpPr/>
          <p:nvPr/>
        </p:nvSpPr>
        <p:spPr>
          <a:xfrm>
            <a:off x="457199" y="3419857"/>
            <a:ext cx="11277297" cy="640085"/>
          </a:xfrm>
          <a:prstGeom prst="rect">
            <a:avLst/>
          </a:prstGeom>
          <a:solidFill>
            <a:srgbClr val="F8FAFC"/>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91" name="Rectangle 42"/>
          <p:cNvSpPr/>
          <p:nvPr/>
        </p:nvSpPr>
        <p:spPr>
          <a:xfrm>
            <a:off x="457198" y="3419857"/>
            <a:ext cx="45726" cy="640085"/>
          </a:xfrm>
          <a:prstGeom prst="rect">
            <a:avLst/>
          </a:prstGeom>
          <a:solidFill>
            <a:srgbClr val="94A3B8"/>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92" name="TextBox 43"/>
          <p:cNvSpPr txBox="1"/>
          <p:nvPr/>
        </p:nvSpPr>
        <p:spPr>
          <a:xfrm>
            <a:off x="630934" y="3474722"/>
            <a:ext cx="1645924" cy="2257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000045"/>
                </a:solidFill>
                <a:latin typeface="+mj-lt"/>
                <a:ea typeface="+mj-ea"/>
                <a:cs typeface="+mj-cs"/>
                <a:sym typeface="Calibri"/>
              </a:defRPr>
            </a:lvl1pPr>
          </a:lstStyle>
          <a:p>
            <a:pPr/>
            <a:r>
              <a:rPr sz="1100"/>
              <a:t>Stock watchlist</a:t>
            </a:r>
          </a:p>
        </p:txBody>
      </p:sp>
      <p:sp>
        <p:nvSpPr>
          <p:cNvPr id="294" name="TextBox 45"/>
          <p:cNvSpPr txBox="1"/>
          <p:nvPr/>
        </p:nvSpPr>
        <p:spPr>
          <a:xfrm>
            <a:off x="2624326" y="3474722"/>
            <a:ext cx="7680966" cy="2285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000045"/>
                </a:solidFill>
                <a:latin typeface="+mj-lt"/>
                <a:ea typeface="+mj-ea"/>
                <a:cs typeface="+mj-cs"/>
                <a:sym typeface="Calibri"/>
              </a:defRPr>
            </a:lvl1pPr>
          </a:lstStyle>
          <a:p>
            <a:pPr/>
            <a:r>
              <a:rPr sz="1000"/>
              <a:t>Track US stocks without holding them</a:t>
            </a:r>
          </a:p>
        </p:txBody>
      </p:sp>
      <p:sp>
        <p:nvSpPr>
          <p:cNvPr id="295" name="Rectangle 46"/>
          <p:cNvSpPr/>
          <p:nvPr/>
        </p:nvSpPr>
        <p:spPr>
          <a:xfrm>
            <a:off x="10588752" y="3584447"/>
            <a:ext cx="1051565" cy="274325"/>
          </a:xfrm>
          <a:prstGeom prst="rect">
            <a:avLst/>
          </a:prstGeom>
          <a:solidFill>
            <a:srgbClr val="20C992"/>
          </a:solidFill>
          <a:ln w="12700">
            <a:noFill/>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96" name="TextBox 47"/>
          <p:cNvSpPr txBox="1"/>
          <p:nvPr/>
        </p:nvSpPr>
        <p:spPr>
          <a:xfrm>
            <a:off x="10634471" y="3584449"/>
            <a:ext cx="9601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FFFFFF"/>
                </a:solidFill>
                <a:latin typeface="+mj-lt"/>
                <a:ea typeface="+mj-ea"/>
                <a:cs typeface="+mj-cs"/>
                <a:sym typeface="Calibri"/>
              </a:defRPr>
            </a:lvl1pPr>
          </a:lstStyle>
          <a:p>
            <a:pPr/>
            <a:r>
              <a:rPr sz="1100">
                <a:solidFill>
                  <a:srgbClr val="FFFFFF"/>
                </a:solidFill>
              </a:rPr>
              <a:t>Live</a:t>
            </a:r>
          </a:p>
        </p:txBody>
      </p:sp>
      <p:sp>
        <p:nvSpPr>
          <p:cNvPr id="297" name="Rectangle 55"/>
          <p:cNvSpPr/>
          <p:nvPr/>
        </p:nvSpPr>
        <p:spPr>
          <a:xfrm>
            <a:off x="457199" y="4096510"/>
            <a:ext cx="11277297" cy="640085"/>
          </a:xfrm>
          <a:prstGeom prst="rect">
            <a:avLst/>
          </a:prstGeom>
          <a:solidFill>
            <a:srgbClr val="F8FAFC"/>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98" name="Rectangle 56"/>
          <p:cNvSpPr/>
          <p:nvPr/>
        </p:nvSpPr>
        <p:spPr>
          <a:xfrm>
            <a:off x="457198" y="4096510"/>
            <a:ext cx="45726" cy="640085"/>
          </a:xfrm>
          <a:prstGeom prst="rect">
            <a:avLst/>
          </a:prstGeom>
          <a:solidFill>
            <a:srgbClr val="94A3B8"/>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99" name="TextBox 57"/>
          <p:cNvSpPr txBox="1"/>
          <p:nvPr/>
        </p:nvSpPr>
        <p:spPr>
          <a:xfrm>
            <a:off x="630934" y="4151376"/>
            <a:ext cx="1645924" cy="2257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000045"/>
                </a:solidFill>
                <a:latin typeface="+mj-lt"/>
                <a:ea typeface="+mj-ea"/>
                <a:cs typeface="+mj-cs"/>
                <a:sym typeface="Calibri"/>
              </a:defRPr>
            </a:lvl1pPr>
          </a:lstStyle>
          <a:p>
            <a:pPr/>
            <a:r>
              <a:rPr sz="1100"/>
              <a:t>Fund watchlist</a:t>
            </a:r>
          </a:p>
        </p:txBody>
      </p:sp>
      <p:sp>
        <p:nvSpPr>
          <p:cNvPr id="301" name="TextBox 59"/>
          <p:cNvSpPr txBox="1"/>
          <p:nvPr/>
        </p:nvSpPr>
        <p:spPr>
          <a:xfrm>
            <a:off x="2624326" y="4151376"/>
            <a:ext cx="7680966"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000045"/>
                </a:solidFill>
                <a:latin typeface="+mj-lt"/>
                <a:ea typeface="+mj-ea"/>
                <a:cs typeface="+mj-cs"/>
                <a:sym typeface="Calibri"/>
              </a:defRPr>
            </a:lvl1pPr>
          </a:lstStyle>
          <a:p>
            <a:pPr/>
            <a:r>
              <a:rPr sz="1000"/>
              <a:t>Track mutual funds without holding them</a:t>
            </a:r>
          </a:p>
        </p:txBody>
      </p:sp>
      <p:sp>
        <p:nvSpPr>
          <p:cNvPr id="302" name="Rectangle 60"/>
          <p:cNvSpPr/>
          <p:nvPr/>
        </p:nvSpPr>
        <p:spPr>
          <a:xfrm>
            <a:off x="10588752" y="4261103"/>
            <a:ext cx="1051565" cy="274325"/>
          </a:xfrm>
          <a:prstGeom prst="rect">
            <a:avLst/>
          </a:prstGeom>
          <a:solidFill>
            <a:srgbClr val="F43653"/>
          </a:solidFill>
          <a:ln w="12700">
            <a:noFill/>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303" name="TextBox 61"/>
          <p:cNvSpPr txBox="1"/>
          <p:nvPr/>
        </p:nvSpPr>
        <p:spPr>
          <a:xfrm>
            <a:off x="10634471" y="4261103"/>
            <a:ext cx="9601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FFFFFF"/>
                </a:solidFill>
                <a:latin typeface="+mj-lt"/>
                <a:ea typeface="+mj-ea"/>
                <a:cs typeface="+mj-cs"/>
                <a:sym typeface="Calibri"/>
              </a:defRPr>
            </a:lvl1pPr>
          </a:lstStyle>
          <a:p>
            <a:pPr/>
            <a:r>
              <a:rPr sz="1100">
                <a:solidFill>
                  <a:srgbClr val="FFFFFF"/>
                </a:solidFill>
              </a:rPr>
              <a:t>Gap</a:t>
            </a:r>
          </a:p>
        </p:txBody>
      </p:sp>
      <p:sp>
        <p:nvSpPr>
          <p:cNvPr id="304" name="TextBox 40"/>
          <p:cNvSpPr txBox="1"/>
          <p:nvPr/>
        </p:nvSpPr>
        <p:spPr>
          <a:xfrm>
            <a:off x="502917" y="6537959"/>
            <a:ext cx="11185861" cy="2285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i="1" sz="1000">
                <a:solidFill>
                  <a:srgbClr val="475569"/>
                </a:solidFill>
                <a:latin typeface="+mj-lt"/>
                <a:ea typeface="+mj-ea"/>
                <a:cs typeface="+mj-cs"/>
                <a:sym typeface="Calibri"/>
              </a:defRPr>
            </a:lvl1pPr>
          </a:lstStyle>
          <a:p>
            <a:pPr/>
            <a:r>
              <a:rPr sz="900"/>
              <a:t>Source: X/@ypeooo · 30 Aug 2026 · Features Map · baseline v2.15</a:t>
            </a:r>
          </a:p>
        </p:txBody>
      </p:sp>
      <p:pic>
        <p:nvPicPr>
          <p:cNvPr id="305" name="Picture 1" descr="Picture 1"/>
          <p:cNvPicPr>
            <a:picLocks noChangeAspect="1"/>
          </p:cNvPicPr>
          <p:nvPr/>
        </p:nvPicPr>
        <p:blipFill>
          <a:blip r:embed="rId2">
            <a:extLst/>
          </a:blip>
          <a:stretch>
            <a:fillRect/>
          </a:stretch>
        </p:blipFill>
        <p:spPr>
          <a:xfrm>
            <a:off x="479144" y="371093"/>
            <a:ext cx="955130" cy="332389"/>
          </a:xfrm>
          <a:prstGeom prst="rect">
            <a:avLst/>
          </a:prstGeom>
          <a:ln w="12700">
            <a:miter lim="400000"/>
          </a:ln>
        </p:spPr>
      </p:pic>
      <p:sp>
        <p:nvSpPr>
          <p:cNvPr id="297" name="Rectangle 55"/>
          <p:cNvSpPr/>
          <p:nvPr/>
        </p:nvSpPr>
        <p:spPr>
          <a:xfrm>
            <a:off x="457199" y="4774690"/>
            <a:ext cx="11277297" cy="640085"/>
          </a:xfrm>
          <a:prstGeom prst="rect">
            <a:avLst/>
          </a:prstGeom>
          <a:solidFill>
            <a:srgbClr val="F8FAFC"/>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98" name="Rectangle 56"/>
          <p:cNvSpPr/>
          <p:nvPr/>
        </p:nvSpPr>
        <p:spPr>
          <a:xfrm>
            <a:off x="457198" y="4774690"/>
            <a:ext cx="45726" cy="640085"/>
          </a:xfrm>
          <a:prstGeom prst="rect">
            <a:avLst/>
          </a:prstGeom>
          <a:solidFill>
            <a:srgbClr val="94A3B8"/>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99" name="TextBox 57"/>
          <p:cNvSpPr txBox="1"/>
          <p:nvPr/>
        </p:nvSpPr>
        <p:spPr>
          <a:xfrm>
            <a:off x="630934" y="4829556"/>
            <a:ext cx="1645924" cy="2257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000045"/>
                </a:solidFill>
                <a:latin typeface="+mj-lt"/>
                <a:ea typeface="+mj-ea"/>
                <a:cs typeface="+mj-cs"/>
                <a:sym typeface="Calibri"/>
              </a:defRPr>
            </a:lvl1pPr>
          </a:lstStyle>
          <a:p>
            <a:pPr/>
            <a:r>
              <a:rPr sz="1100"/>
              <a:t>TradingView chart</a:t>
            </a:r>
          </a:p>
        </p:txBody>
      </p:sp>
      <p:sp>
        <p:nvSpPr>
          <p:cNvPr id="301" name="TextBox 59"/>
          <p:cNvSpPr txBox="1"/>
          <p:nvPr/>
        </p:nvSpPr>
        <p:spPr>
          <a:xfrm>
            <a:off x="2624326" y="4829556"/>
            <a:ext cx="7680966"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000045"/>
                </a:solidFill>
                <a:latin typeface="+mj-lt"/>
                <a:ea typeface="+mj-ea"/>
                <a:cs typeface="+mj-cs"/>
                <a:sym typeface="Calibri"/>
              </a:defRPr>
            </a:lvl1pPr>
          </a:lstStyle>
          <a:p>
            <a:pPr/>
            <a:r>
              <a:rPr sz="1000"/>
              <a:t>Advanced charting and technical analysis</a:t>
            </a:r>
          </a:p>
        </p:txBody>
      </p:sp>
      <p:sp>
        <p:nvSpPr>
          <p:cNvPr id="302" name="Rectangle 60"/>
          <p:cNvSpPr/>
          <p:nvPr/>
        </p:nvSpPr>
        <p:spPr>
          <a:xfrm>
            <a:off x="10588752" y="4939283"/>
            <a:ext cx="1051565" cy="274325"/>
          </a:xfrm>
          <a:prstGeom prst="rect">
            <a:avLst/>
          </a:prstGeom>
          <a:solidFill>
            <a:srgbClr val="20C992"/>
          </a:solidFill>
          <a:ln w="12700">
            <a:noFill/>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303" name="TextBox 61"/>
          <p:cNvSpPr txBox="1"/>
          <p:nvPr/>
        </p:nvSpPr>
        <p:spPr>
          <a:xfrm>
            <a:off x="10634471" y="4939283"/>
            <a:ext cx="9601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FFFFFF"/>
                </a:solidFill>
                <a:latin typeface="+mj-lt"/>
                <a:ea typeface="+mj-ea"/>
                <a:cs typeface="+mj-cs"/>
                <a:sym typeface="Calibri"/>
              </a:defRPr>
            </a:lvl1pPr>
          </a:lstStyle>
          <a:p>
            <a:pPr/>
            <a:r>
              <a:rPr sz="1100">
                <a:solidFill>
                  <a:srgbClr val="FFFFFF"/>
                </a:solidFill>
              </a:rPr>
              <a:t>Live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0" name="Shape 2"/>
          <p:cNvSpPr/>
          <p:nvPr/>
        </p:nvSpPr>
        <p:spPr>
          <a:xfrm>
            <a:off x="1508760" y="347472"/>
            <a:ext cx="5" cy="384053"/>
          </a:xfrm>
          <a:prstGeom prst="line">
            <a:avLst/>
          </a:prstGeom>
          <a:ln>
            <a:solidFill>
              <a:srgbClr val="E2E8F0"/>
            </a:solidFill>
          </a:ln>
        </p:spPr>
        <p:txBody>
          <a:bodyPr lIns="45718" tIns="45718" rIns="45718" bIns="45718"/>
          <a:lstStyle/>
          <a:p>
            <a:pPr/>
          </a:p>
        </p:txBody>
      </p:sp>
      <p:sp>
        <p:nvSpPr>
          <p:cNvPr id="261" name="Title"/>
          <p:cNvSpPr txBox="1"/>
          <p:nvPr/>
        </p:nvSpPr>
        <p:spPr>
          <a:xfrm>
            <a:off x="1645920" y="523940"/>
            <a:ext cx="91440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A7A7A7"/>
                </a:solidFill>
                <a:latin typeface="+mj-lt"/>
                <a:ea typeface="+mj-ea"/>
                <a:cs typeface="+mj-cs"/>
                <a:sym typeface="Calibri"/>
              </a:defRPr>
            </a:lvl1pPr>
          </a:lstStyle>
          <a:p>
            <a:pPr/>
            <a:r>
              <a:t>Capability Status — Asset Coverage</a:t>
            </a:r>
          </a:p>
        </p:txBody>
      </p:sp>
      <p:sp>
        <p:nvSpPr>
          <p:cNvPr id="262" name="Text 5"/>
          <p:cNvSpPr txBox="1"/>
          <p:nvPr/>
        </p:nvSpPr>
        <p:spPr>
          <a:xfrm>
            <a:off x="10362895" y="475532"/>
            <a:ext cx="1371605"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000">
                <a:solidFill>
                  <a:srgbClr val="141421"/>
                </a:solidFill>
                <a:latin typeface="+mj-lt"/>
                <a:ea typeface="+mj-ea"/>
                <a:cs typeface="+mj-cs"/>
                <a:sym typeface="Calibri"/>
              </a:defRPr>
            </a:lvl1pPr>
          </a:lstStyle>
          <a:p>
            <a:pPr/>
            <a:r>
              <a:t>05  /  8</a:t>
            </a:r>
          </a:p>
        </p:txBody>
      </p:sp>
      <p:sp>
        <p:nvSpPr>
          <p:cNvPr id="263" name="Shape 6"/>
          <p:cNvSpPr/>
          <p:nvPr/>
        </p:nvSpPr>
        <p:spPr>
          <a:xfrm>
            <a:off x="457196" y="868680"/>
            <a:ext cx="11277302" cy="5"/>
          </a:xfrm>
          <a:prstGeom prst="line">
            <a:avLst/>
          </a:prstGeom>
          <a:ln>
            <a:solidFill>
              <a:srgbClr val="E2E8F0"/>
            </a:solidFill>
          </a:ln>
        </p:spPr>
        <p:txBody>
          <a:bodyPr lIns="45718" tIns="45718" rIns="45718" bIns="45718"/>
          <a:lstStyle/>
          <a:p>
            <a:pPr/>
          </a:p>
        </p:txBody>
      </p:sp>
      <p:sp>
        <p:nvSpPr>
          <p:cNvPr id="264" name="Rectangle 8"/>
          <p:cNvSpPr/>
          <p:nvPr/>
        </p:nvSpPr>
        <p:spPr>
          <a:xfrm>
            <a:off x="457199" y="1005838"/>
            <a:ext cx="11277297" cy="347477"/>
          </a:xfrm>
          <a:prstGeom prst="rect">
            <a:avLst/>
          </a:prstGeom>
          <a:solidFill>
            <a:srgbClr val="000045"/>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65" name="TextBox 9"/>
          <p:cNvSpPr txBox="1"/>
          <p:nvPr/>
        </p:nvSpPr>
        <p:spPr>
          <a:xfrm>
            <a:off x="612646" y="1051561"/>
            <a:ext cx="16459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900">
                <a:solidFill>
                  <a:srgbClr val="FFFFFF"/>
                </a:solidFill>
                <a:latin typeface="+mj-lt"/>
                <a:ea typeface="+mj-ea"/>
                <a:cs typeface="+mj-cs"/>
                <a:sym typeface="Calibri"/>
              </a:defRPr>
            </a:lvl1pPr>
          </a:lstStyle>
          <a:p>
            <a:pPr/>
            <a:r>
              <a:rPr sz="1000"/>
              <a:t>ASSET CLASS</a:t>
            </a:r>
          </a:p>
        </p:txBody>
      </p:sp>
      <p:sp>
        <p:nvSpPr>
          <p:cNvPr id="267" name="TextBox 11"/>
          <p:cNvSpPr txBox="1"/>
          <p:nvPr/>
        </p:nvSpPr>
        <p:spPr>
          <a:xfrm>
            <a:off x="2624326" y="1051561"/>
            <a:ext cx="7680966"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900">
                <a:solidFill>
                  <a:srgbClr val="FFFFFF"/>
                </a:solidFill>
                <a:latin typeface="+mj-lt"/>
                <a:ea typeface="+mj-ea"/>
                <a:cs typeface="+mj-cs"/>
                <a:sym typeface="Calibri"/>
              </a:defRPr>
            </a:lvl1pPr>
          </a:lstStyle>
          <a:p>
            <a:pPr/>
            <a:r>
              <a:rPr sz="1000"/>
              <a:t>WHAT IS IT</a:t>
            </a:r>
          </a:p>
        </p:txBody>
      </p:sp>
      <p:sp>
        <p:nvSpPr>
          <p:cNvPr id="268" name="TextBox 12"/>
          <p:cNvSpPr txBox="1"/>
          <p:nvPr/>
        </p:nvSpPr>
        <p:spPr>
          <a:xfrm>
            <a:off x="10671047" y="1051561"/>
            <a:ext cx="91440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900">
                <a:solidFill>
                  <a:srgbClr val="FFFFFF"/>
                </a:solidFill>
                <a:latin typeface="+mj-lt"/>
                <a:ea typeface="+mj-ea"/>
                <a:cs typeface="+mj-cs"/>
                <a:sym typeface="Calibri"/>
              </a:defRPr>
            </a:lvl1pPr>
          </a:lstStyle>
          <a:p>
            <a:pPr/>
            <a:r>
              <a:rPr sz="1000"/>
              <a:t>STATUS</a:t>
            </a:r>
          </a:p>
        </p:txBody>
      </p:sp>
      <p:sp>
        <p:nvSpPr>
          <p:cNvPr id="269" name="Rectangle 13"/>
          <p:cNvSpPr/>
          <p:nvPr/>
        </p:nvSpPr>
        <p:spPr>
          <a:xfrm>
            <a:off x="457199" y="1389888"/>
            <a:ext cx="11277297" cy="640086"/>
          </a:xfrm>
          <a:prstGeom prst="rect">
            <a:avLst/>
          </a:prstGeom>
          <a:solidFill>
            <a:srgbClr val="F8FAFC"/>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70" name="Rectangle 14"/>
          <p:cNvSpPr/>
          <p:nvPr/>
        </p:nvSpPr>
        <p:spPr>
          <a:xfrm>
            <a:off x="457198" y="1389888"/>
            <a:ext cx="45726" cy="640086"/>
          </a:xfrm>
          <a:prstGeom prst="rect">
            <a:avLst/>
          </a:prstGeom>
          <a:solidFill>
            <a:srgbClr val="F1B53D"/>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71" name="TextBox 15"/>
          <p:cNvSpPr txBox="1"/>
          <p:nvPr/>
        </p:nvSpPr>
        <p:spPr>
          <a:xfrm>
            <a:off x="630934" y="1444752"/>
            <a:ext cx="1645924" cy="2257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000045"/>
                </a:solidFill>
                <a:latin typeface="+mj-lt"/>
                <a:ea typeface="+mj-ea"/>
                <a:cs typeface="+mj-cs"/>
                <a:sym typeface="Calibri"/>
              </a:defRPr>
            </a:lvl1pPr>
          </a:lstStyle>
          <a:p>
            <a:pPr/>
            <a:r>
              <a:rPr sz="1100"/>
              <a:t>Indices</a:t>
            </a:r>
          </a:p>
        </p:txBody>
      </p:sp>
      <p:sp>
        <p:nvSpPr>
          <p:cNvPr id="273" name="TextBox 17"/>
          <p:cNvSpPr txBox="1"/>
          <p:nvPr/>
        </p:nvSpPr>
        <p:spPr>
          <a:xfrm>
            <a:off x="2624326" y="1444752"/>
            <a:ext cx="7680966"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000045"/>
                </a:solidFill>
                <a:latin typeface="+mj-lt"/>
                <a:ea typeface="+mj-ea"/>
                <a:cs typeface="+mj-cs"/>
                <a:sym typeface="Calibri"/>
              </a:defRPr>
            </a:lvl1pPr>
          </a:lstStyle>
          <a:p>
            <a:pPr/>
            <a:r>
              <a:rPr sz="1000"/>
              <a:t>S&amp;P 500, Nasdaq, Dow and index pages</a:t>
            </a:r>
          </a:p>
        </p:txBody>
      </p:sp>
      <p:sp>
        <p:nvSpPr>
          <p:cNvPr id="274" name="Rectangle 18"/>
          <p:cNvSpPr/>
          <p:nvPr/>
        </p:nvSpPr>
        <p:spPr>
          <a:xfrm>
            <a:off x="10588752" y="1554481"/>
            <a:ext cx="1051565" cy="274322"/>
          </a:xfrm>
          <a:prstGeom prst="rect">
            <a:avLst/>
          </a:prstGeom>
          <a:solidFill>
            <a:srgbClr val="20C992"/>
          </a:solidFill>
          <a:ln w="12700">
            <a:noFill/>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75" name="TextBox 19"/>
          <p:cNvSpPr txBox="1"/>
          <p:nvPr/>
        </p:nvSpPr>
        <p:spPr>
          <a:xfrm>
            <a:off x="10634471" y="1554480"/>
            <a:ext cx="9601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000045"/>
                </a:solidFill>
                <a:latin typeface="+mj-lt"/>
                <a:ea typeface="+mj-ea"/>
                <a:cs typeface="+mj-cs"/>
                <a:sym typeface="Calibri"/>
              </a:defRPr>
            </a:lvl1pPr>
          </a:lstStyle>
          <a:p>
            <a:pPr/>
            <a:r>
              <a:rPr sz="1100">
                <a:solidFill>
                  <a:srgbClr val="FFFFFF"/>
                </a:solidFill>
              </a:rPr>
              <a:t>Live</a:t>
            </a:r>
          </a:p>
        </p:txBody>
      </p:sp>
      <p:sp>
        <p:nvSpPr>
          <p:cNvPr id="276" name="Rectangle 20"/>
          <p:cNvSpPr/>
          <p:nvPr/>
        </p:nvSpPr>
        <p:spPr>
          <a:xfrm>
            <a:off x="457199" y="2066543"/>
            <a:ext cx="11277297" cy="640085"/>
          </a:xfrm>
          <a:prstGeom prst="rect">
            <a:avLst/>
          </a:prstGeom>
          <a:solidFill>
            <a:srgbClr val="FFFFFF"/>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77" name="Rectangle 21"/>
          <p:cNvSpPr/>
          <p:nvPr/>
        </p:nvSpPr>
        <p:spPr>
          <a:xfrm>
            <a:off x="457198" y="2066543"/>
            <a:ext cx="45726" cy="640085"/>
          </a:xfrm>
          <a:prstGeom prst="rect">
            <a:avLst/>
          </a:prstGeom>
          <a:solidFill>
            <a:srgbClr val="F1B53D"/>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78" name="TextBox 22"/>
          <p:cNvSpPr txBox="1"/>
          <p:nvPr/>
        </p:nvSpPr>
        <p:spPr>
          <a:xfrm>
            <a:off x="630934" y="2121410"/>
            <a:ext cx="1645924" cy="2257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000045"/>
                </a:solidFill>
                <a:latin typeface="+mj-lt"/>
                <a:ea typeface="+mj-ea"/>
                <a:cs typeface="+mj-cs"/>
                <a:sym typeface="Calibri"/>
              </a:defRPr>
            </a:lvl1pPr>
          </a:lstStyle>
          <a:p>
            <a:pPr/>
            <a:r>
              <a:rPr sz="1100"/>
              <a:t>Commodities</a:t>
            </a:r>
          </a:p>
        </p:txBody>
      </p:sp>
      <p:sp>
        <p:nvSpPr>
          <p:cNvPr id="280" name="TextBox 24"/>
          <p:cNvSpPr txBox="1"/>
          <p:nvPr/>
        </p:nvSpPr>
        <p:spPr>
          <a:xfrm>
            <a:off x="2624326" y="2121410"/>
            <a:ext cx="7680966"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000045"/>
                </a:solidFill>
                <a:latin typeface="+mj-lt"/>
                <a:ea typeface="+mj-ea"/>
                <a:cs typeface="+mj-cs"/>
                <a:sym typeface="Calibri"/>
              </a:defRPr>
            </a:lvl1pPr>
          </a:lstStyle>
          <a:p>
            <a:pPr/>
            <a:r>
              <a:rPr sz="1000"/>
              <a:t>Gold and commodity prices</a:t>
            </a:r>
          </a:p>
        </p:txBody>
      </p:sp>
      <p:sp>
        <p:nvSpPr>
          <p:cNvPr id="281" name="Rectangle 25"/>
          <p:cNvSpPr/>
          <p:nvPr/>
        </p:nvSpPr>
        <p:spPr>
          <a:xfrm>
            <a:off x="10588752" y="2231133"/>
            <a:ext cx="1051565" cy="274326"/>
          </a:xfrm>
          <a:prstGeom prst="rect">
            <a:avLst/>
          </a:prstGeom>
          <a:solidFill>
            <a:srgbClr val="20C992"/>
          </a:solidFill>
          <a:ln w="12700">
            <a:noFill/>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82" name="TextBox 26"/>
          <p:cNvSpPr txBox="1"/>
          <p:nvPr/>
        </p:nvSpPr>
        <p:spPr>
          <a:xfrm>
            <a:off x="10634471" y="2231137"/>
            <a:ext cx="9601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000045"/>
                </a:solidFill>
                <a:latin typeface="+mj-lt"/>
                <a:ea typeface="+mj-ea"/>
                <a:cs typeface="+mj-cs"/>
                <a:sym typeface="Calibri"/>
              </a:defRPr>
            </a:lvl1pPr>
          </a:lstStyle>
          <a:p>
            <a:pPr/>
            <a:r>
              <a:rPr sz="1100">
                <a:solidFill>
                  <a:srgbClr val="FFFFFF"/>
                </a:solidFill>
              </a:rPr>
              <a:t>Live</a:t>
            </a:r>
          </a:p>
        </p:txBody>
      </p:sp>
      <p:sp>
        <p:nvSpPr>
          <p:cNvPr id="283" name="Rectangle 34"/>
          <p:cNvSpPr/>
          <p:nvPr/>
        </p:nvSpPr>
        <p:spPr>
          <a:xfrm>
            <a:off x="457199" y="2743199"/>
            <a:ext cx="11277297" cy="640086"/>
          </a:xfrm>
          <a:prstGeom prst="rect">
            <a:avLst/>
          </a:prstGeom>
          <a:solidFill>
            <a:srgbClr val="FFFFFF"/>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84" name="Rectangle 35"/>
          <p:cNvSpPr/>
          <p:nvPr/>
        </p:nvSpPr>
        <p:spPr>
          <a:xfrm>
            <a:off x="457198" y="2743199"/>
            <a:ext cx="45726" cy="640086"/>
          </a:xfrm>
          <a:prstGeom prst="rect">
            <a:avLst/>
          </a:prstGeom>
          <a:solidFill>
            <a:srgbClr val="94A3B8"/>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85" name="TextBox 36"/>
          <p:cNvSpPr txBox="1"/>
          <p:nvPr/>
        </p:nvSpPr>
        <p:spPr>
          <a:xfrm>
            <a:off x="630934" y="2798066"/>
            <a:ext cx="1645924" cy="2257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000045"/>
                </a:solidFill>
                <a:latin typeface="+mj-lt"/>
                <a:ea typeface="+mj-ea"/>
                <a:cs typeface="+mj-cs"/>
                <a:sym typeface="Calibri"/>
              </a:defRPr>
            </a:lvl1pPr>
          </a:lstStyle>
          <a:p>
            <a:pPr/>
            <a:r>
              <a:rPr sz="1100"/>
              <a:t>ETFs</a:t>
            </a:r>
          </a:p>
        </p:txBody>
      </p:sp>
      <p:sp>
        <p:nvSpPr>
          <p:cNvPr id="287" name="TextBox 38"/>
          <p:cNvSpPr txBox="1"/>
          <p:nvPr/>
        </p:nvSpPr>
        <p:spPr>
          <a:xfrm>
            <a:off x="2624326" y="2798066"/>
            <a:ext cx="7680966"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000045"/>
                </a:solidFill>
                <a:latin typeface="+mj-lt"/>
                <a:ea typeface="+mj-ea"/>
                <a:cs typeface="+mj-cs"/>
                <a:sym typeface="Calibri"/>
              </a:defRPr>
            </a:lvl1pPr>
          </a:lstStyle>
          <a:p>
            <a:pPr/>
            <a:r>
              <a:rPr sz="1000"/>
              <a:t>Exchange-traded funds list and detail</a:t>
            </a:r>
          </a:p>
        </p:txBody>
      </p:sp>
      <p:sp>
        <p:nvSpPr>
          <p:cNvPr id="288" name="Rectangle 39"/>
          <p:cNvSpPr/>
          <p:nvPr/>
        </p:nvSpPr>
        <p:spPr>
          <a:xfrm>
            <a:off x="10588752" y="2907788"/>
            <a:ext cx="1051565" cy="274325"/>
          </a:xfrm>
          <a:prstGeom prst="rect">
            <a:avLst/>
          </a:prstGeom>
          <a:solidFill>
            <a:srgbClr val="F43653"/>
          </a:solidFill>
          <a:ln w="12700">
            <a:noFill/>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89" name="TextBox 40"/>
          <p:cNvSpPr txBox="1"/>
          <p:nvPr/>
        </p:nvSpPr>
        <p:spPr>
          <a:xfrm>
            <a:off x="10634471" y="2907792"/>
            <a:ext cx="9601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FFFFFF"/>
                </a:solidFill>
                <a:latin typeface="+mj-lt"/>
                <a:ea typeface="+mj-ea"/>
                <a:cs typeface="+mj-cs"/>
                <a:sym typeface="Calibri"/>
              </a:defRPr>
            </a:lvl1pPr>
          </a:lstStyle>
          <a:p>
            <a:pPr/>
            <a:r>
              <a:rPr sz="1100">
                <a:solidFill>
                  <a:srgbClr val="FFFFFF"/>
                </a:solidFill>
              </a:rPr>
              <a:t>Gap</a:t>
            </a:r>
          </a:p>
        </p:txBody>
      </p:sp>
      <p:sp>
        <p:nvSpPr>
          <p:cNvPr id="290" name="Rectangle 41"/>
          <p:cNvSpPr/>
          <p:nvPr/>
        </p:nvSpPr>
        <p:spPr>
          <a:xfrm>
            <a:off x="457199" y="3419857"/>
            <a:ext cx="11277297" cy="640085"/>
          </a:xfrm>
          <a:prstGeom prst="rect">
            <a:avLst/>
          </a:prstGeom>
          <a:solidFill>
            <a:srgbClr val="F8FAFC"/>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91" name="Rectangle 42"/>
          <p:cNvSpPr/>
          <p:nvPr/>
        </p:nvSpPr>
        <p:spPr>
          <a:xfrm>
            <a:off x="457198" y="3419857"/>
            <a:ext cx="45726" cy="640085"/>
          </a:xfrm>
          <a:prstGeom prst="rect">
            <a:avLst/>
          </a:prstGeom>
          <a:solidFill>
            <a:srgbClr val="94A3B8"/>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92" name="TextBox 43"/>
          <p:cNvSpPr txBox="1"/>
          <p:nvPr/>
        </p:nvSpPr>
        <p:spPr>
          <a:xfrm>
            <a:off x="630934" y="3474722"/>
            <a:ext cx="1645924" cy="2257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000045"/>
                </a:solidFill>
                <a:latin typeface="+mj-lt"/>
                <a:ea typeface="+mj-ea"/>
                <a:cs typeface="+mj-cs"/>
                <a:sym typeface="Calibri"/>
              </a:defRPr>
            </a:lvl1pPr>
          </a:lstStyle>
          <a:p>
            <a:pPr/>
            <a:r>
              <a:rPr sz="1100"/>
              <a:t>Currencies</a:t>
            </a:r>
          </a:p>
        </p:txBody>
      </p:sp>
      <p:sp>
        <p:nvSpPr>
          <p:cNvPr id="294" name="TextBox 45"/>
          <p:cNvSpPr txBox="1"/>
          <p:nvPr/>
        </p:nvSpPr>
        <p:spPr>
          <a:xfrm>
            <a:off x="2624326" y="3474722"/>
            <a:ext cx="7680966" cy="2285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000045"/>
                </a:solidFill>
                <a:latin typeface="+mj-lt"/>
                <a:ea typeface="+mj-ea"/>
                <a:cs typeface="+mj-cs"/>
                <a:sym typeface="Calibri"/>
              </a:defRPr>
            </a:lvl1pPr>
          </a:lstStyle>
          <a:p>
            <a:pPr/>
            <a:r>
              <a:rPr sz="1000"/>
              <a:t>FX pairs and currency rates</a:t>
            </a:r>
          </a:p>
        </p:txBody>
      </p:sp>
      <p:sp>
        <p:nvSpPr>
          <p:cNvPr id="295" name="Rectangle 46"/>
          <p:cNvSpPr/>
          <p:nvPr/>
        </p:nvSpPr>
        <p:spPr>
          <a:xfrm>
            <a:off x="10588752" y="3584447"/>
            <a:ext cx="1051565" cy="274325"/>
          </a:xfrm>
          <a:prstGeom prst="rect">
            <a:avLst/>
          </a:prstGeom>
          <a:solidFill>
            <a:srgbClr val="F43653"/>
          </a:solidFill>
          <a:ln w="12700">
            <a:noFill/>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96" name="TextBox 47"/>
          <p:cNvSpPr txBox="1"/>
          <p:nvPr/>
        </p:nvSpPr>
        <p:spPr>
          <a:xfrm>
            <a:off x="10634471" y="3584449"/>
            <a:ext cx="9601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FFFFFF"/>
                </a:solidFill>
                <a:latin typeface="+mj-lt"/>
                <a:ea typeface="+mj-ea"/>
                <a:cs typeface="+mj-cs"/>
                <a:sym typeface="Calibri"/>
              </a:defRPr>
            </a:lvl1pPr>
          </a:lstStyle>
          <a:p>
            <a:pPr/>
            <a:r>
              <a:rPr sz="1100">
                <a:solidFill>
                  <a:srgbClr val="FFFFFF"/>
                </a:solidFill>
              </a:rPr>
              <a:t>Gap</a:t>
            </a:r>
          </a:p>
        </p:txBody>
      </p:sp>
      <p:sp>
        <p:nvSpPr>
          <p:cNvPr id="297" name="Rectangle 55"/>
          <p:cNvSpPr/>
          <p:nvPr/>
        </p:nvSpPr>
        <p:spPr>
          <a:xfrm>
            <a:off x="457199" y="4096510"/>
            <a:ext cx="11277297" cy="640085"/>
          </a:xfrm>
          <a:prstGeom prst="rect">
            <a:avLst/>
          </a:prstGeom>
          <a:solidFill>
            <a:srgbClr val="F8FAFC"/>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98" name="Rectangle 56"/>
          <p:cNvSpPr/>
          <p:nvPr/>
        </p:nvSpPr>
        <p:spPr>
          <a:xfrm>
            <a:off x="457198" y="4096510"/>
            <a:ext cx="45726" cy="640085"/>
          </a:xfrm>
          <a:prstGeom prst="rect">
            <a:avLst/>
          </a:prstGeom>
          <a:solidFill>
            <a:srgbClr val="94A3B8"/>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99" name="TextBox 57"/>
          <p:cNvSpPr txBox="1"/>
          <p:nvPr/>
        </p:nvSpPr>
        <p:spPr>
          <a:xfrm>
            <a:off x="630934" y="4151376"/>
            <a:ext cx="1645924" cy="2257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000045"/>
                </a:solidFill>
                <a:latin typeface="+mj-lt"/>
                <a:ea typeface="+mj-ea"/>
                <a:cs typeface="+mj-cs"/>
                <a:sym typeface="Calibri"/>
              </a:defRPr>
            </a:lvl1pPr>
          </a:lstStyle>
          <a:p>
            <a:pPr/>
            <a:r>
              <a:rPr sz="1100"/>
              <a:t>Crypto</a:t>
            </a:r>
          </a:p>
        </p:txBody>
      </p:sp>
      <p:sp>
        <p:nvSpPr>
          <p:cNvPr id="301" name="TextBox 59"/>
          <p:cNvSpPr txBox="1"/>
          <p:nvPr/>
        </p:nvSpPr>
        <p:spPr>
          <a:xfrm>
            <a:off x="2624326" y="4151376"/>
            <a:ext cx="7680966"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000045"/>
                </a:solidFill>
                <a:latin typeface="+mj-lt"/>
                <a:ea typeface="+mj-ea"/>
                <a:cs typeface="+mj-cs"/>
                <a:sym typeface="Calibri"/>
              </a:defRPr>
            </a:lvl1pPr>
          </a:lstStyle>
          <a:p>
            <a:pPr/>
            <a:r>
              <a:rPr sz="1000"/>
              <a:t>Digital asset prices — RED under Decision Rights</a:t>
            </a:r>
          </a:p>
        </p:txBody>
      </p:sp>
      <p:sp>
        <p:nvSpPr>
          <p:cNvPr id="302" name="Rectangle 60"/>
          <p:cNvSpPr/>
          <p:nvPr/>
        </p:nvSpPr>
        <p:spPr>
          <a:xfrm>
            <a:off x="10588752" y="4261103"/>
            <a:ext cx="1051565" cy="274325"/>
          </a:xfrm>
          <a:prstGeom prst="rect">
            <a:avLst/>
          </a:prstGeom>
          <a:solidFill>
            <a:srgbClr val="F43653"/>
          </a:solidFill>
          <a:ln w="12700">
            <a:noFill/>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303" name="TextBox 61"/>
          <p:cNvSpPr txBox="1"/>
          <p:nvPr/>
        </p:nvSpPr>
        <p:spPr>
          <a:xfrm>
            <a:off x="10634471" y="4261103"/>
            <a:ext cx="9601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FFFFFF"/>
                </a:solidFill>
                <a:latin typeface="+mj-lt"/>
                <a:ea typeface="+mj-ea"/>
                <a:cs typeface="+mj-cs"/>
                <a:sym typeface="Calibri"/>
              </a:defRPr>
            </a:lvl1pPr>
          </a:lstStyle>
          <a:p>
            <a:pPr/>
            <a:r>
              <a:rPr sz="1100">
                <a:solidFill>
                  <a:srgbClr val="FFFFFF"/>
                </a:solidFill>
              </a:rPr>
              <a:t>Gap</a:t>
            </a:r>
          </a:p>
        </p:txBody>
      </p:sp>
      <p:sp>
        <p:nvSpPr>
          <p:cNvPr id="304" name="TextBox 40"/>
          <p:cNvSpPr txBox="1"/>
          <p:nvPr/>
        </p:nvSpPr>
        <p:spPr>
          <a:xfrm>
            <a:off x="502917" y="6537959"/>
            <a:ext cx="11185861" cy="2285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i="1" sz="1000">
                <a:solidFill>
                  <a:srgbClr val="475569"/>
                </a:solidFill>
                <a:latin typeface="+mj-lt"/>
                <a:ea typeface="+mj-ea"/>
                <a:cs typeface="+mj-cs"/>
                <a:sym typeface="Calibri"/>
              </a:defRPr>
            </a:lvl1pPr>
          </a:lstStyle>
          <a:p>
            <a:pPr/>
            <a:r>
              <a:rPr sz="900"/>
              <a:t>Source: X/@ypeooo · 30 Aug 2026 · Features Map · baseline v2.15</a:t>
            </a:r>
          </a:p>
        </p:txBody>
      </p:sp>
      <p:pic>
        <p:nvPicPr>
          <p:cNvPr id="305" name="Picture 1" descr="Picture 1"/>
          <p:cNvPicPr>
            <a:picLocks noChangeAspect="1"/>
          </p:cNvPicPr>
          <p:nvPr/>
        </p:nvPicPr>
        <p:blipFill>
          <a:blip r:embed="rId2">
            <a:extLst/>
          </a:blip>
          <a:stretch>
            <a:fillRect/>
          </a:stretch>
        </p:blipFill>
        <p:spPr>
          <a:xfrm>
            <a:off x="479144" y="371093"/>
            <a:ext cx="955130" cy="332389"/>
          </a:xfrm>
          <a:prstGeom prst="rect">
            <a:avLst/>
          </a:prstGeom>
          <a:ln w="12700">
            <a:miter lim="400000"/>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0" name="Shape 2"/>
          <p:cNvSpPr/>
          <p:nvPr/>
        </p:nvSpPr>
        <p:spPr>
          <a:xfrm>
            <a:off x="1508760" y="347472"/>
            <a:ext cx="5" cy="384053"/>
          </a:xfrm>
          <a:prstGeom prst="line">
            <a:avLst/>
          </a:prstGeom>
          <a:ln>
            <a:solidFill>
              <a:srgbClr val="E2E8F0"/>
            </a:solidFill>
          </a:ln>
        </p:spPr>
        <p:txBody>
          <a:bodyPr lIns="45718" tIns="45718" rIns="45718" bIns="45718"/>
          <a:lstStyle/>
          <a:p>
            <a:pPr/>
          </a:p>
        </p:txBody>
      </p:sp>
      <p:sp>
        <p:nvSpPr>
          <p:cNvPr id="261" name="Title"/>
          <p:cNvSpPr txBox="1"/>
          <p:nvPr/>
        </p:nvSpPr>
        <p:spPr>
          <a:xfrm>
            <a:off x="1645920" y="523940"/>
            <a:ext cx="91440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A7A7A7"/>
                </a:solidFill>
                <a:latin typeface="+mj-lt"/>
                <a:ea typeface="+mj-ea"/>
                <a:cs typeface="+mj-cs"/>
                <a:sym typeface="Calibri"/>
              </a:defRPr>
            </a:lvl1pPr>
          </a:lstStyle>
          <a:p>
            <a:pPr/>
            <a:r>
              <a:t>Where ARC Is Ahead — Yahoo Has No Equivalent</a:t>
            </a:r>
          </a:p>
        </p:txBody>
      </p:sp>
      <p:sp>
        <p:nvSpPr>
          <p:cNvPr id="262" name="Text 5"/>
          <p:cNvSpPr txBox="1"/>
          <p:nvPr/>
        </p:nvSpPr>
        <p:spPr>
          <a:xfrm>
            <a:off x="10362895" y="475532"/>
            <a:ext cx="1371605"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000">
                <a:solidFill>
                  <a:srgbClr val="141421"/>
                </a:solidFill>
                <a:latin typeface="+mj-lt"/>
                <a:ea typeface="+mj-ea"/>
                <a:cs typeface="+mj-cs"/>
                <a:sym typeface="Calibri"/>
              </a:defRPr>
            </a:lvl1pPr>
          </a:lstStyle>
          <a:p>
            <a:pPr/>
            <a:r>
              <a:t>06  /  8</a:t>
            </a:r>
          </a:p>
        </p:txBody>
      </p:sp>
      <p:sp>
        <p:nvSpPr>
          <p:cNvPr id="263" name="Shape 6"/>
          <p:cNvSpPr/>
          <p:nvPr/>
        </p:nvSpPr>
        <p:spPr>
          <a:xfrm>
            <a:off x="457196" y="868680"/>
            <a:ext cx="11277302" cy="5"/>
          </a:xfrm>
          <a:prstGeom prst="line">
            <a:avLst/>
          </a:prstGeom>
          <a:ln>
            <a:solidFill>
              <a:srgbClr val="E2E8F0"/>
            </a:solidFill>
          </a:ln>
        </p:spPr>
        <p:txBody>
          <a:bodyPr lIns="45718" tIns="45718" rIns="45718" bIns="45718"/>
          <a:lstStyle/>
          <a:p>
            <a:pPr/>
          </a:p>
        </p:txBody>
      </p:sp>
      <p:sp>
        <p:nvSpPr>
          <p:cNvPr id="264" name="Rectangle 8"/>
          <p:cNvSpPr/>
          <p:nvPr/>
        </p:nvSpPr>
        <p:spPr>
          <a:xfrm>
            <a:off x="457199" y="1005838"/>
            <a:ext cx="11277297" cy="347477"/>
          </a:xfrm>
          <a:prstGeom prst="rect">
            <a:avLst/>
          </a:prstGeom>
          <a:solidFill>
            <a:srgbClr val="000045"/>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65" name="TextBox 9"/>
          <p:cNvSpPr txBox="1"/>
          <p:nvPr/>
        </p:nvSpPr>
        <p:spPr>
          <a:xfrm>
            <a:off x="612646" y="1051561"/>
            <a:ext cx="16459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900">
                <a:solidFill>
                  <a:srgbClr val="FFFFFF"/>
                </a:solidFill>
                <a:latin typeface="+mj-lt"/>
                <a:ea typeface="+mj-ea"/>
                <a:cs typeface="+mj-cs"/>
                <a:sym typeface="Calibri"/>
              </a:defRPr>
            </a:lvl1pPr>
          </a:lstStyle>
          <a:p>
            <a:pPr/>
            <a:r>
              <a:rPr sz="1000"/>
              <a:t>ARC CAPABILITY</a:t>
            </a:r>
          </a:p>
        </p:txBody>
      </p:sp>
      <p:sp>
        <p:nvSpPr>
          <p:cNvPr id="267" name="TextBox 11"/>
          <p:cNvSpPr txBox="1"/>
          <p:nvPr/>
        </p:nvSpPr>
        <p:spPr>
          <a:xfrm>
            <a:off x="2624326" y="1051561"/>
            <a:ext cx="7680966"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900">
                <a:solidFill>
                  <a:srgbClr val="FFFFFF"/>
                </a:solidFill>
                <a:latin typeface="+mj-lt"/>
                <a:ea typeface="+mj-ea"/>
                <a:cs typeface="+mj-cs"/>
                <a:sym typeface="Calibri"/>
              </a:defRPr>
            </a:lvl1pPr>
          </a:lstStyle>
          <a:p>
            <a:pPr/>
            <a:r>
              <a:rPr sz="1000"/>
              <a:t>WHAT IS IT</a:t>
            </a:r>
          </a:p>
        </p:txBody>
      </p:sp>
      <p:sp>
        <p:nvSpPr>
          <p:cNvPr id="268" name="TextBox 12"/>
          <p:cNvSpPr txBox="1"/>
          <p:nvPr/>
        </p:nvSpPr>
        <p:spPr>
          <a:xfrm>
            <a:off x="10671047" y="1051561"/>
            <a:ext cx="91440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900">
                <a:solidFill>
                  <a:srgbClr val="FFFFFF"/>
                </a:solidFill>
                <a:latin typeface="+mj-lt"/>
                <a:ea typeface="+mj-ea"/>
                <a:cs typeface="+mj-cs"/>
                <a:sym typeface="Calibri"/>
              </a:defRPr>
            </a:lvl1pPr>
          </a:lstStyle>
          <a:p>
            <a:pPr/>
            <a:r>
              <a:rPr sz="1000"/>
              <a:t>STATUS</a:t>
            </a:r>
          </a:p>
        </p:txBody>
      </p:sp>
      <p:sp>
        <p:nvSpPr>
          <p:cNvPr id="269" name="Rectangle 13"/>
          <p:cNvSpPr/>
          <p:nvPr/>
        </p:nvSpPr>
        <p:spPr>
          <a:xfrm>
            <a:off x="457199" y="1389888"/>
            <a:ext cx="11277297" cy="640086"/>
          </a:xfrm>
          <a:prstGeom prst="rect">
            <a:avLst/>
          </a:prstGeom>
          <a:solidFill>
            <a:srgbClr val="F8FAFC"/>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70" name="Rectangle 14"/>
          <p:cNvSpPr/>
          <p:nvPr/>
        </p:nvSpPr>
        <p:spPr>
          <a:xfrm>
            <a:off x="457198" y="1389888"/>
            <a:ext cx="45726" cy="640086"/>
          </a:xfrm>
          <a:prstGeom prst="rect">
            <a:avLst/>
          </a:prstGeom>
          <a:solidFill>
            <a:srgbClr val="F1B53D"/>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71" name="TextBox 15"/>
          <p:cNvSpPr txBox="1"/>
          <p:nvPr/>
        </p:nvSpPr>
        <p:spPr>
          <a:xfrm>
            <a:off x="630934" y="1444752"/>
            <a:ext cx="1645924" cy="2257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000045"/>
                </a:solidFill>
                <a:latin typeface="+mj-lt"/>
                <a:ea typeface="+mj-ea"/>
                <a:cs typeface="+mj-cs"/>
                <a:sym typeface="Calibri"/>
              </a:defRPr>
            </a:lvl1pPr>
          </a:lstStyle>
          <a:p>
            <a:pPr/>
            <a:r>
              <a:rPr sz="1100"/>
              <a:t>Execution</a:t>
            </a:r>
          </a:p>
        </p:txBody>
      </p:sp>
      <p:sp>
        <p:nvSpPr>
          <p:cNvPr id="273" name="TextBox 17"/>
          <p:cNvSpPr txBox="1"/>
          <p:nvPr/>
        </p:nvSpPr>
        <p:spPr>
          <a:xfrm>
            <a:off x="2624326" y="1444752"/>
            <a:ext cx="7680966"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000045"/>
                </a:solidFill>
                <a:latin typeface="+mj-lt"/>
                <a:ea typeface="+mj-ea"/>
                <a:cs typeface="+mj-cs"/>
                <a:sym typeface="Calibri"/>
              </a:defRPr>
            </a:lvl1pPr>
          </a:lstStyle>
          <a:p>
            <a:pPr/>
            <a:r>
              <a:rPr sz="1000"/>
              <a:t>Buy and sell the stock you are researching, in the same app</a:t>
            </a:r>
          </a:p>
        </p:txBody>
      </p:sp>
      <p:sp>
        <p:nvSpPr>
          <p:cNvPr id="274" name="Rectangle 18"/>
          <p:cNvSpPr/>
          <p:nvPr/>
        </p:nvSpPr>
        <p:spPr>
          <a:xfrm>
            <a:off x="10588752" y="1554481"/>
            <a:ext cx="1051565" cy="274322"/>
          </a:xfrm>
          <a:prstGeom prst="rect">
            <a:avLst/>
          </a:prstGeom>
          <a:solidFill>
            <a:srgbClr val="20C992"/>
          </a:solidFill>
          <a:ln w="12700">
            <a:noFill/>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75" name="TextBox 19"/>
          <p:cNvSpPr txBox="1"/>
          <p:nvPr/>
        </p:nvSpPr>
        <p:spPr>
          <a:xfrm>
            <a:off x="10634471" y="1554480"/>
            <a:ext cx="9601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000045"/>
                </a:solidFill>
                <a:latin typeface="+mj-lt"/>
                <a:ea typeface="+mj-ea"/>
                <a:cs typeface="+mj-cs"/>
                <a:sym typeface="Calibri"/>
              </a:defRPr>
            </a:lvl1pPr>
          </a:lstStyle>
          <a:p>
            <a:pPr/>
            <a:r>
              <a:rPr sz="1100">
                <a:solidFill>
                  <a:srgbClr val="FFFFFF"/>
                </a:solidFill>
              </a:rPr>
              <a:t>Live</a:t>
            </a:r>
          </a:p>
        </p:txBody>
      </p:sp>
      <p:sp>
        <p:nvSpPr>
          <p:cNvPr id="276" name="Rectangle 20"/>
          <p:cNvSpPr/>
          <p:nvPr/>
        </p:nvSpPr>
        <p:spPr>
          <a:xfrm>
            <a:off x="457199" y="2066543"/>
            <a:ext cx="11277297" cy="640085"/>
          </a:xfrm>
          <a:prstGeom prst="rect">
            <a:avLst/>
          </a:prstGeom>
          <a:solidFill>
            <a:srgbClr val="FFFFFF"/>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77" name="Rectangle 21"/>
          <p:cNvSpPr/>
          <p:nvPr/>
        </p:nvSpPr>
        <p:spPr>
          <a:xfrm>
            <a:off x="457198" y="2066543"/>
            <a:ext cx="45726" cy="640085"/>
          </a:xfrm>
          <a:prstGeom prst="rect">
            <a:avLst/>
          </a:prstGeom>
          <a:solidFill>
            <a:srgbClr val="F1B53D"/>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78" name="TextBox 22"/>
          <p:cNvSpPr txBox="1"/>
          <p:nvPr/>
        </p:nvSpPr>
        <p:spPr>
          <a:xfrm>
            <a:off x="630934" y="2121410"/>
            <a:ext cx="1645924" cy="2257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000045"/>
                </a:solidFill>
                <a:latin typeface="+mj-lt"/>
                <a:ea typeface="+mj-ea"/>
                <a:cs typeface="+mj-cs"/>
                <a:sym typeface="Calibri"/>
              </a:defRPr>
            </a:lvl1pPr>
          </a:lstStyle>
          <a:p>
            <a:pPr/>
            <a:r>
              <a:rPr sz="1100"/>
              <a:t>Options chain</a:t>
            </a:r>
          </a:p>
        </p:txBody>
      </p:sp>
      <p:sp>
        <p:nvSpPr>
          <p:cNvPr id="280" name="TextBox 24"/>
          <p:cNvSpPr txBox="1"/>
          <p:nvPr/>
        </p:nvSpPr>
        <p:spPr>
          <a:xfrm>
            <a:off x="2624326" y="2121410"/>
            <a:ext cx="7680966"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000045"/>
                </a:solidFill>
                <a:latin typeface="+mj-lt"/>
                <a:ea typeface="+mj-ea"/>
                <a:cs typeface="+mj-cs"/>
                <a:sym typeface="Calibri"/>
              </a:defRPr>
            </a:lvl1pPr>
          </a:lstStyle>
          <a:p>
            <a:pPr/>
            <a:r>
              <a:rPr sz="1000"/>
              <a:t>Every contract, strike and expiry with full detail</a:t>
            </a:r>
          </a:p>
        </p:txBody>
      </p:sp>
      <p:sp>
        <p:nvSpPr>
          <p:cNvPr id="281" name="Rectangle 25"/>
          <p:cNvSpPr/>
          <p:nvPr/>
        </p:nvSpPr>
        <p:spPr>
          <a:xfrm>
            <a:off x="10588752" y="2231133"/>
            <a:ext cx="1051565" cy="274326"/>
          </a:xfrm>
          <a:prstGeom prst="rect">
            <a:avLst/>
          </a:prstGeom>
          <a:solidFill>
            <a:srgbClr val="20C992"/>
          </a:solidFill>
          <a:ln w="12700">
            <a:noFill/>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82" name="TextBox 26"/>
          <p:cNvSpPr txBox="1"/>
          <p:nvPr/>
        </p:nvSpPr>
        <p:spPr>
          <a:xfrm>
            <a:off x="10634471" y="2231137"/>
            <a:ext cx="9601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000045"/>
                </a:solidFill>
                <a:latin typeface="+mj-lt"/>
                <a:ea typeface="+mj-ea"/>
                <a:cs typeface="+mj-cs"/>
                <a:sym typeface="Calibri"/>
              </a:defRPr>
            </a:lvl1pPr>
          </a:lstStyle>
          <a:p>
            <a:pPr/>
            <a:r>
              <a:rPr sz="1100">
                <a:solidFill>
                  <a:srgbClr val="FFFFFF"/>
                </a:solidFill>
              </a:rPr>
              <a:t>Live</a:t>
            </a:r>
          </a:p>
        </p:txBody>
      </p:sp>
      <p:sp>
        <p:nvSpPr>
          <p:cNvPr id="283" name="Rectangle 34"/>
          <p:cNvSpPr/>
          <p:nvPr/>
        </p:nvSpPr>
        <p:spPr>
          <a:xfrm>
            <a:off x="457199" y="2743199"/>
            <a:ext cx="11277297" cy="640086"/>
          </a:xfrm>
          <a:prstGeom prst="rect">
            <a:avLst/>
          </a:prstGeom>
          <a:solidFill>
            <a:srgbClr val="FFFFFF"/>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84" name="Rectangle 35"/>
          <p:cNvSpPr/>
          <p:nvPr/>
        </p:nvSpPr>
        <p:spPr>
          <a:xfrm>
            <a:off x="457198" y="2743199"/>
            <a:ext cx="45726" cy="640086"/>
          </a:xfrm>
          <a:prstGeom prst="rect">
            <a:avLst/>
          </a:prstGeom>
          <a:solidFill>
            <a:srgbClr val="94A3B8"/>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85" name="TextBox 36"/>
          <p:cNvSpPr txBox="1"/>
          <p:nvPr/>
        </p:nvSpPr>
        <p:spPr>
          <a:xfrm>
            <a:off x="630934" y="2798066"/>
            <a:ext cx="1645924" cy="2257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000045"/>
                </a:solidFill>
                <a:latin typeface="+mj-lt"/>
                <a:ea typeface="+mj-ea"/>
                <a:cs typeface="+mj-cs"/>
                <a:sym typeface="Calibri"/>
              </a:defRPr>
            </a:lvl1pPr>
          </a:lstStyle>
          <a:p>
            <a:pPr/>
            <a:r>
              <a:rPr sz="1100"/>
              <a:t>Analyst ratings</a:t>
            </a:r>
          </a:p>
        </p:txBody>
      </p:sp>
      <p:sp>
        <p:nvSpPr>
          <p:cNvPr id="287" name="TextBox 38"/>
          <p:cNvSpPr txBox="1"/>
          <p:nvPr/>
        </p:nvSpPr>
        <p:spPr>
          <a:xfrm>
            <a:off x="2624326" y="2798066"/>
            <a:ext cx="7680966"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000045"/>
                </a:solidFill>
                <a:latin typeface="+mj-lt"/>
                <a:ea typeface="+mj-ea"/>
                <a:cs typeface="+mj-cs"/>
                <a:sym typeface="Calibri"/>
              </a:defRPr>
            </a:lvl1pPr>
          </a:lstStyle>
          <a:p>
            <a:pPr/>
            <a:r>
              <a:rPr sz="1000"/>
              <a:t>Broker ratings, targets, and the bull and bear case</a:t>
            </a:r>
          </a:p>
        </p:txBody>
      </p:sp>
      <p:sp>
        <p:nvSpPr>
          <p:cNvPr id="288" name="Rectangle 39"/>
          <p:cNvSpPr/>
          <p:nvPr/>
        </p:nvSpPr>
        <p:spPr>
          <a:xfrm>
            <a:off x="10588752" y="2907788"/>
            <a:ext cx="1051565" cy="274325"/>
          </a:xfrm>
          <a:prstGeom prst="rect">
            <a:avLst/>
          </a:prstGeom>
          <a:solidFill>
            <a:srgbClr val="20C992"/>
          </a:solidFill>
          <a:ln w="12700">
            <a:noFill/>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89" name="TextBox 40"/>
          <p:cNvSpPr txBox="1"/>
          <p:nvPr/>
        </p:nvSpPr>
        <p:spPr>
          <a:xfrm>
            <a:off x="10634471" y="2907792"/>
            <a:ext cx="9601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FFFFFF"/>
                </a:solidFill>
                <a:latin typeface="+mj-lt"/>
                <a:ea typeface="+mj-ea"/>
                <a:cs typeface="+mj-cs"/>
                <a:sym typeface="Calibri"/>
              </a:defRPr>
            </a:lvl1pPr>
          </a:lstStyle>
          <a:p>
            <a:pPr/>
            <a:r>
              <a:rPr sz="1100">
                <a:solidFill>
                  <a:srgbClr val="FFFFFF"/>
                </a:solidFill>
              </a:rPr>
              <a:t>Live</a:t>
            </a:r>
          </a:p>
        </p:txBody>
      </p:sp>
      <p:sp>
        <p:nvSpPr>
          <p:cNvPr id="290" name="Rectangle 41"/>
          <p:cNvSpPr/>
          <p:nvPr/>
        </p:nvSpPr>
        <p:spPr>
          <a:xfrm>
            <a:off x="457199" y="3419857"/>
            <a:ext cx="11277297" cy="640085"/>
          </a:xfrm>
          <a:prstGeom prst="rect">
            <a:avLst/>
          </a:prstGeom>
          <a:solidFill>
            <a:srgbClr val="F8FAFC"/>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91" name="Rectangle 42"/>
          <p:cNvSpPr/>
          <p:nvPr/>
        </p:nvSpPr>
        <p:spPr>
          <a:xfrm>
            <a:off x="457198" y="3419857"/>
            <a:ext cx="45726" cy="640085"/>
          </a:xfrm>
          <a:prstGeom prst="rect">
            <a:avLst/>
          </a:prstGeom>
          <a:solidFill>
            <a:srgbClr val="94A3B8"/>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92" name="TextBox 43"/>
          <p:cNvSpPr txBox="1"/>
          <p:nvPr/>
        </p:nvSpPr>
        <p:spPr>
          <a:xfrm>
            <a:off x="630934" y="3474722"/>
            <a:ext cx="1645924" cy="2257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000045"/>
                </a:solidFill>
                <a:latin typeface="+mj-lt"/>
                <a:ea typeface="+mj-ea"/>
                <a:cs typeface="+mj-cs"/>
                <a:sym typeface="Calibri"/>
              </a:defRPr>
            </a:lvl1pPr>
          </a:lstStyle>
          <a:p>
            <a:pPr/>
            <a:r>
              <a:rPr sz="1100"/>
              <a:t>Market depth</a:t>
            </a:r>
          </a:p>
        </p:txBody>
      </p:sp>
      <p:sp>
        <p:nvSpPr>
          <p:cNvPr id="294" name="TextBox 45"/>
          <p:cNvSpPr txBox="1"/>
          <p:nvPr/>
        </p:nvSpPr>
        <p:spPr>
          <a:xfrm>
            <a:off x="2624326" y="3474722"/>
            <a:ext cx="7680966" cy="2285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000045"/>
                </a:solidFill>
                <a:latin typeface="+mj-lt"/>
                <a:ea typeface="+mj-ea"/>
                <a:cs typeface="+mj-cs"/>
                <a:sym typeface="Calibri"/>
              </a:defRPr>
            </a:lvl1pPr>
          </a:lstStyle>
          <a:p>
            <a:pPr/>
            <a:r>
              <a:rPr sz="1000"/>
              <a:t>Live order book and a summary of who is trading</a:t>
            </a:r>
          </a:p>
        </p:txBody>
      </p:sp>
      <p:sp>
        <p:nvSpPr>
          <p:cNvPr id="295" name="Rectangle 46"/>
          <p:cNvSpPr/>
          <p:nvPr/>
        </p:nvSpPr>
        <p:spPr>
          <a:xfrm>
            <a:off x="10588752" y="3584447"/>
            <a:ext cx="1051565" cy="274325"/>
          </a:xfrm>
          <a:prstGeom prst="rect">
            <a:avLst/>
          </a:prstGeom>
          <a:solidFill>
            <a:srgbClr val="20C992"/>
          </a:solidFill>
          <a:ln w="12700">
            <a:noFill/>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96" name="TextBox 47"/>
          <p:cNvSpPr txBox="1"/>
          <p:nvPr/>
        </p:nvSpPr>
        <p:spPr>
          <a:xfrm>
            <a:off x="10634471" y="3584449"/>
            <a:ext cx="9601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FFFFFF"/>
                </a:solidFill>
                <a:latin typeface="+mj-lt"/>
                <a:ea typeface="+mj-ea"/>
                <a:cs typeface="+mj-cs"/>
                <a:sym typeface="Calibri"/>
              </a:defRPr>
            </a:lvl1pPr>
          </a:lstStyle>
          <a:p>
            <a:pPr/>
            <a:r>
              <a:rPr sz="1100">
                <a:solidFill>
                  <a:srgbClr val="FFFFFF"/>
                </a:solidFill>
              </a:rPr>
              <a:t>Live</a:t>
            </a:r>
          </a:p>
        </p:txBody>
      </p:sp>
      <p:sp>
        <p:nvSpPr>
          <p:cNvPr id="297" name="Rectangle 55"/>
          <p:cNvSpPr/>
          <p:nvPr/>
        </p:nvSpPr>
        <p:spPr>
          <a:xfrm>
            <a:off x="457199" y="4096510"/>
            <a:ext cx="11277297" cy="640085"/>
          </a:xfrm>
          <a:prstGeom prst="rect">
            <a:avLst/>
          </a:prstGeom>
          <a:solidFill>
            <a:srgbClr val="F8FAFC"/>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98" name="Rectangle 56"/>
          <p:cNvSpPr/>
          <p:nvPr/>
        </p:nvSpPr>
        <p:spPr>
          <a:xfrm>
            <a:off x="457198" y="4096510"/>
            <a:ext cx="45726" cy="640085"/>
          </a:xfrm>
          <a:prstGeom prst="rect">
            <a:avLst/>
          </a:prstGeom>
          <a:solidFill>
            <a:srgbClr val="94A3B8"/>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99" name="TextBox 57"/>
          <p:cNvSpPr txBox="1"/>
          <p:nvPr/>
        </p:nvSpPr>
        <p:spPr>
          <a:xfrm>
            <a:off x="630934" y="4151376"/>
            <a:ext cx="1645924" cy="2257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000045"/>
                </a:solidFill>
                <a:latin typeface="+mj-lt"/>
                <a:ea typeface="+mj-ea"/>
                <a:cs typeface="+mj-cs"/>
                <a:sym typeface="Calibri"/>
              </a:defRPr>
            </a:lvl1pPr>
          </a:lstStyle>
          <a:p>
            <a:pPr/>
            <a:r>
              <a:rPr sz="1100"/>
              <a:t>Insider and government trades</a:t>
            </a:r>
          </a:p>
        </p:txBody>
      </p:sp>
      <p:sp>
        <p:nvSpPr>
          <p:cNvPr id="301" name="TextBox 59"/>
          <p:cNvSpPr txBox="1"/>
          <p:nvPr/>
        </p:nvSpPr>
        <p:spPr>
          <a:xfrm>
            <a:off x="2624326" y="4151376"/>
            <a:ext cx="7680966"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000045"/>
                </a:solidFill>
                <a:latin typeface="+mj-lt"/>
                <a:ea typeface="+mj-ea"/>
                <a:cs typeface="+mj-cs"/>
                <a:sym typeface="Calibri"/>
              </a:defRPr>
            </a:lvl1pPr>
          </a:lstStyle>
          <a:p>
            <a:pPr/>
            <a:r>
              <a:rPr sz="1000"/>
              <a:t>What company insiders and officials are buying</a:t>
            </a:r>
          </a:p>
        </p:txBody>
      </p:sp>
      <p:sp>
        <p:nvSpPr>
          <p:cNvPr id="302" name="Rectangle 60"/>
          <p:cNvSpPr/>
          <p:nvPr/>
        </p:nvSpPr>
        <p:spPr>
          <a:xfrm>
            <a:off x="10588752" y="4261103"/>
            <a:ext cx="1051565" cy="274325"/>
          </a:xfrm>
          <a:prstGeom prst="rect">
            <a:avLst/>
          </a:prstGeom>
          <a:solidFill>
            <a:srgbClr val="20C992"/>
          </a:solidFill>
          <a:ln w="12700">
            <a:noFill/>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303" name="TextBox 61"/>
          <p:cNvSpPr txBox="1"/>
          <p:nvPr/>
        </p:nvSpPr>
        <p:spPr>
          <a:xfrm>
            <a:off x="10634471" y="4261103"/>
            <a:ext cx="9601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FFFFFF"/>
                </a:solidFill>
                <a:latin typeface="+mj-lt"/>
                <a:ea typeface="+mj-ea"/>
                <a:cs typeface="+mj-cs"/>
                <a:sym typeface="Calibri"/>
              </a:defRPr>
            </a:lvl1pPr>
          </a:lstStyle>
          <a:p>
            <a:pPr/>
            <a:r>
              <a:rPr sz="1100">
                <a:solidFill>
                  <a:srgbClr val="FFFFFF"/>
                </a:solidFill>
              </a:rPr>
              <a:t>Live</a:t>
            </a:r>
          </a:p>
        </p:txBody>
      </p:sp>
      <p:sp>
        <p:nvSpPr>
          <p:cNvPr id="304" name="TextBox 40"/>
          <p:cNvSpPr txBox="1"/>
          <p:nvPr/>
        </p:nvSpPr>
        <p:spPr>
          <a:xfrm>
            <a:off x="502917" y="6537959"/>
            <a:ext cx="11185861" cy="2285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i="1" sz="1000">
                <a:solidFill>
                  <a:srgbClr val="475569"/>
                </a:solidFill>
                <a:latin typeface="+mj-lt"/>
                <a:ea typeface="+mj-ea"/>
                <a:cs typeface="+mj-cs"/>
                <a:sym typeface="Calibri"/>
              </a:defRPr>
            </a:lvl1pPr>
          </a:lstStyle>
          <a:p>
            <a:pPr/>
            <a:r>
              <a:rPr sz="900"/>
              <a:t>Source: X/@ypeooo · 30 Aug 2026 · Features Map · baseline v2.15</a:t>
            </a:r>
          </a:p>
        </p:txBody>
      </p:sp>
      <p:pic>
        <p:nvPicPr>
          <p:cNvPr id="305" name="Picture 1" descr="Picture 1"/>
          <p:cNvPicPr>
            <a:picLocks noChangeAspect="1"/>
          </p:cNvPicPr>
          <p:nvPr/>
        </p:nvPicPr>
        <p:blipFill>
          <a:blip r:embed="rId2">
            <a:extLst/>
          </a:blip>
          <a:stretch>
            <a:fillRect/>
          </a:stretch>
        </p:blipFill>
        <p:spPr>
          <a:xfrm>
            <a:off x="479144" y="371093"/>
            <a:ext cx="955130" cy="332389"/>
          </a:xfrm>
          <a:prstGeom prst="rect">
            <a:avLst/>
          </a:prstGeom>
          <a:ln w="12700">
            <a:miter lim="400000"/>
          </a:ln>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07" name="Shape 2"/>
          <p:cNvSpPr/>
          <p:nvPr/>
        </p:nvSpPr>
        <p:spPr>
          <a:xfrm>
            <a:off x="1508760" y="347472"/>
            <a:ext cx="5" cy="384053"/>
          </a:xfrm>
          <a:prstGeom prst="line">
            <a:avLst/>
          </a:prstGeom>
          <a:ln>
            <a:solidFill>
              <a:srgbClr val="E2E8F0"/>
            </a:solidFill>
          </a:ln>
        </p:spPr>
        <p:txBody>
          <a:bodyPr lIns="45718" tIns="45718" rIns="45718" bIns="45718"/>
          <a:lstStyle/>
          <a:p>
            <a:pPr/>
          </a:p>
        </p:txBody>
      </p:sp>
      <p:sp>
        <p:nvSpPr>
          <p:cNvPr id="308" name="Title"/>
          <p:cNvSpPr txBox="1"/>
          <p:nvPr/>
        </p:nvSpPr>
        <p:spPr>
          <a:xfrm>
            <a:off x="1645920" y="523940"/>
            <a:ext cx="91440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A7A7A7"/>
                </a:solidFill>
                <a:latin typeface="+mj-lt"/>
                <a:ea typeface="+mj-ea"/>
                <a:cs typeface="+mj-cs"/>
                <a:sym typeface="Calibri"/>
              </a:defRPr>
            </a:lvl1pPr>
          </a:lstStyle>
          <a:p>
            <a:pPr/>
            <a:r>
              <a:t>Recommendation</a:t>
            </a:r>
          </a:p>
        </p:txBody>
      </p:sp>
      <p:sp>
        <p:nvSpPr>
          <p:cNvPr id="309" name="Text 5"/>
          <p:cNvSpPr txBox="1"/>
          <p:nvPr/>
        </p:nvSpPr>
        <p:spPr>
          <a:xfrm>
            <a:off x="10362895" y="475532"/>
            <a:ext cx="1371605"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000">
                <a:solidFill>
                  <a:srgbClr val="141421"/>
                </a:solidFill>
                <a:latin typeface="+mj-lt"/>
                <a:ea typeface="+mj-ea"/>
                <a:cs typeface="+mj-cs"/>
                <a:sym typeface="Calibri"/>
              </a:defRPr>
            </a:lvl1pPr>
          </a:lstStyle>
          <a:p>
            <a:pPr/>
            <a:r>
              <a:t>07  /  8</a:t>
            </a:r>
          </a:p>
        </p:txBody>
      </p:sp>
      <p:sp>
        <p:nvSpPr>
          <p:cNvPr id="310" name="Shape 6"/>
          <p:cNvSpPr/>
          <p:nvPr/>
        </p:nvSpPr>
        <p:spPr>
          <a:xfrm>
            <a:off x="457196" y="868680"/>
            <a:ext cx="11277302" cy="5"/>
          </a:xfrm>
          <a:prstGeom prst="line">
            <a:avLst/>
          </a:prstGeom>
          <a:ln>
            <a:solidFill>
              <a:srgbClr val="E2E8F0"/>
            </a:solidFill>
          </a:ln>
        </p:spPr>
        <p:txBody>
          <a:bodyPr lIns="45718" tIns="45718" rIns="45718" bIns="45718"/>
          <a:lstStyle/>
          <a:p>
            <a:pPr/>
          </a:p>
        </p:txBody>
      </p:sp>
      <p:sp>
        <p:nvSpPr>
          <p:cNvPr id="311" name="Rectangle 8"/>
          <p:cNvSpPr/>
          <p:nvPr/>
        </p:nvSpPr>
        <p:spPr>
          <a:xfrm>
            <a:off x="457199" y="1005838"/>
            <a:ext cx="11277297" cy="960124"/>
          </a:xfrm>
          <a:prstGeom prst="rect">
            <a:avLst/>
          </a:prstGeom>
          <a:solidFill>
            <a:srgbClr val="FFFFFF"/>
          </a:solidFill>
          <a:ln>
            <a:solidFill>
              <a:srgbClr val="E2E5EA"/>
            </a:solidFill>
            <a:miter/>
          </a:ln>
        </p:spPr>
        <p:txBody>
          <a:bodyPr lIns="45718" tIns="45718" rIns="45718" bIns="45718" anchor="ctr"/>
          <a:lstStyle/>
          <a:p>
            <a:pPr algn="ctr">
              <a:defRPr>
                <a:solidFill>
                  <a:srgbClr val="FFFFFF"/>
                </a:solidFill>
                <a:latin typeface="+mj-lt"/>
                <a:ea typeface="+mj-ea"/>
                <a:cs typeface="+mj-cs"/>
                <a:sym typeface="Calibri"/>
              </a:defRPr>
            </a:pPr>
          </a:p>
        </p:txBody>
      </p:sp>
      <p:sp>
        <p:nvSpPr>
          <p:cNvPr id="312" name="Rectangle 9"/>
          <p:cNvSpPr/>
          <p:nvPr/>
        </p:nvSpPr>
        <p:spPr>
          <a:xfrm>
            <a:off x="457198" y="1005838"/>
            <a:ext cx="73158" cy="960124"/>
          </a:xfrm>
          <a:prstGeom prst="rect">
            <a:avLst/>
          </a:prstGeom>
          <a:solidFill>
            <a:srgbClr val="DC2626"/>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313" name="Rectangle 10"/>
          <p:cNvSpPr/>
          <p:nvPr/>
        </p:nvSpPr>
        <p:spPr>
          <a:xfrm>
            <a:off x="685800" y="1115566"/>
            <a:ext cx="1188720" cy="219459"/>
          </a:xfrm>
          <a:prstGeom prst="rect">
            <a:avLst/>
          </a:prstGeom>
          <a:solidFill>
            <a:srgbClr val="FEE2E2"/>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314" name="TextBox 11"/>
          <p:cNvSpPr txBox="1"/>
          <p:nvPr/>
        </p:nvSpPr>
        <p:spPr>
          <a:xfrm>
            <a:off x="731519" y="1115566"/>
            <a:ext cx="1097282"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DC2626"/>
                </a:solidFill>
                <a:latin typeface="+mj-lt"/>
                <a:ea typeface="+mj-ea"/>
                <a:cs typeface="+mj-cs"/>
                <a:sym typeface="Calibri"/>
              </a:defRPr>
            </a:lvl1pPr>
          </a:lstStyle>
          <a:p>
            <a:pPr/>
            <a:r>
              <a:t>PRIORITY ONE</a:t>
            </a:r>
          </a:p>
        </p:txBody>
      </p:sp>
      <p:sp>
        <p:nvSpPr>
          <p:cNvPr id="315" name="TextBox 12"/>
          <p:cNvSpPr txBox="1"/>
          <p:nvPr/>
        </p:nvSpPr>
        <p:spPr>
          <a:xfrm>
            <a:off x="731519" y="1389888"/>
            <a:ext cx="2651762" cy="38537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200">
                <a:solidFill>
                  <a:srgbClr val="000045"/>
                </a:solidFill>
                <a:latin typeface="+mj-lt"/>
                <a:ea typeface="+mj-ea"/>
                <a:cs typeface="+mj-cs"/>
                <a:sym typeface="Calibri"/>
              </a:defRPr>
            </a:lvl1pPr>
          </a:lstStyle>
          <a:p>
            <a:pPr/>
            <a:r>
              <a:t>Close the coverage gap</a:t>
            </a:r>
          </a:p>
        </p:txBody>
      </p:sp>
      <p:sp>
        <p:nvSpPr>
          <p:cNvPr id="316" name="TextBox 13"/>
          <p:cNvSpPr txBox="1"/>
          <p:nvPr/>
        </p:nvSpPr>
        <p:spPr>
          <a:xfrm>
            <a:off x="3611878" y="1389888"/>
            <a:ext cx="7711138" cy="43880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200">
                <a:solidFill>
                  <a:srgbClr val="475569"/>
                </a:solidFill>
                <a:latin typeface="+mj-lt"/>
                <a:ea typeface="+mj-ea"/>
                <a:cs typeface="+mj-cs"/>
                <a:sym typeface="Calibri"/>
              </a:defRPr>
            </a:lvl1pPr>
          </a:lstStyle>
          <a:p>
            <a:pPr/>
            <a:r>
              <a:rPr sz="1300"/>
              <a:t>Alerting and valuation ratios are already on the roadmap. What is left is what ARC does not cover at all.</a:t>
            </a:r>
          </a:p>
        </p:txBody>
      </p:sp>
      <p:sp>
        <p:nvSpPr>
          <p:cNvPr id="317" name="Rectangle 14"/>
          <p:cNvSpPr/>
          <p:nvPr/>
        </p:nvSpPr>
        <p:spPr>
          <a:xfrm>
            <a:off x="457199" y="2130548"/>
            <a:ext cx="11277297" cy="2743207"/>
          </a:xfrm>
          <a:prstGeom prst="rect">
            <a:avLst/>
          </a:prstGeom>
          <a:solidFill>
            <a:srgbClr val="FFFFFF"/>
          </a:solidFill>
          <a:ln>
            <a:solidFill>
              <a:srgbClr val="E2E5EA"/>
            </a:solidFill>
            <a:miter/>
          </a:ln>
        </p:spPr>
        <p:txBody>
          <a:bodyPr lIns="45718" tIns="45718" rIns="45718" bIns="45718" anchor="ctr"/>
          <a:lstStyle/>
          <a:p>
            <a:pPr algn="ctr">
              <a:defRPr>
                <a:solidFill>
                  <a:srgbClr val="FFFFFF"/>
                </a:solidFill>
                <a:latin typeface="+mj-lt"/>
                <a:ea typeface="+mj-ea"/>
                <a:cs typeface="+mj-cs"/>
                <a:sym typeface="Calibri"/>
              </a:defRPr>
            </a:pPr>
          </a:p>
        </p:txBody>
      </p:sp>
      <p:sp>
        <p:nvSpPr>
          <p:cNvPr id="318" name="Rectangle 15"/>
          <p:cNvSpPr/>
          <p:nvPr/>
        </p:nvSpPr>
        <p:spPr>
          <a:xfrm>
            <a:off x="457198" y="2130548"/>
            <a:ext cx="73158" cy="2743207"/>
          </a:xfrm>
          <a:prstGeom prst="rect">
            <a:avLst/>
          </a:prstGeom>
          <a:solidFill>
            <a:srgbClr val="000045"/>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319" name="TextBox 17"/>
          <p:cNvSpPr txBox="1"/>
          <p:nvPr/>
        </p:nvSpPr>
        <p:spPr>
          <a:xfrm>
            <a:off x="777238" y="2359192"/>
            <a:ext cx="10637219" cy="119239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500">
                <a:solidFill>
                  <a:srgbClr val="000045"/>
                </a:solidFill>
                <a:latin typeface="+mj-lt"/>
                <a:ea typeface="+mj-ea"/>
                <a:cs typeface="+mj-cs"/>
                <a:sym typeface="Calibri"/>
              </a:defRPr>
            </a:lvl1pPr>
          </a:lstStyle>
          <a:p>
            <a:pPr/>
            <a:r>
              <a:rPr sz="1300"/>
              <a:t>US price alerts and valuation ratios are Planned. Both are the reasons the post gives for keeping a second app installed, so their delivery date is the date this benchmark closes — worth confirming they are scheduled, not just on a list.</a:t>
            </a:r>
          </a:p>
          <a:p>
            <a:pPr/>
            <a:r>
              <a:rPr sz="1300"/>
              <a:t/>
            </a:r>
          </a:p>
          <a:p>
            <a:pPr/>
            <a:r>
              <a:rPr sz="1300"/>
              <a:t>The four real gaps split in two. ETFs and the fund watchlist are ordinary product work on asset classes ARC already sells. Currencies and crypto are scope decisions rather than backlog items, and crypto is RED under Decision Rights — it routes through Sharia governance before it is scoped, not after.</a:t>
            </a:r>
          </a:p>
          <a:p>
            <a:pPr/>
            <a:r>
              <a:rPr sz="1300"/>
              <a:t/>
            </a:r>
          </a:p>
          <a:p>
            <a:pPr/>
            <a:r>
              <a:rPr sz="1300"/>
              <a:t>Everything else the post asks for, ARC already does — and it does eight things Yahoo cannot, starting with letting the investor act on the research.</a:t>
            </a:r>
          </a:p>
        </p:txBody>
      </p:sp>
      <p:sp>
        <p:nvSpPr>
          <p:cNvPr id="320" name="Rectangle 18"/>
          <p:cNvSpPr/>
          <p:nvPr/>
        </p:nvSpPr>
        <p:spPr>
          <a:xfrm>
            <a:off x="457200" y="5038344"/>
            <a:ext cx="3667658" cy="594365"/>
          </a:xfrm>
          <a:prstGeom prst="rect">
            <a:avLst/>
          </a:prstGeom>
          <a:solidFill>
            <a:srgbClr val="F8FAFC"/>
          </a:solidFill>
          <a:ln w="6350">
            <a:solidFill>
              <a:srgbClr val="E2E5EA"/>
            </a:solidFill>
            <a:miter/>
          </a:ln>
        </p:spPr>
        <p:txBody>
          <a:bodyPr lIns="45718" tIns="45718" rIns="45718" bIns="45718" anchor="ctr"/>
          <a:lstStyle/>
          <a:p>
            <a:pPr algn="ctr">
              <a:defRPr>
                <a:solidFill>
                  <a:srgbClr val="FFFFFF"/>
                </a:solidFill>
                <a:latin typeface="+mj-lt"/>
                <a:ea typeface="+mj-ea"/>
                <a:cs typeface="+mj-cs"/>
                <a:sym typeface="Calibri"/>
              </a:defRPr>
            </a:pPr>
          </a:p>
        </p:txBody>
      </p:sp>
      <p:sp>
        <p:nvSpPr>
          <p:cNvPr id="321" name="Rectangle 19"/>
          <p:cNvSpPr/>
          <p:nvPr/>
        </p:nvSpPr>
        <p:spPr>
          <a:xfrm>
            <a:off x="457198" y="5038344"/>
            <a:ext cx="45726" cy="594365"/>
          </a:xfrm>
          <a:prstGeom prst="rect">
            <a:avLst/>
          </a:prstGeom>
          <a:solidFill>
            <a:srgbClr val="221AFB"/>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322" name="TextBox 20"/>
          <p:cNvSpPr txBox="1"/>
          <p:nvPr/>
        </p:nvSpPr>
        <p:spPr>
          <a:xfrm>
            <a:off x="667509" y="5129784"/>
            <a:ext cx="640086" cy="39246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400">
                <a:solidFill>
                  <a:srgbClr val="221AFB"/>
                </a:solidFill>
                <a:latin typeface="+mj-lt"/>
                <a:ea typeface="+mj-ea"/>
                <a:cs typeface="+mj-cs"/>
                <a:sym typeface="Calibri"/>
              </a:defRPr>
            </a:lvl1pPr>
          </a:lstStyle>
          <a:p>
            <a:pPr/>
            <a:r>
              <a:t>10</a:t>
            </a:r>
          </a:p>
        </p:txBody>
      </p:sp>
      <p:sp>
        <p:nvSpPr>
          <p:cNvPr id="323" name="TextBox 21"/>
          <p:cNvSpPr txBox="1"/>
          <p:nvPr/>
        </p:nvSpPr>
        <p:spPr>
          <a:xfrm>
            <a:off x="1417319" y="5202935"/>
            <a:ext cx="2478940" cy="2285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000">
                <a:solidFill>
                  <a:srgbClr val="64748B"/>
                </a:solidFill>
                <a:latin typeface="+mj-lt"/>
                <a:ea typeface="+mj-ea"/>
                <a:cs typeface="+mj-cs"/>
                <a:sym typeface="Calibri"/>
              </a:defRPr>
            </a:lvl1pPr>
          </a:lstStyle>
          <a:p>
            <a:pPr/>
            <a:r>
              <a:t>Capabilities Live</a:t>
            </a:r>
          </a:p>
        </p:txBody>
      </p:sp>
      <p:sp>
        <p:nvSpPr>
          <p:cNvPr id="324" name="Rectangle 22"/>
          <p:cNvSpPr/>
          <p:nvPr/>
        </p:nvSpPr>
        <p:spPr>
          <a:xfrm>
            <a:off x="4262018" y="5038344"/>
            <a:ext cx="3667660" cy="594365"/>
          </a:xfrm>
          <a:prstGeom prst="rect">
            <a:avLst/>
          </a:prstGeom>
          <a:solidFill>
            <a:srgbClr val="F8FAFC"/>
          </a:solidFill>
          <a:ln w="6350">
            <a:solidFill>
              <a:srgbClr val="E2E5EA"/>
            </a:solidFill>
            <a:miter/>
          </a:ln>
        </p:spPr>
        <p:txBody>
          <a:bodyPr lIns="45718" tIns="45718" rIns="45718" bIns="45718" anchor="ctr"/>
          <a:lstStyle/>
          <a:p>
            <a:pPr algn="ctr">
              <a:defRPr>
                <a:solidFill>
                  <a:srgbClr val="FFFFFF"/>
                </a:solidFill>
                <a:latin typeface="+mj-lt"/>
                <a:ea typeface="+mj-ea"/>
                <a:cs typeface="+mj-cs"/>
                <a:sym typeface="Calibri"/>
              </a:defRPr>
            </a:pPr>
          </a:p>
        </p:txBody>
      </p:sp>
      <p:sp>
        <p:nvSpPr>
          <p:cNvPr id="325" name="Rectangle 23"/>
          <p:cNvSpPr/>
          <p:nvPr/>
        </p:nvSpPr>
        <p:spPr>
          <a:xfrm>
            <a:off x="4262018" y="5038344"/>
            <a:ext cx="45725" cy="594365"/>
          </a:xfrm>
          <a:prstGeom prst="rect">
            <a:avLst/>
          </a:prstGeom>
          <a:solidFill>
            <a:srgbClr val="20C992"/>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326" name="TextBox 24"/>
          <p:cNvSpPr txBox="1"/>
          <p:nvPr/>
        </p:nvSpPr>
        <p:spPr>
          <a:xfrm>
            <a:off x="4472330" y="5129784"/>
            <a:ext cx="640085" cy="39246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400">
                <a:solidFill>
                  <a:srgbClr val="20C992"/>
                </a:solidFill>
                <a:latin typeface="+mj-lt"/>
                <a:ea typeface="+mj-ea"/>
                <a:cs typeface="+mj-cs"/>
                <a:sym typeface="Calibri"/>
              </a:defRPr>
            </a:lvl1pPr>
          </a:lstStyle>
          <a:p>
            <a:pPr/>
            <a:r>
              <a:t>2</a:t>
            </a:r>
          </a:p>
        </p:txBody>
      </p:sp>
      <p:sp>
        <p:nvSpPr>
          <p:cNvPr id="327" name="TextBox 25"/>
          <p:cNvSpPr txBox="1"/>
          <p:nvPr/>
        </p:nvSpPr>
        <p:spPr>
          <a:xfrm>
            <a:off x="5222135" y="5202935"/>
            <a:ext cx="2478944" cy="2285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000">
                <a:solidFill>
                  <a:srgbClr val="64748B"/>
                </a:solidFill>
                <a:latin typeface="+mj-lt"/>
                <a:ea typeface="+mj-ea"/>
                <a:cs typeface="+mj-cs"/>
                <a:sym typeface="Calibri"/>
              </a:defRPr>
            </a:lvl1pPr>
          </a:lstStyle>
          <a:p>
            <a:pPr/>
            <a:r>
              <a:t>Planned</a:t>
            </a:r>
          </a:p>
        </p:txBody>
      </p:sp>
      <p:sp>
        <p:nvSpPr>
          <p:cNvPr id="328" name="Rectangle 26"/>
          <p:cNvSpPr/>
          <p:nvPr/>
        </p:nvSpPr>
        <p:spPr>
          <a:xfrm>
            <a:off x="8066836" y="5038344"/>
            <a:ext cx="3667660" cy="594365"/>
          </a:xfrm>
          <a:prstGeom prst="rect">
            <a:avLst/>
          </a:prstGeom>
          <a:solidFill>
            <a:srgbClr val="F8FAFC"/>
          </a:solidFill>
          <a:ln w="6350">
            <a:solidFill>
              <a:srgbClr val="E2E5EA"/>
            </a:solidFill>
            <a:miter/>
          </a:ln>
        </p:spPr>
        <p:txBody>
          <a:bodyPr lIns="45718" tIns="45718" rIns="45718" bIns="45718" anchor="ctr"/>
          <a:lstStyle/>
          <a:p>
            <a:pPr algn="ctr">
              <a:defRPr>
                <a:solidFill>
                  <a:srgbClr val="FFFFFF"/>
                </a:solidFill>
                <a:latin typeface="+mj-lt"/>
                <a:ea typeface="+mj-ea"/>
                <a:cs typeface="+mj-cs"/>
                <a:sym typeface="Calibri"/>
              </a:defRPr>
            </a:pPr>
          </a:p>
        </p:txBody>
      </p:sp>
      <p:sp>
        <p:nvSpPr>
          <p:cNvPr id="329" name="Rectangle 27"/>
          <p:cNvSpPr/>
          <p:nvPr/>
        </p:nvSpPr>
        <p:spPr>
          <a:xfrm>
            <a:off x="8066836" y="5038344"/>
            <a:ext cx="45725" cy="594365"/>
          </a:xfrm>
          <a:prstGeom prst="rect">
            <a:avLst/>
          </a:prstGeom>
          <a:solidFill>
            <a:srgbClr val="808080"/>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330" name="TextBox 28"/>
          <p:cNvSpPr txBox="1"/>
          <p:nvPr/>
        </p:nvSpPr>
        <p:spPr>
          <a:xfrm>
            <a:off x="8277145" y="5129784"/>
            <a:ext cx="640085" cy="39246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400">
                <a:solidFill>
                  <a:srgbClr val="808080"/>
                </a:solidFill>
                <a:latin typeface="+mj-lt"/>
                <a:ea typeface="+mj-ea"/>
                <a:cs typeface="+mj-cs"/>
                <a:sym typeface="Calibri"/>
              </a:defRPr>
            </a:lvl1pPr>
          </a:lstStyle>
          <a:p>
            <a:pPr/>
            <a:r>
              <a:t>4</a:t>
            </a:r>
          </a:p>
        </p:txBody>
      </p:sp>
      <p:sp>
        <p:nvSpPr>
          <p:cNvPr id="331" name="TextBox 29"/>
          <p:cNvSpPr txBox="1"/>
          <p:nvPr/>
        </p:nvSpPr>
        <p:spPr>
          <a:xfrm>
            <a:off x="9026955" y="5202935"/>
            <a:ext cx="2478943" cy="2285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000">
                <a:solidFill>
                  <a:srgbClr val="64748B"/>
                </a:solidFill>
                <a:latin typeface="+mj-lt"/>
                <a:ea typeface="+mj-ea"/>
                <a:cs typeface="+mj-cs"/>
                <a:sym typeface="Calibri"/>
              </a:defRPr>
            </a:lvl1pPr>
          </a:lstStyle>
          <a:p>
            <a:pPr/>
            <a:r>
              <a:t>Genuine gaps</a:t>
            </a:r>
          </a:p>
        </p:txBody>
      </p:sp>
      <p:sp>
        <p:nvSpPr>
          <p:cNvPr id="332" name="TextBox 30"/>
          <p:cNvSpPr txBox="1"/>
          <p:nvPr/>
        </p:nvSpPr>
        <p:spPr>
          <a:xfrm>
            <a:off x="502917" y="5769864"/>
            <a:ext cx="11185861"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i="1" sz="900">
                <a:solidFill>
                  <a:srgbClr val="94A3B8"/>
                </a:solidFill>
                <a:latin typeface="+mj-lt"/>
                <a:ea typeface="+mj-ea"/>
                <a:cs typeface="+mj-cs"/>
                <a:sym typeface="Calibri"/>
              </a:defRPr>
            </a:lvl1pPr>
          </a:lstStyle>
          <a:p>
            <a:pPr/>
            <a:r>
              <a:t>Prepared by Digital Experience Department  ·  30 August 2026</a:t>
            </a:r>
          </a:p>
        </p:txBody>
      </p:sp>
      <p:sp>
        <p:nvSpPr>
          <p:cNvPr id="333" name="TextBox 31"/>
          <p:cNvSpPr txBox="1"/>
          <p:nvPr/>
        </p:nvSpPr>
        <p:spPr>
          <a:xfrm>
            <a:off x="502917" y="6537959"/>
            <a:ext cx="11185861" cy="25819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i="1" sz="1300">
                <a:solidFill>
                  <a:srgbClr val="475569"/>
                </a:solidFill>
                <a:latin typeface="+mj-lt"/>
                <a:ea typeface="+mj-ea"/>
                <a:cs typeface="+mj-cs"/>
                <a:sym typeface="Calibri"/>
              </a:defRPr>
            </a:lvl1pPr>
          </a:lstStyle>
          <a:p>
            <a:pPr/>
            <a:r>
              <a:t>Source: X/@ypeooo · 30 Aug 2026 · Features Map · baseline v2.15</a:t>
            </a:r>
          </a:p>
        </p:txBody>
      </p:sp>
      <p:pic>
        <p:nvPicPr>
          <p:cNvPr id="334" name="Picture 1" descr="Picture 1"/>
          <p:cNvPicPr>
            <a:picLocks noChangeAspect="1"/>
          </p:cNvPicPr>
          <p:nvPr/>
        </p:nvPicPr>
        <p:blipFill>
          <a:blip r:embed="rId2">
            <a:extLst/>
          </a:blip>
          <a:stretch>
            <a:fillRect/>
          </a:stretch>
        </p:blipFill>
        <p:spPr>
          <a:xfrm>
            <a:off x="479144" y="371093"/>
            <a:ext cx="955130" cy="332389"/>
          </a:xfrm>
          <a:prstGeom prst="rect">
            <a:avLst/>
          </a:prstGeom>
          <a:ln w="12700">
            <a:miter lim="400000"/>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36" name="Image 0" descr="Image 0"/>
          <p:cNvPicPr>
            <a:picLocks noChangeAspect="1"/>
          </p:cNvPicPr>
          <p:nvPr/>
        </p:nvPicPr>
        <p:blipFill>
          <a:blip r:embed="rId2">
            <a:extLst/>
          </a:blip>
          <a:stretch>
            <a:fillRect/>
          </a:stretch>
        </p:blipFill>
        <p:spPr>
          <a:xfrm>
            <a:off x="0" y="0"/>
            <a:ext cx="12191697" cy="6858000"/>
          </a:xfrm>
          <a:prstGeom prst="rect">
            <a:avLst/>
          </a:prstGeom>
          <a:ln w="12700">
            <a:miter lim="400000"/>
          </a:ln>
        </p:spPr>
      </p:pic>
      <p:sp>
        <p:nvSpPr>
          <p:cNvPr id="337" name="Text 1"/>
          <p:cNvSpPr txBox="1"/>
          <p:nvPr/>
        </p:nvSpPr>
        <p:spPr>
          <a:xfrm>
            <a:off x="457200" y="2886623"/>
            <a:ext cx="8229600" cy="49038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800">
                <a:solidFill>
                  <a:srgbClr val="000045"/>
                </a:solidFill>
                <a:latin typeface="+mj-lt"/>
                <a:ea typeface="+mj-ea"/>
                <a:cs typeface="+mj-cs"/>
                <a:sym typeface="Calibri"/>
              </a:defRPr>
            </a:lvl1pPr>
          </a:lstStyle>
          <a:p>
            <a:pPr/>
            <a:r>
              <a:t>THANK</a:t>
            </a:r>
          </a:p>
        </p:txBody>
      </p:sp>
      <p:sp>
        <p:nvSpPr>
          <p:cNvPr id="338" name="Text 2"/>
          <p:cNvSpPr txBox="1"/>
          <p:nvPr/>
        </p:nvSpPr>
        <p:spPr>
          <a:xfrm>
            <a:off x="457200" y="3709582"/>
            <a:ext cx="8229600" cy="49039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800">
                <a:solidFill>
                  <a:srgbClr val="221AFB"/>
                </a:solidFill>
                <a:latin typeface="+mj-lt"/>
                <a:ea typeface="+mj-ea"/>
                <a:cs typeface="+mj-cs"/>
                <a:sym typeface="Calibri"/>
              </a:defRPr>
            </a:lvl1pPr>
          </a:lstStyle>
          <a:p>
            <a:pPr/>
            <a:r>
              <a:t>You</a:t>
            </a:r>
          </a:p>
        </p:txBody>
      </p:sp>
      <p:sp>
        <p:nvSpPr>
          <p:cNvPr id="339" name="Text 3"/>
          <p:cNvSpPr txBox="1"/>
          <p:nvPr/>
        </p:nvSpPr>
        <p:spPr>
          <a:xfrm>
            <a:off x="457200" y="4615879"/>
            <a:ext cx="5486400"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475569"/>
                </a:solidFill>
                <a:latin typeface="+mj-lt"/>
                <a:ea typeface="+mj-ea"/>
                <a:cs typeface="+mj-cs"/>
                <a:sym typeface="Calibri"/>
              </a:defRPr>
            </a:lvl1pPr>
          </a:lstStyle>
          <a:p>
            <a:pPr/>
            <a:r>
              <a:t>30 August 2026  ·  Digital Experience Department</a:t>
            </a:r>
          </a:p>
        </p:txBody>
      </p:sp>
      <p:sp>
        <p:nvSpPr>
          <p:cNvPr id="340" name="Shape 4"/>
          <p:cNvSpPr/>
          <p:nvPr/>
        </p:nvSpPr>
        <p:spPr>
          <a:xfrm>
            <a:off x="457196" y="5074918"/>
            <a:ext cx="3474729" cy="6"/>
          </a:xfrm>
          <a:prstGeom prst="line">
            <a:avLst/>
          </a:prstGeom>
          <a:ln w="25400">
            <a:solidFill>
              <a:srgbClr val="0029FF"/>
            </a:solidFill>
          </a:ln>
        </p:spPr>
        <p:txBody>
          <a:bodyPr lIns="45718" tIns="45718" rIns="45718" bIns="45718"/>
          <a:lstStyle/>
          <a:p>
            <a:p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