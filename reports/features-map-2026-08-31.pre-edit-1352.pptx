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2331720"/>
            <a:ext cx="7315200" cy="274320"/>
          </a:xfrm>
          <a:prstGeom prst="rect">
            <a:avLst/>
          </a:prstGeom>
          <a:noFill/>
        </p:spPr>
        <p:txBody>
          <a:bodyPr wrap="square" lIns="0" rIns="0" tIns="0" bIns="0" anchor="ctr">
            <a:spAutoFit/>
          </a:bodyPr>
          <a:lstStyle/>
          <a:p>
            <a:pPr algn="l"/>
            <a:r>
              <a:rPr sz="1100" b="1" i="0" spc="300">
                <a:solidFill>
                  <a:srgbClr val="0033E8"/>
                </a:solidFill>
                <a:latin typeface="Calibri"/>
              </a:rPr>
              <a:t>AL RAJHI CAPITAL  ·  PRODUCT EXPERIENCE DESIGN</a:t>
            </a:r>
          </a:p>
        </p:txBody>
      </p:sp>
      <p:sp>
        <p:nvSpPr>
          <p:cNvPr id="4" name="TextBox 3"/>
          <p:cNvSpPr txBox="1"/>
          <p:nvPr/>
        </p:nvSpPr>
        <p:spPr>
          <a:xfrm>
            <a:off x="594360" y="2743200"/>
            <a:ext cx="7772400" cy="868680"/>
          </a:xfrm>
          <a:prstGeom prst="rect">
            <a:avLst/>
          </a:prstGeom>
          <a:noFill/>
        </p:spPr>
        <p:txBody>
          <a:bodyPr wrap="square" lIns="0" rIns="0" tIns="0" bIns="0" anchor="ctr">
            <a:spAutoFit/>
          </a:bodyPr>
          <a:lstStyle/>
          <a:p>
            <a:pPr algn="l"/>
            <a:r>
              <a:rPr sz="4800" b="0" i="0" spc="-100">
                <a:solidFill>
                  <a:srgbClr val="0E1E4E"/>
                </a:solidFill>
                <a:latin typeface="Calibri"/>
              </a:rPr>
              <a:t>The Features</a:t>
            </a:r>
          </a:p>
        </p:txBody>
      </p:sp>
      <p:sp>
        <p:nvSpPr>
          <p:cNvPr id="5" name="TextBox 4"/>
          <p:cNvSpPr txBox="1"/>
          <p:nvPr/>
        </p:nvSpPr>
        <p:spPr>
          <a:xfrm>
            <a:off x="594360" y="3520440"/>
            <a:ext cx="7772400" cy="1005840"/>
          </a:xfrm>
          <a:prstGeom prst="rect">
            <a:avLst/>
          </a:prstGeom>
          <a:noFill/>
        </p:spPr>
        <p:txBody>
          <a:bodyPr wrap="square" lIns="0" rIns="0" tIns="0" bIns="0" anchor="ctr">
            <a:spAutoFit/>
          </a:bodyPr>
          <a:lstStyle/>
          <a:p>
            <a:pPr algn="l"/>
            <a:r>
              <a:rPr sz="5600" b="1" i="0" spc="-100">
                <a:solidFill>
                  <a:srgbClr val="0033E8"/>
                </a:solidFill>
                <a:latin typeface="Calibri"/>
              </a:rPr>
              <a:t>Map</a:t>
            </a:r>
          </a:p>
        </p:txBody>
      </p:sp>
      <p:sp>
        <p:nvSpPr>
          <p:cNvPr id="6" name="TextBox 5"/>
          <p:cNvSpPr txBox="1"/>
          <p:nvPr/>
        </p:nvSpPr>
        <p:spPr>
          <a:xfrm>
            <a:off x="594360" y="4617720"/>
            <a:ext cx="4572000" cy="365760"/>
          </a:xfrm>
          <a:prstGeom prst="rect">
            <a:avLst/>
          </a:prstGeom>
          <a:noFill/>
        </p:spPr>
        <p:txBody>
          <a:bodyPr wrap="square" lIns="0" rIns="0" tIns="0" bIns="0" anchor="ctr">
            <a:spAutoFit/>
          </a:bodyPr>
          <a:lstStyle/>
          <a:p>
            <a:pPr algn="l"/>
            <a:r>
              <a:rPr sz="1600" b="0" i="0">
                <a:solidFill>
                  <a:srgbClr val="0E1E4E"/>
                </a:solidFill>
                <a:latin typeface="Calibri"/>
              </a:rPr>
              <a:t>Baseline v2.21  ·  31 August 2026</a:t>
            </a:r>
          </a:p>
        </p:txBody>
      </p:sp>
      <p:sp>
        <p:nvSpPr>
          <p:cNvPr id="7" name="Rectangle 6"/>
          <p:cNvSpPr/>
          <p:nvPr/>
        </p:nvSpPr>
        <p:spPr>
          <a:xfrm>
            <a:off x="594360" y="5074920"/>
            <a:ext cx="2926080" cy="22225"/>
          </a:xfrm>
          <a:prstGeom prst="rect">
            <a:avLst/>
          </a:prstGeom>
          <a:solidFill>
            <a:srgbClr val="003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5257800"/>
            <a:ext cx="7315200" cy="365760"/>
          </a:xfrm>
          <a:prstGeom prst="rect">
            <a:avLst/>
          </a:prstGeom>
          <a:noFill/>
        </p:spPr>
        <p:txBody>
          <a:bodyPr wrap="square" lIns="0" rIns="0" tIns="0" bIns="0" anchor="ctr">
            <a:spAutoFit/>
          </a:bodyPr>
          <a:lstStyle/>
          <a:p>
            <a:pPr algn="l"/>
            <a:r>
              <a:rPr sz="1300" b="0" i="0">
                <a:solidFill>
                  <a:srgbClr val="0E1E4E"/>
                </a:solidFill>
                <a:latin typeface="Calibri"/>
              </a:rPr>
              <a:t>865 capability rows across 10 investor journeys — every one decided.</a:t>
            </a:r>
          </a:p>
        </p:txBody>
      </p:sp>
      <p:sp>
        <p:nvSpPr>
          <p:cNvPr id="9" name="TextBox 8"/>
          <p:cNvSpPr txBox="1"/>
          <p:nvPr/>
        </p:nvSpPr>
        <p:spPr>
          <a:xfrm>
            <a:off x="594360" y="6400800"/>
            <a:ext cx="7315200" cy="274320"/>
          </a:xfrm>
          <a:prstGeom prst="rect">
            <a:avLst/>
          </a:prstGeom>
          <a:noFill/>
        </p:spPr>
        <p:txBody>
          <a:bodyPr wrap="square" lIns="0" rIns="0" tIns="0" bIns="0" anchor="ctr">
            <a:spAutoFit/>
          </a:bodyPr>
          <a:lstStyle/>
          <a:p>
            <a:pPr algn="l"/>
            <a:r>
              <a:rPr sz="1000" b="0" i="0">
                <a:solidFill>
                  <a:srgbClr val="0E1E4E"/>
                </a:solidFill>
                <a:latin typeface="Calibri"/>
              </a:rPr>
              <a:t>Al Rajhi Capital  ·  الراجحي المالية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8229600" cy="274320"/>
          </a:xfrm>
          <a:prstGeom prst="rect">
            <a:avLst/>
          </a:prstGeom>
          <a:noFill/>
        </p:spPr>
        <p:txBody>
          <a:bodyPr wrap="square" lIns="0" rIns="0" tIns="0" bIns="0" anchor="ctr">
            <a:spAutoFit/>
          </a:bodyPr>
          <a:lstStyle/>
          <a:p>
            <a:pPr algn="l"/>
            <a:r>
              <a:rPr sz="950" b="1" i="0" spc="300">
                <a:solidFill>
                  <a:srgbClr val="8C8E9F"/>
                </a:solidFill>
                <a:latin typeface="Calibri"/>
              </a:rPr>
              <a:t>SECTION 01  ·  THE MAP AT A GLANCE</a:t>
            </a:r>
          </a:p>
        </p:txBody>
      </p:sp>
      <p:sp>
        <p:nvSpPr>
          <p:cNvPr id="4" name="TextBox 3"/>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8C8E9F"/>
                </a:solidFill>
                <a:latin typeface="Calibri"/>
              </a:rPr>
              <a:t>02  /  08</a:t>
            </a:r>
          </a:p>
        </p:txBody>
      </p:sp>
      <p:sp>
        <p:nvSpPr>
          <p:cNvPr id="5" name="TextBox 4"/>
          <p:cNvSpPr txBox="1"/>
          <p:nvPr/>
        </p:nvSpPr>
        <p:spPr>
          <a:xfrm>
            <a:off x="594360" y="6492240"/>
            <a:ext cx="11002975" cy="274320"/>
          </a:xfrm>
          <a:prstGeom prst="rect">
            <a:avLst/>
          </a:prstGeom>
          <a:noFill/>
        </p:spPr>
        <p:txBody>
          <a:bodyPr wrap="square" lIns="0" rIns="0" tIns="0" bIns="0" anchor="ctr">
            <a:spAutoFit/>
          </a:bodyPr>
          <a:lstStyle/>
          <a:p>
            <a:pPr algn="l"/>
            <a:r>
              <a:rPr sz="900" b="0" i="0">
                <a:solidFill>
                  <a:srgbClr val="8C8E9F"/>
                </a:solidFill>
                <a:latin typeface="Calibri"/>
              </a:rPr>
              <a:t>The Features Map  ·  v2.21  ·  31 August 2026</a:t>
            </a:r>
          </a:p>
        </p:txBody>
      </p:sp>
      <p:sp>
        <p:nvSpPr>
          <p:cNvPr id="6" name="TextBox 5"/>
          <p:cNvSpPr txBox="1"/>
          <p:nvPr/>
        </p:nvSpPr>
        <p:spPr>
          <a:xfrm>
            <a:off x="594360" y="914400"/>
            <a:ext cx="11002975" cy="777240"/>
          </a:xfrm>
          <a:prstGeom prst="rect">
            <a:avLst/>
          </a:prstGeom>
          <a:noFill/>
        </p:spPr>
        <p:txBody>
          <a:bodyPr wrap="square" lIns="0" rIns="0" tIns="0" bIns="0" anchor="ctr">
            <a:spAutoFit/>
          </a:bodyPr>
          <a:lstStyle/>
          <a:p>
            <a:pPr algn="l"/>
            <a:r>
              <a:rPr sz="3600" b="1" i="0">
                <a:solidFill>
                  <a:srgbClr val="1F1D4A"/>
                </a:solidFill>
                <a:latin typeface="Georgia"/>
              </a:rPr>
              <a:t>One record of what ARC has.</a:t>
            </a:r>
          </a:p>
        </p:txBody>
      </p:sp>
      <p:sp>
        <p:nvSpPr>
          <p:cNvPr id="7" name="TextBox 6"/>
          <p:cNvSpPr txBox="1"/>
          <p:nvPr/>
        </p:nvSpPr>
        <p:spPr>
          <a:xfrm>
            <a:off x="594360" y="1691640"/>
            <a:ext cx="10088575" cy="457200"/>
          </a:xfrm>
          <a:prstGeom prst="rect">
            <a:avLst/>
          </a:prstGeom>
          <a:noFill/>
        </p:spPr>
        <p:txBody>
          <a:bodyPr wrap="square" lIns="0" rIns="0" tIns="0" bIns="0" anchor="ctr">
            <a:spAutoFit/>
          </a:bodyPr>
          <a:lstStyle/>
          <a:p>
            <a:pPr algn="l"/>
            <a:r>
              <a:rPr sz="1400" b="0" i="0">
                <a:solidFill>
                  <a:srgbClr val="5A5C70"/>
                </a:solidFill>
                <a:latin typeface="Calibri"/>
              </a:rPr>
              <a:t>Every capability ARC ships, is building, or has not built — with a status that traces to evidence rather than opinion.</a:t>
            </a:r>
          </a:p>
        </p:txBody>
      </p:sp>
      <p:sp>
        <p:nvSpPr>
          <p:cNvPr id="8" name="Rectangle 7"/>
          <p:cNvSpPr/>
          <p:nvPr/>
        </p:nvSpPr>
        <p:spPr>
          <a:xfrm>
            <a:off x="594360" y="2377440"/>
            <a:ext cx="1828800" cy="22225"/>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06040"/>
            <a:ext cx="2648102" cy="1783080"/>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88920"/>
            <a:ext cx="1463040" cy="457200"/>
          </a:xfrm>
          <a:prstGeom prst="rect">
            <a:avLst/>
          </a:prstGeom>
          <a:noFill/>
        </p:spPr>
        <p:txBody>
          <a:bodyPr wrap="square" lIns="0" rIns="0" tIns="0" bIns="0" anchor="ctr">
            <a:spAutoFit/>
          </a:bodyPr>
          <a:lstStyle/>
          <a:p>
            <a:pPr algn="l"/>
            <a:r>
              <a:rPr sz="2200" b="0" i="0">
                <a:solidFill>
                  <a:srgbClr val="5A48E8"/>
                </a:solidFill>
                <a:latin typeface="Georgia"/>
              </a:rPr>
              <a:t>865</a:t>
            </a:r>
          </a:p>
        </p:txBody>
      </p:sp>
      <p:sp>
        <p:nvSpPr>
          <p:cNvPr id="11" name="TextBox 10"/>
          <p:cNvSpPr txBox="1"/>
          <p:nvPr/>
        </p:nvSpPr>
        <p:spPr>
          <a:xfrm>
            <a:off x="868680" y="3246120"/>
            <a:ext cx="2099462" cy="365760"/>
          </a:xfrm>
          <a:prstGeom prst="rect">
            <a:avLst/>
          </a:prstGeom>
          <a:noFill/>
        </p:spPr>
        <p:txBody>
          <a:bodyPr wrap="square" lIns="0" rIns="0" tIns="0" bIns="0" anchor="ctr">
            <a:spAutoFit/>
          </a:bodyPr>
          <a:lstStyle/>
          <a:p>
            <a:pPr algn="l"/>
            <a:r>
              <a:rPr sz="1400" b="1" i="0">
                <a:solidFill>
                  <a:srgbClr val="1F1D4A"/>
                </a:solidFill>
                <a:latin typeface="Calibri"/>
              </a:rPr>
              <a:t>Capability rows</a:t>
            </a:r>
          </a:p>
        </p:txBody>
      </p:sp>
      <p:sp>
        <p:nvSpPr>
          <p:cNvPr id="12" name="TextBox 11"/>
          <p:cNvSpPr txBox="1"/>
          <p:nvPr/>
        </p:nvSpPr>
        <p:spPr>
          <a:xfrm>
            <a:off x="868680" y="3639312"/>
            <a:ext cx="2099462" cy="685800"/>
          </a:xfrm>
          <a:prstGeom prst="rect">
            <a:avLst/>
          </a:prstGeom>
          <a:noFill/>
        </p:spPr>
        <p:txBody>
          <a:bodyPr wrap="square" lIns="0" rIns="0" tIns="0" bIns="0" anchor="t">
            <a:spAutoFit/>
          </a:bodyPr>
          <a:lstStyle/>
          <a:p>
            <a:pPr algn="l"/>
            <a:r>
              <a:rPr sz="1050" b="0" i="0">
                <a:solidFill>
                  <a:srgbClr val="5A5C70"/>
                </a:solidFill>
                <a:latin typeface="Calibri"/>
              </a:rPr>
              <a:t>Across 10 investor journeys, each placed in a reviewed structure.</a:t>
            </a:r>
          </a:p>
        </p:txBody>
      </p:sp>
      <p:sp>
        <p:nvSpPr>
          <p:cNvPr id="13" name="Rectangle 12"/>
          <p:cNvSpPr/>
          <p:nvPr/>
        </p:nvSpPr>
        <p:spPr>
          <a:xfrm>
            <a:off x="3379622" y="2606040"/>
            <a:ext cx="2648102" cy="1783080"/>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3942" y="2788920"/>
            <a:ext cx="1463040" cy="457200"/>
          </a:xfrm>
          <a:prstGeom prst="rect">
            <a:avLst/>
          </a:prstGeom>
          <a:noFill/>
        </p:spPr>
        <p:txBody>
          <a:bodyPr wrap="square" lIns="0" rIns="0" tIns="0" bIns="0" anchor="ctr">
            <a:spAutoFit/>
          </a:bodyPr>
          <a:lstStyle/>
          <a:p>
            <a:pPr algn="l"/>
            <a:r>
              <a:rPr sz="2200" b="0" i="0">
                <a:solidFill>
                  <a:srgbClr val="5A48E8"/>
                </a:solidFill>
                <a:latin typeface="Georgia"/>
              </a:rPr>
              <a:t>524</a:t>
            </a:r>
          </a:p>
        </p:txBody>
      </p:sp>
      <p:sp>
        <p:nvSpPr>
          <p:cNvPr id="15" name="TextBox 14"/>
          <p:cNvSpPr txBox="1"/>
          <p:nvPr/>
        </p:nvSpPr>
        <p:spPr>
          <a:xfrm>
            <a:off x="3653942" y="3246120"/>
            <a:ext cx="2099462" cy="365760"/>
          </a:xfrm>
          <a:prstGeom prst="rect">
            <a:avLst/>
          </a:prstGeom>
          <a:noFill/>
        </p:spPr>
        <p:txBody>
          <a:bodyPr wrap="square" lIns="0" rIns="0" tIns="0" bIns="0" anchor="ctr">
            <a:spAutoFit/>
          </a:bodyPr>
          <a:lstStyle/>
          <a:p>
            <a:pPr algn="l"/>
            <a:r>
              <a:rPr sz="1400" b="1" i="0">
                <a:solidFill>
                  <a:srgbClr val="1F1D4A"/>
                </a:solidFill>
                <a:latin typeface="Calibri"/>
              </a:rPr>
              <a:t>Live</a:t>
            </a:r>
          </a:p>
        </p:txBody>
      </p:sp>
      <p:sp>
        <p:nvSpPr>
          <p:cNvPr id="16" name="TextBox 15"/>
          <p:cNvSpPr txBox="1"/>
          <p:nvPr/>
        </p:nvSpPr>
        <p:spPr>
          <a:xfrm>
            <a:off x="3653942" y="3639312"/>
            <a:ext cx="2099462" cy="685800"/>
          </a:xfrm>
          <a:prstGeom prst="rect">
            <a:avLst/>
          </a:prstGeom>
          <a:noFill/>
        </p:spPr>
        <p:txBody>
          <a:bodyPr wrap="square" lIns="0" rIns="0" tIns="0" bIns="0" anchor="t">
            <a:spAutoFit/>
          </a:bodyPr>
          <a:lstStyle/>
          <a:p>
            <a:pPr algn="l"/>
            <a:r>
              <a:rPr sz="1050" b="0" i="0">
                <a:solidFill>
                  <a:srgbClr val="5A5C70"/>
                </a:solidFill>
                <a:latin typeface="Calibri"/>
              </a:rPr>
              <a:t>61% of the map. 504 carry a dated walk or ruling.</a:t>
            </a:r>
          </a:p>
        </p:txBody>
      </p:sp>
      <p:sp>
        <p:nvSpPr>
          <p:cNvPr id="17" name="Rectangle 16"/>
          <p:cNvSpPr/>
          <p:nvPr/>
        </p:nvSpPr>
        <p:spPr>
          <a:xfrm>
            <a:off x="6164884" y="2606040"/>
            <a:ext cx="2648102" cy="1783080"/>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9204" y="2788920"/>
            <a:ext cx="1463040" cy="457200"/>
          </a:xfrm>
          <a:prstGeom prst="rect">
            <a:avLst/>
          </a:prstGeom>
          <a:noFill/>
        </p:spPr>
        <p:txBody>
          <a:bodyPr wrap="square" lIns="0" rIns="0" tIns="0" bIns="0" anchor="ctr">
            <a:spAutoFit/>
          </a:bodyPr>
          <a:lstStyle/>
          <a:p>
            <a:pPr algn="l"/>
            <a:r>
              <a:rPr sz="2200" b="0" i="0">
                <a:solidFill>
                  <a:srgbClr val="5A48E8"/>
                </a:solidFill>
                <a:latin typeface="Georgia"/>
              </a:rPr>
              <a:t>129</a:t>
            </a:r>
          </a:p>
        </p:txBody>
      </p:sp>
      <p:sp>
        <p:nvSpPr>
          <p:cNvPr id="19" name="TextBox 18"/>
          <p:cNvSpPr txBox="1"/>
          <p:nvPr/>
        </p:nvSpPr>
        <p:spPr>
          <a:xfrm>
            <a:off x="6439204" y="3246120"/>
            <a:ext cx="2099462" cy="365760"/>
          </a:xfrm>
          <a:prstGeom prst="rect">
            <a:avLst/>
          </a:prstGeom>
          <a:noFill/>
        </p:spPr>
        <p:txBody>
          <a:bodyPr wrap="square" lIns="0" rIns="0" tIns="0" bIns="0" anchor="ctr">
            <a:spAutoFit/>
          </a:bodyPr>
          <a:lstStyle/>
          <a:p>
            <a:pPr algn="l"/>
            <a:r>
              <a:rPr sz="1400" b="1" i="0">
                <a:solidFill>
                  <a:srgbClr val="1F1D4A"/>
                </a:solidFill>
                <a:latin typeface="Calibri"/>
              </a:rPr>
              <a:t>Planned</a:t>
            </a:r>
          </a:p>
        </p:txBody>
      </p:sp>
      <p:sp>
        <p:nvSpPr>
          <p:cNvPr id="20" name="TextBox 19"/>
          <p:cNvSpPr txBox="1"/>
          <p:nvPr/>
        </p:nvSpPr>
        <p:spPr>
          <a:xfrm>
            <a:off x="6439204" y="3639312"/>
            <a:ext cx="2099462" cy="685800"/>
          </a:xfrm>
          <a:prstGeom prst="rect">
            <a:avLst/>
          </a:prstGeom>
          <a:noFill/>
        </p:spPr>
        <p:txBody>
          <a:bodyPr wrap="square" lIns="0" rIns="0" tIns="0" bIns="0" anchor="t">
            <a:spAutoFit/>
          </a:bodyPr>
          <a:lstStyle/>
          <a:p>
            <a:pPr algn="l"/>
            <a:r>
              <a:rPr sz="1050" b="0" i="0">
                <a:solidFill>
                  <a:srgbClr val="5A5C70"/>
                </a:solidFill>
                <a:latin typeface="Calibri"/>
              </a:rPr>
              <a:t>15% of the map — on the roadmap, not yet shipped.</a:t>
            </a:r>
          </a:p>
        </p:txBody>
      </p:sp>
      <p:sp>
        <p:nvSpPr>
          <p:cNvPr id="21" name="Rectangle 20"/>
          <p:cNvSpPr/>
          <p:nvPr/>
        </p:nvSpPr>
        <p:spPr>
          <a:xfrm>
            <a:off x="8950147" y="2606040"/>
            <a:ext cx="2648102" cy="1783080"/>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4467" y="2788920"/>
            <a:ext cx="1463040" cy="457200"/>
          </a:xfrm>
          <a:prstGeom prst="rect">
            <a:avLst/>
          </a:prstGeom>
          <a:noFill/>
        </p:spPr>
        <p:txBody>
          <a:bodyPr wrap="square" lIns="0" rIns="0" tIns="0" bIns="0" anchor="ctr">
            <a:spAutoFit/>
          </a:bodyPr>
          <a:lstStyle/>
          <a:p>
            <a:pPr algn="l"/>
            <a:r>
              <a:rPr sz="2200" b="0" i="0">
                <a:solidFill>
                  <a:srgbClr val="5A48E8"/>
                </a:solidFill>
                <a:latin typeface="Georgia"/>
              </a:rPr>
              <a:t>212</a:t>
            </a:r>
          </a:p>
        </p:txBody>
      </p:sp>
      <p:sp>
        <p:nvSpPr>
          <p:cNvPr id="23" name="TextBox 22"/>
          <p:cNvSpPr txBox="1"/>
          <p:nvPr/>
        </p:nvSpPr>
        <p:spPr>
          <a:xfrm>
            <a:off x="9224467" y="3246120"/>
            <a:ext cx="2099462" cy="365760"/>
          </a:xfrm>
          <a:prstGeom prst="rect">
            <a:avLst/>
          </a:prstGeom>
          <a:noFill/>
        </p:spPr>
        <p:txBody>
          <a:bodyPr wrap="square" lIns="0" rIns="0" tIns="0" bIns="0" anchor="ctr">
            <a:spAutoFit/>
          </a:bodyPr>
          <a:lstStyle/>
          <a:p>
            <a:pPr algn="l"/>
            <a:r>
              <a:rPr sz="1400" b="1" i="0">
                <a:solidFill>
                  <a:srgbClr val="1F1D4A"/>
                </a:solidFill>
                <a:latin typeface="Calibri"/>
              </a:rPr>
              <a:t>Gaps</a:t>
            </a:r>
          </a:p>
        </p:txBody>
      </p:sp>
      <p:sp>
        <p:nvSpPr>
          <p:cNvPr id="24" name="TextBox 23"/>
          <p:cNvSpPr txBox="1"/>
          <p:nvPr/>
        </p:nvSpPr>
        <p:spPr>
          <a:xfrm>
            <a:off x="9224467" y="3639312"/>
            <a:ext cx="2099462" cy="685800"/>
          </a:xfrm>
          <a:prstGeom prst="rect">
            <a:avLst/>
          </a:prstGeom>
          <a:noFill/>
        </p:spPr>
        <p:txBody>
          <a:bodyPr wrap="square" lIns="0" rIns="0" tIns="0" bIns="0" anchor="t">
            <a:spAutoFit/>
          </a:bodyPr>
          <a:lstStyle/>
          <a:p>
            <a:pPr algn="l"/>
            <a:r>
              <a:rPr sz="1050" b="0" i="0">
                <a:solidFill>
                  <a:srgbClr val="5A5C70"/>
                </a:solidFill>
                <a:latin typeface="Calibri"/>
              </a:rPr>
              <a:t>25% of the map — not built in the product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8229600" cy="274320"/>
          </a:xfrm>
          <a:prstGeom prst="rect">
            <a:avLst/>
          </a:prstGeom>
          <a:noFill/>
        </p:spPr>
        <p:txBody>
          <a:bodyPr wrap="square" lIns="0" rIns="0" tIns="0" bIns="0" anchor="ctr">
            <a:spAutoFit/>
          </a:bodyPr>
          <a:lstStyle/>
          <a:p>
            <a:pPr algn="l"/>
            <a:r>
              <a:rPr sz="950" b="1" i="0" spc="300">
                <a:solidFill>
                  <a:srgbClr val="8C8E9F"/>
                </a:solidFill>
                <a:latin typeface="Calibri"/>
              </a:rPr>
              <a:t>SECTION 02  ·  COVERAGE — TRADING JOURNEYS</a:t>
            </a:r>
          </a:p>
        </p:txBody>
      </p:sp>
      <p:sp>
        <p:nvSpPr>
          <p:cNvPr id="4" name="TextBox 3"/>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8C8E9F"/>
                </a:solidFill>
                <a:latin typeface="Calibri"/>
              </a:rPr>
              <a:t>03  /  08</a:t>
            </a:r>
          </a:p>
        </p:txBody>
      </p:sp>
      <p:sp>
        <p:nvSpPr>
          <p:cNvPr id="5" name="TextBox 4"/>
          <p:cNvSpPr txBox="1"/>
          <p:nvPr/>
        </p:nvSpPr>
        <p:spPr>
          <a:xfrm>
            <a:off x="594360" y="6492240"/>
            <a:ext cx="11002975" cy="274320"/>
          </a:xfrm>
          <a:prstGeom prst="rect">
            <a:avLst/>
          </a:prstGeom>
          <a:noFill/>
        </p:spPr>
        <p:txBody>
          <a:bodyPr wrap="square" lIns="0" rIns="0" tIns="0" bIns="0" anchor="ctr">
            <a:spAutoFit/>
          </a:bodyPr>
          <a:lstStyle/>
          <a:p>
            <a:pPr algn="l"/>
            <a:r>
              <a:rPr sz="900" b="0" i="0">
                <a:solidFill>
                  <a:srgbClr val="8C8E9F"/>
                </a:solidFill>
                <a:latin typeface="Calibri"/>
              </a:rPr>
              <a:t>The Features Map  ·  v2.21  ·  31 August 2026</a:t>
            </a:r>
          </a:p>
        </p:txBody>
      </p:sp>
      <p:sp>
        <p:nvSpPr>
          <p:cNvPr id="6" name="TextBox 5"/>
          <p:cNvSpPr txBox="1"/>
          <p:nvPr/>
        </p:nvSpPr>
        <p:spPr>
          <a:xfrm>
            <a:off x="594360" y="914400"/>
            <a:ext cx="11002975" cy="777240"/>
          </a:xfrm>
          <a:prstGeom prst="rect">
            <a:avLst/>
          </a:prstGeom>
          <a:noFill/>
        </p:spPr>
        <p:txBody>
          <a:bodyPr wrap="square" lIns="0" rIns="0" tIns="0" bIns="0" anchor="ctr">
            <a:spAutoFit/>
          </a:bodyPr>
          <a:lstStyle/>
          <a:p>
            <a:pPr algn="l"/>
            <a:r>
              <a:rPr sz="3600" b="1" i="0">
                <a:solidFill>
                  <a:srgbClr val="1F1D4A"/>
                </a:solidFill>
                <a:latin typeface="Georgia"/>
              </a:rPr>
              <a:t>Journey by journey, area by area.</a:t>
            </a:r>
          </a:p>
        </p:txBody>
      </p:sp>
      <p:sp>
        <p:nvSpPr>
          <p:cNvPr id="7" name="TextBox 6"/>
          <p:cNvSpPr txBox="1"/>
          <p:nvPr/>
        </p:nvSpPr>
        <p:spPr>
          <a:xfrm>
            <a:off x="594360" y="1691640"/>
            <a:ext cx="10088575" cy="457200"/>
          </a:xfrm>
          <a:prstGeom prst="rect">
            <a:avLst/>
          </a:prstGeom>
          <a:noFill/>
        </p:spPr>
        <p:txBody>
          <a:bodyPr wrap="square" lIns="0" rIns="0" tIns="0" bIns="0" anchor="ctr">
            <a:spAutoFit/>
          </a:bodyPr>
          <a:lstStyle/>
          <a:p>
            <a:pPr algn="l"/>
            <a:r>
              <a:rPr sz="1400" b="0" i="0">
                <a:solidFill>
                  <a:srgbClr val="5A5C70"/>
                </a:solidFill>
                <a:latin typeface="Calibri"/>
              </a:rPr>
              <a:t>The four trading journeys as the map nests them — 652 of the 865 rows.</a:t>
            </a:r>
          </a:p>
        </p:txBody>
      </p:sp>
      <p:sp>
        <p:nvSpPr>
          <p:cNvPr id="8" name="Rectangle 7"/>
          <p:cNvSpPr/>
          <p:nvPr/>
        </p:nvSpPr>
        <p:spPr>
          <a:xfrm>
            <a:off x="594360" y="2377440"/>
            <a:ext cx="1828800" cy="22225"/>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0" y="2286000"/>
            <a:ext cx="146304" cy="146304"/>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2240280"/>
            <a:ext cx="822960" cy="237744"/>
          </a:xfrm>
          <a:prstGeom prst="rect">
            <a:avLst/>
          </a:prstGeom>
          <a:noFill/>
        </p:spPr>
        <p:txBody>
          <a:bodyPr wrap="square" lIns="0" rIns="0" tIns="0" bIns="0" anchor="ctr">
            <a:spAutoFit/>
          </a:bodyPr>
          <a:lstStyle/>
          <a:p>
            <a:pPr algn="l"/>
            <a:r>
              <a:rPr sz="1000" b="0" i="0">
                <a:solidFill>
                  <a:srgbClr val="5A5C70"/>
                </a:solidFill>
                <a:latin typeface="Calibri"/>
              </a:rPr>
              <a:t>Live</a:t>
            </a:r>
          </a:p>
        </p:txBody>
      </p:sp>
      <p:sp>
        <p:nvSpPr>
          <p:cNvPr id="11" name="Rectangle 10"/>
          <p:cNvSpPr/>
          <p:nvPr/>
        </p:nvSpPr>
        <p:spPr>
          <a:xfrm>
            <a:off x="9509759" y="2286000"/>
            <a:ext cx="146304" cy="146304"/>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20072" y="2240280"/>
            <a:ext cx="822960" cy="237744"/>
          </a:xfrm>
          <a:prstGeom prst="rect">
            <a:avLst/>
          </a:prstGeom>
          <a:noFill/>
        </p:spPr>
        <p:txBody>
          <a:bodyPr wrap="square" lIns="0" rIns="0" tIns="0" bIns="0" anchor="ctr">
            <a:spAutoFit/>
          </a:bodyPr>
          <a:lstStyle/>
          <a:p>
            <a:pPr algn="l"/>
            <a:r>
              <a:rPr sz="1000" b="0" i="0">
                <a:solidFill>
                  <a:srgbClr val="5A5C70"/>
                </a:solidFill>
                <a:latin typeface="Calibri"/>
              </a:rPr>
              <a:t>Planned</a:t>
            </a:r>
          </a:p>
        </p:txBody>
      </p:sp>
      <p:sp>
        <p:nvSpPr>
          <p:cNvPr id="13" name="Rectangle 12"/>
          <p:cNvSpPr/>
          <p:nvPr/>
        </p:nvSpPr>
        <p:spPr>
          <a:xfrm>
            <a:off x="10607040" y="2286000"/>
            <a:ext cx="146304" cy="146304"/>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17352" y="2240280"/>
            <a:ext cx="822960" cy="237744"/>
          </a:xfrm>
          <a:prstGeom prst="rect">
            <a:avLst/>
          </a:prstGeom>
          <a:noFill/>
        </p:spPr>
        <p:txBody>
          <a:bodyPr wrap="square" lIns="0" rIns="0" tIns="0" bIns="0" anchor="ctr">
            <a:spAutoFit/>
          </a:bodyPr>
          <a:lstStyle/>
          <a:p>
            <a:pPr algn="l"/>
            <a:r>
              <a:rPr sz="1000" b="0" i="0">
                <a:solidFill>
                  <a:srgbClr val="5A5C70"/>
                </a:solidFill>
                <a:latin typeface="Calibri"/>
              </a:rPr>
              <a:t>Gap</a:t>
            </a:r>
          </a:p>
        </p:txBody>
      </p:sp>
      <p:sp>
        <p:nvSpPr>
          <p:cNvPr id="15" name="Rectangle 14"/>
          <p:cNvSpPr/>
          <p:nvPr/>
        </p:nvSpPr>
        <p:spPr>
          <a:xfrm>
            <a:off x="594360" y="2587752"/>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633472"/>
            <a:ext cx="2194560" cy="219456"/>
          </a:xfrm>
          <a:prstGeom prst="rect">
            <a:avLst/>
          </a:prstGeom>
          <a:noFill/>
        </p:spPr>
        <p:txBody>
          <a:bodyPr wrap="square" lIns="0" rIns="0" tIns="0" bIns="0" anchor="ctr">
            <a:spAutoFit/>
          </a:bodyPr>
          <a:lstStyle/>
          <a:p>
            <a:pPr algn="l"/>
            <a:r>
              <a:rPr sz="1150" b="1" i="0">
                <a:solidFill>
                  <a:srgbClr val="1F1D4A"/>
                </a:solidFill>
                <a:latin typeface="Calibri"/>
              </a:rPr>
              <a:t>US Trading</a:t>
            </a:r>
          </a:p>
        </p:txBody>
      </p:sp>
      <p:sp>
        <p:nvSpPr>
          <p:cNvPr id="17" name="TextBox 16"/>
          <p:cNvSpPr txBox="1"/>
          <p:nvPr/>
        </p:nvSpPr>
        <p:spPr>
          <a:xfrm>
            <a:off x="2834640" y="2633472"/>
            <a:ext cx="457200" cy="219456"/>
          </a:xfrm>
          <a:prstGeom prst="rect">
            <a:avLst/>
          </a:prstGeom>
          <a:noFill/>
        </p:spPr>
        <p:txBody>
          <a:bodyPr wrap="square" lIns="0" rIns="0" tIns="0" bIns="0" anchor="ctr">
            <a:spAutoFit/>
          </a:bodyPr>
          <a:lstStyle/>
          <a:p>
            <a:pPr algn="r"/>
            <a:r>
              <a:rPr sz="1150" b="1" i="0">
                <a:solidFill>
                  <a:srgbClr val="1F1D4A"/>
                </a:solidFill>
                <a:latin typeface="Calibri"/>
              </a:rPr>
              <a:t>272</a:t>
            </a:r>
          </a:p>
        </p:txBody>
      </p:sp>
      <p:sp>
        <p:nvSpPr>
          <p:cNvPr id="18" name="Rectangle 17"/>
          <p:cNvSpPr/>
          <p:nvPr/>
        </p:nvSpPr>
        <p:spPr>
          <a:xfrm>
            <a:off x="3383279" y="2670048"/>
            <a:ext cx="932889"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6169" y="2670048"/>
            <a:ext cx="93288"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09458" y="2670048"/>
            <a:ext cx="665461"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60" y="2633472"/>
            <a:ext cx="685800" cy="219456"/>
          </a:xfrm>
          <a:prstGeom prst="rect">
            <a:avLst/>
          </a:prstGeom>
          <a:noFill/>
        </p:spPr>
        <p:txBody>
          <a:bodyPr wrap="square" lIns="0" rIns="0" tIns="0" bIns="0" anchor="ctr">
            <a:spAutoFit/>
          </a:bodyPr>
          <a:lstStyle/>
          <a:p>
            <a:pPr algn="r"/>
            <a:r>
              <a:rPr sz="1050" b="1" i="0">
                <a:solidFill>
                  <a:srgbClr val="B5731F"/>
                </a:solidFill>
                <a:latin typeface="Calibri"/>
              </a:rPr>
              <a:t>39%</a:t>
            </a:r>
          </a:p>
        </p:txBody>
      </p:sp>
      <p:sp>
        <p:nvSpPr>
          <p:cNvPr id="22" name="TextBox 21"/>
          <p:cNvSpPr txBox="1"/>
          <p:nvPr/>
        </p:nvSpPr>
        <p:spPr>
          <a:xfrm>
            <a:off x="795528" y="2926079"/>
            <a:ext cx="2011680" cy="182880"/>
          </a:xfrm>
          <a:prstGeom prst="rect">
            <a:avLst/>
          </a:prstGeom>
          <a:noFill/>
        </p:spPr>
        <p:txBody>
          <a:bodyPr wrap="square" lIns="0" rIns="0" tIns="0" bIns="0" anchor="ctr">
            <a:spAutoFit/>
          </a:bodyPr>
          <a:lstStyle/>
          <a:p>
            <a:pPr algn="l"/>
            <a:r>
              <a:rPr sz="950" b="0" i="0">
                <a:solidFill>
                  <a:srgbClr val="5A5C70"/>
                </a:solidFill>
                <a:latin typeface="Calibri"/>
              </a:rPr>
              <a:t>Market</a:t>
            </a:r>
          </a:p>
        </p:txBody>
      </p:sp>
      <p:sp>
        <p:nvSpPr>
          <p:cNvPr id="23" name="TextBox 22"/>
          <p:cNvSpPr txBox="1"/>
          <p:nvPr/>
        </p:nvSpPr>
        <p:spPr>
          <a:xfrm>
            <a:off x="2834640" y="2926079"/>
            <a:ext cx="457200" cy="182880"/>
          </a:xfrm>
          <a:prstGeom prst="rect">
            <a:avLst/>
          </a:prstGeom>
          <a:noFill/>
        </p:spPr>
        <p:txBody>
          <a:bodyPr wrap="square" lIns="0" rIns="0" tIns="0" bIns="0" anchor="ctr">
            <a:spAutoFit/>
          </a:bodyPr>
          <a:lstStyle/>
          <a:p>
            <a:pPr algn="r"/>
            <a:r>
              <a:rPr sz="950" b="0" i="0">
                <a:solidFill>
                  <a:srgbClr val="5A5C70"/>
                </a:solidFill>
                <a:latin typeface="Calibri"/>
              </a:rPr>
              <a:t>132</a:t>
            </a:r>
          </a:p>
        </p:txBody>
      </p:sp>
      <p:sp>
        <p:nvSpPr>
          <p:cNvPr id="24" name="Rectangle 23"/>
          <p:cNvSpPr/>
          <p:nvPr/>
        </p:nvSpPr>
        <p:spPr>
          <a:xfrm>
            <a:off x="3383279" y="2958084"/>
            <a:ext cx="1307176"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90456" y="2958084"/>
            <a:ext cx="102523"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92980" y="2958084"/>
            <a:ext cx="28194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66360" y="2926079"/>
            <a:ext cx="685800" cy="182880"/>
          </a:xfrm>
          <a:prstGeom prst="rect">
            <a:avLst/>
          </a:prstGeom>
          <a:noFill/>
        </p:spPr>
        <p:txBody>
          <a:bodyPr wrap="square" lIns="0" rIns="0" tIns="0" bIns="0" anchor="ctr">
            <a:spAutoFit/>
          </a:bodyPr>
          <a:lstStyle/>
          <a:p>
            <a:pPr algn="r"/>
            <a:r>
              <a:rPr sz="900" b="0" i="0">
                <a:solidFill>
                  <a:srgbClr val="8C8E9F"/>
                </a:solidFill>
                <a:latin typeface="Calibri"/>
              </a:rPr>
              <a:t>17%</a:t>
            </a:r>
          </a:p>
        </p:txBody>
      </p:sp>
      <p:sp>
        <p:nvSpPr>
          <p:cNvPr id="28" name="TextBox 27"/>
          <p:cNvSpPr txBox="1"/>
          <p:nvPr/>
        </p:nvSpPr>
        <p:spPr>
          <a:xfrm>
            <a:off x="795528" y="3168396"/>
            <a:ext cx="2011680" cy="182880"/>
          </a:xfrm>
          <a:prstGeom prst="rect">
            <a:avLst/>
          </a:prstGeom>
          <a:noFill/>
        </p:spPr>
        <p:txBody>
          <a:bodyPr wrap="square" lIns="0" rIns="0" tIns="0" bIns="0" anchor="ctr">
            <a:spAutoFit/>
          </a:bodyPr>
          <a:lstStyle/>
          <a:p>
            <a:pPr algn="l"/>
            <a:r>
              <a:rPr sz="950" b="0" i="0">
                <a:solidFill>
                  <a:srgbClr val="5A5C70"/>
                </a:solidFill>
                <a:latin typeface="Calibri"/>
              </a:rPr>
              <a:t>Portfolio</a:t>
            </a:r>
          </a:p>
        </p:txBody>
      </p:sp>
      <p:sp>
        <p:nvSpPr>
          <p:cNvPr id="29" name="TextBox 28"/>
          <p:cNvSpPr txBox="1"/>
          <p:nvPr/>
        </p:nvSpPr>
        <p:spPr>
          <a:xfrm>
            <a:off x="2834640" y="3168396"/>
            <a:ext cx="457200" cy="182880"/>
          </a:xfrm>
          <a:prstGeom prst="rect">
            <a:avLst/>
          </a:prstGeom>
          <a:noFill/>
        </p:spPr>
        <p:txBody>
          <a:bodyPr wrap="square" lIns="0" rIns="0" tIns="0" bIns="0" anchor="ctr">
            <a:spAutoFit/>
          </a:bodyPr>
          <a:lstStyle/>
          <a:p>
            <a:pPr algn="r"/>
            <a:r>
              <a:rPr sz="950" b="0" i="0">
                <a:solidFill>
                  <a:srgbClr val="5A5C70"/>
                </a:solidFill>
                <a:latin typeface="Calibri"/>
              </a:rPr>
              <a:t>107</a:t>
            </a:r>
          </a:p>
        </p:txBody>
      </p:sp>
      <p:sp>
        <p:nvSpPr>
          <p:cNvPr id="30" name="Rectangle 29"/>
          <p:cNvSpPr/>
          <p:nvPr/>
        </p:nvSpPr>
        <p:spPr>
          <a:xfrm>
            <a:off x="3383279" y="3200400"/>
            <a:ext cx="395242"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78522" y="3200400"/>
            <a:ext cx="7904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57571" y="3200400"/>
            <a:ext cx="1217348"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6360" y="3168396"/>
            <a:ext cx="685800" cy="182880"/>
          </a:xfrm>
          <a:prstGeom prst="rect">
            <a:avLst/>
          </a:prstGeom>
          <a:noFill/>
        </p:spPr>
        <p:txBody>
          <a:bodyPr wrap="square" lIns="0" rIns="0" tIns="0" bIns="0" anchor="ctr">
            <a:spAutoFit/>
          </a:bodyPr>
          <a:lstStyle/>
          <a:p>
            <a:pPr algn="r"/>
            <a:r>
              <a:rPr sz="900" b="0" i="0">
                <a:solidFill>
                  <a:srgbClr val="B5731F"/>
                </a:solidFill>
                <a:latin typeface="Calibri"/>
              </a:rPr>
              <a:t>72%</a:t>
            </a:r>
          </a:p>
        </p:txBody>
      </p:sp>
      <p:sp>
        <p:nvSpPr>
          <p:cNvPr id="34" name="TextBox 33"/>
          <p:cNvSpPr txBox="1"/>
          <p:nvPr/>
        </p:nvSpPr>
        <p:spPr>
          <a:xfrm>
            <a:off x="795528" y="3410712"/>
            <a:ext cx="2011680" cy="182880"/>
          </a:xfrm>
          <a:prstGeom prst="rect">
            <a:avLst/>
          </a:prstGeom>
          <a:noFill/>
        </p:spPr>
        <p:txBody>
          <a:bodyPr wrap="square" lIns="0" rIns="0" tIns="0" bIns="0" anchor="ctr">
            <a:spAutoFit/>
          </a:bodyPr>
          <a:lstStyle/>
          <a:p>
            <a:pPr algn="l"/>
            <a:r>
              <a:rPr sz="950" b="0" i="0">
                <a:solidFill>
                  <a:srgbClr val="5A5C70"/>
                </a:solidFill>
                <a:latin typeface="Calibri"/>
              </a:rPr>
              <a:t>Orders</a:t>
            </a:r>
          </a:p>
        </p:txBody>
      </p:sp>
      <p:sp>
        <p:nvSpPr>
          <p:cNvPr id="35" name="TextBox 34"/>
          <p:cNvSpPr txBox="1"/>
          <p:nvPr/>
        </p:nvSpPr>
        <p:spPr>
          <a:xfrm>
            <a:off x="2834640" y="3410712"/>
            <a:ext cx="457200" cy="182880"/>
          </a:xfrm>
          <a:prstGeom prst="rect">
            <a:avLst/>
          </a:prstGeom>
          <a:noFill/>
        </p:spPr>
        <p:txBody>
          <a:bodyPr wrap="square" lIns="0" rIns="0" tIns="0" bIns="0" anchor="ctr">
            <a:spAutoFit/>
          </a:bodyPr>
          <a:lstStyle/>
          <a:p>
            <a:pPr algn="r"/>
            <a:r>
              <a:rPr sz="950" b="0" i="0">
                <a:solidFill>
                  <a:srgbClr val="5A5C70"/>
                </a:solidFill>
                <a:latin typeface="Calibri"/>
              </a:rPr>
              <a:t>28</a:t>
            </a:r>
          </a:p>
        </p:txBody>
      </p:sp>
      <p:sp>
        <p:nvSpPr>
          <p:cNvPr id="36" name="Rectangle 35"/>
          <p:cNvSpPr/>
          <p:nvPr/>
        </p:nvSpPr>
        <p:spPr>
          <a:xfrm>
            <a:off x="3383279" y="3442716"/>
            <a:ext cx="1208314"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91594" y="3442716"/>
            <a:ext cx="60415"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52010" y="3442716"/>
            <a:ext cx="42291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60" y="3410712"/>
            <a:ext cx="685800" cy="182880"/>
          </a:xfrm>
          <a:prstGeom prst="rect">
            <a:avLst/>
          </a:prstGeom>
          <a:noFill/>
        </p:spPr>
        <p:txBody>
          <a:bodyPr wrap="square" lIns="0" rIns="0" tIns="0" bIns="0" anchor="ctr">
            <a:spAutoFit/>
          </a:bodyPr>
          <a:lstStyle/>
          <a:p>
            <a:pPr algn="r"/>
            <a:r>
              <a:rPr sz="900" b="0" i="0">
                <a:solidFill>
                  <a:srgbClr val="B5731F"/>
                </a:solidFill>
                <a:latin typeface="Calibri"/>
              </a:rPr>
              <a:t>25%</a:t>
            </a:r>
          </a:p>
        </p:txBody>
      </p:sp>
      <p:sp>
        <p:nvSpPr>
          <p:cNvPr id="40" name="TextBox 39"/>
          <p:cNvSpPr txBox="1"/>
          <p:nvPr/>
        </p:nvSpPr>
        <p:spPr>
          <a:xfrm>
            <a:off x="795528" y="3653028"/>
            <a:ext cx="2011680" cy="182880"/>
          </a:xfrm>
          <a:prstGeom prst="rect">
            <a:avLst/>
          </a:prstGeom>
          <a:noFill/>
        </p:spPr>
        <p:txBody>
          <a:bodyPr wrap="square" lIns="0" rIns="0" tIns="0" bIns="0" anchor="ctr">
            <a:spAutoFit/>
          </a:bodyPr>
          <a:lstStyle/>
          <a:p>
            <a:pPr algn="l"/>
            <a:r>
              <a:rPr sz="950" b="0" i="0">
                <a:solidFill>
                  <a:srgbClr val="5A5C70"/>
                </a:solidFill>
                <a:latin typeface="Calibri"/>
              </a:rPr>
              <a:t>Watchlist</a:t>
            </a:r>
          </a:p>
        </p:txBody>
      </p:sp>
      <p:sp>
        <p:nvSpPr>
          <p:cNvPr id="41" name="TextBox 40"/>
          <p:cNvSpPr txBox="1"/>
          <p:nvPr/>
        </p:nvSpPr>
        <p:spPr>
          <a:xfrm>
            <a:off x="2834640" y="3653028"/>
            <a:ext cx="457200" cy="182880"/>
          </a:xfrm>
          <a:prstGeom prst="rect">
            <a:avLst/>
          </a:prstGeom>
          <a:noFill/>
        </p:spPr>
        <p:txBody>
          <a:bodyPr wrap="square" lIns="0" rIns="0" tIns="0" bIns="0" anchor="ctr">
            <a:spAutoFit/>
          </a:bodyPr>
          <a:lstStyle/>
          <a:p>
            <a:pPr algn="r"/>
            <a:r>
              <a:rPr sz="950" b="0" i="0">
                <a:solidFill>
                  <a:srgbClr val="5A5C70"/>
                </a:solidFill>
                <a:latin typeface="Calibri"/>
              </a:rPr>
              <a:t>5</a:t>
            </a:r>
          </a:p>
        </p:txBody>
      </p:sp>
      <p:sp>
        <p:nvSpPr>
          <p:cNvPr id="42" name="Rectangle 41"/>
          <p:cNvSpPr/>
          <p:nvPr/>
        </p:nvSpPr>
        <p:spPr>
          <a:xfrm>
            <a:off x="3383279" y="3685032"/>
            <a:ext cx="1014984"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398264" y="3685032"/>
            <a:ext cx="33832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36592" y="3685032"/>
            <a:ext cx="338328"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66360" y="3653028"/>
            <a:ext cx="685800" cy="182880"/>
          </a:xfrm>
          <a:prstGeom prst="rect">
            <a:avLst/>
          </a:prstGeom>
          <a:noFill/>
        </p:spPr>
        <p:txBody>
          <a:bodyPr wrap="square" lIns="0" rIns="0" tIns="0" bIns="0" anchor="ctr">
            <a:spAutoFit/>
          </a:bodyPr>
          <a:lstStyle/>
          <a:p>
            <a:pPr algn="r"/>
            <a:r>
              <a:rPr sz="900" b="0" i="0">
                <a:solidFill>
                  <a:srgbClr val="8C8E9F"/>
                </a:solidFill>
                <a:latin typeface="Calibri"/>
              </a:rPr>
              <a:t>20%</a:t>
            </a:r>
          </a:p>
        </p:txBody>
      </p:sp>
      <p:sp>
        <p:nvSpPr>
          <p:cNvPr id="46" name="Rectangle 45"/>
          <p:cNvSpPr/>
          <p:nvPr/>
        </p:nvSpPr>
        <p:spPr>
          <a:xfrm>
            <a:off x="594360" y="3904487"/>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3950207"/>
            <a:ext cx="2194560" cy="219456"/>
          </a:xfrm>
          <a:prstGeom prst="rect">
            <a:avLst/>
          </a:prstGeom>
          <a:noFill/>
        </p:spPr>
        <p:txBody>
          <a:bodyPr wrap="square" lIns="0" rIns="0" tIns="0" bIns="0" anchor="ctr">
            <a:spAutoFit/>
          </a:bodyPr>
          <a:lstStyle/>
          <a:p>
            <a:pPr algn="l"/>
            <a:r>
              <a:rPr sz="1150" b="1" i="0">
                <a:solidFill>
                  <a:srgbClr val="1F1D4A"/>
                </a:solidFill>
                <a:latin typeface="Calibri"/>
              </a:rPr>
              <a:t>Saudi Market</a:t>
            </a:r>
          </a:p>
        </p:txBody>
      </p:sp>
      <p:sp>
        <p:nvSpPr>
          <p:cNvPr id="48" name="TextBox 47"/>
          <p:cNvSpPr txBox="1"/>
          <p:nvPr/>
        </p:nvSpPr>
        <p:spPr>
          <a:xfrm>
            <a:off x="2834640" y="3950207"/>
            <a:ext cx="457200" cy="219456"/>
          </a:xfrm>
          <a:prstGeom prst="rect">
            <a:avLst/>
          </a:prstGeom>
          <a:noFill/>
        </p:spPr>
        <p:txBody>
          <a:bodyPr wrap="square" lIns="0" rIns="0" tIns="0" bIns="0" anchor="ctr">
            <a:spAutoFit/>
          </a:bodyPr>
          <a:lstStyle/>
          <a:p>
            <a:pPr algn="r"/>
            <a:r>
              <a:rPr sz="1150" b="1" i="0">
                <a:solidFill>
                  <a:srgbClr val="1F1D4A"/>
                </a:solidFill>
                <a:latin typeface="Calibri"/>
              </a:rPr>
              <a:t>197</a:t>
            </a:r>
          </a:p>
        </p:txBody>
      </p:sp>
      <p:sp>
        <p:nvSpPr>
          <p:cNvPr id="49" name="Rectangle 48"/>
          <p:cNvSpPr/>
          <p:nvPr/>
        </p:nvSpPr>
        <p:spPr>
          <a:xfrm>
            <a:off x="3383279" y="3986783"/>
            <a:ext cx="953157"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336437" y="3986783"/>
            <a:ext cx="523807"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860244" y="3986783"/>
            <a:ext cx="214675"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6360" y="3950207"/>
            <a:ext cx="685800" cy="219456"/>
          </a:xfrm>
          <a:prstGeom prst="rect">
            <a:avLst/>
          </a:prstGeom>
          <a:noFill/>
        </p:spPr>
        <p:txBody>
          <a:bodyPr wrap="square" lIns="0" rIns="0" tIns="0" bIns="0" anchor="ctr">
            <a:spAutoFit/>
          </a:bodyPr>
          <a:lstStyle/>
          <a:p>
            <a:pPr algn="r"/>
            <a:r>
              <a:rPr sz="1050" b="1" i="0">
                <a:solidFill>
                  <a:srgbClr val="8C8E9F"/>
                </a:solidFill>
                <a:latin typeface="Calibri"/>
              </a:rPr>
              <a:t>13%</a:t>
            </a:r>
          </a:p>
        </p:txBody>
      </p:sp>
      <p:sp>
        <p:nvSpPr>
          <p:cNvPr id="53" name="TextBox 52"/>
          <p:cNvSpPr txBox="1"/>
          <p:nvPr/>
        </p:nvSpPr>
        <p:spPr>
          <a:xfrm>
            <a:off x="795528" y="4242816"/>
            <a:ext cx="2011680" cy="182880"/>
          </a:xfrm>
          <a:prstGeom prst="rect">
            <a:avLst/>
          </a:prstGeom>
          <a:noFill/>
        </p:spPr>
        <p:txBody>
          <a:bodyPr wrap="square" lIns="0" rIns="0" tIns="0" bIns="0" anchor="ctr">
            <a:spAutoFit/>
          </a:bodyPr>
          <a:lstStyle/>
          <a:p>
            <a:pPr algn="l"/>
            <a:r>
              <a:rPr sz="950" b="0" i="0">
                <a:solidFill>
                  <a:srgbClr val="5A5C70"/>
                </a:solidFill>
                <a:latin typeface="Calibri"/>
              </a:rPr>
              <a:t>Market</a:t>
            </a:r>
          </a:p>
        </p:txBody>
      </p:sp>
      <p:sp>
        <p:nvSpPr>
          <p:cNvPr id="54" name="TextBox 53"/>
          <p:cNvSpPr txBox="1"/>
          <p:nvPr/>
        </p:nvSpPr>
        <p:spPr>
          <a:xfrm>
            <a:off x="2834640" y="4242816"/>
            <a:ext cx="457200" cy="182880"/>
          </a:xfrm>
          <a:prstGeom prst="rect">
            <a:avLst/>
          </a:prstGeom>
          <a:noFill/>
        </p:spPr>
        <p:txBody>
          <a:bodyPr wrap="square" lIns="0" rIns="0" tIns="0" bIns="0" anchor="ctr">
            <a:spAutoFit/>
          </a:bodyPr>
          <a:lstStyle/>
          <a:p>
            <a:pPr algn="r"/>
            <a:r>
              <a:rPr sz="950" b="0" i="0">
                <a:solidFill>
                  <a:srgbClr val="5A5C70"/>
                </a:solidFill>
                <a:latin typeface="Calibri"/>
              </a:rPr>
              <a:t>108</a:t>
            </a:r>
          </a:p>
        </p:txBody>
      </p:sp>
      <p:sp>
        <p:nvSpPr>
          <p:cNvPr id="55" name="Rectangle 54"/>
          <p:cNvSpPr/>
          <p:nvPr/>
        </p:nvSpPr>
        <p:spPr>
          <a:xfrm>
            <a:off x="3383279" y="4274820"/>
            <a:ext cx="65786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041140" y="4274820"/>
            <a:ext cx="736176"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77316" y="4274820"/>
            <a:ext cx="297603"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66360" y="4242816"/>
            <a:ext cx="685800" cy="182880"/>
          </a:xfrm>
          <a:prstGeom prst="rect">
            <a:avLst/>
          </a:prstGeom>
          <a:noFill/>
        </p:spPr>
        <p:txBody>
          <a:bodyPr wrap="square" lIns="0" rIns="0" tIns="0" bIns="0" anchor="ctr">
            <a:spAutoFit/>
          </a:bodyPr>
          <a:lstStyle/>
          <a:p>
            <a:pPr algn="r"/>
            <a:r>
              <a:rPr sz="900" b="0" i="0">
                <a:solidFill>
                  <a:srgbClr val="8C8E9F"/>
                </a:solidFill>
                <a:latin typeface="Calibri"/>
              </a:rPr>
              <a:t>18%</a:t>
            </a:r>
          </a:p>
        </p:txBody>
      </p:sp>
      <p:sp>
        <p:nvSpPr>
          <p:cNvPr id="59" name="TextBox 58"/>
          <p:cNvSpPr txBox="1"/>
          <p:nvPr/>
        </p:nvSpPr>
        <p:spPr>
          <a:xfrm>
            <a:off x="795528" y="4485131"/>
            <a:ext cx="2011680" cy="182880"/>
          </a:xfrm>
          <a:prstGeom prst="rect">
            <a:avLst/>
          </a:prstGeom>
          <a:noFill/>
        </p:spPr>
        <p:txBody>
          <a:bodyPr wrap="square" lIns="0" rIns="0" tIns="0" bIns="0" anchor="ctr">
            <a:spAutoFit/>
          </a:bodyPr>
          <a:lstStyle/>
          <a:p>
            <a:pPr algn="l"/>
            <a:r>
              <a:rPr sz="950" b="0" i="0">
                <a:solidFill>
                  <a:srgbClr val="5A5C70"/>
                </a:solidFill>
                <a:latin typeface="Calibri"/>
              </a:rPr>
              <a:t>Portfolio</a:t>
            </a:r>
          </a:p>
        </p:txBody>
      </p:sp>
      <p:sp>
        <p:nvSpPr>
          <p:cNvPr id="60" name="TextBox 59"/>
          <p:cNvSpPr txBox="1"/>
          <p:nvPr/>
        </p:nvSpPr>
        <p:spPr>
          <a:xfrm>
            <a:off x="2834640" y="4485131"/>
            <a:ext cx="457200" cy="182880"/>
          </a:xfrm>
          <a:prstGeom prst="rect">
            <a:avLst/>
          </a:prstGeom>
          <a:noFill/>
        </p:spPr>
        <p:txBody>
          <a:bodyPr wrap="square" lIns="0" rIns="0" tIns="0" bIns="0" anchor="ctr">
            <a:spAutoFit/>
          </a:bodyPr>
          <a:lstStyle/>
          <a:p>
            <a:pPr algn="r"/>
            <a:r>
              <a:rPr sz="950" b="0" i="0">
                <a:solidFill>
                  <a:srgbClr val="5A5C70"/>
                </a:solidFill>
                <a:latin typeface="Calibri"/>
              </a:rPr>
              <a:t>59</a:t>
            </a:r>
          </a:p>
        </p:txBody>
      </p:sp>
      <p:sp>
        <p:nvSpPr>
          <p:cNvPr id="61" name="Rectangle 60"/>
          <p:cNvSpPr/>
          <p:nvPr/>
        </p:nvSpPr>
        <p:spPr>
          <a:xfrm>
            <a:off x="3383279" y="4517136"/>
            <a:ext cx="1376249"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759529" y="4517136"/>
            <a:ext cx="28671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046248" y="4517136"/>
            <a:ext cx="28671"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66360" y="4485131"/>
            <a:ext cx="685800" cy="182880"/>
          </a:xfrm>
          <a:prstGeom prst="rect">
            <a:avLst/>
          </a:prstGeom>
          <a:noFill/>
        </p:spPr>
        <p:txBody>
          <a:bodyPr wrap="square" lIns="0" rIns="0" tIns="0" bIns="0" anchor="ctr">
            <a:spAutoFit/>
          </a:bodyPr>
          <a:lstStyle/>
          <a:p>
            <a:pPr algn="r"/>
            <a:r>
              <a:rPr sz="900" b="0" i="0">
                <a:solidFill>
                  <a:srgbClr val="8C8E9F"/>
                </a:solidFill>
                <a:latin typeface="Calibri"/>
              </a:rPr>
              <a:t>2%</a:t>
            </a:r>
          </a:p>
        </p:txBody>
      </p:sp>
      <p:sp>
        <p:nvSpPr>
          <p:cNvPr id="65" name="TextBox 64"/>
          <p:cNvSpPr txBox="1"/>
          <p:nvPr/>
        </p:nvSpPr>
        <p:spPr>
          <a:xfrm>
            <a:off x="795528" y="4727447"/>
            <a:ext cx="2011680" cy="182880"/>
          </a:xfrm>
          <a:prstGeom prst="rect">
            <a:avLst/>
          </a:prstGeom>
          <a:noFill/>
        </p:spPr>
        <p:txBody>
          <a:bodyPr wrap="square" lIns="0" rIns="0" tIns="0" bIns="0" anchor="ctr">
            <a:spAutoFit/>
          </a:bodyPr>
          <a:lstStyle/>
          <a:p>
            <a:pPr algn="l"/>
            <a:r>
              <a:rPr sz="950" b="0" i="0">
                <a:solidFill>
                  <a:srgbClr val="5A5C70"/>
                </a:solidFill>
                <a:latin typeface="Calibri"/>
              </a:rPr>
              <a:t>Orders</a:t>
            </a:r>
          </a:p>
        </p:txBody>
      </p:sp>
      <p:sp>
        <p:nvSpPr>
          <p:cNvPr id="66" name="TextBox 65"/>
          <p:cNvSpPr txBox="1"/>
          <p:nvPr/>
        </p:nvSpPr>
        <p:spPr>
          <a:xfrm>
            <a:off x="2834640" y="4727447"/>
            <a:ext cx="457200" cy="182880"/>
          </a:xfrm>
          <a:prstGeom prst="rect">
            <a:avLst/>
          </a:prstGeom>
          <a:noFill/>
        </p:spPr>
        <p:txBody>
          <a:bodyPr wrap="square" lIns="0" rIns="0" tIns="0" bIns="0" anchor="ctr">
            <a:spAutoFit/>
          </a:bodyPr>
          <a:lstStyle/>
          <a:p>
            <a:pPr algn="r"/>
            <a:r>
              <a:rPr sz="950" b="0" i="0">
                <a:solidFill>
                  <a:srgbClr val="5A5C70"/>
                </a:solidFill>
                <a:latin typeface="Calibri"/>
              </a:rPr>
              <a:t>25</a:t>
            </a:r>
          </a:p>
        </p:txBody>
      </p:sp>
      <p:sp>
        <p:nvSpPr>
          <p:cNvPr id="67" name="Rectangle 66"/>
          <p:cNvSpPr/>
          <p:nvPr/>
        </p:nvSpPr>
        <p:spPr>
          <a:xfrm>
            <a:off x="3383279" y="4759451"/>
            <a:ext cx="121798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601260" y="4759451"/>
            <a:ext cx="202996"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804257" y="4759451"/>
            <a:ext cx="270662"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66360" y="4727447"/>
            <a:ext cx="685800" cy="182880"/>
          </a:xfrm>
          <a:prstGeom prst="rect">
            <a:avLst/>
          </a:prstGeom>
          <a:noFill/>
        </p:spPr>
        <p:txBody>
          <a:bodyPr wrap="square" lIns="0" rIns="0" tIns="0" bIns="0" anchor="ctr">
            <a:spAutoFit/>
          </a:bodyPr>
          <a:lstStyle/>
          <a:p>
            <a:pPr algn="r"/>
            <a:r>
              <a:rPr sz="900" b="0" i="0">
                <a:solidFill>
                  <a:srgbClr val="8C8E9F"/>
                </a:solidFill>
                <a:latin typeface="Calibri"/>
              </a:rPr>
              <a:t>16%</a:t>
            </a:r>
          </a:p>
        </p:txBody>
      </p:sp>
      <p:sp>
        <p:nvSpPr>
          <p:cNvPr id="71" name="TextBox 70"/>
          <p:cNvSpPr txBox="1"/>
          <p:nvPr/>
        </p:nvSpPr>
        <p:spPr>
          <a:xfrm>
            <a:off x="795528" y="4969763"/>
            <a:ext cx="2011680" cy="182880"/>
          </a:xfrm>
          <a:prstGeom prst="rect">
            <a:avLst/>
          </a:prstGeom>
          <a:noFill/>
        </p:spPr>
        <p:txBody>
          <a:bodyPr wrap="square" lIns="0" rIns="0" tIns="0" bIns="0" anchor="ctr">
            <a:spAutoFit/>
          </a:bodyPr>
          <a:lstStyle/>
          <a:p>
            <a:pPr algn="l"/>
            <a:r>
              <a:rPr sz="950" b="0" i="0">
                <a:solidFill>
                  <a:srgbClr val="5A5C70"/>
                </a:solidFill>
                <a:latin typeface="Calibri"/>
              </a:rPr>
              <a:t>Watchlist</a:t>
            </a:r>
          </a:p>
        </p:txBody>
      </p:sp>
      <p:sp>
        <p:nvSpPr>
          <p:cNvPr id="72" name="TextBox 71"/>
          <p:cNvSpPr txBox="1"/>
          <p:nvPr/>
        </p:nvSpPr>
        <p:spPr>
          <a:xfrm>
            <a:off x="2834640" y="4969763"/>
            <a:ext cx="457200" cy="182880"/>
          </a:xfrm>
          <a:prstGeom prst="rect">
            <a:avLst/>
          </a:prstGeom>
          <a:noFill/>
        </p:spPr>
        <p:txBody>
          <a:bodyPr wrap="square" lIns="0" rIns="0" tIns="0" bIns="0" anchor="ctr">
            <a:spAutoFit/>
          </a:bodyPr>
          <a:lstStyle/>
          <a:p>
            <a:pPr algn="r"/>
            <a:r>
              <a:rPr sz="950" b="0" i="0">
                <a:solidFill>
                  <a:srgbClr val="5A5C70"/>
                </a:solidFill>
                <a:latin typeface="Calibri"/>
              </a:rPr>
              <a:t>5</a:t>
            </a:r>
          </a:p>
        </p:txBody>
      </p:sp>
      <p:sp>
        <p:nvSpPr>
          <p:cNvPr id="73" name="Rectangle 72"/>
          <p:cNvSpPr/>
          <p:nvPr/>
        </p:nvSpPr>
        <p:spPr>
          <a:xfrm>
            <a:off x="3383279" y="5001767"/>
            <a:ext cx="1014984"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398264" y="5001767"/>
            <a:ext cx="33832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736592" y="5001767"/>
            <a:ext cx="338328"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66360" y="4969763"/>
            <a:ext cx="685800" cy="182880"/>
          </a:xfrm>
          <a:prstGeom prst="rect">
            <a:avLst/>
          </a:prstGeom>
          <a:noFill/>
        </p:spPr>
        <p:txBody>
          <a:bodyPr wrap="square" lIns="0" rIns="0" tIns="0" bIns="0" anchor="ctr">
            <a:spAutoFit/>
          </a:bodyPr>
          <a:lstStyle/>
          <a:p>
            <a:pPr algn="r"/>
            <a:r>
              <a:rPr sz="900" b="0" i="0">
                <a:solidFill>
                  <a:srgbClr val="8C8E9F"/>
                </a:solidFill>
                <a:latin typeface="Calibri"/>
              </a:rPr>
              <a:t>20%</a:t>
            </a:r>
          </a:p>
        </p:txBody>
      </p:sp>
      <p:sp>
        <p:nvSpPr>
          <p:cNvPr id="77" name="Rectangle 76"/>
          <p:cNvSpPr/>
          <p:nvPr/>
        </p:nvSpPr>
        <p:spPr>
          <a:xfrm>
            <a:off x="6172200" y="2587752"/>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72200" y="2633472"/>
            <a:ext cx="2194560" cy="219456"/>
          </a:xfrm>
          <a:prstGeom prst="rect">
            <a:avLst/>
          </a:prstGeom>
          <a:noFill/>
        </p:spPr>
        <p:txBody>
          <a:bodyPr wrap="square" lIns="0" rIns="0" tIns="0" bIns="0" anchor="ctr">
            <a:spAutoFit/>
          </a:bodyPr>
          <a:lstStyle/>
          <a:p>
            <a:pPr algn="l"/>
            <a:r>
              <a:rPr sz="1150" b="1" i="0">
                <a:solidFill>
                  <a:srgbClr val="1F1D4A"/>
                </a:solidFill>
                <a:latin typeface="Calibri"/>
              </a:rPr>
              <a:t>Mutual Funds</a:t>
            </a:r>
          </a:p>
        </p:txBody>
      </p:sp>
      <p:sp>
        <p:nvSpPr>
          <p:cNvPr id="79" name="TextBox 78"/>
          <p:cNvSpPr txBox="1"/>
          <p:nvPr/>
        </p:nvSpPr>
        <p:spPr>
          <a:xfrm>
            <a:off x="8412480" y="2633472"/>
            <a:ext cx="457200" cy="219456"/>
          </a:xfrm>
          <a:prstGeom prst="rect">
            <a:avLst/>
          </a:prstGeom>
          <a:noFill/>
        </p:spPr>
        <p:txBody>
          <a:bodyPr wrap="square" lIns="0" rIns="0" tIns="0" bIns="0" anchor="ctr">
            <a:spAutoFit/>
          </a:bodyPr>
          <a:lstStyle/>
          <a:p>
            <a:pPr algn="r"/>
            <a:r>
              <a:rPr sz="1150" b="1" i="0">
                <a:solidFill>
                  <a:srgbClr val="1F1D4A"/>
                </a:solidFill>
                <a:latin typeface="Calibri"/>
              </a:rPr>
              <a:t>115</a:t>
            </a:r>
          </a:p>
        </p:txBody>
      </p:sp>
      <p:sp>
        <p:nvSpPr>
          <p:cNvPr id="80" name="Rectangle 79"/>
          <p:cNvSpPr/>
          <p:nvPr/>
        </p:nvSpPr>
        <p:spPr>
          <a:xfrm>
            <a:off x="8961120" y="2670048"/>
            <a:ext cx="1147373"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108493" y="2670048"/>
            <a:ext cx="58839"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167332" y="2670048"/>
            <a:ext cx="485427"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744200" y="2633472"/>
            <a:ext cx="685800" cy="219456"/>
          </a:xfrm>
          <a:prstGeom prst="rect">
            <a:avLst/>
          </a:prstGeom>
          <a:noFill/>
        </p:spPr>
        <p:txBody>
          <a:bodyPr wrap="square" lIns="0" rIns="0" tIns="0" bIns="0" anchor="ctr">
            <a:spAutoFit/>
          </a:bodyPr>
          <a:lstStyle/>
          <a:p>
            <a:pPr algn="r"/>
            <a:r>
              <a:rPr sz="1050" b="1" i="0">
                <a:solidFill>
                  <a:srgbClr val="B5731F"/>
                </a:solidFill>
                <a:latin typeface="Calibri"/>
              </a:rPr>
              <a:t>29%</a:t>
            </a:r>
          </a:p>
        </p:txBody>
      </p:sp>
      <p:sp>
        <p:nvSpPr>
          <p:cNvPr id="84" name="TextBox 83"/>
          <p:cNvSpPr txBox="1"/>
          <p:nvPr/>
        </p:nvSpPr>
        <p:spPr>
          <a:xfrm>
            <a:off x="6373368" y="2926079"/>
            <a:ext cx="2011680" cy="182880"/>
          </a:xfrm>
          <a:prstGeom prst="rect">
            <a:avLst/>
          </a:prstGeom>
          <a:noFill/>
        </p:spPr>
        <p:txBody>
          <a:bodyPr wrap="square" lIns="0" rIns="0" tIns="0" bIns="0" anchor="ctr">
            <a:spAutoFit/>
          </a:bodyPr>
          <a:lstStyle/>
          <a:p>
            <a:pPr algn="l"/>
            <a:r>
              <a:rPr sz="950" b="0" i="0">
                <a:solidFill>
                  <a:srgbClr val="5A5C70"/>
                </a:solidFill>
                <a:latin typeface="Calibri"/>
              </a:rPr>
              <a:t>Portfolio</a:t>
            </a:r>
          </a:p>
        </p:txBody>
      </p:sp>
      <p:sp>
        <p:nvSpPr>
          <p:cNvPr id="85" name="TextBox 84"/>
          <p:cNvSpPr txBox="1"/>
          <p:nvPr/>
        </p:nvSpPr>
        <p:spPr>
          <a:xfrm>
            <a:off x="8412480" y="2926079"/>
            <a:ext cx="457200" cy="182880"/>
          </a:xfrm>
          <a:prstGeom prst="rect">
            <a:avLst/>
          </a:prstGeom>
          <a:noFill/>
        </p:spPr>
        <p:txBody>
          <a:bodyPr wrap="square" lIns="0" rIns="0" tIns="0" bIns="0" anchor="ctr">
            <a:spAutoFit/>
          </a:bodyPr>
          <a:lstStyle/>
          <a:p>
            <a:pPr algn="r"/>
            <a:r>
              <a:rPr sz="950" b="0" i="0">
                <a:solidFill>
                  <a:srgbClr val="5A5C70"/>
                </a:solidFill>
                <a:latin typeface="Calibri"/>
              </a:rPr>
              <a:t>61</a:t>
            </a:r>
          </a:p>
        </p:txBody>
      </p:sp>
      <p:sp>
        <p:nvSpPr>
          <p:cNvPr id="86" name="Rectangle 85"/>
          <p:cNvSpPr/>
          <p:nvPr/>
        </p:nvSpPr>
        <p:spPr>
          <a:xfrm>
            <a:off x="8961120" y="2958084"/>
            <a:ext cx="1026076"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987196" y="2958084"/>
            <a:ext cx="665563"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744200" y="2926079"/>
            <a:ext cx="685800" cy="182880"/>
          </a:xfrm>
          <a:prstGeom prst="rect">
            <a:avLst/>
          </a:prstGeom>
          <a:noFill/>
        </p:spPr>
        <p:txBody>
          <a:bodyPr wrap="square" lIns="0" rIns="0" tIns="0" bIns="0" anchor="ctr">
            <a:spAutoFit/>
          </a:bodyPr>
          <a:lstStyle/>
          <a:p>
            <a:pPr algn="r"/>
            <a:r>
              <a:rPr sz="900" b="0" i="0">
                <a:solidFill>
                  <a:srgbClr val="B5731F"/>
                </a:solidFill>
                <a:latin typeface="Calibri"/>
              </a:rPr>
              <a:t>39%</a:t>
            </a:r>
          </a:p>
        </p:txBody>
      </p:sp>
      <p:sp>
        <p:nvSpPr>
          <p:cNvPr id="89" name="TextBox 88"/>
          <p:cNvSpPr txBox="1"/>
          <p:nvPr/>
        </p:nvSpPr>
        <p:spPr>
          <a:xfrm>
            <a:off x="6373368" y="3168396"/>
            <a:ext cx="2011680" cy="182880"/>
          </a:xfrm>
          <a:prstGeom prst="rect">
            <a:avLst/>
          </a:prstGeom>
          <a:noFill/>
        </p:spPr>
        <p:txBody>
          <a:bodyPr wrap="square" lIns="0" rIns="0" tIns="0" bIns="0" anchor="ctr">
            <a:spAutoFit/>
          </a:bodyPr>
          <a:lstStyle/>
          <a:p>
            <a:pPr algn="l"/>
            <a:r>
              <a:rPr sz="950" b="0" i="0">
                <a:solidFill>
                  <a:srgbClr val="5A5C70"/>
                </a:solidFill>
                <a:latin typeface="Calibri"/>
              </a:rPr>
              <a:t>Market</a:t>
            </a:r>
          </a:p>
        </p:txBody>
      </p:sp>
      <p:sp>
        <p:nvSpPr>
          <p:cNvPr id="90" name="TextBox 89"/>
          <p:cNvSpPr txBox="1"/>
          <p:nvPr/>
        </p:nvSpPr>
        <p:spPr>
          <a:xfrm>
            <a:off x="8412480" y="3168396"/>
            <a:ext cx="457200" cy="182880"/>
          </a:xfrm>
          <a:prstGeom prst="rect">
            <a:avLst/>
          </a:prstGeom>
          <a:noFill/>
        </p:spPr>
        <p:txBody>
          <a:bodyPr wrap="square" lIns="0" rIns="0" tIns="0" bIns="0" anchor="ctr">
            <a:spAutoFit/>
          </a:bodyPr>
          <a:lstStyle/>
          <a:p>
            <a:pPr algn="r"/>
            <a:r>
              <a:rPr sz="950" b="0" i="0">
                <a:solidFill>
                  <a:srgbClr val="5A5C70"/>
                </a:solidFill>
                <a:latin typeface="Calibri"/>
              </a:rPr>
              <a:t>42</a:t>
            </a:r>
          </a:p>
        </p:txBody>
      </p:sp>
      <p:sp>
        <p:nvSpPr>
          <p:cNvPr id="91" name="Rectangle 90"/>
          <p:cNvSpPr/>
          <p:nvPr/>
        </p:nvSpPr>
        <p:spPr>
          <a:xfrm>
            <a:off x="8961120" y="3200400"/>
            <a:ext cx="1490254"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451374" y="3200400"/>
            <a:ext cx="120831"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0572205" y="3200400"/>
            <a:ext cx="80554"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744200" y="3168396"/>
            <a:ext cx="685800" cy="182880"/>
          </a:xfrm>
          <a:prstGeom prst="rect">
            <a:avLst/>
          </a:prstGeom>
          <a:noFill/>
        </p:spPr>
        <p:txBody>
          <a:bodyPr wrap="square" lIns="0" rIns="0" tIns="0" bIns="0" anchor="ctr">
            <a:spAutoFit/>
          </a:bodyPr>
          <a:lstStyle/>
          <a:p>
            <a:pPr algn="r"/>
            <a:r>
              <a:rPr sz="900" b="0" i="0">
                <a:solidFill>
                  <a:srgbClr val="8C8E9F"/>
                </a:solidFill>
                <a:latin typeface="Calibri"/>
              </a:rPr>
              <a:t>5%</a:t>
            </a:r>
          </a:p>
        </p:txBody>
      </p:sp>
      <p:sp>
        <p:nvSpPr>
          <p:cNvPr id="95" name="TextBox 94"/>
          <p:cNvSpPr txBox="1"/>
          <p:nvPr/>
        </p:nvSpPr>
        <p:spPr>
          <a:xfrm>
            <a:off x="6373368" y="3410712"/>
            <a:ext cx="2011680" cy="182880"/>
          </a:xfrm>
          <a:prstGeom prst="rect">
            <a:avLst/>
          </a:prstGeom>
          <a:noFill/>
        </p:spPr>
        <p:txBody>
          <a:bodyPr wrap="square" lIns="0" rIns="0" tIns="0" bIns="0" anchor="ctr">
            <a:spAutoFit/>
          </a:bodyPr>
          <a:lstStyle/>
          <a:p>
            <a:pPr algn="l"/>
            <a:r>
              <a:rPr sz="950" b="0" i="0">
                <a:solidFill>
                  <a:srgbClr val="5A5C70"/>
                </a:solidFill>
                <a:latin typeface="Calibri"/>
              </a:rPr>
              <a:t>Orders</a:t>
            </a:r>
          </a:p>
        </p:txBody>
      </p:sp>
      <p:sp>
        <p:nvSpPr>
          <p:cNvPr id="96" name="TextBox 95"/>
          <p:cNvSpPr txBox="1"/>
          <p:nvPr/>
        </p:nvSpPr>
        <p:spPr>
          <a:xfrm>
            <a:off x="8412480" y="3410712"/>
            <a:ext cx="457200" cy="182880"/>
          </a:xfrm>
          <a:prstGeom prst="rect">
            <a:avLst/>
          </a:prstGeom>
          <a:noFill/>
        </p:spPr>
        <p:txBody>
          <a:bodyPr wrap="square" lIns="0" rIns="0" tIns="0" bIns="0" anchor="ctr">
            <a:spAutoFit/>
          </a:bodyPr>
          <a:lstStyle/>
          <a:p>
            <a:pPr algn="r"/>
            <a:r>
              <a:rPr sz="950" b="0" i="0">
                <a:solidFill>
                  <a:srgbClr val="5A5C70"/>
                </a:solidFill>
                <a:latin typeface="Calibri"/>
              </a:rPr>
              <a:t>7</a:t>
            </a:r>
          </a:p>
        </p:txBody>
      </p:sp>
      <p:sp>
        <p:nvSpPr>
          <p:cNvPr id="97" name="Rectangle 96"/>
          <p:cNvSpPr/>
          <p:nvPr/>
        </p:nvSpPr>
        <p:spPr>
          <a:xfrm>
            <a:off x="8961120" y="3442716"/>
            <a:ext cx="966651"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927771" y="3442716"/>
            <a:ext cx="241662"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169434" y="3442716"/>
            <a:ext cx="483325"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44200" y="3410712"/>
            <a:ext cx="685800" cy="182880"/>
          </a:xfrm>
          <a:prstGeom prst="rect">
            <a:avLst/>
          </a:prstGeom>
          <a:noFill/>
        </p:spPr>
        <p:txBody>
          <a:bodyPr wrap="square" lIns="0" rIns="0" tIns="0" bIns="0" anchor="ctr">
            <a:spAutoFit/>
          </a:bodyPr>
          <a:lstStyle/>
          <a:p>
            <a:pPr algn="r"/>
            <a:r>
              <a:rPr sz="900" b="0" i="0">
                <a:solidFill>
                  <a:srgbClr val="B5731F"/>
                </a:solidFill>
                <a:latin typeface="Calibri"/>
              </a:rPr>
              <a:t>29%</a:t>
            </a:r>
          </a:p>
        </p:txBody>
      </p:sp>
      <p:sp>
        <p:nvSpPr>
          <p:cNvPr id="101" name="TextBox 100"/>
          <p:cNvSpPr txBox="1"/>
          <p:nvPr/>
        </p:nvSpPr>
        <p:spPr>
          <a:xfrm>
            <a:off x="6373368" y="3653028"/>
            <a:ext cx="2011680" cy="182880"/>
          </a:xfrm>
          <a:prstGeom prst="rect">
            <a:avLst/>
          </a:prstGeom>
          <a:noFill/>
        </p:spPr>
        <p:txBody>
          <a:bodyPr wrap="square" lIns="0" rIns="0" tIns="0" bIns="0" anchor="ctr">
            <a:spAutoFit/>
          </a:bodyPr>
          <a:lstStyle/>
          <a:p>
            <a:pPr algn="l"/>
            <a:r>
              <a:rPr sz="950" b="0" i="0">
                <a:solidFill>
                  <a:srgbClr val="5A5C70"/>
                </a:solidFill>
                <a:latin typeface="Calibri"/>
              </a:rPr>
              <a:t>Watchlist</a:t>
            </a:r>
          </a:p>
        </p:txBody>
      </p:sp>
      <p:sp>
        <p:nvSpPr>
          <p:cNvPr id="102" name="TextBox 101"/>
          <p:cNvSpPr txBox="1"/>
          <p:nvPr/>
        </p:nvSpPr>
        <p:spPr>
          <a:xfrm>
            <a:off x="8412480" y="3653028"/>
            <a:ext cx="457200" cy="182880"/>
          </a:xfrm>
          <a:prstGeom prst="rect">
            <a:avLst/>
          </a:prstGeom>
          <a:noFill/>
        </p:spPr>
        <p:txBody>
          <a:bodyPr wrap="square" lIns="0" rIns="0" tIns="0" bIns="0" anchor="ctr">
            <a:spAutoFit/>
          </a:bodyPr>
          <a:lstStyle/>
          <a:p>
            <a:pPr algn="r"/>
            <a:r>
              <a:rPr sz="950" b="0" i="0">
                <a:solidFill>
                  <a:srgbClr val="5A5C70"/>
                </a:solidFill>
                <a:latin typeface="Calibri"/>
              </a:rPr>
              <a:t>5</a:t>
            </a:r>
          </a:p>
        </p:txBody>
      </p:sp>
      <p:sp>
        <p:nvSpPr>
          <p:cNvPr id="103" name="Rectangle 102"/>
          <p:cNvSpPr/>
          <p:nvPr/>
        </p:nvSpPr>
        <p:spPr>
          <a:xfrm>
            <a:off x="8961120" y="3685032"/>
            <a:ext cx="169164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744200" y="3653028"/>
            <a:ext cx="685800" cy="182880"/>
          </a:xfrm>
          <a:prstGeom prst="rect">
            <a:avLst/>
          </a:prstGeom>
          <a:noFill/>
        </p:spPr>
        <p:txBody>
          <a:bodyPr wrap="square" lIns="0" rIns="0" tIns="0" bIns="0" anchor="ctr">
            <a:spAutoFit/>
          </a:bodyPr>
          <a:lstStyle/>
          <a:p>
            <a:pPr algn="r"/>
            <a:r>
              <a:rPr sz="900" b="0" i="0">
                <a:solidFill>
                  <a:srgbClr val="B5731F"/>
                </a:solidFill>
                <a:latin typeface="Calibri"/>
              </a:rPr>
              <a:t>100%</a:t>
            </a:r>
          </a:p>
        </p:txBody>
      </p:sp>
      <p:sp>
        <p:nvSpPr>
          <p:cNvPr id="105" name="Rectangle 104"/>
          <p:cNvSpPr/>
          <p:nvPr/>
        </p:nvSpPr>
        <p:spPr>
          <a:xfrm>
            <a:off x="6172200" y="3904487"/>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172200" y="3950207"/>
            <a:ext cx="2194560" cy="219456"/>
          </a:xfrm>
          <a:prstGeom prst="rect">
            <a:avLst/>
          </a:prstGeom>
          <a:noFill/>
        </p:spPr>
        <p:txBody>
          <a:bodyPr wrap="square" lIns="0" rIns="0" tIns="0" bIns="0" anchor="ctr">
            <a:spAutoFit/>
          </a:bodyPr>
          <a:lstStyle/>
          <a:p>
            <a:pPr algn="l"/>
            <a:r>
              <a:rPr sz="1150" b="1" i="0">
                <a:solidFill>
                  <a:srgbClr val="1F1D4A"/>
                </a:solidFill>
                <a:latin typeface="Calibri"/>
              </a:rPr>
              <a:t>Robo Advisory</a:t>
            </a:r>
          </a:p>
        </p:txBody>
      </p:sp>
      <p:sp>
        <p:nvSpPr>
          <p:cNvPr id="107" name="TextBox 106"/>
          <p:cNvSpPr txBox="1"/>
          <p:nvPr/>
        </p:nvSpPr>
        <p:spPr>
          <a:xfrm>
            <a:off x="8412480" y="3950207"/>
            <a:ext cx="457200" cy="219456"/>
          </a:xfrm>
          <a:prstGeom prst="rect">
            <a:avLst/>
          </a:prstGeom>
          <a:noFill/>
        </p:spPr>
        <p:txBody>
          <a:bodyPr wrap="square" lIns="0" rIns="0" tIns="0" bIns="0" anchor="ctr">
            <a:spAutoFit/>
          </a:bodyPr>
          <a:lstStyle/>
          <a:p>
            <a:pPr algn="r"/>
            <a:r>
              <a:rPr sz="1150" b="1" i="0">
                <a:solidFill>
                  <a:srgbClr val="1F1D4A"/>
                </a:solidFill>
                <a:latin typeface="Calibri"/>
              </a:rPr>
              <a:t>68</a:t>
            </a:r>
          </a:p>
        </p:txBody>
      </p:sp>
      <p:sp>
        <p:nvSpPr>
          <p:cNvPr id="108" name="Rectangle 107"/>
          <p:cNvSpPr/>
          <p:nvPr/>
        </p:nvSpPr>
        <p:spPr>
          <a:xfrm>
            <a:off x="8961120" y="3986783"/>
            <a:ext cx="920451"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881571" y="3986783"/>
            <a:ext cx="124385"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0005956" y="3986783"/>
            <a:ext cx="646803"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744200" y="3950207"/>
            <a:ext cx="685800" cy="219456"/>
          </a:xfrm>
          <a:prstGeom prst="rect">
            <a:avLst/>
          </a:prstGeom>
          <a:noFill/>
        </p:spPr>
        <p:txBody>
          <a:bodyPr wrap="square" lIns="0" rIns="0" tIns="0" bIns="0" anchor="ctr">
            <a:spAutoFit/>
          </a:bodyPr>
          <a:lstStyle/>
          <a:p>
            <a:pPr algn="r"/>
            <a:r>
              <a:rPr sz="1050" b="1" i="0">
                <a:solidFill>
                  <a:srgbClr val="B5731F"/>
                </a:solidFill>
                <a:latin typeface="Calibri"/>
              </a:rPr>
              <a:t>38%</a:t>
            </a:r>
          </a:p>
        </p:txBody>
      </p:sp>
      <p:sp>
        <p:nvSpPr>
          <p:cNvPr id="112" name="TextBox 111"/>
          <p:cNvSpPr txBox="1"/>
          <p:nvPr/>
        </p:nvSpPr>
        <p:spPr>
          <a:xfrm>
            <a:off x="6373368" y="4242816"/>
            <a:ext cx="2011680" cy="182880"/>
          </a:xfrm>
          <a:prstGeom prst="rect">
            <a:avLst/>
          </a:prstGeom>
          <a:noFill/>
        </p:spPr>
        <p:txBody>
          <a:bodyPr wrap="square" lIns="0" rIns="0" tIns="0" bIns="0" anchor="ctr">
            <a:spAutoFit/>
          </a:bodyPr>
          <a:lstStyle/>
          <a:p>
            <a:pPr algn="l"/>
            <a:r>
              <a:rPr sz="950" b="0" i="0">
                <a:solidFill>
                  <a:srgbClr val="5A5C70"/>
                </a:solidFill>
                <a:latin typeface="Calibri"/>
              </a:rPr>
              <a:t>Portfolio</a:t>
            </a:r>
          </a:p>
        </p:txBody>
      </p:sp>
      <p:sp>
        <p:nvSpPr>
          <p:cNvPr id="113" name="TextBox 112"/>
          <p:cNvSpPr txBox="1"/>
          <p:nvPr/>
        </p:nvSpPr>
        <p:spPr>
          <a:xfrm>
            <a:off x="8412480" y="4242816"/>
            <a:ext cx="457200" cy="182880"/>
          </a:xfrm>
          <a:prstGeom prst="rect">
            <a:avLst/>
          </a:prstGeom>
          <a:noFill/>
        </p:spPr>
        <p:txBody>
          <a:bodyPr wrap="square" lIns="0" rIns="0" tIns="0" bIns="0" anchor="ctr">
            <a:spAutoFit/>
          </a:bodyPr>
          <a:lstStyle/>
          <a:p>
            <a:pPr algn="r"/>
            <a:r>
              <a:rPr sz="950" b="0" i="0">
                <a:solidFill>
                  <a:srgbClr val="5A5C70"/>
                </a:solidFill>
                <a:latin typeface="Calibri"/>
              </a:rPr>
              <a:t>50</a:t>
            </a:r>
          </a:p>
        </p:txBody>
      </p:sp>
      <p:sp>
        <p:nvSpPr>
          <p:cNvPr id="114" name="Rectangle 113"/>
          <p:cNvSpPr/>
          <p:nvPr/>
        </p:nvSpPr>
        <p:spPr>
          <a:xfrm>
            <a:off x="8961120" y="4274820"/>
            <a:ext cx="811987"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773107" y="4274820"/>
            <a:ext cx="879652"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744200" y="4242816"/>
            <a:ext cx="685800" cy="182880"/>
          </a:xfrm>
          <a:prstGeom prst="rect">
            <a:avLst/>
          </a:prstGeom>
          <a:noFill/>
        </p:spPr>
        <p:txBody>
          <a:bodyPr wrap="square" lIns="0" rIns="0" tIns="0" bIns="0" anchor="ctr">
            <a:spAutoFit/>
          </a:bodyPr>
          <a:lstStyle/>
          <a:p>
            <a:pPr algn="r"/>
            <a:r>
              <a:rPr sz="900" b="0" i="0">
                <a:solidFill>
                  <a:srgbClr val="B5731F"/>
                </a:solidFill>
                <a:latin typeface="Calibri"/>
              </a:rPr>
              <a:t>52%</a:t>
            </a:r>
          </a:p>
        </p:txBody>
      </p:sp>
      <p:sp>
        <p:nvSpPr>
          <p:cNvPr id="117" name="TextBox 116"/>
          <p:cNvSpPr txBox="1"/>
          <p:nvPr/>
        </p:nvSpPr>
        <p:spPr>
          <a:xfrm>
            <a:off x="6373368" y="4485131"/>
            <a:ext cx="2011680" cy="182880"/>
          </a:xfrm>
          <a:prstGeom prst="rect">
            <a:avLst/>
          </a:prstGeom>
          <a:noFill/>
        </p:spPr>
        <p:txBody>
          <a:bodyPr wrap="square" lIns="0" rIns="0" tIns="0" bIns="0" anchor="ctr">
            <a:spAutoFit/>
          </a:bodyPr>
          <a:lstStyle/>
          <a:p>
            <a:pPr algn="l"/>
            <a:r>
              <a:rPr sz="950" b="0" i="0">
                <a:solidFill>
                  <a:srgbClr val="5A5C70"/>
                </a:solidFill>
                <a:latin typeface="Calibri"/>
              </a:rPr>
              <a:t>Market</a:t>
            </a:r>
          </a:p>
        </p:txBody>
      </p:sp>
      <p:sp>
        <p:nvSpPr>
          <p:cNvPr id="118" name="TextBox 117"/>
          <p:cNvSpPr txBox="1"/>
          <p:nvPr/>
        </p:nvSpPr>
        <p:spPr>
          <a:xfrm>
            <a:off x="8412480" y="4485131"/>
            <a:ext cx="457200" cy="182880"/>
          </a:xfrm>
          <a:prstGeom prst="rect">
            <a:avLst/>
          </a:prstGeom>
          <a:noFill/>
        </p:spPr>
        <p:txBody>
          <a:bodyPr wrap="square" lIns="0" rIns="0" tIns="0" bIns="0" anchor="ctr">
            <a:spAutoFit/>
          </a:bodyPr>
          <a:lstStyle/>
          <a:p>
            <a:pPr algn="r"/>
            <a:r>
              <a:rPr sz="950" b="0" i="0">
                <a:solidFill>
                  <a:srgbClr val="5A5C70"/>
                </a:solidFill>
                <a:latin typeface="Calibri"/>
              </a:rPr>
              <a:t>16</a:t>
            </a:r>
          </a:p>
        </p:txBody>
      </p:sp>
      <p:sp>
        <p:nvSpPr>
          <p:cNvPr id="119" name="Rectangle 118"/>
          <p:cNvSpPr/>
          <p:nvPr/>
        </p:nvSpPr>
        <p:spPr>
          <a:xfrm>
            <a:off x="8961120" y="4517136"/>
            <a:ext cx="1163002"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124122" y="4517136"/>
            <a:ext cx="528637"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744200" y="4485131"/>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22" name="TextBox 121"/>
          <p:cNvSpPr txBox="1"/>
          <p:nvPr/>
        </p:nvSpPr>
        <p:spPr>
          <a:xfrm>
            <a:off x="6373368" y="4727447"/>
            <a:ext cx="2011680" cy="182880"/>
          </a:xfrm>
          <a:prstGeom prst="rect">
            <a:avLst/>
          </a:prstGeom>
          <a:noFill/>
        </p:spPr>
        <p:txBody>
          <a:bodyPr wrap="square" lIns="0" rIns="0" tIns="0" bIns="0" anchor="ctr">
            <a:spAutoFit/>
          </a:bodyPr>
          <a:lstStyle/>
          <a:p>
            <a:pPr algn="l"/>
            <a:r>
              <a:rPr sz="950" b="0" i="0">
                <a:solidFill>
                  <a:srgbClr val="5A5C70"/>
                </a:solidFill>
                <a:latin typeface="Calibri"/>
              </a:rPr>
              <a:t>Orders</a:t>
            </a:r>
          </a:p>
        </p:txBody>
      </p:sp>
      <p:sp>
        <p:nvSpPr>
          <p:cNvPr id="123" name="TextBox 122"/>
          <p:cNvSpPr txBox="1"/>
          <p:nvPr/>
        </p:nvSpPr>
        <p:spPr>
          <a:xfrm>
            <a:off x="8412480" y="4727447"/>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124" name="Rectangle 123"/>
          <p:cNvSpPr/>
          <p:nvPr/>
        </p:nvSpPr>
        <p:spPr>
          <a:xfrm>
            <a:off x="8961120" y="4759451"/>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0744200" y="4727447"/>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26" name="TextBox 125"/>
          <p:cNvSpPr txBox="1"/>
          <p:nvPr/>
        </p:nvSpPr>
        <p:spPr>
          <a:xfrm>
            <a:off x="594360" y="6355080"/>
            <a:ext cx="11002975" cy="228600"/>
          </a:xfrm>
          <a:prstGeom prst="rect">
            <a:avLst/>
          </a:prstGeom>
          <a:noFill/>
        </p:spPr>
        <p:txBody>
          <a:bodyPr wrap="square" lIns="0" rIns="0" tIns="0" bIns="0" anchor="ctr">
            <a:spAutoFit/>
          </a:bodyPr>
          <a:lstStyle/>
          <a:p>
            <a:pPr algn="l"/>
            <a:r>
              <a:rPr sz="800" b="0" i="0">
                <a:solidFill>
                  <a:srgbClr val="8C8E9F"/>
                </a:solidFill>
                <a:latin typeface="Calibri"/>
              </a:rPr>
              <a:t>Source: Features Map · baseline v2.21 · features_derived.json · verified_live.json · manual_status.json · 31 August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8229600" cy="274320"/>
          </a:xfrm>
          <a:prstGeom prst="rect">
            <a:avLst/>
          </a:prstGeom>
          <a:noFill/>
        </p:spPr>
        <p:txBody>
          <a:bodyPr wrap="square" lIns="0" rIns="0" tIns="0" bIns="0" anchor="ctr">
            <a:spAutoFit/>
          </a:bodyPr>
          <a:lstStyle/>
          <a:p>
            <a:pPr algn="l"/>
            <a:r>
              <a:rPr sz="950" b="1" i="0" spc="300">
                <a:solidFill>
                  <a:srgbClr val="8C8E9F"/>
                </a:solidFill>
                <a:latin typeface="Calibri"/>
              </a:rPr>
              <a:t>SECTION 03  ·  COVERAGE — PLATFORM &amp; MANAGED PRODUCTS</a:t>
            </a:r>
          </a:p>
        </p:txBody>
      </p:sp>
      <p:sp>
        <p:nvSpPr>
          <p:cNvPr id="4" name="TextBox 3"/>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8C8E9F"/>
                </a:solidFill>
                <a:latin typeface="Calibri"/>
              </a:rPr>
              <a:t>04  /  08</a:t>
            </a:r>
          </a:p>
        </p:txBody>
      </p:sp>
      <p:sp>
        <p:nvSpPr>
          <p:cNvPr id="5" name="TextBox 4"/>
          <p:cNvSpPr txBox="1"/>
          <p:nvPr/>
        </p:nvSpPr>
        <p:spPr>
          <a:xfrm>
            <a:off x="594360" y="6492240"/>
            <a:ext cx="11002975" cy="274320"/>
          </a:xfrm>
          <a:prstGeom prst="rect">
            <a:avLst/>
          </a:prstGeom>
          <a:noFill/>
        </p:spPr>
        <p:txBody>
          <a:bodyPr wrap="square" lIns="0" rIns="0" tIns="0" bIns="0" anchor="ctr">
            <a:spAutoFit/>
          </a:bodyPr>
          <a:lstStyle/>
          <a:p>
            <a:pPr algn="l"/>
            <a:r>
              <a:rPr sz="900" b="0" i="0">
                <a:solidFill>
                  <a:srgbClr val="8C8E9F"/>
                </a:solidFill>
                <a:latin typeface="Calibri"/>
              </a:rPr>
              <a:t>The Features Map  ·  v2.21  ·  31 August 2026</a:t>
            </a:r>
          </a:p>
        </p:txBody>
      </p:sp>
      <p:sp>
        <p:nvSpPr>
          <p:cNvPr id="6" name="TextBox 5"/>
          <p:cNvSpPr txBox="1"/>
          <p:nvPr/>
        </p:nvSpPr>
        <p:spPr>
          <a:xfrm>
            <a:off x="594360" y="914400"/>
            <a:ext cx="11002975" cy="777240"/>
          </a:xfrm>
          <a:prstGeom prst="rect">
            <a:avLst/>
          </a:prstGeom>
          <a:noFill/>
        </p:spPr>
        <p:txBody>
          <a:bodyPr wrap="square" lIns="0" rIns="0" tIns="0" bIns="0" anchor="ctr">
            <a:spAutoFit/>
          </a:bodyPr>
          <a:lstStyle/>
          <a:p>
            <a:pPr algn="l"/>
            <a:r>
              <a:rPr sz="3600" b="1" i="0">
                <a:solidFill>
                  <a:srgbClr val="1F1D4A"/>
                </a:solidFill>
                <a:latin typeface="Georgia"/>
              </a:rPr>
              <a:t>The rest of the map.</a:t>
            </a:r>
          </a:p>
        </p:txBody>
      </p:sp>
      <p:sp>
        <p:nvSpPr>
          <p:cNvPr id="7" name="TextBox 6"/>
          <p:cNvSpPr txBox="1"/>
          <p:nvPr/>
        </p:nvSpPr>
        <p:spPr>
          <a:xfrm>
            <a:off x="594360" y="1691640"/>
            <a:ext cx="10088575" cy="457200"/>
          </a:xfrm>
          <a:prstGeom prst="rect">
            <a:avLst/>
          </a:prstGeom>
          <a:noFill/>
        </p:spPr>
        <p:txBody>
          <a:bodyPr wrap="square" lIns="0" rIns="0" tIns="0" bIns="0" anchor="ctr">
            <a:spAutoFit/>
          </a:bodyPr>
          <a:lstStyle/>
          <a:p>
            <a:pPr algn="l"/>
            <a:r>
              <a:rPr sz="1400" b="0" i="0">
                <a:solidFill>
                  <a:srgbClr val="5A5C70"/>
                </a:solidFill>
                <a:latin typeface="Calibri"/>
              </a:rPr>
              <a:t>Cash Management, Onboarding, LMS/SBL, IPOs, Crowd Fund and every Platform area — the remaining 213 rows.</a:t>
            </a:r>
          </a:p>
        </p:txBody>
      </p:sp>
      <p:sp>
        <p:nvSpPr>
          <p:cNvPr id="8" name="Rectangle 7"/>
          <p:cNvSpPr/>
          <p:nvPr/>
        </p:nvSpPr>
        <p:spPr>
          <a:xfrm>
            <a:off x="594360" y="2377440"/>
            <a:ext cx="1828800" cy="22225"/>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0" y="2286000"/>
            <a:ext cx="146304" cy="146304"/>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22792" y="2240280"/>
            <a:ext cx="822960" cy="237744"/>
          </a:xfrm>
          <a:prstGeom prst="rect">
            <a:avLst/>
          </a:prstGeom>
          <a:noFill/>
        </p:spPr>
        <p:txBody>
          <a:bodyPr wrap="square" lIns="0" rIns="0" tIns="0" bIns="0" anchor="ctr">
            <a:spAutoFit/>
          </a:bodyPr>
          <a:lstStyle/>
          <a:p>
            <a:pPr algn="l"/>
            <a:r>
              <a:rPr sz="1000" b="0" i="0">
                <a:solidFill>
                  <a:srgbClr val="5A5C70"/>
                </a:solidFill>
                <a:latin typeface="Calibri"/>
              </a:rPr>
              <a:t>Live</a:t>
            </a:r>
          </a:p>
        </p:txBody>
      </p:sp>
      <p:sp>
        <p:nvSpPr>
          <p:cNvPr id="11" name="Rectangle 10"/>
          <p:cNvSpPr/>
          <p:nvPr/>
        </p:nvSpPr>
        <p:spPr>
          <a:xfrm>
            <a:off x="9509759" y="2286000"/>
            <a:ext cx="146304" cy="146304"/>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20072" y="2240280"/>
            <a:ext cx="822960" cy="237744"/>
          </a:xfrm>
          <a:prstGeom prst="rect">
            <a:avLst/>
          </a:prstGeom>
          <a:noFill/>
        </p:spPr>
        <p:txBody>
          <a:bodyPr wrap="square" lIns="0" rIns="0" tIns="0" bIns="0" anchor="ctr">
            <a:spAutoFit/>
          </a:bodyPr>
          <a:lstStyle/>
          <a:p>
            <a:pPr algn="l"/>
            <a:r>
              <a:rPr sz="1000" b="0" i="0">
                <a:solidFill>
                  <a:srgbClr val="5A5C70"/>
                </a:solidFill>
                <a:latin typeface="Calibri"/>
              </a:rPr>
              <a:t>Planned</a:t>
            </a:r>
          </a:p>
        </p:txBody>
      </p:sp>
      <p:sp>
        <p:nvSpPr>
          <p:cNvPr id="13" name="Rectangle 12"/>
          <p:cNvSpPr/>
          <p:nvPr/>
        </p:nvSpPr>
        <p:spPr>
          <a:xfrm>
            <a:off x="10607040" y="2286000"/>
            <a:ext cx="146304" cy="146304"/>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17352" y="2240280"/>
            <a:ext cx="822960" cy="237744"/>
          </a:xfrm>
          <a:prstGeom prst="rect">
            <a:avLst/>
          </a:prstGeom>
          <a:noFill/>
        </p:spPr>
        <p:txBody>
          <a:bodyPr wrap="square" lIns="0" rIns="0" tIns="0" bIns="0" anchor="ctr">
            <a:spAutoFit/>
          </a:bodyPr>
          <a:lstStyle/>
          <a:p>
            <a:pPr algn="l"/>
            <a:r>
              <a:rPr sz="1000" b="0" i="0">
                <a:solidFill>
                  <a:srgbClr val="5A5C70"/>
                </a:solidFill>
                <a:latin typeface="Calibri"/>
              </a:rPr>
              <a:t>Gap</a:t>
            </a:r>
          </a:p>
        </p:txBody>
      </p:sp>
      <p:sp>
        <p:nvSpPr>
          <p:cNvPr id="15" name="Rectangle 14"/>
          <p:cNvSpPr/>
          <p:nvPr/>
        </p:nvSpPr>
        <p:spPr>
          <a:xfrm>
            <a:off x="594360" y="2587752"/>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633472"/>
            <a:ext cx="2194560" cy="219456"/>
          </a:xfrm>
          <a:prstGeom prst="rect">
            <a:avLst/>
          </a:prstGeom>
          <a:noFill/>
        </p:spPr>
        <p:txBody>
          <a:bodyPr wrap="square" lIns="0" rIns="0" tIns="0" bIns="0" anchor="ctr">
            <a:spAutoFit/>
          </a:bodyPr>
          <a:lstStyle/>
          <a:p>
            <a:pPr algn="l"/>
            <a:r>
              <a:rPr sz="1150" b="1" i="0">
                <a:solidFill>
                  <a:srgbClr val="1F1D4A"/>
                </a:solidFill>
                <a:latin typeface="Calibri"/>
              </a:rPr>
              <a:t>Cash Management</a:t>
            </a:r>
          </a:p>
        </p:txBody>
      </p:sp>
      <p:sp>
        <p:nvSpPr>
          <p:cNvPr id="17" name="TextBox 16"/>
          <p:cNvSpPr txBox="1"/>
          <p:nvPr/>
        </p:nvSpPr>
        <p:spPr>
          <a:xfrm>
            <a:off x="2834640" y="2633472"/>
            <a:ext cx="457200" cy="219456"/>
          </a:xfrm>
          <a:prstGeom prst="rect">
            <a:avLst/>
          </a:prstGeom>
          <a:noFill/>
        </p:spPr>
        <p:txBody>
          <a:bodyPr wrap="square" lIns="0" rIns="0" tIns="0" bIns="0" anchor="ctr">
            <a:spAutoFit/>
          </a:bodyPr>
          <a:lstStyle/>
          <a:p>
            <a:pPr algn="r"/>
            <a:r>
              <a:rPr sz="1150" b="1" i="0">
                <a:solidFill>
                  <a:srgbClr val="1F1D4A"/>
                </a:solidFill>
                <a:latin typeface="Calibri"/>
              </a:rPr>
              <a:t>82</a:t>
            </a:r>
          </a:p>
        </p:txBody>
      </p:sp>
      <p:sp>
        <p:nvSpPr>
          <p:cNvPr id="18" name="Rectangle 17"/>
          <p:cNvSpPr/>
          <p:nvPr/>
        </p:nvSpPr>
        <p:spPr>
          <a:xfrm>
            <a:off x="3383279" y="2670048"/>
            <a:ext cx="1258415"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41695" y="2670048"/>
            <a:ext cx="247557"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89252" y="2670048"/>
            <a:ext cx="185667"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6360" y="2633472"/>
            <a:ext cx="685800" cy="219456"/>
          </a:xfrm>
          <a:prstGeom prst="rect">
            <a:avLst/>
          </a:prstGeom>
          <a:noFill/>
        </p:spPr>
        <p:txBody>
          <a:bodyPr wrap="square" lIns="0" rIns="0" tIns="0" bIns="0" anchor="ctr">
            <a:spAutoFit/>
          </a:bodyPr>
          <a:lstStyle/>
          <a:p>
            <a:pPr algn="r"/>
            <a:r>
              <a:rPr sz="1050" b="1" i="0">
                <a:solidFill>
                  <a:srgbClr val="8C8E9F"/>
                </a:solidFill>
                <a:latin typeface="Calibri"/>
              </a:rPr>
              <a:t>11%</a:t>
            </a:r>
          </a:p>
        </p:txBody>
      </p:sp>
      <p:sp>
        <p:nvSpPr>
          <p:cNvPr id="22" name="TextBox 21"/>
          <p:cNvSpPr txBox="1"/>
          <p:nvPr/>
        </p:nvSpPr>
        <p:spPr>
          <a:xfrm>
            <a:off x="795528" y="2875788"/>
            <a:ext cx="2011680" cy="182880"/>
          </a:xfrm>
          <a:prstGeom prst="rect">
            <a:avLst/>
          </a:prstGeom>
          <a:noFill/>
        </p:spPr>
        <p:txBody>
          <a:bodyPr wrap="square" lIns="0" rIns="0" tIns="0" bIns="0" anchor="ctr">
            <a:spAutoFit/>
          </a:bodyPr>
          <a:lstStyle/>
          <a:p>
            <a:pPr algn="l"/>
            <a:r>
              <a:rPr sz="950" b="0" i="0">
                <a:solidFill>
                  <a:srgbClr val="5A5C70"/>
                </a:solidFill>
                <a:latin typeface="Calibri"/>
              </a:rPr>
              <a:t>Cash Management</a:t>
            </a:r>
          </a:p>
        </p:txBody>
      </p:sp>
      <p:sp>
        <p:nvSpPr>
          <p:cNvPr id="23" name="TextBox 22"/>
          <p:cNvSpPr txBox="1"/>
          <p:nvPr/>
        </p:nvSpPr>
        <p:spPr>
          <a:xfrm>
            <a:off x="2834640" y="2875788"/>
            <a:ext cx="457200" cy="182880"/>
          </a:xfrm>
          <a:prstGeom prst="rect">
            <a:avLst/>
          </a:prstGeom>
          <a:noFill/>
        </p:spPr>
        <p:txBody>
          <a:bodyPr wrap="square" lIns="0" rIns="0" tIns="0" bIns="0" anchor="ctr">
            <a:spAutoFit/>
          </a:bodyPr>
          <a:lstStyle/>
          <a:p>
            <a:pPr algn="r"/>
            <a:r>
              <a:rPr sz="950" b="0" i="0">
                <a:solidFill>
                  <a:srgbClr val="5A5C70"/>
                </a:solidFill>
                <a:latin typeface="Calibri"/>
              </a:rPr>
              <a:t>81</a:t>
            </a:r>
          </a:p>
        </p:txBody>
      </p:sp>
      <p:sp>
        <p:nvSpPr>
          <p:cNvPr id="24" name="Rectangle 23"/>
          <p:cNvSpPr/>
          <p:nvPr/>
        </p:nvSpPr>
        <p:spPr>
          <a:xfrm>
            <a:off x="3383279" y="2907792"/>
            <a:ext cx="1273951"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57231" y="2907792"/>
            <a:ext cx="22972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86960" y="2907792"/>
            <a:ext cx="18796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66360" y="2875788"/>
            <a:ext cx="685800" cy="182880"/>
          </a:xfrm>
          <a:prstGeom prst="rect">
            <a:avLst/>
          </a:prstGeom>
          <a:noFill/>
        </p:spPr>
        <p:txBody>
          <a:bodyPr wrap="square" lIns="0" rIns="0" tIns="0" bIns="0" anchor="ctr">
            <a:spAutoFit/>
          </a:bodyPr>
          <a:lstStyle/>
          <a:p>
            <a:pPr algn="r"/>
            <a:r>
              <a:rPr sz="900" b="0" i="0">
                <a:solidFill>
                  <a:srgbClr val="8C8E9F"/>
                </a:solidFill>
                <a:latin typeface="Calibri"/>
              </a:rPr>
              <a:t>11%</a:t>
            </a:r>
          </a:p>
        </p:txBody>
      </p:sp>
      <p:sp>
        <p:nvSpPr>
          <p:cNvPr id="28" name="TextBox 27"/>
          <p:cNvSpPr txBox="1"/>
          <p:nvPr/>
        </p:nvSpPr>
        <p:spPr>
          <a:xfrm>
            <a:off x="795528" y="3059582"/>
            <a:ext cx="2011680" cy="182880"/>
          </a:xfrm>
          <a:prstGeom prst="rect">
            <a:avLst/>
          </a:prstGeom>
          <a:noFill/>
        </p:spPr>
        <p:txBody>
          <a:bodyPr wrap="square" lIns="0" rIns="0" tIns="0" bIns="0" anchor="ctr">
            <a:spAutoFit/>
          </a:bodyPr>
          <a:lstStyle/>
          <a:p>
            <a:pPr algn="l"/>
            <a:r>
              <a:rPr sz="950" b="0" i="0">
                <a:solidFill>
                  <a:srgbClr val="5A5C70"/>
                </a:solidFill>
                <a:latin typeface="Calibri"/>
              </a:rPr>
              <a:t>Unassigned</a:t>
            </a:r>
          </a:p>
        </p:txBody>
      </p:sp>
      <p:sp>
        <p:nvSpPr>
          <p:cNvPr id="29" name="TextBox 28"/>
          <p:cNvSpPr txBox="1"/>
          <p:nvPr/>
        </p:nvSpPr>
        <p:spPr>
          <a:xfrm>
            <a:off x="2834640" y="3059582"/>
            <a:ext cx="457200" cy="182880"/>
          </a:xfrm>
          <a:prstGeom prst="rect">
            <a:avLst/>
          </a:prstGeom>
          <a:noFill/>
        </p:spPr>
        <p:txBody>
          <a:bodyPr wrap="square" lIns="0" rIns="0" tIns="0" bIns="0" anchor="ctr">
            <a:spAutoFit/>
          </a:bodyPr>
          <a:lstStyle/>
          <a:p>
            <a:pPr algn="r"/>
            <a:r>
              <a:rPr sz="950" b="0" i="0">
                <a:solidFill>
                  <a:srgbClr val="5A5C70"/>
                </a:solidFill>
                <a:latin typeface="Calibri"/>
              </a:rPr>
              <a:t>1</a:t>
            </a:r>
          </a:p>
        </p:txBody>
      </p:sp>
      <p:sp>
        <p:nvSpPr>
          <p:cNvPr id="30" name="Rectangle 29"/>
          <p:cNvSpPr/>
          <p:nvPr/>
        </p:nvSpPr>
        <p:spPr>
          <a:xfrm>
            <a:off x="3383279" y="3091586"/>
            <a:ext cx="169164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3059582"/>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32" name="Rectangle 31"/>
          <p:cNvSpPr/>
          <p:nvPr/>
        </p:nvSpPr>
        <p:spPr>
          <a:xfrm>
            <a:off x="594360" y="3252520"/>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298240"/>
            <a:ext cx="2194560" cy="219456"/>
          </a:xfrm>
          <a:prstGeom prst="rect">
            <a:avLst/>
          </a:prstGeom>
          <a:noFill/>
        </p:spPr>
        <p:txBody>
          <a:bodyPr wrap="square" lIns="0" rIns="0" tIns="0" bIns="0" anchor="ctr">
            <a:spAutoFit/>
          </a:bodyPr>
          <a:lstStyle/>
          <a:p>
            <a:pPr algn="l"/>
            <a:r>
              <a:rPr sz="1150" b="1" i="0">
                <a:solidFill>
                  <a:srgbClr val="1F1D4A"/>
                </a:solidFill>
                <a:latin typeface="Calibri"/>
              </a:rPr>
              <a:t>Onboarding</a:t>
            </a:r>
          </a:p>
        </p:txBody>
      </p:sp>
      <p:sp>
        <p:nvSpPr>
          <p:cNvPr id="34" name="TextBox 33"/>
          <p:cNvSpPr txBox="1"/>
          <p:nvPr/>
        </p:nvSpPr>
        <p:spPr>
          <a:xfrm>
            <a:off x="2834640" y="3298240"/>
            <a:ext cx="457200" cy="219456"/>
          </a:xfrm>
          <a:prstGeom prst="rect">
            <a:avLst/>
          </a:prstGeom>
          <a:noFill/>
        </p:spPr>
        <p:txBody>
          <a:bodyPr wrap="square" lIns="0" rIns="0" tIns="0" bIns="0" anchor="ctr">
            <a:spAutoFit/>
          </a:bodyPr>
          <a:lstStyle/>
          <a:p>
            <a:pPr algn="r"/>
            <a:r>
              <a:rPr sz="1150" b="1" i="0">
                <a:solidFill>
                  <a:srgbClr val="1F1D4A"/>
                </a:solidFill>
                <a:latin typeface="Calibri"/>
              </a:rPr>
              <a:t>34</a:t>
            </a:r>
          </a:p>
        </p:txBody>
      </p:sp>
      <p:sp>
        <p:nvSpPr>
          <p:cNvPr id="35" name="Rectangle 34"/>
          <p:cNvSpPr/>
          <p:nvPr/>
        </p:nvSpPr>
        <p:spPr>
          <a:xfrm>
            <a:off x="3383279" y="3334816"/>
            <a:ext cx="995082"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78362" y="3334816"/>
            <a:ext cx="696557"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60" y="3298240"/>
            <a:ext cx="685800" cy="219456"/>
          </a:xfrm>
          <a:prstGeom prst="rect">
            <a:avLst/>
          </a:prstGeom>
          <a:noFill/>
        </p:spPr>
        <p:txBody>
          <a:bodyPr wrap="square" lIns="0" rIns="0" tIns="0" bIns="0" anchor="ctr">
            <a:spAutoFit/>
          </a:bodyPr>
          <a:lstStyle/>
          <a:p>
            <a:pPr algn="r"/>
            <a:r>
              <a:rPr sz="1050" b="1" i="0">
                <a:solidFill>
                  <a:srgbClr val="8C8E9F"/>
                </a:solidFill>
                <a:latin typeface="Calibri"/>
              </a:rPr>
              <a:t>0%</a:t>
            </a:r>
          </a:p>
        </p:txBody>
      </p:sp>
      <p:sp>
        <p:nvSpPr>
          <p:cNvPr id="38" name="TextBox 37"/>
          <p:cNvSpPr txBox="1"/>
          <p:nvPr/>
        </p:nvSpPr>
        <p:spPr>
          <a:xfrm>
            <a:off x="795528" y="3540556"/>
            <a:ext cx="2011680" cy="182880"/>
          </a:xfrm>
          <a:prstGeom prst="rect">
            <a:avLst/>
          </a:prstGeom>
          <a:noFill/>
        </p:spPr>
        <p:txBody>
          <a:bodyPr wrap="square" lIns="0" rIns="0" tIns="0" bIns="0" anchor="ctr">
            <a:spAutoFit/>
          </a:bodyPr>
          <a:lstStyle/>
          <a:p>
            <a:pPr algn="l"/>
            <a:r>
              <a:rPr sz="950" b="0" i="0">
                <a:solidFill>
                  <a:srgbClr val="5A5C70"/>
                </a:solidFill>
                <a:latin typeface="Calibri"/>
              </a:rPr>
              <a:t>All account types</a:t>
            </a:r>
          </a:p>
        </p:txBody>
      </p:sp>
      <p:sp>
        <p:nvSpPr>
          <p:cNvPr id="39" name="TextBox 38"/>
          <p:cNvSpPr txBox="1"/>
          <p:nvPr/>
        </p:nvSpPr>
        <p:spPr>
          <a:xfrm>
            <a:off x="2834640" y="3540556"/>
            <a:ext cx="457200" cy="182880"/>
          </a:xfrm>
          <a:prstGeom prst="rect">
            <a:avLst/>
          </a:prstGeom>
          <a:noFill/>
        </p:spPr>
        <p:txBody>
          <a:bodyPr wrap="square" lIns="0" rIns="0" tIns="0" bIns="0" anchor="ctr">
            <a:spAutoFit/>
          </a:bodyPr>
          <a:lstStyle/>
          <a:p>
            <a:pPr algn="r"/>
            <a:r>
              <a:rPr sz="950" b="0" i="0">
                <a:solidFill>
                  <a:srgbClr val="5A5C70"/>
                </a:solidFill>
                <a:latin typeface="Calibri"/>
              </a:rPr>
              <a:t>15</a:t>
            </a:r>
          </a:p>
        </p:txBody>
      </p:sp>
      <p:sp>
        <p:nvSpPr>
          <p:cNvPr id="40" name="Rectangle 39"/>
          <p:cNvSpPr/>
          <p:nvPr/>
        </p:nvSpPr>
        <p:spPr>
          <a:xfrm>
            <a:off x="3383279" y="3572560"/>
            <a:ext cx="1353312"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36592" y="3572560"/>
            <a:ext cx="33832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3540556"/>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43" name="TextBox 42"/>
          <p:cNvSpPr txBox="1"/>
          <p:nvPr/>
        </p:nvSpPr>
        <p:spPr>
          <a:xfrm>
            <a:off x="795528" y="3724351"/>
            <a:ext cx="2011680" cy="182880"/>
          </a:xfrm>
          <a:prstGeom prst="rect">
            <a:avLst/>
          </a:prstGeom>
          <a:noFill/>
        </p:spPr>
        <p:txBody>
          <a:bodyPr wrap="square" lIns="0" rIns="0" tIns="0" bIns="0" anchor="ctr">
            <a:spAutoFit/>
          </a:bodyPr>
          <a:lstStyle/>
          <a:p>
            <a:pPr algn="l"/>
            <a:r>
              <a:rPr sz="950" b="0" i="0">
                <a:solidFill>
                  <a:srgbClr val="5A5C70"/>
                </a:solidFill>
                <a:latin typeface="Calibri"/>
              </a:rPr>
              <a:t>Corporate</a:t>
            </a:r>
          </a:p>
        </p:txBody>
      </p:sp>
      <p:sp>
        <p:nvSpPr>
          <p:cNvPr id="44" name="TextBox 43"/>
          <p:cNvSpPr txBox="1"/>
          <p:nvPr/>
        </p:nvSpPr>
        <p:spPr>
          <a:xfrm>
            <a:off x="2834640" y="3724351"/>
            <a:ext cx="457200" cy="182880"/>
          </a:xfrm>
          <a:prstGeom prst="rect">
            <a:avLst/>
          </a:prstGeom>
          <a:noFill/>
        </p:spPr>
        <p:txBody>
          <a:bodyPr wrap="square" lIns="0" rIns="0" tIns="0" bIns="0" anchor="ctr">
            <a:spAutoFit/>
          </a:bodyPr>
          <a:lstStyle/>
          <a:p>
            <a:pPr algn="r"/>
            <a:r>
              <a:rPr sz="950" b="0" i="0">
                <a:solidFill>
                  <a:srgbClr val="5A5C70"/>
                </a:solidFill>
                <a:latin typeface="Calibri"/>
              </a:rPr>
              <a:t>11</a:t>
            </a:r>
          </a:p>
        </p:txBody>
      </p:sp>
      <p:sp>
        <p:nvSpPr>
          <p:cNvPr id="45" name="Rectangle 44"/>
          <p:cNvSpPr/>
          <p:nvPr/>
        </p:nvSpPr>
        <p:spPr>
          <a:xfrm>
            <a:off x="3383279" y="3756355"/>
            <a:ext cx="169164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66360" y="3724351"/>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47" name="TextBox 46"/>
          <p:cNvSpPr txBox="1"/>
          <p:nvPr/>
        </p:nvSpPr>
        <p:spPr>
          <a:xfrm>
            <a:off x="795528" y="3908145"/>
            <a:ext cx="2011680" cy="182880"/>
          </a:xfrm>
          <a:prstGeom prst="rect">
            <a:avLst/>
          </a:prstGeom>
          <a:noFill/>
        </p:spPr>
        <p:txBody>
          <a:bodyPr wrap="square" lIns="0" rIns="0" tIns="0" bIns="0" anchor="ctr">
            <a:spAutoFit/>
          </a:bodyPr>
          <a:lstStyle/>
          <a:p>
            <a:pPr algn="l"/>
            <a:r>
              <a:rPr sz="950" b="0" i="0">
                <a:solidFill>
                  <a:srgbClr val="5A5C70"/>
                </a:solidFill>
                <a:latin typeface="Calibri"/>
              </a:rPr>
              <a:t>Global</a:t>
            </a:r>
          </a:p>
        </p:txBody>
      </p:sp>
      <p:sp>
        <p:nvSpPr>
          <p:cNvPr id="48" name="TextBox 47"/>
          <p:cNvSpPr txBox="1"/>
          <p:nvPr/>
        </p:nvSpPr>
        <p:spPr>
          <a:xfrm>
            <a:off x="2834640" y="3908145"/>
            <a:ext cx="457200" cy="182880"/>
          </a:xfrm>
          <a:prstGeom prst="rect">
            <a:avLst/>
          </a:prstGeom>
          <a:noFill/>
        </p:spPr>
        <p:txBody>
          <a:bodyPr wrap="square" lIns="0" rIns="0" tIns="0" bIns="0" anchor="ctr">
            <a:spAutoFit/>
          </a:bodyPr>
          <a:lstStyle/>
          <a:p>
            <a:pPr algn="r"/>
            <a:r>
              <a:rPr sz="950" b="0" i="0">
                <a:solidFill>
                  <a:srgbClr val="5A5C70"/>
                </a:solidFill>
                <a:latin typeface="Calibri"/>
              </a:rPr>
              <a:t>3</a:t>
            </a:r>
          </a:p>
        </p:txBody>
      </p:sp>
      <p:sp>
        <p:nvSpPr>
          <p:cNvPr id="49" name="Rectangle 48"/>
          <p:cNvSpPr/>
          <p:nvPr/>
        </p:nvSpPr>
        <p:spPr>
          <a:xfrm>
            <a:off x="3383279" y="3940149"/>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66360" y="3908145"/>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51" name="TextBox 50"/>
          <p:cNvSpPr txBox="1"/>
          <p:nvPr/>
        </p:nvSpPr>
        <p:spPr>
          <a:xfrm>
            <a:off x="795528" y="4091939"/>
            <a:ext cx="2011680" cy="182880"/>
          </a:xfrm>
          <a:prstGeom prst="rect">
            <a:avLst/>
          </a:prstGeom>
          <a:noFill/>
        </p:spPr>
        <p:txBody>
          <a:bodyPr wrap="square" lIns="0" rIns="0" tIns="0" bIns="0" anchor="ctr">
            <a:spAutoFit/>
          </a:bodyPr>
          <a:lstStyle/>
          <a:p>
            <a:pPr algn="l"/>
            <a:r>
              <a:rPr sz="950" b="0" i="0">
                <a:solidFill>
                  <a:srgbClr val="5A5C70"/>
                </a:solidFill>
                <a:latin typeface="Calibri"/>
              </a:rPr>
              <a:t>Minor</a:t>
            </a:r>
          </a:p>
        </p:txBody>
      </p:sp>
      <p:sp>
        <p:nvSpPr>
          <p:cNvPr id="52" name="TextBox 51"/>
          <p:cNvSpPr txBox="1"/>
          <p:nvPr/>
        </p:nvSpPr>
        <p:spPr>
          <a:xfrm>
            <a:off x="2834640" y="4091939"/>
            <a:ext cx="457200" cy="182880"/>
          </a:xfrm>
          <a:prstGeom prst="rect">
            <a:avLst/>
          </a:prstGeom>
          <a:noFill/>
        </p:spPr>
        <p:txBody>
          <a:bodyPr wrap="square" lIns="0" rIns="0" tIns="0" bIns="0" anchor="ctr">
            <a:spAutoFit/>
          </a:bodyPr>
          <a:lstStyle/>
          <a:p>
            <a:pPr algn="r"/>
            <a:r>
              <a:rPr sz="950" b="0" i="0">
                <a:solidFill>
                  <a:srgbClr val="5A5C70"/>
                </a:solidFill>
                <a:latin typeface="Calibri"/>
              </a:rPr>
              <a:t>3</a:t>
            </a:r>
          </a:p>
        </p:txBody>
      </p:sp>
      <p:sp>
        <p:nvSpPr>
          <p:cNvPr id="53" name="Rectangle 52"/>
          <p:cNvSpPr/>
          <p:nvPr/>
        </p:nvSpPr>
        <p:spPr>
          <a:xfrm>
            <a:off x="3383279" y="4123944"/>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66360" y="4091939"/>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55" name="TextBox 54"/>
          <p:cNvSpPr txBox="1"/>
          <p:nvPr/>
        </p:nvSpPr>
        <p:spPr>
          <a:xfrm>
            <a:off x="795528" y="4275734"/>
            <a:ext cx="2011680" cy="182880"/>
          </a:xfrm>
          <a:prstGeom prst="rect">
            <a:avLst/>
          </a:prstGeom>
          <a:noFill/>
        </p:spPr>
        <p:txBody>
          <a:bodyPr wrap="square" lIns="0" rIns="0" tIns="0" bIns="0" anchor="ctr">
            <a:spAutoFit/>
          </a:bodyPr>
          <a:lstStyle/>
          <a:p>
            <a:pPr algn="l"/>
            <a:r>
              <a:rPr sz="950" b="0" i="0">
                <a:solidFill>
                  <a:srgbClr val="5A5C70"/>
                </a:solidFill>
                <a:latin typeface="Calibri"/>
              </a:rPr>
              <a:t>Saudi</a:t>
            </a:r>
          </a:p>
        </p:txBody>
      </p:sp>
      <p:sp>
        <p:nvSpPr>
          <p:cNvPr id="56" name="TextBox 55"/>
          <p:cNvSpPr txBox="1"/>
          <p:nvPr/>
        </p:nvSpPr>
        <p:spPr>
          <a:xfrm>
            <a:off x="2834640" y="4275734"/>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57" name="Rectangle 56"/>
          <p:cNvSpPr/>
          <p:nvPr/>
        </p:nvSpPr>
        <p:spPr>
          <a:xfrm>
            <a:off x="3383279" y="4307738"/>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66360" y="4275734"/>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59" name="Rectangle 58"/>
          <p:cNvSpPr/>
          <p:nvPr/>
        </p:nvSpPr>
        <p:spPr>
          <a:xfrm>
            <a:off x="594360" y="4468672"/>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4514392"/>
            <a:ext cx="2194560" cy="219456"/>
          </a:xfrm>
          <a:prstGeom prst="rect">
            <a:avLst/>
          </a:prstGeom>
          <a:noFill/>
        </p:spPr>
        <p:txBody>
          <a:bodyPr wrap="square" lIns="0" rIns="0" tIns="0" bIns="0" anchor="ctr">
            <a:spAutoFit/>
          </a:bodyPr>
          <a:lstStyle/>
          <a:p>
            <a:pPr algn="l"/>
            <a:r>
              <a:rPr sz="1150" b="1" i="0">
                <a:solidFill>
                  <a:srgbClr val="1F1D4A"/>
                </a:solidFill>
                <a:latin typeface="Calibri"/>
              </a:rPr>
              <a:t>LMS/SBL</a:t>
            </a:r>
          </a:p>
        </p:txBody>
      </p:sp>
      <p:sp>
        <p:nvSpPr>
          <p:cNvPr id="61" name="TextBox 60"/>
          <p:cNvSpPr txBox="1"/>
          <p:nvPr/>
        </p:nvSpPr>
        <p:spPr>
          <a:xfrm>
            <a:off x="2834640" y="4514392"/>
            <a:ext cx="457200" cy="219456"/>
          </a:xfrm>
          <a:prstGeom prst="rect">
            <a:avLst/>
          </a:prstGeom>
          <a:noFill/>
        </p:spPr>
        <p:txBody>
          <a:bodyPr wrap="square" lIns="0" rIns="0" tIns="0" bIns="0" anchor="ctr">
            <a:spAutoFit/>
          </a:bodyPr>
          <a:lstStyle/>
          <a:p>
            <a:pPr algn="r"/>
            <a:r>
              <a:rPr sz="1150" b="1" i="0">
                <a:solidFill>
                  <a:srgbClr val="1F1D4A"/>
                </a:solidFill>
                <a:latin typeface="Calibri"/>
              </a:rPr>
              <a:t>13</a:t>
            </a:r>
          </a:p>
        </p:txBody>
      </p:sp>
      <p:sp>
        <p:nvSpPr>
          <p:cNvPr id="62" name="Rectangle 61"/>
          <p:cNvSpPr/>
          <p:nvPr/>
        </p:nvSpPr>
        <p:spPr>
          <a:xfrm>
            <a:off x="3383279" y="4550968"/>
            <a:ext cx="1041009"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424289" y="4550968"/>
            <a:ext cx="650630"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66360" y="4514392"/>
            <a:ext cx="685800" cy="219456"/>
          </a:xfrm>
          <a:prstGeom prst="rect">
            <a:avLst/>
          </a:prstGeom>
          <a:noFill/>
        </p:spPr>
        <p:txBody>
          <a:bodyPr wrap="square" lIns="0" rIns="0" tIns="0" bIns="0" anchor="ctr">
            <a:spAutoFit/>
          </a:bodyPr>
          <a:lstStyle/>
          <a:p>
            <a:pPr algn="r"/>
            <a:r>
              <a:rPr sz="1050" b="1" i="0">
                <a:solidFill>
                  <a:srgbClr val="8C8E9F"/>
                </a:solidFill>
                <a:latin typeface="Calibri"/>
              </a:rPr>
              <a:t>0%</a:t>
            </a:r>
          </a:p>
        </p:txBody>
      </p:sp>
      <p:sp>
        <p:nvSpPr>
          <p:cNvPr id="65" name="TextBox 64"/>
          <p:cNvSpPr txBox="1"/>
          <p:nvPr/>
        </p:nvSpPr>
        <p:spPr>
          <a:xfrm>
            <a:off x="795528" y="4756708"/>
            <a:ext cx="2011680" cy="182880"/>
          </a:xfrm>
          <a:prstGeom prst="rect">
            <a:avLst/>
          </a:prstGeom>
          <a:noFill/>
        </p:spPr>
        <p:txBody>
          <a:bodyPr wrap="square" lIns="0" rIns="0" tIns="0" bIns="0" anchor="ctr">
            <a:spAutoFit/>
          </a:bodyPr>
          <a:lstStyle/>
          <a:p>
            <a:pPr algn="l"/>
            <a:r>
              <a:rPr sz="950" b="0" i="0">
                <a:solidFill>
                  <a:srgbClr val="5A5C70"/>
                </a:solidFill>
                <a:latin typeface="Calibri"/>
              </a:rPr>
              <a:t>LMS</a:t>
            </a:r>
          </a:p>
        </p:txBody>
      </p:sp>
      <p:sp>
        <p:nvSpPr>
          <p:cNvPr id="66" name="TextBox 65"/>
          <p:cNvSpPr txBox="1"/>
          <p:nvPr/>
        </p:nvSpPr>
        <p:spPr>
          <a:xfrm>
            <a:off x="2834640" y="4756708"/>
            <a:ext cx="457200" cy="182880"/>
          </a:xfrm>
          <a:prstGeom prst="rect">
            <a:avLst/>
          </a:prstGeom>
          <a:noFill/>
        </p:spPr>
        <p:txBody>
          <a:bodyPr wrap="square" lIns="0" rIns="0" tIns="0" bIns="0" anchor="ctr">
            <a:spAutoFit/>
          </a:bodyPr>
          <a:lstStyle/>
          <a:p>
            <a:pPr algn="r"/>
            <a:r>
              <a:rPr sz="950" b="0" i="0">
                <a:solidFill>
                  <a:srgbClr val="5A5C70"/>
                </a:solidFill>
                <a:latin typeface="Calibri"/>
              </a:rPr>
              <a:t>9</a:t>
            </a:r>
          </a:p>
        </p:txBody>
      </p:sp>
      <p:sp>
        <p:nvSpPr>
          <p:cNvPr id="67" name="Rectangle 66"/>
          <p:cNvSpPr/>
          <p:nvPr/>
        </p:nvSpPr>
        <p:spPr>
          <a:xfrm>
            <a:off x="3383279" y="4788712"/>
            <a:ext cx="7518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135120" y="4788712"/>
            <a:ext cx="939799"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66360" y="4756708"/>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70" name="TextBox 69"/>
          <p:cNvSpPr txBox="1"/>
          <p:nvPr/>
        </p:nvSpPr>
        <p:spPr>
          <a:xfrm>
            <a:off x="795528" y="4940503"/>
            <a:ext cx="2011680" cy="182880"/>
          </a:xfrm>
          <a:prstGeom prst="rect">
            <a:avLst/>
          </a:prstGeom>
          <a:noFill/>
        </p:spPr>
        <p:txBody>
          <a:bodyPr wrap="square" lIns="0" rIns="0" tIns="0" bIns="0" anchor="ctr">
            <a:spAutoFit/>
          </a:bodyPr>
          <a:lstStyle/>
          <a:p>
            <a:pPr algn="l"/>
            <a:r>
              <a:rPr sz="950" b="0" i="0">
                <a:solidFill>
                  <a:srgbClr val="5A5C70"/>
                </a:solidFill>
                <a:latin typeface="Calibri"/>
              </a:rPr>
              <a:t>SBL</a:t>
            </a:r>
          </a:p>
        </p:txBody>
      </p:sp>
      <p:sp>
        <p:nvSpPr>
          <p:cNvPr id="71" name="TextBox 70"/>
          <p:cNvSpPr txBox="1"/>
          <p:nvPr/>
        </p:nvSpPr>
        <p:spPr>
          <a:xfrm>
            <a:off x="2834640" y="4940503"/>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72" name="Rectangle 71"/>
          <p:cNvSpPr/>
          <p:nvPr/>
        </p:nvSpPr>
        <p:spPr>
          <a:xfrm>
            <a:off x="3383279" y="4972507"/>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66360" y="4940503"/>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74" name="Rectangle 73"/>
          <p:cNvSpPr/>
          <p:nvPr/>
        </p:nvSpPr>
        <p:spPr>
          <a:xfrm>
            <a:off x="594360" y="5133441"/>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4360" y="5179161"/>
            <a:ext cx="2194560" cy="219456"/>
          </a:xfrm>
          <a:prstGeom prst="rect">
            <a:avLst/>
          </a:prstGeom>
          <a:noFill/>
        </p:spPr>
        <p:txBody>
          <a:bodyPr wrap="square" lIns="0" rIns="0" tIns="0" bIns="0" anchor="ctr">
            <a:spAutoFit/>
          </a:bodyPr>
          <a:lstStyle/>
          <a:p>
            <a:pPr algn="l"/>
            <a:r>
              <a:rPr sz="1150" b="1" i="0">
                <a:solidFill>
                  <a:srgbClr val="1F1D4A"/>
                </a:solidFill>
                <a:latin typeface="Calibri"/>
              </a:rPr>
              <a:t>IPOs</a:t>
            </a:r>
          </a:p>
        </p:txBody>
      </p:sp>
      <p:sp>
        <p:nvSpPr>
          <p:cNvPr id="76" name="TextBox 75"/>
          <p:cNvSpPr txBox="1"/>
          <p:nvPr/>
        </p:nvSpPr>
        <p:spPr>
          <a:xfrm>
            <a:off x="2834640" y="5179161"/>
            <a:ext cx="457200" cy="219456"/>
          </a:xfrm>
          <a:prstGeom prst="rect">
            <a:avLst/>
          </a:prstGeom>
          <a:noFill/>
        </p:spPr>
        <p:txBody>
          <a:bodyPr wrap="square" lIns="0" rIns="0" tIns="0" bIns="0" anchor="ctr">
            <a:spAutoFit/>
          </a:bodyPr>
          <a:lstStyle/>
          <a:p>
            <a:pPr algn="r"/>
            <a:r>
              <a:rPr sz="1150" b="1" i="0">
                <a:solidFill>
                  <a:srgbClr val="1F1D4A"/>
                </a:solidFill>
                <a:latin typeface="Calibri"/>
              </a:rPr>
              <a:t>9</a:t>
            </a:r>
          </a:p>
        </p:txBody>
      </p:sp>
      <p:sp>
        <p:nvSpPr>
          <p:cNvPr id="77" name="Rectangle 76"/>
          <p:cNvSpPr/>
          <p:nvPr/>
        </p:nvSpPr>
        <p:spPr>
          <a:xfrm>
            <a:off x="3383279" y="5215737"/>
            <a:ext cx="1127760"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511040" y="5215737"/>
            <a:ext cx="563880"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66360" y="5179161"/>
            <a:ext cx="685800" cy="219456"/>
          </a:xfrm>
          <a:prstGeom prst="rect">
            <a:avLst/>
          </a:prstGeom>
          <a:noFill/>
        </p:spPr>
        <p:txBody>
          <a:bodyPr wrap="square" lIns="0" rIns="0" tIns="0" bIns="0" anchor="ctr">
            <a:spAutoFit/>
          </a:bodyPr>
          <a:lstStyle/>
          <a:p>
            <a:pPr algn="r"/>
            <a:r>
              <a:rPr sz="1050" b="1" i="0">
                <a:solidFill>
                  <a:srgbClr val="B5731F"/>
                </a:solidFill>
                <a:latin typeface="Calibri"/>
              </a:rPr>
              <a:t>33%</a:t>
            </a:r>
          </a:p>
        </p:txBody>
      </p:sp>
      <p:sp>
        <p:nvSpPr>
          <p:cNvPr id="80" name="TextBox 79"/>
          <p:cNvSpPr txBox="1"/>
          <p:nvPr/>
        </p:nvSpPr>
        <p:spPr>
          <a:xfrm>
            <a:off x="795528" y="5421477"/>
            <a:ext cx="2011680" cy="182880"/>
          </a:xfrm>
          <a:prstGeom prst="rect">
            <a:avLst/>
          </a:prstGeom>
          <a:noFill/>
        </p:spPr>
        <p:txBody>
          <a:bodyPr wrap="square" lIns="0" rIns="0" tIns="0" bIns="0" anchor="ctr">
            <a:spAutoFit/>
          </a:bodyPr>
          <a:lstStyle/>
          <a:p>
            <a:pPr algn="l"/>
            <a:r>
              <a:rPr sz="950" b="0" i="0">
                <a:solidFill>
                  <a:srgbClr val="5A5C70"/>
                </a:solidFill>
                <a:latin typeface="Calibri"/>
              </a:rPr>
              <a:t>Subscriptions</a:t>
            </a:r>
          </a:p>
        </p:txBody>
      </p:sp>
      <p:sp>
        <p:nvSpPr>
          <p:cNvPr id="81" name="TextBox 80"/>
          <p:cNvSpPr txBox="1"/>
          <p:nvPr/>
        </p:nvSpPr>
        <p:spPr>
          <a:xfrm>
            <a:off x="2834640" y="5421477"/>
            <a:ext cx="457200" cy="182880"/>
          </a:xfrm>
          <a:prstGeom prst="rect">
            <a:avLst/>
          </a:prstGeom>
          <a:noFill/>
        </p:spPr>
        <p:txBody>
          <a:bodyPr wrap="square" lIns="0" rIns="0" tIns="0" bIns="0" anchor="ctr">
            <a:spAutoFit/>
          </a:bodyPr>
          <a:lstStyle/>
          <a:p>
            <a:pPr algn="r"/>
            <a:r>
              <a:rPr sz="950" b="0" i="0">
                <a:solidFill>
                  <a:srgbClr val="5A5C70"/>
                </a:solidFill>
                <a:latin typeface="Calibri"/>
              </a:rPr>
              <a:t>9</a:t>
            </a:r>
          </a:p>
        </p:txBody>
      </p:sp>
      <p:sp>
        <p:nvSpPr>
          <p:cNvPr id="82" name="Rectangle 81"/>
          <p:cNvSpPr/>
          <p:nvPr/>
        </p:nvSpPr>
        <p:spPr>
          <a:xfrm>
            <a:off x="3383279" y="5453481"/>
            <a:ext cx="112776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511040" y="5453481"/>
            <a:ext cx="56388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166360" y="5421477"/>
            <a:ext cx="685800" cy="182880"/>
          </a:xfrm>
          <a:prstGeom prst="rect">
            <a:avLst/>
          </a:prstGeom>
          <a:noFill/>
        </p:spPr>
        <p:txBody>
          <a:bodyPr wrap="square" lIns="0" rIns="0" tIns="0" bIns="0" anchor="ctr">
            <a:spAutoFit/>
          </a:bodyPr>
          <a:lstStyle/>
          <a:p>
            <a:pPr algn="r"/>
            <a:r>
              <a:rPr sz="900" b="0" i="0">
                <a:solidFill>
                  <a:srgbClr val="B5731F"/>
                </a:solidFill>
                <a:latin typeface="Calibri"/>
              </a:rPr>
              <a:t>33%</a:t>
            </a:r>
          </a:p>
        </p:txBody>
      </p:sp>
      <p:sp>
        <p:nvSpPr>
          <p:cNvPr id="85" name="Rectangle 84"/>
          <p:cNvSpPr/>
          <p:nvPr/>
        </p:nvSpPr>
        <p:spPr>
          <a:xfrm>
            <a:off x="594360" y="5614415"/>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4360" y="5660135"/>
            <a:ext cx="2194560" cy="219456"/>
          </a:xfrm>
          <a:prstGeom prst="rect">
            <a:avLst/>
          </a:prstGeom>
          <a:noFill/>
        </p:spPr>
        <p:txBody>
          <a:bodyPr wrap="square" lIns="0" rIns="0" tIns="0" bIns="0" anchor="ctr">
            <a:spAutoFit/>
          </a:bodyPr>
          <a:lstStyle/>
          <a:p>
            <a:pPr algn="l"/>
            <a:r>
              <a:rPr sz="1150" b="1" i="0">
                <a:solidFill>
                  <a:srgbClr val="1F1D4A"/>
                </a:solidFill>
                <a:latin typeface="Calibri"/>
              </a:rPr>
              <a:t>Crowd Fund</a:t>
            </a:r>
          </a:p>
        </p:txBody>
      </p:sp>
      <p:sp>
        <p:nvSpPr>
          <p:cNvPr id="87" name="TextBox 86"/>
          <p:cNvSpPr txBox="1"/>
          <p:nvPr/>
        </p:nvSpPr>
        <p:spPr>
          <a:xfrm>
            <a:off x="2834640" y="5660135"/>
            <a:ext cx="457200" cy="219456"/>
          </a:xfrm>
          <a:prstGeom prst="rect">
            <a:avLst/>
          </a:prstGeom>
          <a:noFill/>
        </p:spPr>
        <p:txBody>
          <a:bodyPr wrap="square" lIns="0" rIns="0" tIns="0" bIns="0" anchor="ctr">
            <a:spAutoFit/>
          </a:bodyPr>
          <a:lstStyle/>
          <a:p>
            <a:pPr algn="r"/>
            <a:r>
              <a:rPr sz="1150" b="1" i="0">
                <a:solidFill>
                  <a:srgbClr val="1F1D4A"/>
                </a:solidFill>
                <a:latin typeface="Calibri"/>
              </a:rPr>
              <a:t>4</a:t>
            </a:r>
          </a:p>
        </p:txBody>
      </p:sp>
      <p:sp>
        <p:nvSpPr>
          <p:cNvPr id="88" name="Rectangle 87"/>
          <p:cNvSpPr/>
          <p:nvPr/>
        </p:nvSpPr>
        <p:spPr>
          <a:xfrm>
            <a:off x="3383279" y="5696711"/>
            <a:ext cx="1691640"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166360" y="5660135"/>
            <a:ext cx="685800" cy="219456"/>
          </a:xfrm>
          <a:prstGeom prst="rect">
            <a:avLst/>
          </a:prstGeom>
          <a:noFill/>
        </p:spPr>
        <p:txBody>
          <a:bodyPr wrap="square" lIns="0" rIns="0" tIns="0" bIns="0" anchor="ctr">
            <a:spAutoFit/>
          </a:bodyPr>
          <a:lstStyle/>
          <a:p>
            <a:pPr algn="r"/>
            <a:r>
              <a:rPr sz="1050" b="1" i="0">
                <a:solidFill>
                  <a:srgbClr val="8C8E9F"/>
                </a:solidFill>
                <a:latin typeface="Calibri"/>
              </a:rPr>
              <a:t>0%</a:t>
            </a:r>
          </a:p>
        </p:txBody>
      </p:sp>
      <p:sp>
        <p:nvSpPr>
          <p:cNvPr id="90" name="TextBox 89"/>
          <p:cNvSpPr txBox="1"/>
          <p:nvPr/>
        </p:nvSpPr>
        <p:spPr>
          <a:xfrm>
            <a:off x="795528" y="5902451"/>
            <a:ext cx="2011680" cy="182880"/>
          </a:xfrm>
          <a:prstGeom prst="rect">
            <a:avLst/>
          </a:prstGeom>
          <a:noFill/>
        </p:spPr>
        <p:txBody>
          <a:bodyPr wrap="square" lIns="0" rIns="0" tIns="0" bIns="0" anchor="ctr">
            <a:spAutoFit/>
          </a:bodyPr>
          <a:lstStyle/>
          <a:p>
            <a:pPr algn="l"/>
            <a:r>
              <a:rPr sz="950" b="0" i="0">
                <a:solidFill>
                  <a:srgbClr val="5A5C70"/>
                </a:solidFill>
                <a:latin typeface="Calibri"/>
              </a:rPr>
              <a:t>Portfolio</a:t>
            </a:r>
          </a:p>
        </p:txBody>
      </p:sp>
      <p:sp>
        <p:nvSpPr>
          <p:cNvPr id="91" name="TextBox 90"/>
          <p:cNvSpPr txBox="1"/>
          <p:nvPr/>
        </p:nvSpPr>
        <p:spPr>
          <a:xfrm>
            <a:off x="2834640" y="5902451"/>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92" name="Rectangle 91"/>
          <p:cNvSpPr/>
          <p:nvPr/>
        </p:nvSpPr>
        <p:spPr>
          <a:xfrm>
            <a:off x="3383279" y="5934455"/>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166360" y="5902451"/>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94" name="Rectangle 93"/>
          <p:cNvSpPr/>
          <p:nvPr/>
        </p:nvSpPr>
        <p:spPr>
          <a:xfrm>
            <a:off x="6172200" y="2587752"/>
            <a:ext cx="5257800" cy="12700"/>
          </a:xfrm>
          <a:prstGeom prst="rect">
            <a:avLst/>
          </a:prstGeom>
          <a:solidFill>
            <a:srgbClr val="DCD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72200" y="2633472"/>
            <a:ext cx="2194560" cy="219456"/>
          </a:xfrm>
          <a:prstGeom prst="rect">
            <a:avLst/>
          </a:prstGeom>
          <a:noFill/>
        </p:spPr>
        <p:txBody>
          <a:bodyPr wrap="square" lIns="0" rIns="0" tIns="0" bIns="0" anchor="ctr">
            <a:spAutoFit/>
          </a:bodyPr>
          <a:lstStyle/>
          <a:p>
            <a:pPr algn="l"/>
            <a:r>
              <a:rPr sz="1150" b="1" i="0">
                <a:solidFill>
                  <a:srgbClr val="1F1D4A"/>
                </a:solidFill>
                <a:latin typeface="Calibri"/>
              </a:rPr>
              <a:t>Platform</a:t>
            </a:r>
          </a:p>
        </p:txBody>
      </p:sp>
      <p:sp>
        <p:nvSpPr>
          <p:cNvPr id="96" name="TextBox 95"/>
          <p:cNvSpPr txBox="1"/>
          <p:nvPr/>
        </p:nvSpPr>
        <p:spPr>
          <a:xfrm>
            <a:off x="8412480" y="2633472"/>
            <a:ext cx="457200" cy="219456"/>
          </a:xfrm>
          <a:prstGeom prst="rect">
            <a:avLst/>
          </a:prstGeom>
          <a:noFill/>
        </p:spPr>
        <p:txBody>
          <a:bodyPr wrap="square" lIns="0" rIns="0" tIns="0" bIns="0" anchor="ctr">
            <a:spAutoFit/>
          </a:bodyPr>
          <a:lstStyle/>
          <a:p>
            <a:pPr algn="r"/>
            <a:r>
              <a:rPr sz="1150" b="1" i="0">
                <a:solidFill>
                  <a:srgbClr val="1F1D4A"/>
                </a:solidFill>
                <a:latin typeface="Calibri"/>
              </a:rPr>
              <a:t>71</a:t>
            </a:r>
          </a:p>
        </p:txBody>
      </p:sp>
      <p:sp>
        <p:nvSpPr>
          <p:cNvPr id="97" name="Rectangle 96"/>
          <p:cNvSpPr/>
          <p:nvPr/>
        </p:nvSpPr>
        <p:spPr>
          <a:xfrm>
            <a:off x="8961120" y="2670048"/>
            <a:ext cx="1167469" cy="155448"/>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128589" y="2670048"/>
            <a:ext cx="309736" cy="155448"/>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438326" y="2670048"/>
            <a:ext cx="214433" cy="155448"/>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44200" y="2633472"/>
            <a:ext cx="685800" cy="219456"/>
          </a:xfrm>
          <a:prstGeom prst="rect">
            <a:avLst/>
          </a:prstGeom>
          <a:noFill/>
        </p:spPr>
        <p:txBody>
          <a:bodyPr wrap="square" lIns="0" rIns="0" tIns="0" bIns="0" anchor="ctr">
            <a:spAutoFit/>
          </a:bodyPr>
          <a:lstStyle/>
          <a:p>
            <a:pPr algn="r"/>
            <a:r>
              <a:rPr sz="1050" b="1" i="0">
                <a:solidFill>
                  <a:srgbClr val="8C8E9F"/>
                </a:solidFill>
                <a:latin typeface="Calibri"/>
              </a:rPr>
              <a:t>13%</a:t>
            </a:r>
          </a:p>
        </p:txBody>
      </p:sp>
      <p:sp>
        <p:nvSpPr>
          <p:cNvPr id="101" name="TextBox 100"/>
          <p:cNvSpPr txBox="1"/>
          <p:nvPr/>
        </p:nvSpPr>
        <p:spPr>
          <a:xfrm>
            <a:off x="6373368" y="2875788"/>
            <a:ext cx="2011680" cy="182880"/>
          </a:xfrm>
          <a:prstGeom prst="rect">
            <a:avLst/>
          </a:prstGeom>
          <a:noFill/>
        </p:spPr>
        <p:txBody>
          <a:bodyPr wrap="square" lIns="0" rIns="0" tIns="0" bIns="0" anchor="ctr">
            <a:spAutoFit/>
          </a:bodyPr>
          <a:lstStyle/>
          <a:p>
            <a:pPr algn="l"/>
            <a:r>
              <a:rPr sz="950" b="0" i="0">
                <a:solidFill>
                  <a:srgbClr val="5A5C70"/>
                </a:solidFill>
                <a:latin typeface="Calibri"/>
              </a:rPr>
              <a:t>App Widgets</a:t>
            </a:r>
          </a:p>
        </p:txBody>
      </p:sp>
      <p:sp>
        <p:nvSpPr>
          <p:cNvPr id="102" name="TextBox 101"/>
          <p:cNvSpPr txBox="1"/>
          <p:nvPr/>
        </p:nvSpPr>
        <p:spPr>
          <a:xfrm>
            <a:off x="8412480" y="2875788"/>
            <a:ext cx="457200" cy="182880"/>
          </a:xfrm>
          <a:prstGeom prst="rect">
            <a:avLst/>
          </a:prstGeom>
          <a:noFill/>
        </p:spPr>
        <p:txBody>
          <a:bodyPr wrap="square" lIns="0" rIns="0" tIns="0" bIns="0" anchor="ctr">
            <a:spAutoFit/>
          </a:bodyPr>
          <a:lstStyle/>
          <a:p>
            <a:pPr algn="r"/>
            <a:r>
              <a:rPr sz="950" b="0" i="0">
                <a:solidFill>
                  <a:srgbClr val="5A5C70"/>
                </a:solidFill>
                <a:latin typeface="Calibri"/>
              </a:rPr>
              <a:t>9</a:t>
            </a:r>
          </a:p>
        </p:txBody>
      </p:sp>
      <p:sp>
        <p:nvSpPr>
          <p:cNvPr id="103" name="Rectangle 102"/>
          <p:cNvSpPr/>
          <p:nvPr/>
        </p:nvSpPr>
        <p:spPr>
          <a:xfrm>
            <a:off x="8961120" y="2907792"/>
            <a:ext cx="131572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0276840" y="2907792"/>
            <a:ext cx="37592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744200" y="2875788"/>
            <a:ext cx="685800" cy="182880"/>
          </a:xfrm>
          <a:prstGeom prst="rect">
            <a:avLst/>
          </a:prstGeom>
          <a:noFill/>
        </p:spPr>
        <p:txBody>
          <a:bodyPr wrap="square" lIns="0" rIns="0" tIns="0" bIns="0" anchor="ctr">
            <a:spAutoFit/>
          </a:bodyPr>
          <a:lstStyle/>
          <a:p>
            <a:pPr algn="r"/>
            <a:r>
              <a:rPr sz="900" b="0" i="0">
                <a:solidFill>
                  <a:srgbClr val="8C8E9F"/>
                </a:solidFill>
                <a:latin typeface="Calibri"/>
              </a:rPr>
              <a:t>22%</a:t>
            </a:r>
          </a:p>
        </p:txBody>
      </p:sp>
      <p:sp>
        <p:nvSpPr>
          <p:cNvPr id="106" name="TextBox 105"/>
          <p:cNvSpPr txBox="1"/>
          <p:nvPr/>
        </p:nvSpPr>
        <p:spPr>
          <a:xfrm>
            <a:off x="6373368" y="3045866"/>
            <a:ext cx="2011680" cy="182880"/>
          </a:xfrm>
          <a:prstGeom prst="rect">
            <a:avLst/>
          </a:prstGeom>
          <a:noFill/>
        </p:spPr>
        <p:txBody>
          <a:bodyPr wrap="square" lIns="0" rIns="0" tIns="0" bIns="0" anchor="ctr">
            <a:spAutoFit/>
          </a:bodyPr>
          <a:lstStyle/>
          <a:p>
            <a:pPr algn="l"/>
            <a:r>
              <a:rPr sz="950" b="0" i="0">
                <a:solidFill>
                  <a:srgbClr val="5A5C70"/>
                </a:solidFill>
                <a:latin typeface="Calibri"/>
              </a:rPr>
              <a:t>Alert and Notification</a:t>
            </a:r>
          </a:p>
        </p:txBody>
      </p:sp>
      <p:sp>
        <p:nvSpPr>
          <p:cNvPr id="107" name="TextBox 106"/>
          <p:cNvSpPr txBox="1"/>
          <p:nvPr/>
        </p:nvSpPr>
        <p:spPr>
          <a:xfrm>
            <a:off x="8412480" y="3045866"/>
            <a:ext cx="457200" cy="182880"/>
          </a:xfrm>
          <a:prstGeom prst="rect">
            <a:avLst/>
          </a:prstGeom>
          <a:noFill/>
        </p:spPr>
        <p:txBody>
          <a:bodyPr wrap="square" lIns="0" rIns="0" tIns="0" bIns="0" anchor="ctr">
            <a:spAutoFit/>
          </a:bodyPr>
          <a:lstStyle/>
          <a:p>
            <a:pPr algn="r"/>
            <a:r>
              <a:rPr sz="950" b="0" i="0">
                <a:solidFill>
                  <a:srgbClr val="5A5C70"/>
                </a:solidFill>
                <a:latin typeface="Calibri"/>
              </a:rPr>
              <a:t>6</a:t>
            </a:r>
          </a:p>
        </p:txBody>
      </p:sp>
      <p:sp>
        <p:nvSpPr>
          <p:cNvPr id="108" name="Rectangle 107"/>
          <p:cNvSpPr/>
          <p:nvPr/>
        </p:nvSpPr>
        <p:spPr>
          <a:xfrm>
            <a:off x="8961120" y="3077870"/>
            <a:ext cx="140970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0370820" y="3077870"/>
            <a:ext cx="28194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744200" y="3045866"/>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11" name="TextBox 110"/>
          <p:cNvSpPr txBox="1"/>
          <p:nvPr/>
        </p:nvSpPr>
        <p:spPr>
          <a:xfrm>
            <a:off x="6373368" y="3215944"/>
            <a:ext cx="2011680" cy="182880"/>
          </a:xfrm>
          <a:prstGeom prst="rect">
            <a:avLst/>
          </a:prstGeom>
          <a:noFill/>
        </p:spPr>
        <p:txBody>
          <a:bodyPr wrap="square" lIns="0" rIns="0" tIns="0" bIns="0" anchor="ctr">
            <a:spAutoFit/>
          </a:bodyPr>
          <a:lstStyle/>
          <a:p>
            <a:pPr algn="l"/>
            <a:r>
              <a:rPr sz="950" b="0" i="0">
                <a:solidFill>
                  <a:srgbClr val="5A5C70"/>
                </a:solidFill>
                <a:latin typeface="Calibri"/>
              </a:rPr>
              <a:t>Calculator</a:t>
            </a:r>
          </a:p>
        </p:txBody>
      </p:sp>
      <p:sp>
        <p:nvSpPr>
          <p:cNvPr id="112" name="TextBox 111"/>
          <p:cNvSpPr txBox="1"/>
          <p:nvPr/>
        </p:nvSpPr>
        <p:spPr>
          <a:xfrm>
            <a:off x="8412480" y="3215944"/>
            <a:ext cx="457200" cy="182880"/>
          </a:xfrm>
          <a:prstGeom prst="rect">
            <a:avLst/>
          </a:prstGeom>
          <a:noFill/>
        </p:spPr>
        <p:txBody>
          <a:bodyPr wrap="square" lIns="0" rIns="0" tIns="0" bIns="0" anchor="ctr">
            <a:spAutoFit/>
          </a:bodyPr>
          <a:lstStyle/>
          <a:p>
            <a:pPr algn="r"/>
            <a:r>
              <a:rPr sz="950" b="0" i="0">
                <a:solidFill>
                  <a:srgbClr val="5A5C70"/>
                </a:solidFill>
                <a:latin typeface="Calibri"/>
              </a:rPr>
              <a:t>5</a:t>
            </a:r>
          </a:p>
        </p:txBody>
      </p:sp>
      <p:sp>
        <p:nvSpPr>
          <p:cNvPr id="113" name="Rectangle 112"/>
          <p:cNvSpPr/>
          <p:nvPr/>
        </p:nvSpPr>
        <p:spPr>
          <a:xfrm>
            <a:off x="8961120" y="3247948"/>
            <a:ext cx="1353312"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314432" y="3247948"/>
            <a:ext cx="33832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744200" y="3215944"/>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16" name="TextBox 115"/>
          <p:cNvSpPr txBox="1"/>
          <p:nvPr/>
        </p:nvSpPr>
        <p:spPr>
          <a:xfrm>
            <a:off x="6373368" y="3386023"/>
            <a:ext cx="2011680" cy="182880"/>
          </a:xfrm>
          <a:prstGeom prst="rect">
            <a:avLst/>
          </a:prstGeom>
          <a:noFill/>
        </p:spPr>
        <p:txBody>
          <a:bodyPr wrap="square" lIns="0" rIns="0" tIns="0" bIns="0" anchor="ctr">
            <a:spAutoFit/>
          </a:bodyPr>
          <a:lstStyle/>
          <a:p>
            <a:pPr algn="l"/>
            <a:r>
              <a:rPr sz="950" b="0" i="0">
                <a:solidFill>
                  <a:srgbClr val="5A5C70"/>
                </a:solidFill>
                <a:latin typeface="Calibri"/>
              </a:rPr>
              <a:t>Subscription</a:t>
            </a:r>
          </a:p>
        </p:txBody>
      </p:sp>
      <p:sp>
        <p:nvSpPr>
          <p:cNvPr id="117" name="TextBox 116"/>
          <p:cNvSpPr txBox="1"/>
          <p:nvPr/>
        </p:nvSpPr>
        <p:spPr>
          <a:xfrm>
            <a:off x="8412480" y="3386023"/>
            <a:ext cx="457200" cy="182880"/>
          </a:xfrm>
          <a:prstGeom prst="rect">
            <a:avLst/>
          </a:prstGeom>
          <a:noFill/>
        </p:spPr>
        <p:txBody>
          <a:bodyPr wrap="square" lIns="0" rIns="0" tIns="0" bIns="0" anchor="ctr">
            <a:spAutoFit/>
          </a:bodyPr>
          <a:lstStyle/>
          <a:p>
            <a:pPr algn="r"/>
            <a:r>
              <a:rPr sz="950" b="0" i="0">
                <a:solidFill>
                  <a:srgbClr val="5A5C70"/>
                </a:solidFill>
                <a:latin typeface="Calibri"/>
              </a:rPr>
              <a:t>5</a:t>
            </a:r>
          </a:p>
        </p:txBody>
      </p:sp>
      <p:sp>
        <p:nvSpPr>
          <p:cNvPr id="118" name="Rectangle 117"/>
          <p:cNvSpPr/>
          <p:nvPr/>
        </p:nvSpPr>
        <p:spPr>
          <a:xfrm>
            <a:off x="8961120" y="3418027"/>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0744200" y="3386023"/>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20" name="TextBox 119"/>
          <p:cNvSpPr txBox="1"/>
          <p:nvPr/>
        </p:nvSpPr>
        <p:spPr>
          <a:xfrm>
            <a:off x="6373368" y="3556101"/>
            <a:ext cx="2011680" cy="182880"/>
          </a:xfrm>
          <a:prstGeom prst="rect">
            <a:avLst/>
          </a:prstGeom>
          <a:noFill/>
        </p:spPr>
        <p:txBody>
          <a:bodyPr wrap="square" lIns="0" rIns="0" tIns="0" bIns="0" anchor="ctr">
            <a:spAutoFit/>
          </a:bodyPr>
          <a:lstStyle/>
          <a:p>
            <a:pPr algn="l"/>
            <a:r>
              <a:rPr sz="950" b="0" i="0">
                <a:solidFill>
                  <a:srgbClr val="5A5C70"/>
                </a:solidFill>
                <a:latin typeface="Calibri"/>
              </a:rPr>
              <a:t>Settings</a:t>
            </a:r>
          </a:p>
        </p:txBody>
      </p:sp>
      <p:sp>
        <p:nvSpPr>
          <p:cNvPr id="121" name="TextBox 120"/>
          <p:cNvSpPr txBox="1"/>
          <p:nvPr/>
        </p:nvSpPr>
        <p:spPr>
          <a:xfrm>
            <a:off x="8412480" y="3556101"/>
            <a:ext cx="457200" cy="182880"/>
          </a:xfrm>
          <a:prstGeom prst="rect">
            <a:avLst/>
          </a:prstGeom>
          <a:noFill/>
        </p:spPr>
        <p:txBody>
          <a:bodyPr wrap="square" lIns="0" rIns="0" tIns="0" bIns="0" anchor="ctr">
            <a:spAutoFit/>
          </a:bodyPr>
          <a:lstStyle/>
          <a:p>
            <a:pPr algn="r"/>
            <a:r>
              <a:rPr sz="950" b="0" i="0">
                <a:solidFill>
                  <a:srgbClr val="5A5C70"/>
                </a:solidFill>
                <a:latin typeface="Calibri"/>
              </a:rPr>
              <a:t>5</a:t>
            </a:r>
          </a:p>
        </p:txBody>
      </p:sp>
      <p:sp>
        <p:nvSpPr>
          <p:cNvPr id="122" name="Rectangle 121"/>
          <p:cNvSpPr/>
          <p:nvPr/>
        </p:nvSpPr>
        <p:spPr>
          <a:xfrm>
            <a:off x="8961120" y="3588105"/>
            <a:ext cx="1353312"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0314432" y="3588105"/>
            <a:ext cx="338328"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744200" y="3556101"/>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25" name="TextBox 124"/>
          <p:cNvSpPr txBox="1"/>
          <p:nvPr/>
        </p:nvSpPr>
        <p:spPr>
          <a:xfrm>
            <a:off x="6373368" y="3726180"/>
            <a:ext cx="2011680" cy="182880"/>
          </a:xfrm>
          <a:prstGeom prst="rect">
            <a:avLst/>
          </a:prstGeom>
          <a:noFill/>
        </p:spPr>
        <p:txBody>
          <a:bodyPr wrap="square" lIns="0" rIns="0" tIns="0" bIns="0" anchor="ctr">
            <a:spAutoFit/>
          </a:bodyPr>
          <a:lstStyle/>
          <a:p>
            <a:pPr algn="l"/>
            <a:r>
              <a:rPr sz="950" b="0" i="0">
                <a:solidFill>
                  <a:srgbClr val="5A5C70"/>
                </a:solidFill>
                <a:latin typeface="Calibri"/>
              </a:rPr>
              <a:t>Family</a:t>
            </a:r>
          </a:p>
        </p:txBody>
      </p:sp>
      <p:sp>
        <p:nvSpPr>
          <p:cNvPr id="126" name="TextBox 125"/>
          <p:cNvSpPr txBox="1"/>
          <p:nvPr/>
        </p:nvSpPr>
        <p:spPr>
          <a:xfrm>
            <a:off x="8412480" y="3726180"/>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127" name="Rectangle 126"/>
          <p:cNvSpPr/>
          <p:nvPr/>
        </p:nvSpPr>
        <p:spPr>
          <a:xfrm>
            <a:off x="8961120" y="3758184"/>
            <a:ext cx="126873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229850" y="3758184"/>
            <a:ext cx="42291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0744200" y="3726180"/>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30" name="TextBox 129"/>
          <p:cNvSpPr txBox="1"/>
          <p:nvPr/>
        </p:nvSpPr>
        <p:spPr>
          <a:xfrm>
            <a:off x="6373368" y="3896258"/>
            <a:ext cx="2011680" cy="182880"/>
          </a:xfrm>
          <a:prstGeom prst="rect">
            <a:avLst/>
          </a:prstGeom>
          <a:noFill/>
        </p:spPr>
        <p:txBody>
          <a:bodyPr wrap="square" lIns="0" rIns="0" tIns="0" bIns="0" anchor="ctr">
            <a:spAutoFit/>
          </a:bodyPr>
          <a:lstStyle/>
          <a:p>
            <a:pPr algn="l"/>
            <a:r>
              <a:rPr sz="950" b="0" i="0">
                <a:solidFill>
                  <a:srgbClr val="5A5C70"/>
                </a:solidFill>
                <a:latin typeface="Calibri"/>
              </a:rPr>
              <a:t>Engagement</a:t>
            </a:r>
          </a:p>
        </p:txBody>
      </p:sp>
      <p:sp>
        <p:nvSpPr>
          <p:cNvPr id="131" name="TextBox 130"/>
          <p:cNvSpPr txBox="1"/>
          <p:nvPr/>
        </p:nvSpPr>
        <p:spPr>
          <a:xfrm>
            <a:off x="8412480" y="3896258"/>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132" name="Rectangle 131"/>
          <p:cNvSpPr/>
          <p:nvPr/>
        </p:nvSpPr>
        <p:spPr>
          <a:xfrm>
            <a:off x="8961120" y="3928262"/>
            <a:ext cx="84582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9806940" y="3928262"/>
            <a:ext cx="84582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744200" y="3896258"/>
            <a:ext cx="685800" cy="182880"/>
          </a:xfrm>
          <a:prstGeom prst="rect">
            <a:avLst/>
          </a:prstGeom>
          <a:noFill/>
        </p:spPr>
        <p:txBody>
          <a:bodyPr wrap="square" lIns="0" rIns="0" tIns="0" bIns="0" anchor="ctr">
            <a:spAutoFit/>
          </a:bodyPr>
          <a:lstStyle/>
          <a:p>
            <a:pPr algn="r"/>
            <a:r>
              <a:rPr sz="900" b="0" i="0">
                <a:solidFill>
                  <a:srgbClr val="B5731F"/>
                </a:solidFill>
                <a:latin typeface="Calibri"/>
              </a:rPr>
              <a:t>50%</a:t>
            </a:r>
          </a:p>
        </p:txBody>
      </p:sp>
      <p:sp>
        <p:nvSpPr>
          <p:cNvPr id="135" name="TextBox 134"/>
          <p:cNvSpPr txBox="1"/>
          <p:nvPr/>
        </p:nvSpPr>
        <p:spPr>
          <a:xfrm>
            <a:off x="6373368" y="4066336"/>
            <a:ext cx="2011680" cy="182880"/>
          </a:xfrm>
          <a:prstGeom prst="rect">
            <a:avLst/>
          </a:prstGeom>
          <a:noFill/>
        </p:spPr>
        <p:txBody>
          <a:bodyPr wrap="square" lIns="0" rIns="0" tIns="0" bIns="0" anchor="ctr">
            <a:spAutoFit/>
          </a:bodyPr>
          <a:lstStyle/>
          <a:p>
            <a:pPr algn="l"/>
            <a:r>
              <a:rPr sz="950" b="0" i="0">
                <a:solidFill>
                  <a:srgbClr val="5A5C70"/>
                </a:solidFill>
                <a:latin typeface="Calibri"/>
              </a:rPr>
              <a:t>Auth</a:t>
            </a:r>
          </a:p>
        </p:txBody>
      </p:sp>
      <p:sp>
        <p:nvSpPr>
          <p:cNvPr id="136" name="TextBox 135"/>
          <p:cNvSpPr txBox="1"/>
          <p:nvPr/>
        </p:nvSpPr>
        <p:spPr>
          <a:xfrm>
            <a:off x="8412480" y="4066336"/>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137" name="Rectangle 136"/>
          <p:cNvSpPr/>
          <p:nvPr/>
        </p:nvSpPr>
        <p:spPr>
          <a:xfrm>
            <a:off x="8961120" y="4098340"/>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744200" y="4066336"/>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39" name="TextBox 138"/>
          <p:cNvSpPr txBox="1"/>
          <p:nvPr/>
        </p:nvSpPr>
        <p:spPr>
          <a:xfrm>
            <a:off x="6373368" y="4236415"/>
            <a:ext cx="2011680" cy="182880"/>
          </a:xfrm>
          <a:prstGeom prst="rect">
            <a:avLst/>
          </a:prstGeom>
          <a:noFill/>
        </p:spPr>
        <p:txBody>
          <a:bodyPr wrap="square" lIns="0" rIns="0" tIns="0" bIns="0" anchor="ctr">
            <a:spAutoFit/>
          </a:bodyPr>
          <a:lstStyle/>
          <a:p>
            <a:pPr algn="l"/>
            <a:r>
              <a:rPr sz="950" b="0" i="0">
                <a:solidFill>
                  <a:srgbClr val="5A5C70"/>
                </a:solidFill>
                <a:latin typeface="Calibri"/>
              </a:rPr>
              <a:t>Session Duration</a:t>
            </a:r>
          </a:p>
        </p:txBody>
      </p:sp>
      <p:sp>
        <p:nvSpPr>
          <p:cNvPr id="140" name="TextBox 139"/>
          <p:cNvSpPr txBox="1"/>
          <p:nvPr/>
        </p:nvSpPr>
        <p:spPr>
          <a:xfrm>
            <a:off x="8412480" y="4236415"/>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141" name="Rectangle 140"/>
          <p:cNvSpPr/>
          <p:nvPr/>
        </p:nvSpPr>
        <p:spPr>
          <a:xfrm>
            <a:off x="8961120" y="4268419"/>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0744200" y="4236415"/>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43" name="TextBox 142"/>
          <p:cNvSpPr txBox="1"/>
          <p:nvPr/>
        </p:nvSpPr>
        <p:spPr>
          <a:xfrm>
            <a:off x="6373368" y="4406493"/>
            <a:ext cx="2011680" cy="182880"/>
          </a:xfrm>
          <a:prstGeom prst="rect">
            <a:avLst/>
          </a:prstGeom>
          <a:noFill/>
        </p:spPr>
        <p:txBody>
          <a:bodyPr wrap="square" lIns="0" rIns="0" tIns="0" bIns="0" anchor="ctr">
            <a:spAutoFit/>
          </a:bodyPr>
          <a:lstStyle/>
          <a:p>
            <a:pPr algn="l"/>
            <a:r>
              <a:rPr sz="950" b="0" i="0">
                <a:solidFill>
                  <a:srgbClr val="5A5C70"/>
                </a:solidFill>
                <a:latin typeface="Calibri"/>
              </a:rPr>
              <a:t>Customization</a:t>
            </a:r>
          </a:p>
        </p:txBody>
      </p:sp>
      <p:sp>
        <p:nvSpPr>
          <p:cNvPr id="144" name="TextBox 143"/>
          <p:cNvSpPr txBox="1"/>
          <p:nvPr/>
        </p:nvSpPr>
        <p:spPr>
          <a:xfrm>
            <a:off x="8412480" y="4406493"/>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145" name="Rectangle 144"/>
          <p:cNvSpPr/>
          <p:nvPr/>
        </p:nvSpPr>
        <p:spPr>
          <a:xfrm>
            <a:off x="8961120" y="4438497"/>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744200" y="4406493"/>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47" name="TextBox 146"/>
          <p:cNvSpPr txBox="1"/>
          <p:nvPr/>
        </p:nvSpPr>
        <p:spPr>
          <a:xfrm>
            <a:off x="6373368" y="4576572"/>
            <a:ext cx="2011680" cy="182880"/>
          </a:xfrm>
          <a:prstGeom prst="rect">
            <a:avLst/>
          </a:prstGeom>
          <a:noFill/>
        </p:spPr>
        <p:txBody>
          <a:bodyPr wrap="square" lIns="0" rIns="0" tIns="0" bIns="0" anchor="ctr">
            <a:spAutoFit/>
          </a:bodyPr>
          <a:lstStyle/>
          <a:p>
            <a:pPr algn="l"/>
            <a:r>
              <a:rPr sz="950" b="0" i="0">
                <a:solidFill>
                  <a:srgbClr val="5A5C70"/>
                </a:solidFill>
                <a:latin typeface="Calibri"/>
              </a:rPr>
              <a:t>Unassigned</a:t>
            </a:r>
          </a:p>
        </p:txBody>
      </p:sp>
      <p:sp>
        <p:nvSpPr>
          <p:cNvPr id="148" name="TextBox 147"/>
          <p:cNvSpPr txBox="1"/>
          <p:nvPr/>
        </p:nvSpPr>
        <p:spPr>
          <a:xfrm>
            <a:off x="8412480" y="4576572"/>
            <a:ext cx="457200" cy="182880"/>
          </a:xfrm>
          <a:prstGeom prst="rect">
            <a:avLst/>
          </a:prstGeom>
          <a:noFill/>
        </p:spPr>
        <p:txBody>
          <a:bodyPr wrap="square" lIns="0" rIns="0" tIns="0" bIns="0" anchor="ctr">
            <a:spAutoFit/>
          </a:bodyPr>
          <a:lstStyle/>
          <a:p>
            <a:pPr algn="r"/>
            <a:r>
              <a:rPr sz="950" b="0" i="0">
                <a:solidFill>
                  <a:srgbClr val="5A5C70"/>
                </a:solidFill>
                <a:latin typeface="Calibri"/>
              </a:rPr>
              <a:t>4</a:t>
            </a:r>
          </a:p>
        </p:txBody>
      </p:sp>
      <p:sp>
        <p:nvSpPr>
          <p:cNvPr id="149" name="Rectangle 148"/>
          <p:cNvSpPr/>
          <p:nvPr/>
        </p:nvSpPr>
        <p:spPr>
          <a:xfrm>
            <a:off x="8961120" y="4608576"/>
            <a:ext cx="42291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9384030" y="4608576"/>
            <a:ext cx="42291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9806940" y="4608576"/>
            <a:ext cx="84582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744200" y="4576572"/>
            <a:ext cx="685800" cy="182880"/>
          </a:xfrm>
          <a:prstGeom prst="rect">
            <a:avLst/>
          </a:prstGeom>
          <a:noFill/>
        </p:spPr>
        <p:txBody>
          <a:bodyPr wrap="square" lIns="0" rIns="0" tIns="0" bIns="0" anchor="ctr">
            <a:spAutoFit/>
          </a:bodyPr>
          <a:lstStyle/>
          <a:p>
            <a:pPr algn="r"/>
            <a:r>
              <a:rPr sz="900" b="0" i="0">
                <a:solidFill>
                  <a:srgbClr val="B5731F"/>
                </a:solidFill>
                <a:latin typeface="Calibri"/>
              </a:rPr>
              <a:t>50%</a:t>
            </a:r>
          </a:p>
        </p:txBody>
      </p:sp>
      <p:sp>
        <p:nvSpPr>
          <p:cNvPr id="153" name="TextBox 152"/>
          <p:cNvSpPr txBox="1"/>
          <p:nvPr/>
        </p:nvSpPr>
        <p:spPr>
          <a:xfrm>
            <a:off x="6373368" y="4746650"/>
            <a:ext cx="2011680" cy="182880"/>
          </a:xfrm>
          <a:prstGeom prst="rect">
            <a:avLst/>
          </a:prstGeom>
          <a:noFill/>
        </p:spPr>
        <p:txBody>
          <a:bodyPr wrap="square" lIns="0" rIns="0" tIns="0" bIns="0" anchor="ctr">
            <a:spAutoFit/>
          </a:bodyPr>
          <a:lstStyle/>
          <a:p>
            <a:pPr algn="l"/>
            <a:r>
              <a:rPr sz="950" b="0" i="0">
                <a:solidFill>
                  <a:srgbClr val="5A5C70"/>
                </a:solidFill>
                <a:latin typeface="Calibri"/>
              </a:rPr>
              <a:t>Education</a:t>
            </a:r>
          </a:p>
        </p:txBody>
      </p:sp>
      <p:sp>
        <p:nvSpPr>
          <p:cNvPr id="154" name="TextBox 153"/>
          <p:cNvSpPr txBox="1"/>
          <p:nvPr/>
        </p:nvSpPr>
        <p:spPr>
          <a:xfrm>
            <a:off x="8412480" y="4746650"/>
            <a:ext cx="457200" cy="182880"/>
          </a:xfrm>
          <a:prstGeom prst="rect">
            <a:avLst/>
          </a:prstGeom>
          <a:noFill/>
        </p:spPr>
        <p:txBody>
          <a:bodyPr wrap="square" lIns="0" rIns="0" tIns="0" bIns="0" anchor="ctr">
            <a:spAutoFit/>
          </a:bodyPr>
          <a:lstStyle/>
          <a:p>
            <a:pPr algn="r"/>
            <a:r>
              <a:rPr sz="950" b="0" i="0">
                <a:solidFill>
                  <a:srgbClr val="5A5C70"/>
                </a:solidFill>
                <a:latin typeface="Calibri"/>
              </a:rPr>
              <a:t>3</a:t>
            </a:r>
          </a:p>
        </p:txBody>
      </p:sp>
      <p:sp>
        <p:nvSpPr>
          <p:cNvPr id="155" name="Rectangle 154"/>
          <p:cNvSpPr/>
          <p:nvPr/>
        </p:nvSpPr>
        <p:spPr>
          <a:xfrm>
            <a:off x="8961120" y="4778654"/>
            <a:ext cx="56388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9525000" y="4778654"/>
            <a:ext cx="112776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744200" y="4746650"/>
            <a:ext cx="685800" cy="182880"/>
          </a:xfrm>
          <a:prstGeom prst="rect">
            <a:avLst/>
          </a:prstGeom>
          <a:noFill/>
        </p:spPr>
        <p:txBody>
          <a:bodyPr wrap="square" lIns="0" rIns="0" tIns="0" bIns="0" anchor="ctr">
            <a:spAutoFit/>
          </a:bodyPr>
          <a:lstStyle/>
          <a:p>
            <a:pPr algn="r"/>
            <a:r>
              <a:rPr sz="900" b="0" i="0">
                <a:solidFill>
                  <a:srgbClr val="B5731F"/>
                </a:solidFill>
                <a:latin typeface="Calibri"/>
              </a:rPr>
              <a:t>67%</a:t>
            </a:r>
          </a:p>
        </p:txBody>
      </p:sp>
      <p:sp>
        <p:nvSpPr>
          <p:cNvPr id="158" name="TextBox 157"/>
          <p:cNvSpPr txBox="1"/>
          <p:nvPr/>
        </p:nvSpPr>
        <p:spPr>
          <a:xfrm>
            <a:off x="6373368" y="4916728"/>
            <a:ext cx="2011680" cy="182880"/>
          </a:xfrm>
          <a:prstGeom prst="rect">
            <a:avLst/>
          </a:prstGeom>
          <a:noFill/>
        </p:spPr>
        <p:txBody>
          <a:bodyPr wrap="square" lIns="0" rIns="0" tIns="0" bIns="0" anchor="ctr">
            <a:spAutoFit/>
          </a:bodyPr>
          <a:lstStyle/>
          <a:p>
            <a:pPr algn="l"/>
            <a:r>
              <a:rPr sz="950" b="0" i="0">
                <a:solidFill>
                  <a:srgbClr val="5A5C70"/>
                </a:solidFill>
                <a:latin typeface="Calibri"/>
              </a:rPr>
              <a:t>Services</a:t>
            </a:r>
          </a:p>
        </p:txBody>
      </p:sp>
      <p:sp>
        <p:nvSpPr>
          <p:cNvPr id="159" name="TextBox 158"/>
          <p:cNvSpPr txBox="1"/>
          <p:nvPr/>
        </p:nvSpPr>
        <p:spPr>
          <a:xfrm>
            <a:off x="8412480" y="4916728"/>
            <a:ext cx="457200" cy="182880"/>
          </a:xfrm>
          <a:prstGeom prst="rect">
            <a:avLst/>
          </a:prstGeom>
          <a:noFill/>
        </p:spPr>
        <p:txBody>
          <a:bodyPr wrap="square" lIns="0" rIns="0" tIns="0" bIns="0" anchor="ctr">
            <a:spAutoFit/>
          </a:bodyPr>
          <a:lstStyle/>
          <a:p>
            <a:pPr algn="r"/>
            <a:r>
              <a:rPr sz="950" b="0" i="0">
                <a:solidFill>
                  <a:srgbClr val="5A5C70"/>
                </a:solidFill>
                <a:latin typeface="Calibri"/>
              </a:rPr>
              <a:t>3</a:t>
            </a:r>
          </a:p>
        </p:txBody>
      </p:sp>
      <p:sp>
        <p:nvSpPr>
          <p:cNvPr id="160" name="Rectangle 159"/>
          <p:cNvSpPr/>
          <p:nvPr/>
        </p:nvSpPr>
        <p:spPr>
          <a:xfrm>
            <a:off x="8961120" y="4948732"/>
            <a:ext cx="169164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0744200" y="4916728"/>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62" name="TextBox 161"/>
          <p:cNvSpPr txBox="1"/>
          <p:nvPr/>
        </p:nvSpPr>
        <p:spPr>
          <a:xfrm>
            <a:off x="6373368" y="5086807"/>
            <a:ext cx="2011680" cy="182880"/>
          </a:xfrm>
          <a:prstGeom prst="rect">
            <a:avLst/>
          </a:prstGeom>
          <a:noFill/>
        </p:spPr>
        <p:txBody>
          <a:bodyPr wrap="square" lIns="0" rIns="0" tIns="0" bIns="0" anchor="ctr">
            <a:spAutoFit/>
          </a:bodyPr>
          <a:lstStyle/>
          <a:p>
            <a:pPr algn="l"/>
            <a:r>
              <a:rPr sz="950" b="0" i="0">
                <a:solidFill>
                  <a:srgbClr val="5A5C70"/>
                </a:solidFill>
                <a:latin typeface="Calibri"/>
              </a:rPr>
              <a:t>Charity</a:t>
            </a:r>
          </a:p>
        </p:txBody>
      </p:sp>
      <p:sp>
        <p:nvSpPr>
          <p:cNvPr id="163" name="TextBox 162"/>
          <p:cNvSpPr txBox="1"/>
          <p:nvPr/>
        </p:nvSpPr>
        <p:spPr>
          <a:xfrm>
            <a:off x="8412480" y="5086807"/>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164" name="Rectangle 163"/>
          <p:cNvSpPr/>
          <p:nvPr/>
        </p:nvSpPr>
        <p:spPr>
          <a:xfrm>
            <a:off x="8961120" y="5118811"/>
            <a:ext cx="84582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9806940" y="5118811"/>
            <a:ext cx="84582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0744200" y="5086807"/>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67" name="TextBox 166"/>
          <p:cNvSpPr txBox="1"/>
          <p:nvPr/>
        </p:nvSpPr>
        <p:spPr>
          <a:xfrm>
            <a:off x="6373368" y="5256885"/>
            <a:ext cx="2011680" cy="182880"/>
          </a:xfrm>
          <a:prstGeom prst="rect">
            <a:avLst/>
          </a:prstGeom>
          <a:noFill/>
        </p:spPr>
        <p:txBody>
          <a:bodyPr wrap="square" lIns="0" rIns="0" tIns="0" bIns="0" anchor="ctr">
            <a:spAutoFit/>
          </a:bodyPr>
          <a:lstStyle/>
          <a:p>
            <a:pPr algn="l"/>
            <a:r>
              <a:rPr sz="950" b="0" i="0">
                <a:solidFill>
                  <a:srgbClr val="5A5C70"/>
                </a:solidFill>
                <a:latin typeface="Calibri"/>
              </a:rPr>
              <a:t>Investment</a:t>
            </a:r>
          </a:p>
        </p:txBody>
      </p:sp>
      <p:sp>
        <p:nvSpPr>
          <p:cNvPr id="168" name="TextBox 167"/>
          <p:cNvSpPr txBox="1"/>
          <p:nvPr/>
        </p:nvSpPr>
        <p:spPr>
          <a:xfrm>
            <a:off x="8412480" y="5256885"/>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169" name="Rectangle 168"/>
          <p:cNvSpPr/>
          <p:nvPr/>
        </p:nvSpPr>
        <p:spPr>
          <a:xfrm>
            <a:off x="8961120" y="5288889"/>
            <a:ext cx="845820" cy="11430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9806940" y="5288889"/>
            <a:ext cx="845820" cy="114300"/>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0744200" y="5256885"/>
            <a:ext cx="685800" cy="182880"/>
          </a:xfrm>
          <a:prstGeom prst="rect">
            <a:avLst/>
          </a:prstGeom>
          <a:noFill/>
        </p:spPr>
        <p:txBody>
          <a:bodyPr wrap="square" lIns="0" rIns="0" tIns="0" bIns="0" anchor="ctr">
            <a:spAutoFit/>
          </a:bodyPr>
          <a:lstStyle/>
          <a:p>
            <a:pPr algn="r"/>
            <a:r>
              <a:rPr sz="900" b="0" i="0">
                <a:solidFill>
                  <a:srgbClr val="B5731F"/>
                </a:solidFill>
                <a:latin typeface="Calibri"/>
              </a:rPr>
              <a:t>50%</a:t>
            </a:r>
          </a:p>
        </p:txBody>
      </p:sp>
      <p:sp>
        <p:nvSpPr>
          <p:cNvPr id="172" name="TextBox 171"/>
          <p:cNvSpPr txBox="1"/>
          <p:nvPr/>
        </p:nvSpPr>
        <p:spPr>
          <a:xfrm>
            <a:off x="6373368" y="5426964"/>
            <a:ext cx="2011680" cy="182880"/>
          </a:xfrm>
          <a:prstGeom prst="rect">
            <a:avLst/>
          </a:prstGeom>
          <a:noFill/>
        </p:spPr>
        <p:txBody>
          <a:bodyPr wrap="square" lIns="0" rIns="0" tIns="0" bIns="0" anchor="ctr">
            <a:spAutoFit/>
          </a:bodyPr>
          <a:lstStyle/>
          <a:p>
            <a:pPr algn="l"/>
            <a:r>
              <a:rPr sz="950" b="0" i="0">
                <a:solidFill>
                  <a:srgbClr val="5A5C70"/>
                </a:solidFill>
                <a:latin typeface="Calibri"/>
              </a:rPr>
              <a:t>KYC</a:t>
            </a:r>
          </a:p>
        </p:txBody>
      </p:sp>
      <p:sp>
        <p:nvSpPr>
          <p:cNvPr id="173" name="TextBox 172"/>
          <p:cNvSpPr txBox="1"/>
          <p:nvPr/>
        </p:nvSpPr>
        <p:spPr>
          <a:xfrm>
            <a:off x="8412480" y="5426964"/>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174" name="Rectangle 173"/>
          <p:cNvSpPr/>
          <p:nvPr/>
        </p:nvSpPr>
        <p:spPr>
          <a:xfrm>
            <a:off x="8961120" y="5458968"/>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744200" y="5426964"/>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76" name="TextBox 175"/>
          <p:cNvSpPr txBox="1"/>
          <p:nvPr/>
        </p:nvSpPr>
        <p:spPr>
          <a:xfrm>
            <a:off x="6373368" y="5597042"/>
            <a:ext cx="2011680" cy="182880"/>
          </a:xfrm>
          <a:prstGeom prst="rect">
            <a:avLst/>
          </a:prstGeom>
          <a:noFill/>
        </p:spPr>
        <p:txBody>
          <a:bodyPr wrap="square" lIns="0" rIns="0" tIns="0" bIns="0" anchor="ctr">
            <a:spAutoFit/>
          </a:bodyPr>
          <a:lstStyle/>
          <a:p>
            <a:pPr algn="l"/>
            <a:r>
              <a:rPr sz="950" b="0" i="0">
                <a:solidFill>
                  <a:srgbClr val="5A5C70"/>
                </a:solidFill>
                <a:latin typeface="Calibri"/>
              </a:rPr>
              <a:t>Portfolio Preference</a:t>
            </a:r>
          </a:p>
        </p:txBody>
      </p:sp>
      <p:sp>
        <p:nvSpPr>
          <p:cNvPr id="177" name="TextBox 176"/>
          <p:cNvSpPr txBox="1"/>
          <p:nvPr/>
        </p:nvSpPr>
        <p:spPr>
          <a:xfrm>
            <a:off x="8412480" y="5597042"/>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178" name="Rectangle 177"/>
          <p:cNvSpPr/>
          <p:nvPr/>
        </p:nvSpPr>
        <p:spPr>
          <a:xfrm>
            <a:off x="8961120" y="5629046"/>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0744200" y="5597042"/>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80" name="TextBox 179"/>
          <p:cNvSpPr txBox="1"/>
          <p:nvPr/>
        </p:nvSpPr>
        <p:spPr>
          <a:xfrm>
            <a:off x="6373368" y="5767120"/>
            <a:ext cx="2011680" cy="182880"/>
          </a:xfrm>
          <a:prstGeom prst="rect">
            <a:avLst/>
          </a:prstGeom>
          <a:noFill/>
        </p:spPr>
        <p:txBody>
          <a:bodyPr wrap="square" lIns="0" rIns="0" tIns="0" bIns="0" anchor="ctr">
            <a:spAutoFit/>
          </a:bodyPr>
          <a:lstStyle/>
          <a:p>
            <a:pPr algn="l"/>
            <a:r>
              <a:rPr sz="950" b="0" i="0">
                <a:solidFill>
                  <a:srgbClr val="5A5C70"/>
                </a:solidFill>
                <a:latin typeface="Calibri"/>
              </a:rPr>
              <a:t>Language</a:t>
            </a:r>
          </a:p>
        </p:txBody>
      </p:sp>
      <p:sp>
        <p:nvSpPr>
          <p:cNvPr id="181" name="TextBox 180"/>
          <p:cNvSpPr txBox="1"/>
          <p:nvPr/>
        </p:nvSpPr>
        <p:spPr>
          <a:xfrm>
            <a:off x="8412480" y="5767120"/>
            <a:ext cx="457200" cy="182880"/>
          </a:xfrm>
          <a:prstGeom prst="rect">
            <a:avLst/>
          </a:prstGeom>
          <a:noFill/>
        </p:spPr>
        <p:txBody>
          <a:bodyPr wrap="square" lIns="0" rIns="0" tIns="0" bIns="0" anchor="ctr">
            <a:spAutoFit/>
          </a:bodyPr>
          <a:lstStyle/>
          <a:p>
            <a:pPr algn="r"/>
            <a:r>
              <a:rPr sz="950" b="0" i="0">
                <a:solidFill>
                  <a:srgbClr val="5A5C70"/>
                </a:solidFill>
                <a:latin typeface="Calibri"/>
              </a:rPr>
              <a:t>2</a:t>
            </a:r>
          </a:p>
        </p:txBody>
      </p:sp>
      <p:sp>
        <p:nvSpPr>
          <p:cNvPr id="182" name="Rectangle 181"/>
          <p:cNvSpPr/>
          <p:nvPr/>
        </p:nvSpPr>
        <p:spPr>
          <a:xfrm>
            <a:off x="8961120" y="5799124"/>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10744200" y="5767120"/>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84" name="TextBox 183"/>
          <p:cNvSpPr txBox="1"/>
          <p:nvPr/>
        </p:nvSpPr>
        <p:spPr>
          <a:xfrm>
            <a:off x="6373368" y="5937199"/>
            <a:ext cx="2011680" cy="182880"/>
          </a:xfrm>
          <a:prstGeom prst="rect">
            <a:avLst/>
          </a:prstGeom>
          <a:noFill/>
        </p:spPr>
        <p:txBody>
          <a:bodyPr wrap="square" lIns="0" rIns="0" tIns="0" bIns="0" anchor="ctr">
            <a:spAutoFit/>
          </a:bodyPr>
          <a:lstStyle/>
          <a:p>
            <a:pPr algn="l"/>
            <a:r>
              <a:rPr sz="950" b="0" i="0">
                <a:solidFill>
                  <a:srgbClr val="5A5C70"/>
                </a:solidFill>
                <a:latin typeface="Calibri"/>
              </a:rPr>
              <a:t>Sharia List Management</a:t>
            </a:r>
          </a:p>
        </p:txBody>
      </p:sp>
      <p:sp>
        <p:nvSpPr>
          <p:cNvPr id="185" name="TextBox 184"/>
          <p:cNvSpPr txBox="1"/>
          <p:nvPr/>
        </p:nvSpPr>
        <p:spPr>
          <a:xfrm>
            <a:off x="8412480" y="5937199"/>
            <a:ext cx="457200" cy="182880"/>
          </a:xfrm>
          <a:prstGeom prst="rect">
            <a:avLst/>
          </a:prstGeom>
          <a:noFill/>
        </p:spPr>
        <p:txBody>
          <a:bodyPr wrap="square" lIns="0" rIns="0" tIns="0" bIns="0" anchor="ctr">
            <a:spAutoFit/>
          </a:bodyPr>
          <a:lstStyle/>
          <a:p>
            <a:pPr algn="r"/>
            <a:r>
              <a:rPr sz="950" b="0" i="0">
                <a:solidFill>
                  <a:srgbClr val="5A5C70"/>
                </a:solidFill>
                <a:latin typeface="Calibri"/>
              </a:rPr>
              <a:t>1</a:t>
            </a:r>
          </a:p>
        </p:txBody>
      </p:sp>
      <p:sp>
        <p:nvSpPr>
          <p:cNvPr id="186" name="Rectangle 185"/>
          <p:cNvSpPr/>
          <p:nvPr/>
        </p:nvSpPr>
        <p:spPr>
          <a:xfrm>
            <a:off x="8961120" y="5969203"/>
            <a:ext cx="1691640" cy="114300"/>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0744200" y="5937199"/>
            <a:ext cx="685800" cy="182880"/>
          </a:xfrm>
          <a:prstGeom prst="rect">
            <a:avLst/>
          </a:prstGeom>
          <a:noFill/>
        </p:spPr>
        <p:txBody>
          <a:bodyPr wrap="square" lIns="0" rIns="0" tIns="0" bIns="0" anchor="ctr">
            <a:spAutoFit/>
          </a:bodyPr>
          <a:lstStyle/>
          <a:p>
            <a:pPr algn="r"/>
            <a:r>
              <a:rPr sz="900" b="0" i="0">
                <a:solidFill>
                  <a:srgbClr val="8C8E9F"/>
                </a:solidFill>
                <a:latin typeface="Calibri"/>
              </a:rPr>
              <a:t>—</a:t>
            </a:r>
          </a:p>
        </p:txBody>
      </p:sp>
      <p:sp>
        <p:nvSpPr>
          <p:cNvPr id="188" name="TextBox 187"/>
          <p:cNvSpPr txBox="1"/>
          <p:nvPr/>
        </p:nvSpPr>
        <p:spPr>
          <a:xfrm>
            <a:off x="594360" y="6355080"/>
            <a:ext cx="11002975" cy="228600"/>
          </a:xfrm>
          <a:prstGeom prst="rect">
            <a:avLst/>
          </a:prstGeom>
          <a:noFill/>
        </p:spPr>
        <p:txBody>
          <a:bodyPr wrap="square" lIns="0" rIns="0" tIns="0" bIns="0" anchor="ctr">
            <a:spAutoFit/>
          </a:bodyPr>
          <a:lstStyle/>
          <a:p>
            <a:pPr algn="l"/>
            <a:r>
              <a:rPr sz="800" b="0" i="0">
                <a:solidFill>
                  <a:srgbClr val="8C8E9F"/>
                </a:solidFill>
                <a:latin typeface="Calibri"/>
              </a:rPr>
              <a:t>Source: Features Map · baseline v2.21 · features_derived.json · verified_live.json · manual_status.json · 31 August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8229600" cy="274320"/>
          </a:xfrm>
          <a:prstGeom prst="rect">
            <a:avLst/>
          </a:prstGeom>
          <a:noFill/>
        </p:spPr>
        <p:txBody>
          <a:bodyPr wrap="square" lIns="0" rIns="0" tIns="0" bIns="0" anchor="ctr">
            <a:spAutoFit/>
          </a:bodyPr>
          <a:lstStyle/>
          <a:p>
            <a:pPr algn="l"/>
            <a:r>
              <a:rPr sz="950" b="1" i="0" spc="300">
                <a:solidFill>
                  <a:srgbClr val="8C8E9F"/>
                </a:solidFill>
                <a:latin typeface="Calibri"/>
              </a:rPr>
              <a:t>SECTION 04  ·  THE FINDING</a:t>
            </a:r>
          </a:p>
        </p:txBody>
      </p:sp>
      <p:sp>
        <p:nvSpPr>
          <p:cNvPr id="4" name="TextBox 3"/>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8C8E9F"/>
                </a:solidFill>
                <a:latin typeface="Calibri"/>
              </a:rPr>
              <a:t>05  /  08</a:t>
            </a:r>
          </a:p>
        </p:txBody>
      </p:sp>
      <p:sp>
        <p:nvSpPr>
          <p:cNvPr id="5" name="TextBox 4"/>
          <p:cNvSpPr txBox="1"/>
          <p:nvPr/>
        </p:nvSpPr>
        <p:spPr>
          <a:xfrm>
            <a:off x="594360" y="6492240"/>
            <a:ext cx="11002975" cy="274320"/>
          </a:xfrm>
          <a:prstGeom prst="rect">
            <a:avLst/>
          </a:prstGeom>
          <a:noFill/>
        </p:spPr>
        <p:txBody>
          <a:bodyPr wrap="square" lIns="0" rIns="0" tIns="0" bIns="0" anchor="ctr">
            <a:spAutoFit/>
          </a:bodyPr>
          <a:lstStyle/>
          <a:p>
            <a:pPr algn="l"/>
            <a:r>
              <a:rPr sz="900" b="0" i="0">
                <a:solidFill>
                  <a:srgbClr val="8C8E9F"/>
                </a:solidFill>
                <a:latin typeface="Calibri"/>
              </a:rPr>
              <a:t>The Features Map  ·  v2.21  ·  31 August 2026</a:t>
            </a:r>
          </a:p>
        </p:txBody>
      </p:sp>
      <p:sp>
        <p:nvSpPr>
          <p:cNvPr id="6" name="TextBox 5"/>
          <p:cNvSpPr txBox="1"/>
          <p:nvPr/>
        </p:nvSpPr>
        <p:spPr>
          <a:xfrm>
            <a:off x="594360" y="914400"/>
            <a:ext cx="11002975" cy="777240"/>
          </a:xfrm>
          <a:prstGeom prst="rect">
            <a:avLst/>
          </a:prstGeom>
          <a:noFill/>
        </p:spPr>
        <p:txBody>
          <a:bodyPr wrap="square" lIns="0" rIns="0" tIns="0" bIns="0" anchor="ctr">
            <a:spAutoFit/>
          </a:bodyPr>
          <a:lstStyle/>
          <a:p>
            <a:pPr algn="l"/>
            <a:r>
              <a:rPr sz="3600" b="1" i="0">
                <a:solidFill>
                  <a:srgbClr val="1F1D4A"/>
                </a:solidFill>
                <a:latin typeface="Georgia"/>
              </a:rPr>
              <a:t>One gap list, repeated in three products.</a:t>
            </a:r>
          </a:p>
        </p:txBody>
      </p:sp>
      <p:sp>
        <p:nvSpPr>
          <p:cNvPr id="7" name="TextBox 6"/>
          <p:cNvSpPr txBox="1"/>
          <p:nvPr/>
        </p:nvSpPr>
        <p:spPr>
          <a:xfrm>
            <a:off x="594360" y="1691640"/>
            <a:ext cx="10088575" cy="457200"/>
          </a:xfrm>
          <a:prstGeom prst="rect">
            <a:avLst/>
          </a:prstGeom>
          <a:noFill/>
        </p:spPr>
        <p:txBody>
          <a:bodyPr wrap="square" lIns="0" rIns="0" tIns="0" bIns="0" anchor="ctr">
            <a:spAutoFit/>
          </a:bodyPr>
          <a:lstStyle/>
          <a:p>
            <a:pPr algn="l"/>
            <a:r>
              <a:rPr sz="1400" b="0" i="0">
                <a:solidFill>
                  <a:srgbClr val="5A5C70"/>
                </a:solidFill>
                <a:latin typeface="Calibri"/>
              </a:rPr>
              <a:t>18 named capabilities are missing from Mutual Funds, Robo Advisory and US Trading simultaneously.</a:t>
            </a:r>
          </a:p>
        </p:txBody>
      </p:sp>
      <p:sp>
        <p:nvSpPr>
          <p:cNvPr id="8" name="Rectangle 7"/>
          <p:cNvSpPr/>
          <p:nvPr/>
        </p:nvSpPr>
        <p:spPr>
          <a:xfrm>
            <a:off x="594360" y="2377440"/>
            <a:ext cx="1828800" cy="22225"/>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06040"/>
            <a:ext cx="6766560" cy="3520440"/>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834640"/>
            <a:ext cx="6217920" cy="237744"/>
          </a:xfrm>
          <a:prstGeom prst="rect">
            <a:avLst/>
          </a:prstGeom>
          <a:noFill/>
        </p:spPr>
        <p:txBody>
          <a:bodyPr wrap="square" lIns="0" rIns="0" tIns="0" bIns="0" anchor="ctr">
            <a:spAutoFit/>
          </a:bodyPr>
          <a:lstStyle/>
          <a:p>
            <a:pPr algn="l"/>
            <a:r>
              <a:rPr sz="950" b="1" i="0" spc="200">
                <a:solidFill>
                  <a:srgbClr val="5A48E8"/>
                </a:solidFill>
                <a:latin typeface="Calibri"/>
              </a:rPr>
              <a:t>GAP IN MUTUAL FUNDS, ROBO ADVISORY AND US TRADING AT ONCE</a:t>
            </a:r>
          </a:p>
        </p:txBody>
      </p:sp>
      <p:sp>
        <p:nvSpPr>
          <p:cNvPr id="11" name="Rectangle 10"/>
          <p:cNvSpPr/>
          <p:nvPr/>
        </p:nvSpPr>
        <p:spPr>
          <a:xfrm>
            <a:off x="886968" y="3264408"/>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200400"/>
            <a:ext cx="3017520" cy="256032"/>
          </a:xfrm>
          <a:prstGeom prst="rect">
            <a:avLst/>
          </a:prstGeom>
          <a:noFill/>
        </p:spPr>
        <p:txBody>
          <a:bodyPr wrap="square" lIns="0" rIns="0" tIns="0" bIns="0" anchor="ctr">
            <a:spAutoFit/>
          </a:bodyPr>
          <a:lstStyle/>
          <a:p>
            <a:pPr algn="l"/>
            <a:r>
              <a:rPr sz="1100" b="1" i="0">
                <a:solidFill>
                  <a:srgbClr val="1F1D4A"/>
                </a:solidFill>
                <a:latin typeface="Calibri"/>
              </a:rPr>
              <a:t>Finance</a:t>
            </a:r>
          </a:p>
        </p:txBody>
      </p:sp>
      <p:sp>
        <p:nvSpPr>
          <p:cNvPr id="13" name="Rectangle 12"/>
          <p:cNvSpPr/>
          <p:nvPr/>
        </p:nvSpPr>
        <p:spPr>
          <a:xfrm>
            <a:off x="4133087" y="3264408"/>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9" y="3200400"/>
            <a:ext cx="3017520" cy="256032"/>
          </a:xfrm>
          <a:prstGeom prst="rect">
            <a:avLst/>
          </a:prstGeom>
          <a:noFill/>
        </p:spPr>
        <p:txBody>
          <a:bodyPr wrap="square" lIns="0" rIns="0" tIns="0" bIns="0" anchor="ctr">
            <a:spAutoFit/>
          </a:bodyPr>
          <a:lstStyle/>
          <a:p>
            <a:pPr algn="l"/>
            <a:r>
              <a:rPr sz="1100" b="1" i="0">
                <a:solidFill>
                  <a:srgbClr val="1F1D4A"/>
                </a:solidFill>
                <a:latin typeface="Calibri"/>
              </a:rPr>
              <a:t>Gain/Loss</a:t>
            </a:r>
          </a:p>
        </p:txBody>
      </p:sp>
      <p:sp>
        <p:nvSpPr>
          <p:cNvPr id="15" name="Rectangle 14"/>
          <p:cNvSpPr/>
          <p:nvPr/>
        </p:nvSpPr>
        <p:spPr>
          <a:xfrm>
            <a:off x="886968" y="3648456"/>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584448"/>
            <a:ext cx="3017520" cy="256032"/>
          </a:xfrm>
          <a:prstGeom prst="rect">
            <a:avLst/>
          </a:prstGeom>
          <a:noFill/>
        </p:spPr>
        <p:txBody>
          <a:bodyPr wrap="square" lIns="0" rIns="0" tIns="0" bIns="0" anchor="ctr">
            <a:spAutoFit/>
          </a:bodyPr>
          <a:lstStyle/>
          <a:p>
            <a:pPr algn="l"/>
            <a:r>
              <a:rPr sz="1100" b="1" i="0">
                <a:solidFill>
                  <a:srgbClr val="1F1D4A"/>
                </a:solidFill>
                <a:latin typeface="Calibri"/>
              </a:rPr>
              <a:t>Market</a:t>
            </a:r>
          </a:p>
        </p:txBody>
      </p:sp>
      <p:sp>
        <p:nvSpPr>
          <p:cNvPr id="17" name="Rectangle 16"/>
          <p:cNvSpPr/>
          <p:nvPr/>
        </p:nvSpPr>
        <p:spPr>
          <a:xfrm>
            <a:off x="4133087" y="3648456"/>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79" y="3584448"/>
            <a:ext cx="3017520" cy="256032"/>
          </a:xfrm>
          <a:prstGeom prst="rect">
            <a:avLst/>
          </a:prstGeom>
          <a:noFill/>
        </p:spPr>
        <p:txBody>
          <a:bodyPr wrap="square" lIns="0" rIns="0" tIns="0" bIns="0" anchor="ctr">
            <a:spAutoFit/>
          </a:bodyPr>
          <a:lstStyle/>
          <a:p>
            <a:pPr algn="l"/>
            <a:r>
              <a:rPr sz="1100" b="1" i="0">
                <a:solidFill>
                  <a:srgbClr val="1F1D4A"/>
                </a:solidFill>
                <a:latin typeface="Calibri"/>
              </a:rPr>
              <a:t>Orders</a:t>
            </a:r>
          </a:p>
        </p:txBody>
      </p:sp>
      <p:sp>
        <p:nvSpPr>
          <p:cNvPr id="19" name="Rectangle 18"/>
          <p:cNvSpPr/>
          <p:nvPr/>
        </p:nvSpPr>
        <p:spPr>
          <a:xfrm>
            <a:off x="886968" y="4032504"/>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968496"/>
            <a:ext cx="3017520" cy="256032"/>
          </a:xfrm>
          <a:prstGeom prst="rect">
            <a:avLst/>
          </a:prstGeom>
          <a:noFill/>
        </p:spPr>
        <p:txBody>
          <a:bodyPr wrap="square" lIns="0" rIns="0" tIns="0" bIns="0" anchor="ctr">
            <a:spAutoFit/>
          </a:bodyPr>
          <a:lstStyle/>
          <a:p>
            <a:pPr algn="l"/>
            <a:r>
              <a:rPr sz="1100" b="1" i="0">
                <a:solidFill>
                  <a:srgbClr val="1F1D4A"/>
                </a:solidFill>
                <a:latin typeface="Calibri"/>
              </a:rPr>
              <a:t>Overview</a:t>
            </a:r>
          </a:p>
        </p:txBody>
      </p:sp>
      <p:sp>
        <p:nvSpPr>
          <p:cNvPr id="21" name="Rectangle 20"/>
          <p:cNvSpPr/>
          <p:nvPr/>
        </p:nvSpPr>
        <p:spPr>
          <a:xfrm>
            <a:off x="4133087" y="4032504"/>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79" y="3968496"/>
            <a:ext cx="3017520" cy="256032"/>
          </a:xfrm>
          <a:prstGeom prst="rect">
            <a:avLst/>
          </a:prstGeom>
          <a:noFill/>
        </p:spPr>
        <p:txBody>
          <a:bodyPr wrap="square" lIns="0" rIns="0" tIns="0" bIns="0" anchor="ctr">
            <a:spAutoFit/>
          </a:bodyPr>
          <a:lstStyle/>
          <a:p>
            <a:pPr algn="l"/>
            <a:r>
              <a:rPr sz="1100" b="1" i="0">
                <a:solidFill>
                  <a:srgbClr val="1F1D4A"/>
                </a:solidFill>
                <a:latin typeface="Calibri"/>
              </a:rPr>
              <a:t>Portfolio P/L View</a:t>
            </a:r>
          </a:p>
        </p:txBody>
      </p:sp>
      <p:sp>
        <p:nvSpPr>
          <p:cNvPr id="23" name="Rectangle 22"/>
          <p:cNvSpPr/>
          <p:nvPr/>
        </p:nvSpPr>
        <p:spPr>
          <a:xfrm>
            <a:off x="886968" y="4416552"/>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352544"/>
            <a:ext cx="3017520" cy="256032"/>
          </a:xfrm>
          <a:prstGeom prst="rect">
            <a:avLst/>
          </a:prstGeom>
          <a:noFill/>
        </p:spPr>
        <p:txBody>
          <a:bodyPr wrap="square" lIns="0" rIns="0" tIns="0" bIns="0" anchor="ctr">
            <a:spAutoFit/>
          </a:bodyPr>
          <a:lstStyle/>
          <a:p>
            <a:pPr algn="l"/>
            <a:r>
              <a:rPr sz="1100" b="1" i="0">
                <a:solidFill>
                  <a:srgbClr val="1F1D4A"/>
                </a:solidFill>
                <a:latin typeface="Calibri"/>
              </a:rPr>
              <a:t>Statement</a:t>
            </a:r>
          </a:p>
        </p:txBody>
      </p:sp>
      <p:sp>
        <p:nvSpPr>
          <p:cNvPr id="25" name="Rectangle 24"/>
          <p:cNvSpPr/>
          <p:nvPr/>
        </p:nvSpPr>
        <p:spPr>
          <a:xfrm>
            <a:off x="4133087" y="4416552"/>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79" y="4352544"/>
            <a:ext cx="3017520" cy="256032"/>
          </a:xfrm>
          <a:prstGeom prst="rect">
            <a:avLst/>
          </a:prstGeom>
          <a:noFill/>
        </p:spPr>
        <p:txBody>
          <a:bodyPr wrap="square" lIns="0" rIns="0" tIns="0" bIns="0" anchor="ctr">
            <a:spAutoFit/>
          </a:bodyPr>
          <a:lstStyle/>
          <a:p>
            <a:pPr algn="l"/>
            <a:r>
              <a:rPr sz="1100" b="1" i="0">
                <a:solidFill>
                  <a:srgbClr val="1F1D4A"/>
                </a:solidFill>
                <a:latin typeface="Calibri"/>
              </a:rPr>
              <a:t>Transfer</a:t>
            </a:r>
          </a:p>
        </p:txBody>
      </p:sp>
      <p:sp>
        <p:nvSpPr>
          <p:cNvPr id="27" name="Rectangle 26"/>
          <p:cNvSpPr/>
          <p:nvPr/>
        </p:nvSpPr>
        <p:spPr>
          <a:xfrm>
            <a:off x="886968" y="4800600"/>
            <a:ext cx="54864" cy="118872"/>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4736592"/>
            <a:ext cx="3017520" cy="256032"/>
          </a:xfrm>
          <a:prstGeom prst="rect">
            <a:avLst/>
          </a:prstGeom>
          <a:noFill/>
        </p:spPr>
        <p:txBody>
          <a:bodyPr wrap="square" lIns="0" rIns="0" tIns="0" bIns="0" anchor="ctr">
            <a:spAutoFit/>
          </a:bodyPr>
          <a:lstStyle/>
          <a:p>
            <a:pPr algn="l"/>
            <a:r>
              <a:rPr sz="1100" b="1" i="0">
                <a:solidFill>
                  <a:srgbClr val="1F1D4A"/>
                </a:solidFill>
                <a:latin typeface="Calibri"/>
              </a:rPr>
              <a:t>Update Avg Cost Price</a:t>
            </a:r>
          </a:p>
        </p:txBody>
      </p:sp>
      <p:sp>
        <p:nvSpPr>
          <p:cNvPr id="29" name="Rectangle 28"/>
          <p:cNvSpPr/>
          <p:nvPr/>
        </p:nvSpPr>
        <p:spPr>
          <a:xfrm>
            <a:off x="4133087" y="4800600"/>
            <a:ext cx="54864" cy="11887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79" y="4736592"/>
            <a:ext cx="3017520" cy="256032"/>
          </a:xfrm>
          <a:prstGeom prst="rect">
            <a:avLst/>
          </a:prstGeom>
          <a:noFill/>
        </p:spPr>
        <p:txBody>
          <a:bodyPr wrap="square" lIns="0" rIns="0" tIns="0" bIns="0" anchor="ctr">
            <a:spAutoFit/>
          </a:bodyPr>
          <a:lstStyle/>
          <a:p>
            <a:pPr algn="l"/>
            <a:r>
              <a:rPr sz="1100" b="0" i="0">
                <a:solidFill>
                  <a:srgbClr val="5A5C70"/>
                </a:solidFill>
                <a:latin typeface="Calibri"/>
              </a:rPr>
              <a:t>Allocation Tracker</a:t>
            </a:r>
          </a:p>
        </p:txBody>
      </p:sp>
      <p:sp>
        <p:nvSpPr>
          <p:cNvPr id="31" name="Rectangle 30"/>
          <p:cNvSpPr/>
          <p:nvPr/>
        </p:nvSpPr>
        <p:spPr>
          <a:xfrm>
            <a:off x="886968" y="5184648"/>
            <a:ext cx="54864" cy="11887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120640"/>
            <a:ext cx="3017520" cy="256032"/>
          </a:xfrm>
          <a:prstGeom prst="rect">
            <a:avLst/>
          </a:prstGeom>
          <a:noFill/>
        </p:spPr>
        <p:txBody>
          <a:bodyPr wrap="square" lIns="0" rIns="0" tIns="0" bIns="0" anchor="ctr">
            <a:spAutoFit/>
          </a:bodyPr>
          <a:lstStyle/>
          <a:p>
            <a:pPr algn="l"/>
            <a:r>
              <a:rPr sz="1100" b="0" i="0">
                <a:solidFill>
                  <a:srgbClr val="5A5C70"/>
                </a:solidFill>
                <a:latin typeface="Calibri"/>
              </a:rPr>
              <a:t>Custom Index Against Benchmark</a:t>
            </a:r>
          </a:p>
        </p:txBody>
      </p:sp>
      <p:sp>
        <p:nvSpPr>
          <p:cNvPr id="33" name="Rectangle 32"/>
          <p:cNvSpPr/>
          <p:nvPr/>
        </p:nvSpPr>
        <p:spPr>
          <a:xfrm>
            <a:off x="4133087" y="5184648"/>
            <a:ext cx="54864" cy="11887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79" y="5120640"/>
            <a:ext cx="3017520" cy="256032"/>
          </a:xfrm>
          <a:prstGeom prst="rect">
            <a:avLst/>
          </a:prstGeom>
          <a:noFill/>
        </p:spPr>
        <p:txBody>
          <a:bodyPr wrap="square" lIns="0" rIns="0" tIns="0" bIns="0" anchor="ctr">
            <a:spAutoFit/>
          </a:bodyPr>
          <a:lstStyle/>
          <a:p>
            <a:pPr algn="l"/>
            <a:r>
              <a:rPr sz="1100" b="0" i="0">
                <a:solidFill>
                  <a:srgbClr val="5A5C70"/>
                </a:solidFill>
                <a:latin typeface="Calibri"/>
              </a:rPr>
              <a:t>Goal Tracker</a:t>
            </a:r>
          </a:p>
        </p:txBody>
      </p:sp>
      <p:sp>
        <p:nvSpPr>
          <p:cNvPr id="35" name="TextBox 34"/>
          <p:cNvSpPr txBox="1"/>
          <p:nvPr/>
        </p:nvSpPr>
        <p:spPr>
          <a:xfrm>
            <a:off x="886968" y="5504688"/>
            <a:ext cx="6217920" cy="237744"/>
          </a:xfrm>
          <a:prstGeom prst="rect">
            <a:avLst/>
          </a:prstGeom>
          <a:noFill/>
        </p:spPr>
        <p:txBody>
          <a:bodyPr wrap="square" lIns="0" rIns="0" tIns="0" bIns="0" anchor="ctr">
            <a:spAutoFit/>
          </a:bodyPr>
          <a:lstStyle/>
          <a:p>
            <a:pPr algn="l"/>
            <a:r>
              <a:rPr sz="950" b="0" i="0">
                <a:solidFill>
                  <a:srgbClr val="8C8E9F"/>
                </a:solidFill>
                <a:latin typeface="Calibri"/>
              </a:rPr>
              <a:t>Green — already Live in Saudi Market (9 of 18)   ·   +6 more not shown</a:t>
            </a:r>
          </a:p>
        </p:txBody>
      </p:sp>
      <p:sp>
        <p:nvSpPr>
          <p:cNvPr id="36" name="TextBox 35"/>
          <p:cNvSpPr txBox="1"/>
          <p:nvPr/>
        </p:nvSpPr>
        <p:spPr>
          <a:xfrm>
            <a:off x="886968" y="5742432"/>
            <a:ext cx="6217920" cy="274320"/>
          </a:xfrm>
          <a:prstGeom prst="rect">
            <a:avLst/>
          </a:prstGeom>
          <a:noFill/>
        </p:spPr>
        <p:txBody>
          <a:bodyPr wrap="square" lIns="0" rIns="0" tIns="0" bIns="0" anchor="t">
            <a:spAutoFit/>
          </a:bodyPr>
          <a:lstStyle/>
          <a:p>
            <a:pPr algn="l"/>
            <a:r>
              <a:rPr sz="1100" b="0" i="1">
                <a:solidFill>
                  <a:srgbClr val="5A5C70"/>
                </a:solidFill>
                <a:latin typeface="Calibri"/>
              </a:rPr>
              <a:t>Portfolio depth was built for Saudi equity and never extended to anything else ARC sells.</a:t>
            </a:r>
          </a:p>
        </p:txBody>
      </p:sp>
      <p:sp>
        <p:nvSpPr>
          <p:cNvPr id="37" name="Rectangle 36"/>
          <p:cNvSpPr/>
          <p:nvPr/>
        </p:nvSpPr>
        <p:spPr>
          <a:xfrm>
            <a:off x="7635240" y="2606040"/>
            <a:ext cx="3959352" cy="3520440"/>
          </a:xfrm>
          <a:prstGeom prst="rect">
            <a:avLst/>
          </a:prstGeom>
          <a:solidFill>
            <a:srgbClr val="EF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27848" y="2834640"/>
            <a:ext cx="3383280" cy="237744"/>
          </a:xfrm>
          <a:prstGeom prst="rect">
            <a:avLst/>
          </a:prstGeom>
          <a:noFill/>
        </p:spPr>
        <p:txBody>
          <a:bodyPr wrap="square" lIns="0" rIns="0" tIns="0" bIns="0" anchor="ctr">
            <a:spAutoFit/>
          </a:bodyPr>
          <a:lstStyle/>
          <a:p>
            <a:pPr algn="l"/>
            <a:r>
              <a:rPr sz="950" b="1" i="0" spc="200">
                <a:solidFill>
                  <a:srgbClr val="5A48E8"/>
                </a:solidFill>
                <a:latin typeface="Calibri"/>
              </a:rPr>
              <a:t>GAP CONCENTRATION</a:t>
            </a:r>
          </a:p>
        </p:txBody>
      </p:sp>
      <p:sp>
        <p:nvSpPr>
          <p:cNvPr id="39" name="TextBox 38"/>
          <p:cNvSpPr txBox="1"/>
          <p:nvPr/>
        </p:nvSpPr>
        <p:spPr>
          <a:xfrm>
            <a:off x="7927848" y="3200400"/>
            <a:ext cx="548640" cy="274320"/>
          </a:xfrm>
          <a:prstGeom prst="rect">
            <a:avLst/>
          </a:prstGeom>
          <a:noFill/>
        </p:spPr>
        <p:txBody>
          <a:bodyPr wrap="square" lIns="0" rIns="0" tIns="0" bIns="0" anchor="ctr">
            <a:spAutoFit/>
          </a:bodyPr>
          <a:lstStyle/>
          <a:p>
            <a:pPr algn="l"/>
            <a:r>
              <a:rPr sz="1700" b="0" i="0">
                <a:solidFill>
                  <a:srgbClr val="1F1D4A"/>
                </a:solidFill>
                <a:latin typeface="Georgia"/>
              </a:rPr>
              <a:t>77</a:t>
            </a:r>
          </a:p>
        </p:txBody>
      </p:sp>
      <p:sp>
        <p:nvSpPr>
          <p:cNvPr id="40" name="TextBox 39"/>
          <p:cNvSpPr txBox="1"/>
          <p:nvPr/>
        </p:nvSpPr>
        <p:spPr>
          <a:xfrm>
            <a:off x="8549640" y="3218688"/>
            <a:ext cx="2743200" cy="237744"/>
          </a:xfrm>
          <a:prstGeom prst="rect">
            <a:avLst/>
          </a:prstGeom>
          <a:noFill/>
        </p:spPr>
        <p:txBody>
          <a:bodyPr wrap="square" lIns="0" rIns="0" tIns="0" bIns="0" anchor="ctr">
            <a:spAutoFit/>
          </a:bodyPr>
          <a:lstStyle/>
          <a:p>
            <a:pPr algn="l"/>
            <a:r>
              <a:rPr sz="1050" b="0" i="0">
                <a:solidFill>
                  <a:srgbClr val="5A5C70"/>
                </a:solidFill>
                <a:latin typeface="Calibri"/>
              </a:rPr>
              <a:t>US Trading · Portfolio</a:t>
            </a:r>
          </a:p>
        </p:txBody>
      </p:sp>
      <p:sp>
        <p:nvSpPr>
          <p:cNvPr id="41" name="Rectangle 40"/>
          <p:cNvSpPr/>
          <p:nvPr/>
        </p:nvSpPr>
        <p:spPr>
          <a:xfrm>
            <a:off x="8549640" y="3474720"/>
            <a:ext cx="2743200" cy="7315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27848" y="3675887"/>
            <a:ext cx="548640" cy="274320"/>
          </a:xfrm>
          <a:prstGeom prst="rect">
            <a:avLst/>
          </a:prstGeom>
          <a:noFill/>
        </p:spPr>
        <p:txBody>
          <a:bodyPr wrap="square" lIns="0" rIns="0" tIns="0" bIns="0" anchor="ctr">
            <a:spAutoFit/>
          </a:bodyPr>
          <a:lstStyle/>
          <a:p>
            <a:pPr algn="l"/>
            <a:r>
              <a:rPr sz="1700" b="0" i="0">
                <a:solidFill>
                  <a:srgbClr val="1F1D4A"/>
                </a:solidFill>
                <a:latin typeface="Georgia"/>
              </a:rPr>
              <a:t>26</a:t>
            </a:r>
          </a:p>
        </p:txBody>
      </p:sp>
      <p:sp>
        <p:nvSpPr>
          <p:cNvPr id="43" name="TextBox 42"/>
          <p:cNvSpPr txBox="1"/>
          <p:nvPr/>
        </p:nvSpPr>
        <p:spPr>
          <a:xfrm>
            <a:off x="8549640" y="3694175"/>
            <a:ext cx="2743200" cy="237744"/>
          </a:xfrm>
          <a:prstGeom prst="rect">
            <a:avLst/>
          </a:prstGeom>
          <a:noFill/>
        </p:spPr>
        <p:txBody>
          <a:bodyPr wrap="square" lIns="0" rIns="0" tIns="0" bIns="0" anchor="ctr">
            <a:spAutoFit/>
          </a:bodyPr>
          <a:lstStyle/>
          <a:p>
            <a:pPr algn="l"/>
            <a:r>
              <a:rPr sz="1050" b="0" i="0">
                <a:solidFill>
                  <a:srgbClr val="5A5C70"/>
                </a:solidFill>
                <a:latin typeface="Calibri"/>
              </a:rPr>
              <a:t>Robo Advisory · Portfolio</a:t>
            </a:r>
          </a:p>
        </p:txBody>
      </p:sp>
      <p:sp>
        <p:nvSpPr>
          <p:cNvPr id="44" name="Rectangle 43"/>
          <p:cNvSpPr/>
          <p:nvPr/>
        </p:nvSpPr>
        <p:spPr>
          <a:xfrm>
            <a:off x="8549640" y="3950207"/>
            <a:ext cx="926275" cy="7315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7848" y="4151376"/>
            <a:ext cx="548640" cy="274320"/>
          </a:xfrm>
          <a:prstGeom prst="rect">
            <a:avLst/>
          </a:prstGeom>
          <a:noFill/>
        </p:spPr>
        <p:txBody>
          <a:bodyPr wrap="square" lIns="0" rIns="0" tIns="0" bIns="0" anchor="ctr">
            <a:spAutoFit/>
          </a:bodyPr>
          <a:lstStyle/>
          <a:p>
            <a:pPr algn="l"/>
            <a:r>
              <a:rPr sz="1700" b="0" i="0">
                <a:solidFill>
                  <a:srgbClr val="1F1D4A"/>
                </a:solidFill>
                <a:latin typeface="Georgia"/>
              </a:rPr>
              <a:t>24</a:t>
            </a:r>
          </a:p>
        </p:txBody>
      </p:sp>
      <p:sp>
        <p:nvSpPr>
          <p:cNvPr id="46" name="TextBox 45"/>
          <p:cNvSpPr txBox="1"/>
          <p:nvPr/>
        </p:nvSpPr>
        <p:spPr>
          <a:xfrm>
            <a:off x="8549640" y="4169663"/>
            <a:ext cx="2743200" cy="237744"/>
          </a:xfrm>
          <a:prstGeom prst="rect">
            <a:avLst/>
          </a:prstGeom>
          <a:noFill/>
        </p:spPr>
        <p:txBody>
          <a:bodyPr wrap="square" lIns="0" rIns="0" tIns="0" bIns="0" anchor="ctr">
            <a:spAutoFit/>
          </a:bodyPr>
          <a:lstStyle/>
          <a:p>
            <a:pPr algn="l"/>
            <a:r>
              <a:rPr sz="1050" b="0" i="0">
                <a:solidFill>
                  <a:srgbClr val="5A5C70"/>
                </a:solidFill>
                <a:latin typeface="Calibri"/>
              </a:rPr>
              <a:t>Mutual Funds · Portfolio</a:t>
            </a:r>
          </a:p>
        </p:txBody>
      </p:sp>
      <p:sp>
        <p:nvSpPr>
          <p:cNvPr id="47" name="Rectangle 46"/>
          <p:cNvSpPr/>
          <p:nvPr/>
        </p:nvSpPr>
        <p:spPr>
          <a:xfrm>
            <a:off x="8549640" y="4425696"/>
            <a:ext cx="855023" cy="7315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27848" y="4626864"/>
            <a:ext cx="548640" cy="274320"/>
          </a:xfrm>
          <a:prstGeom prst="rect">
            <a:avLst/>
          </a:prstGeom>
          <a:noFill/>
        </p:spPr>
        <p:txBody>
          <a:bodyPr wrap="square" lIns="0" rIns="0" tIns="0" bIns="0" anchor="ctr">
            <a:spAutoFit/>
          </a:bodyPr>
          <a:lstStyle/>
          <a:p>
            <a:pPr algn="l"/>
            <a:r>
              <a:rPr sz="1700" b="0" i="0">
                <a:solidFill>
                  <a:srgbClr val="1F1D4A"/>
                </a:solidFill>
                <a:latin typeface="Georgia"/>
              </a:rPr>
              <a:t>22</a:t>
            </a:r>
          </a:p>
        </p:txBody>
      </p:sp>
      <p:sp>
        <p:nvSpPr>
          <p:cNvPr id="49" name="TextBox 48"/>
          <p:cNvSpPr txBox="1"/>
          <p:nvPr/>
        </p:nvSpPr>
        <p:spPr>
          <a:xfrm>
            <a:off x="8549640" y="4645152"/>
            <a:ext cx="2743200" cy="237744"/>
          </a:xfrm>
          <a:prstGeom prst="rect">
            <a:avLst/>
          </a:prstGeom>
          <a:noFill/>
        </p:spPr>
        <p:txBody>
          <a:bodyPr wrap="square" lIns="0" rIns="0" tIns="0" bIns="0" anchor="ctr">
            <a:spAutoFit/>
          </a:bodyPr>
          <a:lstStyle/>
          <a:p>
            <a:pPr algn="l"/>
            <a:r>
              <a:rPr sz="1050" b="0" i="0">
                <a:solidFill>
                  <a:srgbClr val="5A5C70"/>
                </a:solidFill>
                <a:latin typeface="Calibri"/>
              </a:rPr>
              <a:t>US Trading · Market</a:t>
            </a:r>
          </a:p>
        </p:txBody>
      </p:sp>
      <p:sp>
        <p:nvSpPr>
          <p:cNvPr id="50" name="Rectangle 49"/>
          <p:cNvSpPr/>
          <p:nvPr/>
        </p:nvSpPr>
        <p:spPr>
          <a:xfrm>
            <a:off x="8549640" y="4901184"/>
            <a:ext cx="783771" cy="7315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27848" y="5102352"/>
            <a:ext cx="548640" cy="274320"/>
          </a:xfrm>
          <a:prstGeom prst="rect">
            <a:avLst/>
          </a:prstGeom>
          <a:noFill/>
        </p:spPr>
        <p:txBody>
          <a:bodyPr wrap="square" lIns="0" rIns="0" tIns="0" bIns="0" anchor="ctr">
            <a:spAutoFit/>
          </a:bodyPr>
          <a:lstStyle/>
          <a:p>
            <a:pPr algn="l"/>
            <a:r>
              <a:rPr sz="1700" b="0" i="0">
                <a:solidFill>
                  <a:srgbClr val="1F1D4A"/>
                </a:solidFill>
                <a:latin typeface="Georgia"/>
              </a:rPr>
              <a:t>19</a:t>
            </a:r>
          </a:p>
        </p:txBody>
      </p:sp>
      <p:sp>
        <p:nvSpPr>
          <p:cNvPr id="52" name="TextBox 51"/>
          <p:cNvSpPr txBox="1"/>
          <p:nvPr/>
        </p:nvSpPr>
        <p:spPr>
          <a:xfrm>
            <a:off x="8549640" y="5120640"/>
            <a:ext cx="2743200" cy="237744"/>
          </a:xfrm>
          <a:prstGeom prst="rect">
            <a:avLst/>
          </a:prstGeom>
          <a:noFill/>
        </p:spPr>
        <p:txBody>
          <a:bodyPr wrap="square" lIns="0" rIns="0" tIns="0" bIns="0" anchor="ctr">
            <a:spAutoFit/>
          </a:bodyPr>
          <a:lstStyle/>
          <a:p>
            <a:pPr algn="l"/>
            <a:r>
              <a:rPr sz="1050" b="0" i="0">
                <a:solidFill>
                  <a:srgbClr val="5A5C70"/>
                </a:solidFill>
                <a:latin typeface="Calibri"/>
              </a:rPr>
              <a:t>Saudi Market · Market</a:t>
            </a:r>
          </a:p>
        </p:txBody>
      </p:sp>
      <p:sp>
        <p:nvSpPr>
          <p:cNvPr id="53" name="Rectangle 52"/>
          <p:cNvSpPr/>
          <p:nvPr/>
        </p:nvSpPr>
        <p:spPr>
          <a:xfrm>
            <a:off x="8549640" y="5376672"/>
            <a:ext cx="676893" cy="7315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27848" y="5577840"/>
            <a:ext cx="548640" cy="274320"/>
          </a:xfrm>
          <a:prstGeom prst="rect">
            <a:avLst/>
          </a:prstGeom>
          <a:noFill/>
        </p:spPr>
        <p:txBody>
          <a:bodyPr wrap="square" lIns="0" rIns="0" tIns="0" bIns="0" anchor="ctr">
            <a:spAutoFit/>
          </a:bodyPr>
          <a:lstStyle/>
          <a:p>
            <a:pPr algn="l"/>
            <a:r>
              <a:rPr sz="1700" b="0" i="0">
                <a:solidFill>
                  <a:srgbClr val="1F1D4A"/>
                </a:solidFill>
                <a:latin typeface="Georgia"/>
              </a:rPr>
              <a:t>9</a:t>
            </a:r>
          </a:p>
        </p:txBody>
      </p:sp>
      <p:sp>
        <p:nvSpPr>
          <p:cNvPr id="55" name="TextBox 54"/>
          <p:cNvSpPr txBox="1"/>
          <p:nvPr/>
        </p:nvSpPr>
        <p:spPr>
          <a:xfrm>
            <a:off x="8549640" y="5596127"/>
            <a:ext cx="2743200" cy="237744"/>
          </a:xfrm>
          <a:prstGeom prst="rect">
            <a:avLst/>
          </a:prstGeom>
          <a:noFill/>
        </p:spPr>
        <p:txBody>
          <a:bodyPr wrap="square" lIns="0" rIns="0" tIns="0" bIns="0" anchor="ctr">
            <a:spAutoFit/>
          </a:bodyPr>
          <a:lstStyle/>
          <a:p>
            <a:pPr algn="l"/>
            <a:r>
              <a:rPr sz="1050" b="0" i="0">
                <a:solidFill>
                  <a:srgbClr val="5A5C70"/>
                </a:solidFill>
                <a:latin typeface="Calibri"/>
              </a:rPr>
              <a:t>Cash Management</a:t>
            </a:r>
          </a:p>
        </p:txBody>
      </p:sp>
      <p:sp>
        <p:nvSpPr>
          <p:cNvPr id="56" name="Rectangle 55"/>
          <p:cNvSpPr/>
          <p:nvPr/>
        </p:nvSpPr>
        <p:spPr>
          <a:xfrm>
            <a:off x="8549640" y="5852159"/>
            <a:ext cx="320633" cy="73152"/>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6355080"/>
            <a:ext cx="11002975" cy="228600"/>
          </a:xfrm>
          <a:prstGeom prst="rect">
            <a:avLst/>
          </a:prstGeom>
          <a:noFill/>
        </p:spPr>
        <p:txBody>
          <a:bodyPr wrap="square" lIns="0" rIns="0" tIns="0" bIns="0" anchor="ctr">
            <a:spAutoFit/>
          </a:bodyPr>
          <a:lstStyle/>
          <a:p>
            <a:pPr algn="l"/>
            <a:r>
              <a:rPr sz="800" b="0" i="0">
                <a:solidFill>
                  <a:srgbClr val="8C8E9F"/>
                </a:solidFill>
                <a:latin typeface="Calibri"/>
              </a:rPr>
              <a:t>Source: Features Map · baseline v2.21 · features_derived.json · verified_live.json · manual_status.json · 31 August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8229600" cy="274320"/>
          </a:xfrm>
          <a:prstGeom prst="rect">
            <a:avLst/>
          </a:prstGeom>
          <a:noFill/>
        </p:spPr>
        <p:txBody>
          <a:bodyPr wrap="square" lIns="0" rIns="0" tIns="0" bIns="0" anchor="ctr">
            <a:spAutoFit/>
          </a:bodyPr>
          <a:lstStyle/>
          <a:p>
            <a:pPr algn="l"/>
            <a:r>
              <a:rPr sz="950" b="1" i="0" spc="300">
                <a:solidFill>
                  <a:srgbClr val="8C8E9F"/>
                </a:solidFill>
                <a:latin typeface="Calibri"/>
              </a:rPr>
              <a:t>SECTION 05  ·  METHOD</a:t>
            </a:r>
          </a:p>
        </p:txBody>
      </p:sp>
      <p:sp>
        <p:nvSpPr>
          <p:cNvPr id="4" name="TextBox 3"/>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8C8E9F"/>
                </a:solidFill>
                <a:latin typeface="Calibri"/>
              </a:rPr>
              <a:t>06  /  08</a:t>
            </a:r>
          </a:p>
        </p:txBody>
      </p:sp>
      <p:sp>
        <p:nvSpPr>
          <p:cNvPr id="5" name="TextBox 4"/>
          <p:cNvSpPr txBox="1"/>
          <p:nvPr/>
        </p:nvSpPr>
        <p:spPr>
          <a:xfrm>
            <a:off x="594360" y="6492240"/>
            <a:ext cx="11002975" cy="274320"/>
          </a:xfrm>
          <a:prstGeom prst="rect">
            <a:avLst/>
          </a:prstGeom>
          <a:noFill/>
        </p:spPr>
        <p:txBody>
          <a:bodyPr wrap="square" lIns="0" rIns="0" tIns="0" bIns="0" anchor="ctr">
            <a:spAutoFit/>
          </a:bodyPr>
          <a:lstStyle/>
          <a:p>
            <a:pPr algn="l"/>
            <a:r>
              <a:rPr sz="900" b="0" i="0">
                <a:solidFill>
                  <a:srgbClr val="8C8E9F"/>
                </a:solidFill>
                <a:latin typeface="Calibri"/>
              </a:rPr>
              <a:t>The Features Map  ·  v2.21  ·  31 August 2026</a:t>
            </a:r>
          </a:p>
        </p:txBody>
      </p:sp>
      <p:sp>
        <p:nvSpPr>
          <p:cNvPr id="6" name="TextBox 5"/>
          <p:cNvSpPr txBox="1"/>
          <p:nvPr/>
        </p:nvSpPr>
        <p:spPr>
          <a:xfrm>
            <a:off x="594360" y="914400"/>
            <a:ext cx="11002975" cy="777240"/>
          </a:xfrm>
          <a:prstGeom prst="rect">
            <a:avLst/>
          </a:prstGeom>
          <a:noFill/>
        </p:spPr>
        <p:txBody>
          <a:bodyPr wrap="square" lIns="0" rIns="0" tIns="0" bIns="0" anchor="ctr">
            <a:spAutoFit/>
          </a:bodyPr>
          <a:lstStyle/>
          <a:p>
            <a:pPr algn="l"/>
            <a:r>
              <a:rPr sz="3600" b="1" i="0">
                <a:solidFill>
                  <a:srgbClr val="1F1D4A"/>
                </a:solidFill>
                <a:latin typeface="Georgia"/>
              </a:rPr>
              <a:t>How a row earns its status.</a:t>
            </a:r>
          </a:p>
        </p:txBody>
      </p:sp>
      <p:sp>
        <p:nvSpPr>
          <p:cNvPr id="7" name="TextBox 6"/>
          <p:cNvSpPr txBox="1"/>
          <p:nvPr/>
        </p:nvSpPr>
        <p:spPr>
          <a:xfrm>
            <a:off x="594360" y="1691640"/>
            <a:ext cx="10088575" cy="457200"/>
          </a:xfrm>
          <a:prstGeom prst="rect">
            <a:avLst/>
          </a:prstGeom>
          <a:noFill/>
        </p:spPr>
        <p:txBody>
          <a:bodyPr wrap="square" lIns="0" rIns="0" tIns="0" bIns="0" anchor="ctr">
            <a:spAutoFit/>
          </a:bodyPr>
          <a:lstStyle/>
          <a:p>
            <a:pPr algn="l"/>
            <a:r>
              <a:rPr sz="1400" b="0" i="0">
                <a:solidFill>
                  <a:srgbClr val="5A5C70"/>
                </a:solidFill>
                <a:latin typeface="Calibri"/>
              </a:rPr>
              <a:t>The map is only worth as much as the evidence behind it.</a:t>
            </a:r>
          </a:p>
        </p:txBody>
      </p:sp>
      <p:sp>
        <p:nvSpPr>
          <p:cNvPr id="8" name="Rectangle 7"/>
          <p:cNvSpPr/>
          <p:nvPr/>
        </p:nvSpPr>
        <p:spPr>
          <a:xfrm>
            <a:off x="594360" y="2377440"/>
            <a:ext cx="1828800" cy="22225"/>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51760"/>
            <a:ext cx="3520440" cy="1874519"/>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651760"/>
            <a:ext cx="3520440" cy="3175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26080"/>
            <a:ext cx="2971800" cy="365760"/>
          </a:xfrm>
          <a:prstGeom prst="rect">
            <a:avLst/>
          </a:prstGeom>
          <a:noFill/>
        </p:spPr>
        <p:txBody>
          <a:bodyPr wrap="square" lIns="0" rIns="0" tIns="0" bIns="0" anchor="ctr">
            <a:spAutoFit/>
          </a:bodyPr>
          <a:lstStyle/>
          <a:p>
            <a:pPr algn="l"/>
            <a:r>
              <a:rPr sz="1400" b="1" i="0">
                <a:solidFill>
                  <a:srgbClr val="1F1D4A"/>
                </a:solidFill>
                <a:latin typeface="Calibri"/>
              </a:rPr>
              <a:t>Evidence, not opinion</a:t>
            </a:r>
          </a:p>
        </p:txBody>
      </p:sp>
      <p:sp>
        <p:nvSpPr>
          <p:cNvPr id="12" name="TextBox 11"/>
          <p:cNvSpPr txBox="1"/>
          <p:nvPr/>
        </p:nvSpPr>
        <p:spPr>
          <a:xfrm>
            <a:off x="868680" y="3401568"/>
            <a:ext cx="2971800" cy="960120"/>
          </a:xfrm>
          <a:prstGeom prst="rect">
            <a:avLst/>
          </a:prstGeom>
          <a:noFill/>
        </p:spPr>
        <p:txBody>
          <a:bodyPr wrap="square" lIns="0" rIns="0" tIns="0" bIns="0" anchor="t">
            <a:spAutoFit/>
          </a:bodyPr>
          <a:lstStyle/>
          <a:p>
            <a:pPr algn="l"/>
            <a:r>
              <a:rPr sz="1050" b="0" i="0">
                <a:solidFill>
                  <a:srgbClr val="5A5C70"/>
                </a:solidFill>
                <a:latin typeface="Calibri"/>
              </a:rPr>
              <a:t>317 app walks — screens opened and checked, each dated and attributed. 185 rulings by the Head of DX where a walk was not possible.</a:t>
            </a:r>
          </a:p>
        </p:txBody>
      </p:sp>
      <p:sp>
        <p:nvSpPr>
          <p:cNvPr id="13" name="Rectangle 12"/>
          <p:cNvSpPr/>
          <p:nvPr/>
        </p:nvSpPr>
        <p:spPr>
          <a:xfrm>
            <a:off x="4389120" y="2651760"/>
            <a:ext cx="3520440" cy="1874519"/>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2651760"/>
            <a:ext cx="3520440" cy="3175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926080"/>
            <a:ext cx="2971800" cy="365760"/>
          </a:xfrm>
          <a:prstGeom prst="rect">
            <a:avLst/>
          </a:prstGeom>
          <a:noFill/>
        </p:spPr>
        <p:txBody>
          <a:bodyPr wrap="square" lIns="0" rIns="0" tIns="0" bIns="0" anchor="ctr">
            <a:spAutoFit/>
          </a:bodyPr>
          <a:lstStyle/>
          <a:p>
            <a:pPr algn="l"/>
            <a:r>
              <a:rPr sz="1400" b="1" i="0">
                <a:solidFill>
                  <a:srgbClr val="1F1D4A"/>
                </a:solidFill>
                <a:latin typeface="Calibri"/>
              </a:rPr>
              <a:t>A ruling beats an inference</a:t>
            </a:r>
          </a:p>
        </p:txBody>
      </p:sp>
      <p:sp>
        <p:nvSpPr>
          <p:cNvPr id="16" name="TextBox 15"/>
          <p:cNvSpPr txBox="1"/>
          <p:nvPr/>
        </p:nvSpPr>
        <p:spPr>
          <a:xfrm>
            <a:off x="4663440" y="3401568"/>
            <a:ext cx="2971800" cy="960120"/>
          </a:xfrm>
          <a:prstGeom prst="rect">
            <a:avLst/>
          </a:prstGeom>
          <a:noFill/>
        </p:spPr>
        <p:txBody>
          <a:bodyPr wrap="square" lIns="0" rIns="0" tIns="0" bIns="0" anchor="t">
            <a:spAutoFit/>
          </a:bodyPr>
          <a:lstStyle/>
          <a:p>
            <a:pPr algn="l"/>
            <a:r>
              <a:rPr sz="1050" b="0" i="0">
                <a:solidFill>
                  <a:srgbClr val="5A5C70"/>
                </a:solidFill>
                <a:latin typeface="Calibri"/>
              </a:rPr>
              <a:t>A status derived from the other market, from a BRD or from a competitor is always overridden by a human ruling. The map never asserts a gap on inference alone once someone has looked.</a:t>
            </a:r>
          </a:p>
        </p:txBody>
      </p:sp>
      <p:sp>
        <p:nvSpPr>
          <p:cNvPr id="17" name="Rectangle 16"/>
          <p:cNvSpPr/>
          <p:nvPr/>
        </p:nvSpPr>
        <p:spPr>
          <a:xfrm>
            <a:off x="8183880" y="2651760"/>
            <a:ext cx="3520440" cy="1874519"/>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2651760"/>
            <a:ext cx="3520440" cy="31750"/>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2926080"/>
            <a:ext cx="2971800" cy="365760"/>
          </a:xfrm>
          <a:prstGeom prst="rect">
            <a:avLst/>
          </a:prstGeom>
          <a:noFill/>
        </p:spPr>
        <p:txBody>
          <a:bodyPr wrap="square" lIns="0" rIns="0" tIns="0" bIns="0" anchor="ctr">
            <a:spAutoFit/>
          </a:bodyPr>
          <a:lstStyle/>
          <a:p>
            <a:pPr algn="l"/>
            <a:r>
              <a:rPr sz="1400" b="1" i="0">
                <a:solidFill>
                  <a:srgbClr val="1F1D4A"/>
                </a:solidFill>
                <a:latin typeface="Calibri"/>
              </a:rPr>
              <a:t>Nothing left undecided</a:t>
            </a:r>
          </a:p>
        </p:txBody>
      </p:sp>
      <p:sp>
        <p:nvSpPr>
          <p:cNvPr id="20" name="TextBox 19"/>
          <p:cNvSpPr txBox="1"/>
          <p:nvPr/>
        </p:nvSpPr>
        <p:spPr>
          <a:xfrm>
            <a:off x="8458200" y="3401568"/>
            <a:ext cx="2971800" cy="960120"/>
          </a:xfrm>
          <a:prstGeom prst="rect">
            <a:avLst/>
          </a:prstGeom>
          <a:noFill/>
        </p:spPr>
        <p:txBody>
          <a:bodyPr wrap="square" lIns="0" rIns="0" tIns="0" bIns="0" anchor="t">
            <a:spAutoFit/>
          </a:bodyPr>
          <a:lstStyle/>
          <a:p>
            <a:pPr algn="l"/>
            <a:r>
              <a:rPr sz="1050" b="0" i="0">
                <a:solidFill>
                  <a:srgbClr val="5A5C70"/>
                </a:solidFill>
                <a:latin typeface="Calibri"/>
              </a:rPr>
              <a:t>Every one of the 865 rows resolves to exactly one of three states. The last open rows were walked this week — the map is complete end to end for the first time.</a:t>
            </a:r>
          </a:p>
        </p:txBody>
      </p:sp>
      <p:sp>
        <p:nvSpPr>
          <p:cNvPr id="21" name="Rectangle 20"/>
          <p:cNvSpPr/>
          <p:nvPr/>
        </p:nvSpPr>
        <p:spPr>
          <a:xfrm>
            <a:off x="594360" y="4800600"/>
            <a:ext cx="11002975" cy="1280160"/>
          </a:xfrm>
          <a:prstGeom prst="rect">
            <a:avLst/>
          </a:prstGeom>
          <a:solidFill>
            <a:srgbClr val="EF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5029200"/>
            <a:ext cx="3657600" cy="237744"/>
          </a:xfrm>
          <a:prstGeom prst="rect">
            <a:avLst/>
          </a:prstGeom>
          <a:noFill/>
        </p:spPr>
        <p:txBody>
          <a:bodyPr wrap="square" lIns="0" rIns="0" tIns="0" bIns="0" anchor="ctr">
            <a:spAutoFit/>
          </a:bodyPr>
          <a:lstStyle/>
          <a:p>
            <a:pPr algn="l"/>
            <a:r>
              <a:rPr sz="950" b="1" i="0" spc="200">
                <a:solidFill>
                  <a:srgbClr val="5A48E8"/>
                </a:solidFill>
                <a:latin typeface="Calibri"/>
              </a:rPr>
              <a:t>THE THREE STATES</a:t>
            </a:r>
          </a:p>
        </p:txBody>
      </p:sp>
      <p:sp>
        <p:nvSpPr>
          <p:cNvPr id="23" name="Rectangle 22"/>
          <p:cNvSpPr/>
          <p:nvPr/>
        </p:nvSpPr>
        <p:spPr>
          <a:xfrm>
            <a:off x="886968" y="5413248"/>
            <a:ext cx="146304" cy="146304"/>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367528"/>
            <a:ext cx="3108960" cy="237744"/>
          </a:xfrm>
          <a:prstGeom prst="rect">
            <a:avLst/>
          </a:prstGeom>
          <a:noFill/>
        </p:spPr>
        <p:txBody>
          <a:bodyPr wrap="square" lIns="0" rIns="0" tIns="0" bIns="0" anchor="ctr">
            <a:spAutoFit/>
          </a:bodyPr>
          <a:lstStyle/>
          <a:p>
            <a:pPr algn="l"/>
            <a:r>
              <a:rPr sz="1200" b="1" i="0">
                <a:solidFill>
                  <a:srgbClr val="1F1D4A"/>
                </a:solidFill>
                <a:latin typeface="Calibri"/>
              </a:rPr>
              <a:t>Live  —  524 rows</a:t>
            </a:r>
          </a:p>
        </p:txBody>
      </p:sp>
      <p:sp>
        <p:nvSpPr>
          <p:cNvPr id="25" name="TextBox 24"/>
          <p:cNvSpPr txBox="1"/>
          <p:nvPr/>
        </p:nvSpPr>
        <p:spPr>
          <a:xfrm>
            <a:off x="1143000" y="5614416"/>
            <a:ext cx="3108960" cy="237744"/>
          </a:xfrm>
          <a:prstGeom prst="rect">
            <a:avLst/>
          </a:prstGeom>
          <a:noFill/>
        </p:spPr>
        <p:txBody>
          <a:bodyPr wrap="square" lIns="0" rIns="0" tIns="0" bIns="0" anchor="ctr">
            <a:spAutoFit/>
          </a:bodyPr>
          <a:lstStyle/>
          <a:p>
            <a:pPr algn="l"/>
            <a:r>
              <a:rPr sz="1050" b="0" i="0">
                <a:solidFill>
                  <a:srgbClr val="5A5C70"/>
                </a:solidFill>
                <a:latin typeface="Calibri"/>
              </a:rPr>
              <a:t>in the product today</a:t>
            </a:r>
          </a:p>
        </p:txBody>
      </p:sp>
      <p:sp>
        <p:nvSpPr>
          <p:cNvPr id="26" name="Rectangle 25"/>
          <p:cNvSpPr/>
          <p:nvPr/>
        </p:nvSpPr>
        <p:spPr>
          <a:xfrm>
            <a:off x="4453128" y="5413248"/>
            <a:ext cx="146304" cy="146304"/>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5367528"/>
            <a:ext cx="3108960" cy="237744"/>
          </a:xfrm>
          <a:prstGeom prst="rect">
            <a:avLst/>
          </a:prstGeom>
          <a:noFill/>
        </p:spPr>
        <p:txBody>
          <a:bodyPr wrap="square" lIns="0" rIns="0" tIns="0" bIns="0" anchor="ctr">
            <a:spAutoFit/>
          </a:bodyPr>
          <a:lstStyle/>
          <a:p>
            <a:pPr algn="l"/>
            <a:r>
              <a:rPr sz="1200" b="1" i="0">
                <a:solidFill>
                  <a:srgbClr val="1F1D4A"/>
                </a:solidFill>
                <a:latin typeface="Calibri"/>
              </a:rPr>
              <a:t>Planned  —  129 rows</a:t>
            </a:r>
          </a:p>
        </p:txBody>
      </p:sp>
      <p:sp>
        <p:nvSpPr>
          <p:cNvPr id="28" name="TextBox 27"/>
          <p:cNvSpPr txBox="1"/>
          <p:nvPr/>
        </p:nvSpPr>
        <p:spPr>
          <a:xfrm>
            <a:off x="4709160" y="5614416"/>
            <a:ext cx="3108960" cy="237744"/>
          </a:xfrm>
          <a:prstGeom prst="rect">
            <a:avLst/>
          </a:prstGeom>
          <a:noFill/>
        </p:spPr>
        <p:txBody>
          <a:bodyPr wrap="square" lIns="0" rIns="0" tIns="0" bIns="0" anchor="ctr">
            <a:spAutoFit/>
          </a:bodyPr>
          <a:lstStyle/>
          <a:p>
            <a:pPr algn="l"/>
            <a:r>
              <a:rPr sz="1050" b="0" i="0">
                <a:solidFill>
                  <a:srgbClr val="5A5C70"/>
                </a:solidFill>
                <a:latin typeface="Calibri"/>
              </a:rPr>
              <a:t>on the roadmap, not yet shipped</a:t>
            </a:r>
          </a:p>
        </p:txBody>
      </p:sp>
      <p:sp>
        <p:nvSpPr>
          <p:cNvPr id="29" name="Rectangle 28"/>
          <p:cNvSpPr/>
          <p:nvPr/>
        </p:nvSpPr>
        <p:spPr>
          <a:xfrm>
            <a:off x="8019288" y="5413248"/>
            <a:ext cx="146304" cy="146304"/>
          </a:xfrm>
          <a:prstGeom prst="rect">
            <a:avLst/>
          </a:prstGeom>
          <a:solidFill>
            <a:srgbClr val="B57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19" y="5367528"/>
            <a:ext cx="3108960" cy="237744"/>
          </a:xfrm>
          <a:prstGeom prst="rect">
            <a:avLst/>
          </a:prstGeom>
          <a:noFill/>
        </p:spPr>
        <p:txBody>
          <a:bodyPr wrap="square" lIns="0" rIns="0" tIns="0" bIns="0" anchor="ctr">
            <a:spAutoFit/>
          </a:bodyPr>
          <a:lstStyle/>
          <a:p>
            <a:pPr algn="l"/>
            <a:r>
              <a:rPr sz="1200" b="1" i="0">
                <a:solidFill>
                  <a:srgbClr val="1F1D4A"/>
                </a:solidFill>
                <a:latin typeface="Calibri"/>
              </a:rPr>
              <a:t>Gap  —  212 rows</a:t>
            </a:r>
          </a:p>
        </p:txBody>
      </p:sp>
      <p:sp>
        <p:nvSpPr>
          <p:cNvPr id="31" name="TextBox 30"/>
          <p:cNvSpPr txBox="1"/>
          <p:nvPr/>
        </p:nvSpPr>
        <p:spPr>
          <a:xfrm>
            <a:off x="8275319" y="5614416"/>
            <a:ext cx="3108960" cy="237744"/>
          </a:xfrm>
          <a:prstGeom prst="rect">
            <a:avLst/>
          </a:prstGeom>
          <a:noFill/>
        </p:spPr>
        <p:txBody>
          <a:bodyPr wrap="square" lIns="0" rIns="0" tIns="0" bIns="0" anchor="ctr">
            <a:spAutoFit/>
          </a:bodyPr>
          <a:lstStyle/>
          <a:p>
            <a:pPr algn="l"/>
            <a:r>
              <a:rPr sz="1050" b="0" i="0">
                <a:solidFill>
                  <a:srgbClr val="5A5C70"/>
                </a:solidFill>
                <a:latin typeface="Calibri"/>
              </a:rPr>
              <a:t>not built</a:t>
            </a:r>
          </a:p>
        </p:txBody>
      </p:sp>
      <p:sp>
        <p:nvSpPr>
          <p:cNvPr id="32" name="TextBox 31"/>
          <p:cNvSpPr txBox="1"/>
          <p:nvPr/>
        </p:nvSpPr>
        <p:spPr>
          <a:xfrm>
            <a:off x="594360" y="6355080"/>
            <a:ext cx="11002975" cy="228600"/>
          </a:xfrm>
          <a:prstGeom prst="rect">
            <a:avLst/>
          </a:prstGeom>
          <a:noFill/>
        </p:spPr>
        <p:txBody>
          <a:bodyPr wrap="square" lIns="0" rIns="0" tIns="0" bIns="0" anchor="ctr">
            <a:spAutoFit/>
          </a:bodyPr>
          <a:lstStyle/>
          <a:p>
            <a:pPr algn="l"/>
            <a:r>
              <a:rPr sz="800" b="0" i="0">
                <a:solidFill>
                  <a:srgbClr val="8C8E9F"/>
                </a:solidFill>
                <a:latin typeface="Calibri"/>
              </a:rPr>
              <a:t>Source: Features Map · baseline v2.21 · features_derived.json · verified_live.json · manual_status.json · 31 August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8229600" cy="274320"/>
          </a:xfrm>
          <a:prstGeom prst="rect">
            <a:avLst/>
          </a:prstGeom>
          <a:noFill/>
        </p:spPr>
        <p:txBody>
          <a:bodyPr wrap="square" lIns="0" rIns="0" tIns="0" bIns="0" anchor="ctr">
            <a:spAutoFit/>
          </a:bodyPr>
          <a:lstStyle/>
          <a:p>
            <a:pPr algn="l"/>
            <a:r>
              <a:rPr sz="950" b="1" i="0" spc="300">
                <a:solidFill>
                  <a:srgbClr val="8C8E9F"/>
                </a:solidFill>
                <a:latin typeface="Calibri"/>
              </a:rPr>
              <a:t>SECTION 06  ·  ACTION ITEMS</a:t>
            </a:r>
          </a:p>
        </p:txBody>
      </p:sp>
      <p:sp>
        <p:nvSpPr>
          <p:cNvPr id="4" name="TextBox 3"/>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8C8E9F"/>
                </a:solidFill>
                <a:latin typeface="Calibri"/>
              </a:rPr>
              <a:t>07  /  08</a:t>
            </a:r>
          </a:p>
        </p:txBody>
      </p:sp>
      <p:sp>
        <p:nvSpPr>
          <p:cNvPr id="5" name="TextBox 4"/>
          <p:cNvSpPr txBox="1"/>
          <p:nvPr/>
        </p:nvSpPr>
        <p:spPr>
          <a:xfrm>
            <a:off x="594360" y="6492240"/>
            <a:ext cx="11002975" cy="274320"/>
          </a:xfrm>
          <a:prstGeom prst="rect">
            <a:avLst/>
          </a:prstGeom>
          <a:noFill/>
        </p:spPr>
        <p:txBody>
          <a:bodyPr wrap="square" lIns="0" rIns="0" tIns="0" bIns="0" anchor="ctr">
            <a:spAutoFit/>
          </a:bodyPr>
          <a:lstStyle/>
          <a:p>
            <a:pPr algn="l"/>
            <a:r>
              <a:rPr sz="900" b="0" i="0">
                <a:solidFill>
                  <a:srgbClr val="8C8E9F"/>
                </a:solidFill>
                <a:latin typeface="Calibri"/>
              </a:rPr>
              <a:t>The Features Map  ·  v2.21  ·  31 August 2026</a:t>
            </a:r>
          </a:p>
        </p:txBody>
      </p:sp>
      <p:sp>
        <p:nvSpPr>
          <p:cNvPr id="6" name="TextBox 5"/>
          <p:cNvSpPr txBox="1"/>
          <p:nvPr/>
        </p:nvSpPr>
        <p:spPr>
          <a:xfrm>
            <a:off x="594360" y="914400"/>
            <a:ext cx="11002975" cy="777240"/>
          </a:xfrm>
          <a:prstGeom prst="rect">
            <a:avLst/>
          </a:prstGeom>
          <a:noFill/>
        </p:spPr>
        <p:txBody>
          <a:bodyPr wrap="square" lIns="0" rIns="0" tIns="0" bIns="0" anchor="ctr">
            <a:spAutoFit/>
          </a:bodyPr>
          <a:lstStyle/>
          <a:p>
            <a:pPr algn="l"/>
            <a:r>
              <a:rPr sz="3600" b="1" i="0">
                <a:solidFill>
                  <a:srgbClr val="1F1D4A"/>
                </a:solidFill>
                <a:latin typeface="Georgia"/>
              </a:rPr>
              <a:t>What the map asks for.</a:t>
            </a:r>
          </a:p>
        </p:txBody>
      </p:sp>
      <p:sp>
        <p:nvSpPr>
          <p:cNvPr id="7" name="TextBox 6"/>
          <p:cNvSpPr txBox="1"/>
          <p:nvPr/>
        </p:nvSpPr>
        <p:spPr>
          <a:xfrm>
            <a:off x="594360" y="1691640"/>
            <a:ext cx="10088575" cy="457200"/>
          </a:xfrm>
          <a:prstGeom prst="rect">
            <a:avLst/>
          </a:prstGeom>
          <a:noFill/>
        </p:spPr>
        <p:txBody>
          <a:bodyPr wrap="square" lIns="0" rIns="0" tIns="0" bIns="0" anchor="ctr">
            <a:spAutoFit/>
          </a:bodyPr>
          <a:lstStyle/>
          <a:p>
            <a:pPr algn="l"/>
            <a:r>
              <a:rPr sz="1400" b="0" i="0">
                <a:solidFill>
                  <a:srgbClr val="5A5C70"/>
                </a:solidFill>
                <a:latin typeface="Calibri"/>
              </a:rPr>
              <a:t>Three actions, drawn from the data rather than from opinion.</a:t>
            </a:r>
          </a:p>
        </p:txBody>
      </p:sp>
      <p:sp>
        <p:nvSpPr>
          <p:cNvPr id="8" name="Rectangle 7"/>
          <p:cNvSpPr/>
          <p:nvPr/>
        </p:nvSpPr>
        <p:spPr>
          <a:xfrm>
            <a:off x="594360" y="2377440"/>
            <a:ext cx="1828800" cy="22225"/>
          </a:xfrm>
          <a:prstGeom prst="rect">
            <a:avLst/>
          </a:prstGeom>
          <a:solidFill>
            <a:srgbClr val="5A4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06040"/>
            <a:ext cx="11002975" cy="1078992"/>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606040"/>
            <a:ext cx="868680" cy="1078992"/>
          </a:xfrm>
          <a:prstGeom prst="rect">
            <a:avLst/>
          </a:prstGeom>
          <a:solidFill>
            <a:srgbClr val="1F1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862072"/>
            <a:ext cx="868680" cy="329184"/>
          </a:xfrm>
          <a:prstGeom prst="rect">
            <a:avLst/>
          </a:prstGeom>
          <a:noFill/>
        </p:spPr>
        <p:txBody>
          <a:bodyPr wrap="square" lIns="0" rIns="0" tIns="0" bIns="0" anchor="ctr">
            <a:spAutoFit/>
          </a:bodyPr>
          <a:lstStyle/>
          <a:p>
            <a:pPr algn="ctr"/>
            <a:r>
              <a:rPr sz="2000" b="0" i="0">
                <a:solidFill>
                  <a:srgbClr val="FFFFFF"/>
                </a:solidFill>
                <a:latin typeface="Georgia"/>
              </a:rPr>
              <a:t>P1</a:t>
            </a:r>
          </a:p>
        </p:txBody>
      </p:sp>
      <p:sp>
        <p:nvSpPr>
          <p:cNvPr id="12" name="TextBox 11"/>
          <p:cNvSpPr txBox="1"/>
          <p:nvPr/>
        </p:nvSpPr>
        <p:spPr>
          <a:xfrm>
            <a:off x="594360" y="3227832"/>
            <a:ext cx="868680" cy="201168"/>
          </a:xfrm>
          <a:prstGeom prst="rect">
            <a:avLst/>
          </a:prstGeom>
          <a:noFill/>
        </p:spPr>
        <p:txBody>
          <a:bodyPr wrap="square" lIns="0" rIns="0" tIns="0" bIns="0" anchor="ctr">
            <a:spAutoFit/>
          </a:bodyPr>
          <a:lstStyle/>
          <a:p>
            <a:pPr algn="ctr"/>
            <a:r>
              <a:rPr sz="800" b="1" i="0" spc="150">
                <a:solidFill>
                  <a:srgbClr val="B7B0E8"/>
                </a:solidFill>
                <a:latin typeface="Calibri"/>
              </a:rPr>
              <a:t>CRITICAL</a:t>
            </a:r>
          </a:p>
        </p:txBody>
      </p:sp>
      <p:sp>
        <p:nvSpPr>
          <p:cNvPr id="13" name="TextBox 12"/>
          <p:cNvSpPr txBox="1"/>
          <p:nvPr/>
        </p:nvSpPr>
        <p:spPr>
          <a:xfrm>
            <a:off x="1627632" y="2788920"/>
            <a:ext cx="6035040" cy="274320"/>
          </a:xfrm>
          <a:prstGeom prst="rect">
            <a:avLst/>
          </a:prstGeom>
          <a:noFill/>
        </p:spPr>
        <p:txBody>
          <a:bodyPr wrap="square" lIns="0" rIns="0" tIns="0" bIns="0" anchor="ctr">
            <a:spAutoFit/>
          </a:bodyPr>
          <a:lstStyle/>
          <a:p>
            <a:pPr algn="l"/>
            <a:r>
              <a:rPr sz="1500" b="1" i="0">
                <a:solidFill>
                  <a:srgbClr val="1F1D4A"/>
                </a:solidFill>
                <a:latin typeface="Calibri"/>
              </a:rPr>
              <a:t>Build the portfolio once</a:t>
            </a:r>
          </a:p>
        </p:txBody>
      </p:sp>
      <p:sp>
        <p:nvSpPr>
          <p:cNvPr id="14" name="TextBox 13"/>
          <p:cNvSpPr txBox="1"/>
          <p:nvPr/>
        </p:nvSpPr>
        <p:spPr>
          <a:xfrm>
            <a:off x="1627632" y="3081528"/>
            <a:ext cx="6035040" cy="219456"/>
          </a:xfrm>
          <a:prstGeom prst="rect">
            <a:avLst/>
          </a:prstGeom>
          <a:noFill/>
        </p:spPr>
        <p:txBody>
          <a:bodyPr wrap="square" lIns="0" rIns="0" tIns="0" bIns="0" anchor="ctr">
            <a:spAutoFit/>
          </a:bodyPr>
          <a:lstStyle/>
          <a:p>
            <a:pPr algn="l"/>
            <a:r>
              <a:rPr sz="1000" b="1" i="0" spc="150">
                <a:solidFill>
                  <a:srgbClr val="5A48E8"/>
                </a:solidFill>
                <a:latin typeface="Calibri"/>
              </a:rPr>
              <a:t>Product Experience Design</a:t>
            </a:r>
          </a:p>
        </p:txBody>
      </p:sp>
      <p:sp>
        <p:nvSpPr>
          <p:cNvPr id="15" name="TextBox 14"/>
          <p:cNvSpPr txBox="1"/>
          <p:nvPr/>
        </p:nvSpPr>
        <p:spPr>
          <a:xfrm>
            <a:off x="1627632" y="3319272"/>
            <a:ext cx="9692640" cy="310896"/>
          </a:xfrm>
          <a:prstGeom prst="rect">
            <a:avLst/>
          </a:prstGeom>
          <a:noFill/>
        </p:spPr>
        <p:txBody>
          <a:bodyPr wrap="square" lIns="0" rIns="0" tIns="0" bIns="0" anchor="t">
            <a:spAutoFit/>
          </a:bodyPr>
          <a:lstStyle/>
          <a:p>
            <a:pPr algn="l"/>
            <a:r>
              <a:rPr sz="1000" b="0" i="0">
                <a:solidFill>
                  <a:srgbClr val="5A5C70"/>
                </a:solidFill>
                <a:latin typeface="Calibri"/>
              </a:rPr>
              <a:t>18 capabilities are a Gap in Mutual Funds, Robo Advisory and US Trading at once, and 9 of them are Live in Saudi Market today. One portfolio surface, pointed at by every product, closes 18 rows in three journeys. Building it three more times separately is the most expensive route.</a:t>
            </a:r>
          </a:p>
        </p:txBody>
      </p:sp>
      <p:sp>
        <p:nvSpPr>
          <p:cNvPr id="16" name="Rectangle 15"/>
          <p:cNvSpPr/>
          <p:nvPr/>
        </p:nvSpPr>
        <p:spPr>
          <a:xfrm>
            <a:off x="594360" y="3813048"/>
            <a:ext cx="11002975" cy="1078992"/>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813048"/>
            <a:ext cx="868680" cy="1078992"/>
          </a:xfrm>
          <a:prstGeom prst="rect">
            <a:avLst/>
          </a:prstGeom>
          <a:solidFill>
            <a:srgbClr val="1F1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069080"/>
            <a:ext cx="868680" cy="329184"/>
          </a:xfrm>
          <a:prstGeom prst="rect">
            <a:avLst/>
          </a:prstGeom>
          <a:noFill/>
        </p:spPr>
        <p:txBody>
          <a:bodyPr wrap="square" lIns="0" rIns="0" tIns="0" bIns="0" anchor="ctr">
            <a:spAutoFit/>
          </a:bodyPr>
          <a:lstStyle/>
          <a:p>
            <a:pPr algn="ctr"/>
            <a:r>
              <a:rPr sz="2000" b="0" i="0">
                <a:solidFill>
                  <a:srgbClr val="FFFFFF"/>
                </a:solidFill>
                <a:latin typeface="Georgia"/>
              </a:rPr>
              <a:t>P2</a:t>
            </a:r>
          </a:p>
        </p:txBody>
      </p:sp>
      <p:sp>
        <p:nvSpPr>
          <p:cNvPr id="19" name="TextBox 18"/>
          <p:cNvSpPr txBox="1"/>
          <p:nvPr/>
        </p:nvSpPr>
        <p:spPr>
          <a:xfrm>
            <a:off x="594360" y="4434840"/>
            <a:ext cx="868680" cy="201168"/>
          </a:xfrm>
          <a:prstGeom prst="rect">
            <a:avLst/>
          </a:prstGeom>
          <a:noFill/>
        </p:spPr>
        <p:txBody>
          <a:bodyPr wrap="square" lIns="0" rIns="0" tIns="0" bIns="0" anchor="ctr">
            <a:spAutoFit/>
          </a:bodyPr>
          <a:lstStyle/>
          <a:p>
            <a:pPr algn="ctr"/>
            <a:r>
              <a:rPr sz="800" b="1" i="0" spc="150">
                <a:solidFill>
                  <a:srgbClr val="B7B0E8"/>
                </a:solidFill>
                <a:latin typeface="Calibri"/>
              </a:rPr>
              <a:t>CONFIRM</a:t>
            </a:r>
          </a:p>
        </p:txBody>
      </p:sp>
      <p:sp>
        <p:nvSpPr>
          <p:cNvPr id="20" name="TextBox 19"/>
          <p:cNvSpPr txBox="1"/>
          <p:nvPr/>
        </p:nvSpPr>
        <p:spPr>
          <a:xfrm>
            <a:off x="1627632" y="3995928"/>
            <a:ext cx="6035040" cy="274320"/>
          </a:xfrm>
          <a:prstGeom prst="rect">
            <a:avLst/>
          </a:prstGeom>
          <a:noFill/>
        </p:spPr>
        <p:txBody>
          <a:bodyPr wrap="square" lIns="0" rIns="0" tIns="0" bIns="0" anchor="ctr">
            <a:spAutoFit/>
          </a:bodyPr>
          <a:lstStyle/>
          <a:p>
            <a:pPr algn="l"/>
            <a:r>
              <a:rPr sz="1500" b="1" i="0">
                <a:solidFill>
                  <a:srgbClr val="1F1D4A"/>
                </a:solidFill>
                <a:latin typeface="Calibri"/>
              </a:rPr>
              <a:t>Settle the Financial section split</a:t>
            </a:r>
          </a:p>
        </p:txBody>
      </p:sp>
      <p:sp>
        <p:nvSpPr>
          <p:cNvPr id="21" name="TextBox 20"/>
          <p:cNvSpPr txBox="1"/>
          <p:nvPr/>
        </p:nvSpPr>
        <p:spPr>
          <a:xfrm>
            <a:off x="1627632" y="4288536"/>
            <a:ext cx="6035040" cy="219456"/>
          </a:xfrm>
          <a:prstGeom prst="rect">
            <a:avLst/>
          </a:prstGeom>
          <a:noFill/>
        </p:spPr>
        <p:txBody>
          <a:bodyPr wrap="square" lIns="0" rIns="0" tIns="0" bIns="0" anchor="ctr">
            <a:spAutoFit/>
          </a:bodyPr>
          <a:lstStyle/>
          <a:p>
            <a:pPr algn="l"/>
            <a:r>
              <a:rPr sz="1000" b="1" i="0" spc="150">
                <a:solidFill>
                  <a:srgbClr val="5A48E8"/>
                </a:solidFill>
                <a:latin typeface="Calibri"/>
              </a:rPr>
              <a:t>Saudi &amp; US Trading Squads</a:t>
            </a:r>
          </a:p>
        </p:txBody>
      </p:sp>
      <p:sp>
        <p:nvSpPr>
          <p:cNvPr id="22" name="TextBox 21"/>
          <p:cNvSpPr txBox="1"/>
          <p:nvPr/>
        </p:nvSpPr>
        <p:spPr>
          <a:xfrm>
            <a:off x="1627632" y="4526280"/>
            <a:ext cx="9692640" cy="310896"/>
          </a:xfrm>
          <a:prstGeom prst="rect">
            <a:avLst/>
          </a:prstGeom>
          <a:noFill/>
        </p:spPr>
        <p:txBody>
          <a:bodyPr wrap="square" lIns="0" rIns="0" tIns="0" bIns="0" anchor="t">
            <a:spAutoFit/>
          </a:bodyPr>
          <a:lstStyle/>
          <a:p>
            <a:pPr algn="l"/>
            <a:r>
              <a:rPr sz="1000" b="0" i="0">
                <a:solidFill>
                  <a:srgbClr val="5A5C70"/>
                </a:solidFill>
                <a:latin typeface="Calibri"/>
              </a:rPr>
              <a:t>The Stock Page Financial section — statements, earnings, revenue, actions — is Live on US Trading and Planned on Saudi Market after this week's walks. That is either a real product difference or a walk that missed something. Roughly 40 rows move either way.</a:t>
            </a:r>
          </a:p>
        </p:txBody>
      </p:sp>
      <p:sp>
        <p:nvSpPr>
          <p:cNvPr id="23" name="Rectangle 22"/>
          <p:cNvSpPr/>
          <p:nvPr/>
        </p:nvSpPr>
        <p:spPr>
          <a:xfrm>
            <a:off x="594360" y="5020056"/>
            <a:ext cx="11002975" cy="1078992"/>
          </a:xfrm>
          <a:prstGeom prst="rect">
            <a:avLst/>
          </a:prstGeom>
          <a:solidFill>
            <a:srgbClr val="FFFFFF"/>
          </a:solidFill>
          <a:ln w="6350">
            <a:solidFill>
              <a:srgbClr val="DCD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5020056"/>
            <a:ext cx="868680" cy="1078992"/>
          </a:xfrm>
          <a:prstGeom prst="rect">
            <a:avLst/>
          </a:prstGeom>
          <a:solidFill>
            <a:srgbClr val="1F1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276088"/>
            <a:ext cx="868680" cy="329184"/>
          </a:xfrm>
          <a:prstGeom prst="rect">
            <a:avLst/>
          </a:prstGeom>
          <a:noFill/>
        </p:spPr>
        <p:txBody>
          <a:bodyPr wrap="square" lIns="0" rIns="0" tIns="0" bIns="0" anchor="ctr">
            <a:spAutoFit/>
          </a:bodyPr>
          <a:lstStyle/>
          <a:p>
            <a:pPr algn="ctr"/>
            <a:r>
              <a:rPr sz="2000" b="0" i="0">
                <a:solidFill>
                  <a:srgbClr val="FFFFFF"/>
                </a:solidFill>
                <a:latin typeface="Georgia"/>
              </a:rPr>
              <a:t>P3</a:t>
            </a:r>
          </a:p>
        </p:txBody>
      </p:sp>
      <p:sp>
        <p:nvSpPr>
          <p:cNvPr id="26" name="TextBox 25"/>
          <p:cNvSpPr txBox="1"/>
          <p:nvPr/>
        </p:nvSpPr>
        <p:spPr>
          <a:xfrm>
            <a:off x="594360" y="5641848"/>
            <a:ext cx="868680" cy="201168"/>
          </a:xfrm>
          <a:prstGeom prst="rect">
            <a:avLst/>
          </a:prstGeom>
          <a:noFill/>
        </p:spPr>
        <p:txBody>
          <a:bodyPr wrap="square" lIns="0" rIns="0" tIns="0" bIns="0" anchor="ctr">
            <a:spAutoFit/>
          </a:bodyPr>
          <a:lstStyle/>
          <a:p>
            <a:pPr algn="ctr"/>
            <a:r>
              <a:rPr sz="800" b="1" i="0" spc="150">
                <a:solidFill>
                  <a:srgbClr val="B7B0E8"/>
                </a:solidFill>
                <a:latin typeface="Calibri"/>
              </a:rPr>
              <a:t>SUSTAIN</a:t>
            </a:r>
          </a:p>
        </p:txBody>
      </p:sp>
      <p:sp>
        <p:nvSpPr>
          <p:cNvPr id="27" name="TextBox 26"/>
          <p:cNvSpPr txBox="1"/>
          <p:nvPr/>
        </p:nvSpPr>
        <p:spPr>
          <a:xfrm>
            <a:off x="1627632" y="5202936"/>
            <a:ext cx="6035040" cy="274320"/>
          </a:xfrm>
          <a:prstGeom prst="rect">
            <a:avLst/>
          </a:prstGeom>
          <a:noFill/>
        </p:spPr>
        <p:txBody>
          <a:bodyPr wrap="square" lIns="0" rIns="0" tIns="0" bIns="0" anchor="ctr">
            <a:spAutoFit/>
          </a:bodyPr>
          <a:lstStyle/>
          <a:p>
            <a:pPr algn="l"/>
            <a:r>
              <a:rPr sz="1500" b="1" i="0">
                <a:solidFill>
                  <a:srgbClr val="1F1D4A"/>
                </a:solidFill>
                <a:latin typeface="Calibri"/>
              </a:rPr>
              <a:t>Keep the map current</a:t>
            </a:r>
          </a:p>
        </p:txBody>
      </p:sp>
      <p:sp>
        <p:nvSpPr>
          <p:cNvPr id="28" name="TextBox 27"/>
          <p:cNvSpPr txBox="1"/>
          <p:nvPr/>
        </p:nvSpPr>
        <p:spPr>
          <a:xfrm>
            <a:off x="1627632" y="5495544"/>
            <a:ext cx="6035040" cy="219456"/>
          </a:xfrm>
          <a:prstGeom prst="rect">
            <a:avLst/>
          </a:prstGeom>
          <a:noFill/>
        </p:spPr>
        <p:txBody>
          <a:bodyPr wrap="square" lIns="0" rIns="0" tIns="0" bIns="0" anchor="ctr">
            <a:spAutoFit/>
          </a:bodyPr>
          <a:lstStyle/>
          <a:p>
            <a:pPr algn="l"/>
            <a:r>
              <a:rPr sz="1000" b="1" i="0" spc="150">
                <a:solidFill>
                  <a:srgbClr val="5A48E8"/>
                </a:solidFill>
                <a:latin typeface="Calibri"/>
              </a:rPr>
              <a:t>Design System &amp; Governance</a:t>
            </a:r>
          </a:p>
        </p:txBody>
      </p:sp>
      <p:sp>
        <p:nvSpPr>
          <p:cNvPr id="29" name="TextBox 28"/>
          <p:cNvSpPr txBox="1"/>
          <p:nvPr/>
        </p:nvSpPr>
        <p:spPr>
          <a:xfrm>
            <a:off x="1627632" y="5733288"/>
            <a:ext cx="9692640" cy="310896"/>
          </a:xfrm>
          <a:prstGeom prst="rect">
            <a:avLst/>
          </a:prstGeom>
          <a:noFill/>
        </p:spPr>
        <p:txBody>
          <a:bodyPr wrap="square" lIns="0" rIns="0" tIns="0" bIns="0" anchor="t">
            <a:spAutoFit/>
          </a:bodyPr>
          <a:lstStyle/>
          <a:p>
            <a:pPr algn="l"/>
            <a:r>
              <a:rPr sz="1000" b="0" i="0">
                <a:solidFill>
                  <a:srgbClr val="5A5C70"/>
                </a:solidFill>
                <a:latin typeface="Calibri"/>
              </a:rPr>
              <a:t>The map is complete today — all 865 rows walked or ruled. It will not stay complete on its own. Every release needs to update a row, or within a quarter it stops answering "does ARC have this?"</a:t>
            </a:r>
          </a:p>
        </p:txBody>
      </p:sp>
      <p:sp>
        <p:nvSpPr>
          <p:cNvPr id="30" name="TextBox 29"/>
          <p:cNvSpPr txBox="1"/>
          <p:nvPr/>
        </p:nvSpPr>
        <p:spPr>
          <a:xfrm>
            <a:off x="594360" y="6355080"/>
            <a:ext cx="11002975" cy="228600"/>
          </a:xfrm>
          <a:prstGeom prst="rect">
            <a:avLst/>
          </a:prstGeom>
          <a:noFill/>
        </p:spPr>
        <p:txBody>
          <a:bodyPr wrap="square" lIns="0" rIns="0" tIns="0" bIns="0" anchor="ctr">
            <a:spAutoFit/>
          </a:bodyPr>
          <a:lstStyle/>
          <a:p>
            <a:pPr algn="l"/>
            <a:r>
              <a:rPr sz="800" b="0" i="0">
                <a:solidFill>
                  <a:srgbClr val="8C8E9F"/>
                </a:solidFill>
                <a:latin typeface="Calibri"/>
              </a:rPr>
              <a:t>Source: Features Map · baseline v2.21 · features_derived.json · verified_live.json · manual_status.json · 31 August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ing-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0682935" y="347472"/>
            <a:ext cx="914400" cy="274320"/>
          </a:xfrm>
          <a:prstGeom prst="rect">
            <a:avLst/>
          </a:prstGeom>
          <a:noFill/>
        </p:spPr>
        <p:txBody>
          <a:bodyPr wrap="square" lIns="0" rIns="0" tIns="0" bIns="0" anchor="ctr">
            <a:spAutoFit/>
          </a:bodyPr>
          <a:lstStyle/>
          <a:p>
            <a:pPr algn="r"/>
            <a:r>
              <a:rPr sz="950" b="0" i="0">
                <a:solidFill>
                  <a:srgbClr val="FFFFFF"/>
                </a:solidFill>
                <a:latin typeface="Calibri"/>
              </a:rPr>
              <a:t>08  /  08</a:t>
            </a:r>
          </a:p>
        </p:txBody>
      </p:sp>
      <p:sp>
        <p:nvSpPr>
          <p:cNvPr id="4" name="TextBox 3"/>
          <p:cNvSpPr txBox="1"/>
          <p:nvPr/>
        </p:nvSpPr>
        <p:spPr>
          <a:xfrm>
            <a:off x="594360" y="2331720"/>
            <a:ext cx="5486400" cy="274320"/>
          </a:xfrm>
          <a:prstGeom prst="rect">
            <a:avLst/>
          </a:prstGeom>
          <a:noFill/>
        </p:spPr>
        <p:txBody>
          <a:bodyPr wrap="square" lIns="0" rIns="0" tIns="0" bIns="0" anchor="ctr">
            <a:spAutoFit/>
          </a:bodyPr>
          <a:lstStyle/>
          <a:p>
            <a:pPr algn="l"/>
            <a:r>
              <a:rPr sz="1100" b="1" i="0" spc="300">
                <a:solidFill>
                  <a:srgbClr val="B7B0E8"/>
                </a:solidFill>
                <a:latin typeface="Calibri"/>
              </a:rPr>
              <a:t>THE RECOMMENDATION</a:t>
            </a:r>
          </a:p>
        </p:txBody>
      </p:sp>
      <p:sp>
        <p:nvSpPr>
          <p:cNvPr id="5" name="TextBox 4"/>
          <p:cNvSpPr txBox="1"/>
          <p:nvPr/>
        </p:nvSpPr>
        <p:spPr>
          <a:xfrm>
            <a:off x="594360" y="2743200"/>
            <a:ext cx="7772400" cy="868680"/>
          </a:xfrm>
          <a:prstGeom prst="rect">
            <a:avLst/>
          </a:prstGeom>
          <a:noFill/>
        </p:spPr>
        <p:txBody>
          <a:bodyPr wrap="square" lIns="0" rIns="0" tIns="0" bIns="0" anchor="ctr">
            <a:spAutoFit/>
          </a:bodyPr>
          <a:lstStyle/>
          <a:p>
            <a:pPr algn="l"/>
            <a:r>
              <a:rPr sz="4800" b="0" i="0" spc="-100">
                <a:solidFill>
                  <a:srgbClr val="FFFFFF"/>
                </a:solidFill>
                <a:latin typeface="Calibri"/>
              </a:rPr>
              <a:t>Build the portfolio once,</a:t>
            </a:r>
          </a:p>
        </p:txBody>
      </p:sp>
      <p:sp>
        <p:nvSpPr>
          <p:cNvPr id="6" name="TextBox 5"/>
          <p:cNvSpPr txBox="1"/>
          <p:nvPr/>
        </p:nvSpPr>
        <p:spPr>
          <a:xfrm>
            <a:off x="594360" y="3520440"/>
            <a:ext cx="7772400" cy="1005840"/>
          </a:xfrm>
          <a:prstGeom prst="rect">
            <a:avLst/>
          </a:prstGeom>
          <a:noFill/>
        </p:spPr>
        <p:txBody>
          <a:bodyPr wrap="square" lIns="0" rIns="0" tIns="0" bIns="0" anchor="ctr">
            <a:spAutoFit/>
          </a:bodyPr>
          <a:lstStyle/>
          <a:p>
            <a:pPr algn="l"/>
            <a:r>
              <a:rPr sz="5600" b="1" i="0" spc="-100">
                <a:solidFill>
                  <a:srgbClr val="B7B0E8"/>
                </a:solidFill>
                <a:latin typeface="Calibri"/>
              </a:rPr>
              <a:t>not three times.</a:t>
            </a:r>
          </a:p>
        </p:txBody>
      </p:sp>
      <p:sp>
        <p:nvSpPr>
          <p:cNvPr id="7" name="TextBox 6"/>
          <p:cNvSpPr txBox="1"/>
          <p:nvPr/>
        </p:nvSpPr>
        <p:spPr>
          <a:xfrm>
            <a:off x="594360" y="4709160"/>
            <a:ext cx="7315200" cy="365760"/>
          </a:xfrm>
          <a:prstGeom prst="rect">
            <a:avLst/>
          </a:prstGeom>
          <a:noFill/>
        </p:spPr>
        <p:txBody>
          <a:bodyPr wrap="square" lIns="0" rIns="0" tIns="0" bIns="0" anchor="ctr">
            <a:spAutoFit/>
          </a:bodyPr>
          <a:lstStyle/>
          <a:p>
            <a:pPr algn="l"/>
            <a:r>
              <a:rPr sz="1600" b="0" i="0">
                <a:solidFill>
                  <a:srgbClr val="FFFFFF"/>
                </a:solidFill>
                <a:latin typeface="Calibri"/>
              </a:rPr>
              <a:t>18 capabilities missing from three products at the same time — 9 of them already working in Saudi Market.</a:t>
            </a:r>
          </a:p>
        </p:txBody>
      </p:sp>
      <p:sp>
        <p:nvSpPr>
          <p:cNvPr id="8" name="Rectangle 7"/>
          <p:cNvSpPr/>
          <p:nvPr/>
        </p:nvSpPr>
        <p:spPr>
          <a:xfrm>
            <a:off x="594360" y="5212080"/>
            <a:ext cx="2926080" cy="22225"/>
          </a:xfrm>
          <a:prstGeom prst="rect">
            <a:avLst/>
          </a:prstGeom>
          <a:solidFill>
            <a:srgbClr val="B7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394960"/>
            <a:ext cx="7315200" cy="365760"/>
          </a:xfrm>
          <a:prstGeom prst="rect">
            <a:avLst/>
          </a:prstGeom>
          <a:noFill/>
        </p:spPr>
        <p:txBody>
          <a:bodyPr wrap="square" lIns="0" rIns="0" tIns="0" bIns="0" anchor="ctr">
            <a:spAutoFit/>
          </a:bodyPr>
          <a:lstStyle/>
          <a:p>
            <a:pPr algn="l"/>
            <a:r>
              <a:rPr sz="1400" b="0" i="1">
                <a:solidFill>
                  <a:srgbClr val="FFFFFF"/>
                </a:solidFill>
                <a:latin typeface="Calibri"/>
              </a:rPr>
              <a:t>865 rows · 10 journeys · every one decided · 504 of 524 Live rows carry a dated walk.</a:t>
            </a:r>
          </a:p>
        </p:txBody>
      </p:sp>
      <p:sp>
        <p:nvSpPr>
          <p:cNvPr id="10" name="TextBox 9"/>
          <p:cNvSpPr txBox="1"/>
          <p:nvPr/>
        </p:nvSpPr>
        <p:spPr>
          <a:xfrm>
            <a:off x="594360" y="6400800"/>
            <a:ext cx="7315200" cy="274320"/>
          </a:xfrm>
          <a:prstGeom prst="rect">
            <a:avLst/>
          </a:prstGeom>
          <a:noFill/>
        </p:spPr>
        <p:txBody>
          <a:bodyPr wrap="square" lIns="0" rIns="0" tIns="0" bIns="0" anchor="ctr">
            <a:spAutoFit/>
          </a:bodyPr>
          <a:lstStyle/>
          <a:p>
            <a:pPr algn="l"/>
            <a:r>
              <a:rPr sz="1000" b="0" i="0">
                <a:solidFill>
                  <a:srgbClr val="FFFFFF"/>
                </a:solidFill>
                <a:latin typeface="Calibri"/>
              </a:rPr>
              <a:t>Al Rajhi Capital  ·  الراجحي المالية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Features Map  ·  v2.21</dc:title>
  <dc:subject/>
  <dc:creator>Al Rajhi Capital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