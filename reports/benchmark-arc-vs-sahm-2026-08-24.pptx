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70" r:id="rId16"/>
    <p:sldId id="271" r:id="rId15"/>
    <p:sldId id="272" r:id="rId18"/>
    <p:sldId id="273" r:id="rId14"/>
    <p:sldId id="274" r:id="rId13"/>
    <p:sldId id="275" r:id="rId12"/>
    <p:sldId id="276"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12" Type="http://schemas.openxmlformats.org/officeDocument/2006/relationships/slide" Target="slides/slide14.xml"/><Relationship Id="rId13" Type="http://schemas.openxmlformats.org/officeDocument/2006/relationships/slide" Target="slides/slide13.xml"/><Relationship Id="rId14" Type="http://schemas.openxmlformats.org/officeDocument/2006/relationships/slide" Target="slides/slide12.xml"/><Relationship Id="rId15" Type="http://schemas.openxmlformats.org/officeDocument/2006/relationships/slide" Target="slides/slide10.xml"/><Relationship Id="rId16" Type="http://schemas.openxmlformats.org/officeDocument/2006/relationships/slide" Target="slides/slide9.xml"/><Relationship Id="rId18" Type="http://schemas.openxmlformats.org/officeDocument/2006/relationships/slide" Target="slides/slide11.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78981" y="6232199"/>
            <a:ext cx="258620" cy="248302"/>
          </a:xfrm>
          <a:prstGeom prst="rect">
            <a:avLst/>
          </a:prstGeom>
          <a:ln w="12700">
            <a:miter lim="400000"/>
          </a:ln>
        </p:spPr>
        <p:txBody>
          <a:bodyPr wrap="none" lIns="45718" tIns="45718" rIns="45718" bIns="45718" anchor="ctr">
            <a:spAutoFit/>
          </a:bodyPr>
          <a:lstStyle>
            <a:lvl1pPr algn="r">
              <a:defRPr sz="1200">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0" name="Image 0" descr="Image 0"/>
          <p:cNvPicPr>
            <a:picLocks noChangeAspect="1"/>
          </p:cNvPicPr>
          <p:nvPr/>
        </p:nvPicPr>
        <p:blipFill>
          <a:blip r:embed="rId2">
            <a:extLst/>
          </a:blip>
          <a:stretch>
            <a:fillRect/>
          </a:stretch>
        </p:blipFill>
        <p:spPr>
          <a:xfrm>
            <a:off x="0" y="0"/>
            <a:ext cx="12191697" cy="6858000"/>
          </a:xfrm>
          <a:prstGeom prst="rect">
            <a:avLst/>
          </a:prstGeom>
          <a:ln w="12700">
            <a:miter lim="400000"/>
          </a:ln>
        </p:spPr>
      </p:pic>
      <p:sp>
        <p:nvSpPr>
          <p:cNvPr id="21" name="Text 0"/>
          <p:cNvSpPr txBox="1"/>
          <p:nvPr/>
        </p:nvSpPr>
        <p:spPr>
          <a:xfrm>
            <a:off x="457200" y="2390445"/>
            <a:ext cx="64008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50" sz="1200">
                <a:solidFill>
                  <a:srgbClr val="0029FF"/>
                </a:solidFill>
                <a:latin typeface="+mj-lt"/>
                <a:ea typeface="+mj-ea"/>
                <a:cs typeface="+mj-cs"/>
                <a:sym typeface="Calibri"/>
              </a:defRPr>
            </a:lvl1pPr>
          </a:lstStyle>
          <a:p>
            <a:pPr/>
            <a:r>
              <a:t>BENCHMARK  ·  HEAD-TO-HEAD</a:t>
            </a:r>
          </a:p>
        </p:txBody>
      </p:sp>
      <p:sp>
        <p:nvSpPr>
          <p:cNvPr id="22" name="Text 1"/>
          <p:cNvSpPr txBox="1"/>
          <p:nvPr/>
        </p:nvSpPr>
        <p:spPr>
          <a:xfrm>
            <a:off x="457200" y="2886623"/>
            <a:ext cx="8229600" cy="4903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000045"/>
                </a:solidFill>
                <a:latin typeface="+mj-lt"/>
                <a:ea typeface="+mj-ea"/>
                <a:cs typeface="+mj-cs"/>
                <a:sym typeface="Calibri"/>
              </a:defRPr>
            </a:lvl1pPr>
          </a:lstStyle>
          <a:p>
            <a:pPr/>
            <a:r>
              <a:t>ARC vs Sahm</a:t>
            </a:r>
          </a:p>
        </p:txBody>
      </p:sp>
      <p:sp>
        <p:nvSpPr>
          <p:cNvPr id="23" name="Text 2"/>
          <p:cNvSpPr txBox="1"/>
          <p:nvPr/>
        </p:nvSpPr>
        <p:spPr>
          <a:xfrm>
            <a:off x="457200" y="3709582"/>
            <a:ext cx="8229600" cy="4903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221AFB"/>
                </a:solidFill>
                <a:latin typeface="+mj-lt"/>
                <a:ea typeface="+mj-ea"/>
                <a:cs typeface="+mj-cs"/>
                <a:sym typeface="Calibri"/>
              </a:defRPr>
            </a:lvl1pPr>
          </a:lstStyle>
          <a:p>
            <a:pPr/>
            <a:r>
              <a:t>Capital</a:t>
            </a:r>
          </a:p>
        </p:txBody>
      </p:sp>
      <p:sp>
        <p:nvSpPr>
          <p:cNvPr id="24" name="Text 3"/>
          <p:cNvSpPr txBox="1"/>
          <p:nvPr/>
        </p:nvSpPr>
        <p:spPr>
          <a:xfrm>
            <a:off x="457200" y="4615879"/>
            <a:ext cx="54864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75569"/>
                </a:solidFill>
                <a:latin typeface="+mj-lt"/>
                <a:ea typeface="+mj-ea"/>
                <a:cs typeface="+mj-cs"/>
                <a:sym typeface="Calibri"/>
              </a:defRPr>
            </a:lvl1pPr>
          </a:lstStyle>
          <a:p>
            <a:pPr/>
            <a:r>
              <a:t>24 August 2026  ·  Digital Experience Department</a:t>
            </a:r>
          </a:p>
        </p:txBody>
      </p:sp>
      <p:sp>
        <p:nvSpPr>
          <p:cNvPr id="25" name="Shape 4"/>
          <p:cNvSpPr/>
          <p:nvPr/>
        </p:nvSpPr>
        <p:spPr>
          <a:xfrm>
            <a:off x="457196" y="5074918"/>
            <a:ext cx="3474729" cy="6"/>
          </a:xfrm>
          <a:prstGeom prst="line">
            <a:avLst/>
          </a:prstGeom>
          <a:ln w="25400">
            <a:solidFill>
              <a:srgbClr val="0029FF"/>
            </a:solidFill>
          </a:ln>
        </p:spPr>
        <p:txBody>
          <a:bodyPr lIns="45718" tIns="45718" rIns="45718" bIns="45718"/>
          <a:lstStyle/>
          <a:p>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7"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8"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The Scorecard</a:t>
            </a:r>
          </a:p>
        </p:txBody>
      </p:sp>
      <p:sp>
        <p:nvSpPr>
          <p:cNvPr id="29"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02  /  7</a:t>
            </a:r>
          </a:p>
        </p:txBody>
      </p:sp>
      <p:sp>
        <p:nvSpPr>
          <p:cNvPr id="30"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31" name="Rectangle 8"/>
          <p:cNvSpPr/>
          <p:nvPr/>
        </p:nvSpPr>
        <p:spPr>
          <a:xfrm>
            <a:off x="457195" y="1005838"/>
            <a:ext cx="3698142" cy="1508765"/>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2" name="Rectangle 9"/>
          <p:cNvSpPr/>
          <p:nvPr/>
        </p:nvSpPr>
        <p:spPr>
          <a:xfrm>
            <a:off x="457195" y="1005838"/>
            <a:ext cx="64009" cy="1508765"/>
          </a:xfrm>
          <a:prstGeom prst="rect">
            <a:avLst/>
          </a:prstGeom>
          <a:solidFill>
            <a:srgbClr val="221AFB"/>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3" name="TextBox 10"/>
          <p:cNvSpPr txBox="1"/>
          <p:nvPr/>
        </p:nvSpPr>
        <p:spPr>
          <a:xfrm>
            <a:off x="777195" y="1170433"/>
            <a:ext cx="3278141" cy="7386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5000">
                <a:solidFill>
                  <a:srgbClr val="221AFB"/>
                </a:solidFill>
                <a:latin typeface="+mj-lt"/>
                <a:ea typeface="+mj-ea"/>
                <a:cs typeface="+mj-cs"/>
                <a:sym typeface="Calibri"/>
              </a:defRPr>
            </a:lvl1pPr>
          </a:lstStyle>
          <a:p>
            <a:pPr/>
            <a:r>
              <a:t>1.78</a:t>
            </a:r>
          </a:p>
        </p:txBody>
      </p:sp>
      <p:sp>
        <p:nvSpPr>
          <p:cNvPr id="34" name="TextBox 11"/>
          <p:cNvSpPr txBox="1"/>
          <p:nvPr/>
        </p:nvSpPr>
        <p:spPr>
          <a:xfrm>
            <a:off x="777195" y="1920238"/>
            <a:ext cx="3278141" cy="3908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100">
                <a:solidFill>
                  <a:srgbClr val="64748B"/>
                </a:solidFill>
                <a:latin typeface="+mj-lt"/>
                <a:ea typeface="+mj-ea"/>
                <a:cs typeface="+mj-cs"/>
                <a:sym typeface="Calibri"/>
              </a:defRPr>
            </a:pPr>
            <a:r>
              <a:t>ARC RECENT RATING</a:t>
            </a:r>
          </a:p>
          <a:p>
            <a:pPr>
              <a:defRPr b="1" sz="1100">
                <a:solidFill>
                  <a:srgbClr val="64748B"/>
                </a:solidFill>
                <a:latin typeface="+mj-lt"/>
                <a:ea typeface="+mj-ea"/>
                <a:cs typeface="+mj-cs"/>
                <a:sym typeface="Calibri"/>
              </a:defRPr>
            </a:pPr>
            <a:r>
              <a:t>vs Sahm 4.65</a:t>
            </a:r>
          </a:p>
        </p:txBody>
      </p:sp>
      <p:sp>
        <p:nvSpPr>
          <p:cNvPr id="35" name="Rectangle 12"/>
          <p:cNvSpPr/>
          <p:nvPr/>
        </p:nvSpPr>
        <p:spPr>
          <a:xfrm>
            <a:off x="4246775" y="1005838"/>
            <a:ext cx="3698142" cy="1508765"/>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6" name="Rectangle 13"/>
          <p:cNvSpPr/>
          <p:nvPr/>
        </p:nvSpPr>
        <p:spPr>
          <a:xfrm>
            <a:off x="4246776" y="1005838"/>
            <a:ext cx="64009" cy="1508765"/>
          </a:xfrm>
          <a:prstGeom prst="rect">
            <a:avLst/>
          </a:prstGeom>
          <a:solidFill>
            <a:srgbClr val="20C992"/>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7" name="TextBox 14"/>
          <p:cNvSpPr txBox="1"/>
          <p:nvPr/>
        </p:nvSpPr>
        <p:spPr>
          <a:xfrm>
            <a:off x="4566775" y="1170433"/>
            <a:ext cx="3278140" cy="7386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5000">
                <a:solidFill>
                  <a:srgbClr val="20C992"/>
                </a:solidFill>
                <a:latin typeface="+mj-lt"/>
                <a:ea typeface="+mj-ea"/>
                <a:cs typeface="+mj-cs"/>
                <a:sym typeface="Calibri"/>
              </a:defRPr>
            </a:lvl1pPr>
          </a:lstStyle>
          <a:p>
            <a:pPr/>
            <a:r>
              <a:t>13</a:t>
            </a:r>
          </a:p>
        </p:txBody>
      </p:sp>
      <p:sp>
        <p:nvSpPr>
          <p:cNvPr id="38" name="TextBox 15"/>
          <p:cNvSpPr txBox="1"/>
          <p:nvPr/>
        </p:nvSpPr>
        <p:spPr>
          <a:xfrm>
            <a:off x="4566775" y="1920238"/>
            <a:ext cx="3278140" cy="3908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100">
                <a:solidFill>
                  <a:srgbClr val="64748B"/>
                </a:solidFill>
                <a:latin typeface="+mj-lt"/>
                <a:ea typeface="+mj-ea"/>
                <a:cs typeface="+mj-cs"/>
                <a:sym typeface="Calibri"/>
              </a:defRPr>
            </a:pPr>
            <a:r>
              <a:t>FEATURES SAHM LEADS</a:t>
            </a:r>
          </a:p>
          <a:p>
            <a:pPr>
              <a:defRPr b="1" sz="1100">
                <a:solidFill>
                  <a:srgbClr val="64748B"/>
                </a:solidFill>
                <a:latin typeface="+mj-lt"/>
                <a:ea typeface="+mj-ea"/>
                <a:cs typeface="+mj-cs"/>
                <a:sym typeface="Calibri"/>
              </a:defRPr>
            </a:pPr>
            <a:r>
              <a:t>of 20 measured</a:t>
            </a:r>
          </a:p>
        </p:txBody>
      </p:sp>
      <p:sp>
        <p:nvSpPr>
          <p:cNvPr id="39" name="Rectangle 20"/>
          <p:cNvSpPr/>
          <p:nvPr/>
        </p:nvSpPr>
        <p:spPr>
          <a:xfrm>
            <a:off x="8036355" y="1005838"/>
            <a:ext cx="3698142" cy="1508765"/>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40" name="Rectangle 21"/>
          <p:cNvSpPr/>
          <p:nvPr/>
        </p:nvSpPr>
        <p:spPr>
          <a:xfrm>
            <a:off x="8036355" y="1005838"/>
            <a:ext cx="64009" cy="1508765"/>
          </a:xfrm>
          <a:prstGeom prst="rect">
            <a:avLst/>
          </a:prstGeom>
          <a:solidFill>
            <a:srgbClr val="808080"/>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41" name="TextBox 22"/>
          <p:cNvSpPr txBox="1"/>
          <p:nvPr/>
        </p:nvSpPr>
        <p:spPr>
          <a:xfrm>
            <a:off x="8356355" y="1170433"/>
            <a:ext cx="3278140" cy="73869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5000">
                <a:solidFill>
                  <a:srgbClr val="808080"/>
                </a:solidFill>
                <a:latin typeface="+mj-lt"/>
                <a:ea typeface="+mj-ea"/>
                <a:cs typeface="+mj-cs"/>
                <a:sym typeface="Calibri"/>
              </a:defRPr>
            </a:lvl1pPr>
          </a:lstStyle>
          <a:p>
            <a:pPr/>
            <a:r>
              <a:t>0</a:t>
            </a:r>
          </a:p>
        </p:txBody>
      </p:sp>
      <p:sp>
        <p:nvSpPr>
          <p:cNvPr id="42" name="TextBox 23"/>
          <p:cNvSpPr txBox="1"/>
          <p:nvPr/>
        </p:nvSpPr>
        <p:spPr>
          <a:xfrm>
            <a:off x="8356355" y="1920238"/>
            <a:ext cx="3278140" cy="3908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100">
                <a:solidFill>
                  <a:srgbClr val="64748B"/>
                </a:solidFill>
                <a:latin typeface="+mj-lt"/>
                <a:ea typeface="+mj-ea"/>
                <a:cs typeface="+mj-cs"/>
                <a:sym typeface="Calibri"/>
              </a:defRPr>
            </a:pPr>
            <a:r>
              <a:t>FEATURES ARC LEADS</a:t>
            </a:r>
          </a:p>
          <a:p>
            <a:pPr>
              <a:defRPr b="1" sz="1100">
                <a:solidFill>
                  <a:srgbClr val="64748B"/>
                </a:solidFill>
                <a:latin typeface="+mj-lt"/>
                <a:ea typeface="+mj-ea"/>
                <a:cs typeface="+mj-cs"/>
                <a:sym typeface="Calibri"/>
              </a:defRPr>
            </a:pPr>
            <a:r>
              <a:t>of 20 measured</a:t>
            </a:r>
          </a:p>
        </p:txBody>
      </p:sp>
      <p:sp>
        <p:nvSpPr>
          <p:cNvPr id="43" name="Rectangle 24"/>
          <p:cNvSpPr/>
          <p:nvPr/>
        </p:nvSpPr>
        <p:spPr>
          <a:xfrm>
            <a:off x="457199" y="2743200"/>
            <a:ext cx="11277297" cy="1691640"/>
          </a:xfrm>
          <a:prstGeom prst="rect">
            <a:avLst/>
          </a:prstGeom>
          <a:solidFill>
            <a:srgbClr val="EEF2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44" name="Rectangle 25"/>
          <p:cNvSpPr/>
          <p:nvPr/>
        </p:nvSpPr>
        <p:spPr>
          <a:xfrm>
            <a:off x="457200" y="2743200"/>
            <a:ext cx="54864" cy="1691640"/>
          </a:xfrm>
          <a:prstGeom prst="rect">
            <a:avLst/>
          </a:prstGeom>
          <a:solidFill>
            <a:srgbClr val="221AFB"/>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45" name="TextBox 26"/>
          <p:cNvSpPr txBox="1"/>
          <p:nvPr/>
        </p:nvSpPr>
        <p:spPr>
          <a:xfrm>
            <a:off x="777238" y="2880361"/>
            <a:ext cx="10637219"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solidFill>
                  <a:srgbClr val="221AFB"/>
                </a:solidFill>
                <a:latin typeface="+mj-lt"/>
                <a:ea typeface="+mj-ea"/>
                <a:cs typeface="+mj-cs"/>
                <a:sym typeface="Calibri"/>
              </a:defRPr>
            </a:lvl1pPr>
          </a:lstStyle>
          <a:p>
            <a:pPr/>
            <a:r>
              <a:t>THE FINDING</a:t>
            </a:r>
          </a:p>
        </p:txBody>
      </p:sp>
      <p:sp>
        <p:nvSpPr>
          <p:cNvPr id="46" name="TextBox 27"/>
          <p:cNvSpPr txBox="1"/>
          <p:nvPr/>
        </p:nvSpPr>
        <p:spPr>
          <a:xfrm>
            <a:off x="777238" y="3154677"/>
            <a:ext cx="10637219" cy="11105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700">
                <a:solidFill>
                  <a:srgbClr val="000045"/>
                </a:solidFill>
                <a:latin typeface="+mj-lt"/>
                <a:ea typeface="+mj-ea"/>
                <a:cs typeface="+mj-cs"/>
                <a:sym typeface="Calibri"/>
              </a:defRPr>
            </a:lvl1pPr>
          </a:lstStyle>
          <a:p>
            <a:pPr/>
            <a:r>
              <a:rPr sz="1300"/>
              <a:t>ARC's lifetime App Store rating is 4.57, carried by 217,013 historical ratings. It is not describing the app investors are using now: across the 99 most-recent reviews the average is 1.78, and 74 of them are one star. Sahm, on one-sixteenth of the installed base, sits at 4.65. Every ARC version in the 8.0–8.1 line averages below 2.7, so this is not one bad build. On the twenty features where both apps compete, Sahm leads thirteen and ARC leads none.</a:t>
            </a:r>
          </a:p>
        </p:txBody>
      </p:sp>
      <p:sp>
        <p:nvSpPr>
          <p:cNvPr id="5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t>Source: App Store SA · iTunes API · 148 most-recent reviews · Features Map coverage.json · 24 Aug 2026</a:t>
            </a:r>
          </a:p>
        </p:txBody>
      </p:sp>
      <p:pic>
        <p:nvPicPr>
          <p:cNvPr id="5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0"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61"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ARC Recent Ratings — Every Version Below 2.7</a:t>
            </a:r>
          </a:p>
        </p:txBody>
      </p:sp>
      <p:sp>
        <p:nvSpPr>
          <p:cNvPr id="262"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03  /  7</a:t>
            </a:r>
          </a:p>
        </p:txBody>
      </p:sp>
      <p:sp>
        <p:nvSpPr>
          <p:cNvPr id="263"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264" name="Rectangle 8"/>
          <p:cNvSpPr/>
          <p:nvPr/>
        </p:nvSpPr>
        <p:spPr>
          <a:xfrm>
            <a:off x="457199" y="1005838"/>
            <a:ext cx="11277297" cy="34747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65" name="TextBox 9"/>
          <p:cNvSpPr txBox="1"/>
          <p:nvPr/>
        </p:nvSpPr>
        <p:spPr>
          <a:xfrm>
            <a:off x="612646" y="1051561"/>
            <a:ext cx="16459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VERSION</a:t>
            </a:r>
          </a:p>
        </p:txBody>
      </p:sp>
      <p:sp>
        <p:nvSpPr>
          <p:cNvPr id="266" name="TextBox 10"/>
          <p:cNvSpPr txBox="1"/>
          <p:nvPr/>
        </p:nvSpPr>
        <p:spPr>
          <a:xfrm>
            <a:off x="2624326" y="1051561"/>
            <a:ext cx="3108966"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VOLUME</a:t>
            </a:r>
          </a:p>
        </p:txBody>
      </p:sp>
      <p:sp>
        <p:nvSpPr>
          <p:cNvPr id="267" name="TextBox 11"/>
          <p:cNvSpPr txBox="1"/>
          <p:nvPr/>
        </p:nvSpPr>
        <p:spPr>
          <a:xfrm>
            <a:off x="6099045" y="1051561"/>
            <a:ext cx="4206247"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RECENT REVIEW AVERAGE</a:t>
            </a:r>
          </a:p>
        </p:txBody>
      </p:sp>
      <p:sp>
        <p:nvSpPr>
          <p:cNvPr id="268" name="TextBox 12"/>
          <p:cNvSpPr txBox="1"/>
          <p:nvPr/>
        </p:nvSpPr>
        <p:spPr>
          <a:xfrm>
            <a:off x="10671047" y="1051561"/>
            <a:ext cx="91440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STATUS</a:t>
            </a:r>
          </a:p>
        </p:txBody>
      </p:sp>
      <p:sp>
        <p:nvSpPr>
          <p:cNvPr id="269" name="Rectangle 13"/>
          <p:cNvSpPr/>
          <p:nvPr/>
        </p:nvSpPr>
        <p:spPr>
          <a:xfrm>
            <a:off x="457199" y="1389888"/>
            <a:ext cx="11277297" cy="640086"/>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0" name="Rectangle 14"/>
          <p:cNvSpPr/>
          <p:nvPr/>
        </p:nvSpPr>
        <p:spPr>
          <a:xfrm>
            <a:off x="457198" y="1389888"/>
            <a:ext cx="45726" cy="64008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1" name="TextBox 15"/>
          <p:cNvSpPr txBox="1"/>
          <p:nvPr/>
        </p:nvSpPr>
        <p:spPr>
          <a:xfrm>
            <a:off x="630934" y="144475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200"/>
              <a:t>8.0.9</a:t>
            </a:r>
          </a:p>
        </p:txBody>
      </p:sp>
      <p:sp>
        <p:nvSpPr>
          <p:cNvPr id="272" name="TextBox 16"/>
          <p:cNvSpPr txBox="1"/>
          <p:nvPr/>
        </p:nvSpPr>
        <p:spPr>
          <a:xfrm>
            <a:off x="2624326" y="1444752"/>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10 reviews</a:t>
            </a:r>
          </a:p>
        </p:txBody>
      </p:sp>
      <p:sp>
        <p:nvSpPr>
          <p:cNvPr id="273" name="TextBox 17"/>
          <p:cNvSpPr txBox="1"/>
          <p:nvPr/>
        </p:nvSpPr>
        <p:spPr>
          <a:xfrm>
            <a:off x="6099045" y="1444752"/>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100"/>
              <a:t>Average 1.00 — the floor of the recent window</a:t>
            </a:r>
          </a:p>
        </p:txBody>
      </p:sp>
      <p:sp>
        <p:nvSpPr>
          <p:cNvPr id="274" name="Rectangle 18"/>
          <p:cNvSpPr/>
          <p:nvPr/>
        </p:nvSpPr>
        <p:spPr>
          <a:xfrm>
            <a:off x="10588752" y="1554481"/>
            <a:ext cx="1051565" cy="274322"/>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5" name="TextBox 19"/>
          <p:cNvSpPr txBox="1"/>
          <p:nvPr/>
        </p:nvSpPr>
        <p:spPr>
          <a:xfrm>
            <a:off x="10634471" y="1554480"/>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t>Critical</a:t>
            </a:r>
          </a:p>
        </p:txBody>
      </p:sp>
      <p:sp>
        <p:nvSpPr>
          <p:cNvPr id="276" name="Rectangle 20"/>
          <p:cNvSpPr/>
          <p:nvPr/>
        </p:nvSpPr>
        <p:spPr>
          <a:xfrm>
            <a:off x="457199" y="2066543"/>
            <a:ext cx="11277297" cy="640085"/>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7" name="Rectangle 21"/>
          <p:cNvSpPr/>
          <p:nvPr/>
        </p:nvSpPr>
        <p:spPr>
          <a:xfrm>
            <a:off x="457198" y="2066543"/>
            <a:ext cx="45726" cy="640085"/>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8" name="TextBox 22"/>
          <p:cNvSpPr txBox="1"/>
          <p:nvPr/>
        </p:nvSpPr>
        <p:spPr>
          <a:xfrm>
            <a:off x="630934" y="2121410"/>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200"/>
              <a:t>8.0.10</a:t>
            </a:r>
          </a:p>
        </p:txBody>
      </p:sp>
      <p:sp>
        <p:nvSpPr>
          <p:cNvPr id="279" name="TextBox 23"/>
          <p:cNvSpPr txBox="1"/>
          <p:nvPr/>
        </p:nvSpPr>
        <p:spPr>
          <a:xfrm>
            <a:off x="2624326" y="2121410"/>
            <a:ext cx="3108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22 reviews</a:t>
            </a:r>
          </a:p>
        </p:txBody>
      </p:sp>
      <p:sp>
        <p:nvSpPr>
          <p:cNvPr id="280" name="TextBox 24"/>
          <p:cNvSpPr txBox="1"/>
          <p:nvPr/>
        </p:nvSpPr>
        <p:spPr>
          <a:xfrm>
            <a:off x="6099045" y="2121410"/>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100"/>
              <a:t>Average 1.27 — the largest single cohort</a:t>
            </a:r>
          </a:p>
        </p:txBody>
      </p:sp>
      <p:sp>
        <p:nvSpPr>
          <p:cNvPr id="281" name="Rectangle 25"/>
          <p:cNvSpPr/>
          <p:nvPr/>
        </p:nvSpPr>
        <p:spPr>
          <a:xfrm>
            <a:off x="10588752" y="2231133"/>
            <a:ext cx="1051565" cy="27432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2" name="TextBox 26"/>
          <p:cNvSpPr txBox="1"/>
          <p:nvPr/>
        </p:nvSpPr>
        <p:spPr>
          <a:xfrm>
            <a:off x="10634471" y="2231137"/>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t>Critical</a:t>
            </a:r>
          </a:p>
        </p:txBody>
      </p:sp>
      <p:sp>
        <p:nvSpPr>
          <p:cNvPr id="283" name="Rectangle 34"/>
          <p:cNvSpPr/>
          <p:nvPr/>
        </p:nvSpPr>
        <p:spPr>
          <a:xfrm>
            <a:off x="457199" y="2743199"/>
            <a:ext cx="11277297" cy="640086"/>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4" name="Rectangle 35"/>
          <p:cNvSpPr/>
          <p:nvPr/>
        </p:nvSpPr>
        <p:spPr>
          <a:xfrm>
            <a:off x="457198" y="2743199"/>
            <a:ext cx="45726" cy="640086"/>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5" name="TextBox 36"/>
          <p:cNvSpPr txBox="1"/>
          <p:nvPr/>
        </p:nvSpPr>
        <p:spPr>
          <a:xfrm>
            <a:off x="630934" y="279806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200"/>
              <a:t>8.0.11</a:t>
            </a:r>
          </a:p>
        </p:txBody>
      </p:sp>
      <p:sp>
        <p:nvSpPr>
          <p:cNvPr id="286" name="TextBox 37"/>
          <p:cNvSpPr txBox="1"/>
          <p:nvPr/>
        </p:nvSpPr>
        <p:spPr>
          <a:xfrm>
            <a:off x="2624326" y="2798066"/>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11 reviews</a:t>
            </a:r>
          </a:p>
        </p:txBody>
      </p:sp>
      <p:sp>
        <p:nvSpPr>
          <p:cNvPr id="287" name="TextBox 38"/>
          <p:cNvSpPr txBox="1"/>
          <p:nvPr/>
        </p:nvSpPr>
        <p:spPr>
          <a:xfrm>
            <a:off x="6099045" y="2798066"/>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100"/>
              <a:t>Average 2.09</a:t>
            </a:r>
          </a:p>
        </p:txBody>
      </p:sp>
      <p:sp>
        <p:nvSpPr>
          <p:cNvPr id="288" name="Rectangle 39"/>
          <p:cNvSpPr/>
          <p:nvPr/>
        </p:nvSpPr>
        <p:spPr>
          <a:xfrm>
            <a:off x="10588752" y="2907788"/>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9" name="TextBox 40"/>
          <p:cNvSpPr txBox="1"/>
          <p:nvPr/>
        </p:nvSpPr>
        <p:spPr>
          <a:xfrm>
            <a:off x="10634471" y="2907792"/>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Critical</a:t>
            </a:r>
          </a:p>
        </p:txBody>
      </p:sp>
      <p:sp>
        <p:nvSpPr>
          <p:cNvPr id="290" name="Rectangle 41"/>
          <p:cNvSpPr/>
          <p:nvPr/>
        </p:nvSpPr>
        <p:spPr>
          <a:xfrm>
            <a:off x="457199" y="3419857"/>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1" name="Rectangle 42"/>
          <p:cNvSpPr/>
          <p:nvPr/>
        </p:nvSpPr>
        <p:spPr>
          <a:xfrm>
            <a:off x="457198" y="3419857"/>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2" name="TextBox 43"/>
          <p:cNvSpPr txBox="1"/>
          <p:nvPr/>
        </p:nvSpPr>
        <p:spPr>
          <a:xfrm>
            <a:off x="630934" y="347472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200"/>
              <a:t>8.1.0</a:t>
            </a:r>
          </a:p>
        </p:txBody>
      </p:sp>
      <p:sp>
        <p:nvSpPr>
          <p:cNvPr id="293" name="TextBox 44"/>
          <p:cNvSpPr txBox="1"/>
          <p:nvPr/>
        </p:nvSpPr>
        <p:spPr>
          <a:xfrm>
            <a:off x="2624326" y="3474722"/>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8 reviews</a:t>
            </a:r>
          </a:p>
        </p:txBody>
      </p:sp>
      <p:sp>
        <p:nvSpPr>
          <p:cNvPr id="294" name="TextBox 45"/>
          <p:cNvSpPr txBox="1"/>
          <p:nvPr/>
        </p:nvSpPr>
        <p:spPr>
          <a:xfrm>
            <a:off x="6099045" y="3474722"/>
            <a:ext cx="4206247"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100"/>
              <a:t>Average 1.62</a:t>
            </a:r>
          </a:p>
        </p:txBody>
      </p:sp>
      <p:sp>
        <p:nvSpPr>
          <p:cNvPr id="295" name="Rectangle 46"/>
          <p:cNvSpPr/>
          <p:nvPr/>
        </p:nvSpPr>
        <p:spPr>
          <a:xfrm>
            <a:off x="10588752" y="3584447"/>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6" name="TextBox 47"/>
          <p:cNvSpPr txBox="1"/>
          <p:nvPr/>
        </p:nvSpPr>
        <p:spPr>
          <a:xfrm>
            <a:off x="10634471" y="3584449"/>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Critical</a:t>
            </a:r>
          </a:p>
        </p:txBody>
      </p:sp>
      <p:sp>
        <p:nvSpPr>
          <p:cNvPr id="297" name="Rectangle 55"/>
          <p:cNvSpPr/>
          <p:nvPr/>
        </p:nvSpPr>
        <p:spPr>
          <a:xfrm>
            <a:off x="457199" y="4096510"/>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Rectangle 56"/>
          <p:cNvSpPr/>
          <p:nvPr/>
        </p:nvSpPr>
        <p:spPr>
          <a:xfrm>
            <a:off x="457198" y="4096510"/>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TextBox 57"/>
          <p:cNvSpPr txBox="1"/>
          <p:nvPr/>
        </p:nvSpPr>
        <p:spPr>
          <a:xfrm>
            <a:off x="630934" y="415137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200"/>
              <a:t>8.1.9</a:t>
            </a:r>
          </a:p>
        </p:txBody>
      </p:sp>
      <p:sp>
        <p:nvSpPr>
          <p:cNvPr id="300" name="TextBox 58"/>
          <p:cNvSpPr txBox="1"/>
          <p:nvPr/>
        </p:nvSpPr>
        <p:spPr>
          <a:xfrm>
            <a:off x="2624326" y="4151376"/>
            <a:ext cx="3108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22 reviews</a:t>
            </a:r>
          </a:p>
        </p:txBody>
      </p:sp>
      <p:sp>
        <p:nvSpPr>
          <p:cNvPr id="301" name="TextBox 59"/>
          <p:cNvSpPr txBox="1"/>
          <p:nvPr/>
        </p:nvSpPr>
        <p:spPr>
          <a:xfrm>
            <a:off x="6099045" y="4151376"/>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100"/>
              <a:t>Average 2.64 — the best recent version, still failing</a:t>
            </a:r>
          </a:p>
        </p:txBody>
      </p:sp>
      <p:sp>
        <p:nvSpPr>
          <p:cNvPr id="302" name="Rectangle 60"/>
          <p:cNvSpPr/>
          <p:nvPr/>
        </p:nvSpPr>
        <p:spPr>
          <a:xfrm>
            <a:off x="10588752" y="4261103"/>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TextBox 61"/>
          <p:cNvSpPr txBox="1"/>
          <p:nvPr/>
        </p:nvSpPr>
        <p:spPr>
          <a:xfrm>
            <a:off x="10634471" y="4261103"/>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Critical</a:t>
            </a:r>
          </a:p>
        </p:txBody>
      </p:sp>
      <p:sp>
        <p:nvSpPr>
          <p:cNvPr id="30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rPr sz="900"/>
              <a:t>Source: App Store reviews · AlRajhi Capital · SA · 99 most-recent · 24 Aug 2026</a:t>
            </a:r>
          </a:p>
        </p:txBody>
      </p:sp>
      <p:pic>
        <p:nvPicPr>
          <p:cNvPr id="30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0"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61"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What ARC Investors Are Actually Saying</a:t>
            </a:r>
          </a:p>
        </p:txBody>
      </p:sp>
      <p:sp>
        <p:nvSpPr>
          <p:cNvPr id="262"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04  /  7</a:t>
            </a:r>
          </a:p>
        </p:txBody>
      </p:sp>
      <p:sp>
        <p:nvSpPr>
          <p:cNvPr id="263"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264" name="Rectangle 8"/>
          <p:cNvSpPr/>
          <p:nvPr/>
        </p:nvSpPr>
        <p:spPr>
          <a:xfrm>
            <a:off x="457199" y="1005838"/>
            <a:ext cx="11277297" cy="34747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65" name="TextBox 9"/>
          <p:cNvSpPr txBox="1"/>
          <p:nvPr/>
        </p:nvSpPr>
        <p:spPr>
          <a:xfrm>
            <a:off x="612646" y="1051561"/>
            <a:ext cx="16459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THEME</a:t>
            </a:r>
          </a:p>
        </p:txBody>
      </p:sp>
      <p:sp>
        <p:nvSpPr>
          <p:cNvPr id="266" name="TextBox 10"/>
          <p:cNvSpPr txBox="1"/>
          <p:nvPr/>
        </p:nvSpPr>
        <p:spPr>
          <a:xfrm>
            <a:off x="2624326" y="1051561"/>
            <a:ext cx="3108966"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FREQUENCY</a:t>
            </a:r>
          </a:p>
        </p:txBody>
      </p:sp>
      <p:sp>
        <p:nvSpPr>
          <p:cNvPr id="267" name="TextBox 11"/>
          <p:cNvSpPr txBox="1"/>
          <p:nvPr/>
        </p:nvSpPr>
        <p:spPr>
          <a:xfrm>
            <a:off x="6099045" y="1051561"/>
            <a:ext cx="4206247"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WHAT IT MEANS</a:t>
            </a:r>
          </a:p>
        </p:txBody>
      </p:sp>
      <p:sp>
        <p:nvSpPr>
          <p:cNvPr id="268" name="TextBox 12"/>
          <p:cNvSpPr txBox="1"/>
          <p:nvPr/>
        </p:nvSpPr>
        <p:spPr>
          <a:xfrm>
            <a:off x="10671047" y="1051561"/>
            <a:ext cx="91440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PRIORITY</a:t>
            </a:r>
          </a:p>
        </p:txBody>
      </p:sp>
      <p:sp>
        <p:nvSpPr>
          <p:cNvPr id="269" name="Rectangle 13"/>
          <p:cNvSpPr/>
          <p:nvPr/>
        </p:nvSpPr>
        <p:spPr>
          <a:xfrm>
            <a:off x="457199" y="1389888"/>
            <a:ext cx="11277297" cy="640086"/>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0" name="Rectangle 14"/>
          <p:cNvSpPr/>
          <p:nvPr/>
        </p:nvSpPr>
        <p:spPr>
          <a:xfrm>
            <a:off x="457198" y="1389888"/>
            <a:ext cx="45726" cy="64008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1" name="TextBox 15"/>
          <p:cNvSpPr txBox="1"/>
          <p:nvPr/>
        </p:nvSpPr>
        <p:spPr>
          <a:xfrm>
            <a:off x="630934" y="144475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Complexity</a:t>
            </a:r>
          </a:p>
        </p:txBody>
      </p:sp>
      <p:sp>
        <p:nvSpPr>
          <p:cNvPr id="272" name="TextBox 16"/>
          <p:cNvSpPr txBox="1"/>
          <p:nvPr/>
        </p:nvSpPr>
        <p:spPr>
          <a:xfrm>
            <a:off x="2624326" y="1444752"/>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9 mentions</a:t>
            </a:r>
          </a:p>
        </p:txBody>
      </p:sp>
      <p:sp>
        <p:nvSpPr>
          <p:cNvPr id="273" name="TextBox 17"/>
          <p:cNvSpPr txBox="1"/>
          <p:nvPr/>
        </p:nvSpPr>
        <p:spPr>
          <a:xfrm>
            <a:off x="6099045" y="1444752"/>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"The app has become more complex" — repeated across versions</a:t>
            </a:r>
          </a:p>
        </p:txBody>
      </p:sp>
      <p:sp>
        <p:nvSpPr>
          <p:cNvPr id="274" name="Rectangle 18"/>
          <p:cNvSpPr/>
          <p:nvPr/>
        </p:nvSpPr>
        <p:spPr>
          <a:xfrm>
            <a:off x="10588752" y="1554481"/>
            <a:ext cx="1051565" cy="274322"/>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5" name="TextBox 19"/>
          <p:cNvSpPr txBox="1"/>
          <p:nvPr/>
        </p:nvSpPr>
        <p:spPr>
          <a:xfrm>
            <a:off x="10634471" y="1554480"/>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t>P1</a:t>
            </a:r>
          </a:p>
        </p:txBody>
      </p:sp>
      <p:sp>
        <p:nvSpPr>
          <p:cNvPr id="276" name="Rectangle 20"/>
          <p:cNvSpPr/>
          <p:nvPr/>
        </p:nvSpPr>
        <p:spPr>
          <a:xfrm>
            <a:off x="457199" y="2066543"/>
            <a:ext cx="11277297" cy="640085"/>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7" name="Rectangle 21"/>
          <p:cNvSpPr/>
          <p:nvPr/>
        </p:nvSpPr>
        <p:spPr>
          <a:xfrm>
            <a:off x="457198" y="2066543"/>
            <a:ext cx="45726" cy="640085"/>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8" name="TextBox 22"/>
          <p:cNvSpPr txBox="1"/>
          <p:nvPr/>
        </p:nvSpPr>
        <p:spPr>
          <a:xfrm>
            <a:off x="630934" y="2121410"/>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Deposit / funding</a:t>
            </a:r>
          </a:p>
        </p:txBody>
      </p:sp>
      <p:sp>
        <p:nvSpPr>
          <p:cNvPr id="279" name="TextBox 23"/>
          <p:cNvSpPr txBox="1"/>
          <p:nvPr/>
        </p:nvSpPr>
        <p:spPr>
          <a:xfrm>
            <a:off x="2624326" y="2121410"/>
            <a:ext cx="3108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9 mentions</a:t>
            </a:r>
          </a:p>
        </p:txBody>
      </p:sp>
      <p:sp>
        <p:nvSpPr>
          <p:cNvPr id="280" name="TextBox 24"/>
          <p:cNvSpPr txBox="1"/>
          <p:nvPr/>
        </p:nvSpPr>
        <p:spPr>
          <a:xfrm>
            <a:off x="6099045" y="2121410"/>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Funding friction sits directly on revenue, not on polish</a:t>
            </a:r>
          </a:p>
        </p:txBody>
      </p:sp>
      <p:sp>
        <p:nvSpPr>
          <p:cNvPr id="281" name="Rectangle 25"/>
          <p:cNvSpPr/>
          <p:nvPr/>
        </p:nvSpPr>
        <p:spPr>
          <a:xfrm>
            <a:off x="10588752" y="2231133"/>
            <a:ext cx="1051565" cy="27432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2" name="TextBox 26"/>
          <p:cNvSpPr txBox="1"/>
          <p:nvPr/>
        </p:nvSpPr>
        <p:spPr>
          <a:xfrm>
            <a:off x="10634471" y="2231137"/>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t>P1</a:t>
            </a:r>
          </a:p>
        </p:txBody>
      </p:sp>
      <p:sp>
        <p:nvSpPr>
          <p:cNvPr id="283" name="Rectangle 34"/>
          <p:cNvSpPr/>
          <p:nvPr/>
        </p:nvSpPr>
        <p:spPr>
          <a:xfrm>
            <a:off x="457199" y="2743199"/>
            <a:ext cx="11277297" cy="640086"/>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4" name="Rectangle 35"/>
          <p:cNvSpPr/>
          <p:nvPr/>
        </p:nvSpPr>
        <p:spPr>
          <a:xfrm>
            <a:off x="457198" y="2743199"/>
            <a:ext cx="45726" cy="640086"/>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5" name="TextBox 36"/>
          <p:cNvSpPr txBox="1"/>
          <p:nvPr/>
        </p:nvSpPr>
        <p:spPr>
          <a:xfrm>
            <a:off x="630934" y="279806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Login &amp; errors</a:t>
            </a:r>
          </a:p>
        </p:txBody>
      </p:sp>
      <p:sp>
        <p:nvSpPr>
          <p:cNvPr id="286" name="TextBox 37"/>
          <p:cNvSpPr txBox="1"/>
          <p:nvPr/>
        </p:nvSpPr>
        <p:spPr>
          <a:xfrm>
            <a:off x="2624326" y="2798066"/>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9 mentions</a:t>
            </a:r>
          </a:p>
        </p:txBody>
      </p:sp>
      <p:sp>
        <p:nvSpPr>
          <p:cNvPr id="287" name="TextBox 38"/>
          <p:cNvSpPr txBox="1"/>
          <p:nvPr/>
        </p:nvSpPr>
        <p:spPr>
          <a:xfrm>
            <a:off x="6099045" y="2798066"/>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Error on loading the login screen; sessions dropping</a:t>
            </a:r>
          </a:p>
        </p:txBody>
      </p:sp>
      <p:sp>
        <p:nvSpPr>
          <p:cNvPr id="288" name="Rectangle 39"/>
          <p:cNvSpPr/>
          <p:nvPr/>
        </p:nvSpPr>
        <p:spPr>
          <a:xfrm>
            <a:off x="10588752" y="2907788"/>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9" name="TextBox 40"/>
          <p:cNvSpPr txBox="1"/>
          <p:nvPr/>
        </p:nvSpPr>
        <p:spPr>
          <a:xfrm>
            <a:off x="10634471" y="2907792"/>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P1</a:t>
            </a:r>
          </a:p>
        </p:txBody>
      </p:sp>
      <p:sp>
        <p:nvSpPr>
          <p:cNvPr id="290" name="Rectangle 41"/>
          <p:cNvSpPr/>
          <p:nvPr/>
        </p:nvSpPr>
        <p:spPr>
          <a:xfrm>
            <a:off x="457199" y="3419857"/>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1" name="Rectangle 42"/>
          <p:cNvSpPr/>
          <p:nvPr/>
        </p:nvSpPr>
        <p:spPr>
          <a:xfrm>
            <a:off x="457198" y="3419857"/>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2" name="TextBox 43"/>
          <p:cNvSpPr txBox="1"/>
          <p:nvPr/>
        </p:nvSpPr>
        <p:spPr>
          <a:xfrm>
            <a:off x="630934" y="347472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Speed / hanging</a:t>
            </a:r>
          </a:p>
        </p:txBody>
      </p:sp>
      <p:sp>
        <p:nvSpPr>
          <p:cNvPr id="293" name="TextBox 44"/>
          <p:cNvSpPr txBox="1"/>
          <p:nvPr/>
        </p:nvSpPr>
        <p:spPr>
          <a:xfrm>
            <a:off x="2624326" y="3474722"/>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7 mentions</a:t>
            </a:r>
          </a:p>
        </p:txBody>
      </p:sp>
      <p:sp>
        <p:nvSpPr>
          <p:cNvPr id="294" name="TextBox 45"/>
          <p:cNvSpPr txBox="1"/>
          <p:nvPr/>
        </p:nvSpPr>
        <p:spPr>
          <a:xfrm>
            <a:off x="6099045" y="3474722"/>
            <a:ext cx="4206247"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App hangs then exits during trading</a:t>
            </a:r>
          </a:p>
        </p:txBody>
      </p:sp>
      <p:sp>
        <p:nvSpPr>
          <p:cNvPr id="295" name="Rectangle 46"/>
          <p:cNvSpPr/>
          <p:nvPr/>
        </p:nvSpPr>
        <p:spPr>
          <a:xfrm>
            <a:off x="10588752" y="3584447"/>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6" name="TextBox 47"/>
          <p:cNvSpPr txBox="1"/>
          <p:nvPr/>
        </p:nvSpPr>
        <p:spPr>
          <a:xfrm>
            <a:off x="10634471" y="3584449"/>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P2</a:t>
            </a:r>
          </a:p>
        </p:txBody>
      </p:sp>
      <p:sp>
        <p:nvSpPr>
          <p:cNvPr id="297" name="Rectangle 55"/>
          <p:cNvSpPr/>
          <p:nvPr/>
        </p:nvSpPr>
        <p:spPr>
          <a:xfrm>
            <a:off x="457199" y="4096510"/>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Rectangle 56"/>
          <p:cNvSpPr/>
          <p:nvPr/>
        </p:nvSpPr>
        <p:spPr>
          <a:xfrm>
            <a:off x="457198" y="4096510"/>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TextBox 57"/>
          <p:cNvSpPr txBox="1"/>
          <p:nvPr/>
        </p:nvSpPr>
        <p:spPr>
          <a:xfrm>
            <a:off x="630934" y="415137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100"/>
              <a:t>"Bring back the old version"</a:t>
            </a:r>
          </a:p>
        </p:txBody>
      </p:sp>
      <p:sp>
        <p:nvSpPr>
          <p:cNvPr id="300" name="TextBox 58"/>
          <p:cNvSpPr txBox="1"/>
          <p:nvPr/>
        </p:nvSpPr>
        <p:spPr>
          <a:xfrm>
            <a:off x="2624326" y="4151376"/>
            <a:ext cx="3108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6 mentions</a:t>
            </a:r>
          </a:p>
        </p:txBody>
      </p:sp>
      <p:sp>
        <p:nvSpPr>
          <p:cNvPr id="301" name="TextBox 59"/>
          <p:cNvSpPr txBox="1"/>
          <p:nvPr/>
        </p:nvSpPr>
        <p:spPr>
          <a:xfrm>
            <a:off x="6099045" y="4151376"/>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Six reviewers asking to revert — names a decision</a:t>
            </a:r>
          </a:p>
        </p:txBody>
      </p:sp>
      <p:sp>
        <p:nvSpPr>
          <p:cNvPr id="302" name="Rectangle 60"/>
          <p:cNvSpPr/>
          <p:nvPr/>
        </p:nvSpPr>
        <p:spPr>
          <a:xfrm>
            <a:off x="10588752" y="4261103"/>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TextBox 61"/>
          <p:cNvSpPr txBox="1"/>
          <p:nvPr/>
        </p:nvSpPr>
        <p:spPr>
          <a:xfrm>
            <a:off x="10634471" y="4261103"/>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P1</a:t>
            </a:r>
          </a:p>
        </p:txBody>
      </p:sp>
      <p:sp>
        <p:nvSpPr>
          <p:cNvPr id="30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rPr sz="900"/>
              <a:t>Source: App Store reviews · AlRajhi Capital · SA · 99 most-recent · 24 Aug 2026</a:t>
            </a:r>
          </a:p>
        </p:txBody>
      </p:sp>
      <p:pic>
        <p:nvPicPr>
          <p:cNvPr id="30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0"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261"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Feature Benchmark — Sahm 13 · Parity 5 · ARC 0</a:t>
            </a:r>
          </a:p>
        </p:txBody>
      </p:sp>
      <p:sp>
        <p:nvSpPr>
          <p:cNvPr id="262"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05  /  7</a:t>
            </a:r>
          </a:p>
        </p:txBody>
      </p:sp>
      <p:sp>
        <p:nvSpPr>
          <p:cNvPr id="263"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264" name="Rectangle 8"/>
          <p:cNvSpPr/>
          <p:nvPr/>
        </p:nvSpPr>
        <p:spPr>
          <a:xfrm>
            <a:off x="457199" y="1005838"/>
            <a:ext cx="11277297" cy="34747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65" name="TextBox 9"/>
          <p:cNvSpPr txBox="1"/>
          <p:nvPr/>
        </p:nvSpPr>
        <p:spPr>
          <a:xfrm>
            <a:off x="612646" y="1051561"/>
            <a:ext cx="16459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FEATURE</a:t>
            </a:r>
          </a:p>
        </p:txBody>
      </p:sp>
      <p:sp>
        <p:nvSpPr>
          <p:cNvPr id="266" name="TextBox 10"/>
          <p:cNvSpPr txBox="1"/>
          <p:nvPr/>
        </p:nvSpPr>
        <p:spPr>
          <a:xfrm>
            <a:off x="2624326" y="1051561"/>
            <a:ext cx="3108966"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WHO LEADS</a:t>
            </a:r>
          </a:p>
        </p:txBody>
      </p:sp>
      <p:sp>
        <p:nvSpPr>
          <p:cNvPr id="267" name="TextBox 11"/>
          <p:cNvSpPr txBox="1"/>
          <p:nvPr/>
        </p:nvSpPr>
        <p:spPr>
          <a:xfrm>
            <a:off x="6099045" y="1051561"/>
            <a:ext cx="4206247"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NOTE</a:t>
            </a:r>
          </a:p>
        </p:txBody>
      </p:sp>
      <p:sp>
        <p:nvSpPr>
          <p:cNvPr id="268" name="TextBox 12"/>
          <p:cNvSpPr txBox="1"/>
          <p:nvPr/>
        </p:nvSpPr>
        <p:spPr>
          <a:xfrm>
            <a:off x="10671047" y="1051561"/>
            <a:ext cx="91440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900">
                <a:solidFill>
                  <a:srgbClr val="FFFFFF"/>
                </a:solidFill>
                <a:latin typeface="+mj-lt"/>
                <a:ea typeface="+mj-ea"/>
                <a:cs typeface="+mj-cs"/>
                <a:sym typeface="Calibri"/>
              </a:defRPr>
            </a:lvl1pPr>
          </a:lstStyle>
          <a:p>
            <a:pPr/>
            <a:r>
              <a:rPr sz="1000"/>
              <a:t>ARC STATUS</a:t>
            </a:r>
          </a:p>
        </p:txBody>
      </p:sp>
      <p:sp>
        <p:nvSpPr>
          <p:cNvPr id="269" name="Rectangle 13"/>
          <p:cNvSpPr/>
          <p:nvPr/>
        </p:nvSpPr>
        <p:spPr>
          <a:xfrm>
            <a:off x="457199" y="1389888"/>
            <a:ext cx="11277297" cy="640086"/>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0" name="Rectangle 14"/>
          <p:cNvSpPr/>
          <p:nvPr/>
        </p:nvSpPr>
        <p:spPr>
          <a:xfrm>
            <a:off x="457198" y="1389888"/>
            <a:ext cx="45726" cy="64008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1" name="TextBox 15"/>
          <p:cNvSpPr txBox="1"/>
          <p:nvPr/>
        </p:nvSpPr>
        <p:spPr>
          <a:xfrm>
            <a:off x="630934" y="144475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000"/>
              <a:t>Drag &amp; drop trade on chart</a:t>
            </a:r>
          </a:p>
        </p:txBody>
      </p:sp>
      <p:sp>
        <p:nvSpPr>
          <p:cNvPr id="272" name="TextBox 16"/>
          <p:cNvSpPr txBox="1"/>
          <p:nvPr/>
        </p:nvSpPr>
        <p:spPr>
          <a:xfrm>
            <a:off x="2624326" y="1444752"/>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Sahm leads</a:t>
            </a:r>
          </a:p>
        </p:txBody>
      </p:sp>
      <p:sp>
        <p:nvSpPr>
          <p:cNvPr id="273" name="TextBox 17"/>
          <p:cNvSpPr txBox="1"/>
          <p:nvPr/>
        </p:nvSpPr>
        <p:spPr>
          <a:xfrm>
            <a:off x="6099045" y="1444752"/>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Sahm labelled it "[Major]" in v3.4.1 themselves</a:t>
            </a:r>
          </a:p>
        </p:txBody>
      </p:sp>
      <p:sp>
        <p:nvSpPr>
          <p:cNvPr id="274" name="Rectangle 18"/>
          <p:cNvSpPr/>
          <p:nvPr/>
        </p:nvSpPr>
        <p:spPr>
          <a:xfrm>
            <a:off x="10588752" y="1554481"/>
            <a:ext cx="1051565" cy="274322"/>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5" name="TextBox 19"/>
          <p:cNvSpPr txBox="1"/>
          <p:nvPr/>
        </p:nvSpPr>
        <p:spPr>
          <a:xfrm>
            <a:off x="10634471" y="1554480"/>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t>Gap</a:t>
            </a:r>
          </a:p>
        </p:txBody>
      </p:sp>
      <p:sp>
        <p:nvSpPr>
          <p:cNvPr id="276" name="Rectangle 20"/>
          <p:cNvSpPr/>
          <p:nvPr/>
        </p:nvSpPr>
        <p:spPr>
          <a:xfrm>
            <a:off x="457199" y="2066543"/>
            <a:ext cx="11277297" cy="640085"/>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7" name="Rectangle 21"/>
          <p:cNvSpPr/>
          <p:nvPr/>
        </p:nvSpPr>
        <p:spPr>
          <a:xfrm>
            <a:off x="457198" y="2066543"/>
            <a:ext cx="45726" cy="640085"/>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78" name="TextBox 22"/>
          <p:cNvSpPr txBox="1"/>
          <p:nvPr/>
        </p:nvSpPr>
        <p:spPr>
          <a:xfrm>
            <a:off x="630934" y="2121410"/>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000"/>
              <a:t>AI assistant / chat</a:t>
            </a:r>
          </a:p>
        </p:txBody>
      </p:sp>
      <p:sp>
        <p:nvSpPr>
          <p:cNvPr id="279" name="TextBox 23"/>
          <p:cNvSpPr txBox="1"/>
          <p:nvPr/>
        </p:nvSpPr>
        <p:spPr>
          <a:xfrm>
            <a:off x="2624326" y="2121410"/>
            <a:ext cx="3108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Sahm leads</a:t>
            </a:r>
          </a:p>
        </p:txBody>
      </p:sp>
      <p:sp>
        <p:nvSpPr>
          <p:cNvPr id="280" name="TextBox 24"/>
          <p:cNvSpPr txBox="1"/>
          <p:nvPr/>
        </p:nvSpPr>
        <p:spPr>
          <a:xfrm>
            <a:off x="6099045" y="2121410"/>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Sahm is adding conveniences to a shipped feature</a:t>
            </a:r>
          </a:p>
        </p:txBody>
      </p:sp>
      <p:sp>
        <p:nvSpPr>
          <p:cNvPr id="281" name="Rectangle 25"/>
          <p:cNvSpPr/>
          <p:nvPr/>
        </p:nvSpPr>
        <p:spPr>
          <a:xfrm>
            <a:off x="10588752" y="2231133"/>
            <a:ext cx="1051565" cy="274326"/>
          </a:xfrm>
          <a:prstGeom prst="rect">
            <a:avLst/>
          </a:prstGeom>
          <a:solidFill>
            <a:srgbClr val="F1B53D"/>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2" name="TextBox 26"/>
          <p:cNvSpPr txBox="1"/>
          <p:nvPr/>
        </p:nvSpPr>
        <p:spPr>
          <a:xfrm>
            <a:off x="10634471" y="2231137"/>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000045"/>
                </a:solidFill>
                <a:latin typeface="+mj-lt"/>
                <a:ea typeface="+mj-ea"/>
                <a:cs typeface="+mj-cs"/>
                <a:sym typeface="Calibri"/>
              </a:defRPr>
            </a:lvl1pPr>
          </a:lstStyle>
          <a:p>
            <a:pPr/>
            <a:r>
              <a:rPr sz="1100"/>
              <a:t>Gap</a:t>
            </a:r>
          </a:p>
        </p:txBody>
      </p:sp>
      <p:sp>
        <p:nvSpPr>
          <p:cNvPr id="283" name="Rectangle 34"/>
          <p:cNvSpPr/>
          <p:nvPr/>
        </p:nvSpPr>
        <p:spPr>
          <a:xfrm>
            <a:off x="457199" y="2743199"/>
            <a:ext cx="11277297" cy="640086"/>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4" name="Rectangle 35"/>
          <p:cNvSpPr/>
          <p:nvPr/>
        </p:nvSpPr>
        <p:spPr>
          <a:xfrm>
            <a:off x="457198" y="2743199"/>
            <a:ext cx="45726" cy="640086"/>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5" name="TextBox 36"/>
          <p:cNvSpPr txBox="1"/>
          <p:nvPr/>
        </p:nvSpPr>
        <p:spPr>
          <a:xfrm>
            <a:off x="630934" y="279806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000"/>
              <a:t>Unusual activity</a:t>
            </a:r>
          </a:p>
        </p:txBody>
      </p:sp>
      <p:sp>
        <p:nvSpPr>
          <p:cNvPr id="286" name="TextBox 37"/>
          <p:cNvSpPr txBox="1"/>
          <p:nvPr/>
        </p:nvSpPr>
        <p:spPr>
          <a:xfrm>
            <a:off x="2624326" y="2798066"/>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Sahm leads</a:t>
            </a:r>
          </a:p>
        </p:txBody>
      </p:sp>
      <p:sp>
        <p:nvSpPr>
          <p:cNvPr id="287" name="TextBox 38"/>
          <p:cNvSpPr txBox="1"/>
          <p:nvPr/>
        </p:nvSpPr>
        <p:spPr>
          <a:xfrm>
            <a:off x="6099045" y="2798066"/>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Four ARC placements open — market and stock, both markets</a:t>
            </a:r>
          </a:p>
        </p:txBody>
      </p:sp>
      <p:sp>
        <p:nvSpPr>
          <p:cNvPr id="288" name="Rectangle 39"/>
          <p:cNvSpPr/>
          <p:nvPr/>
        </p:nvSpPr>
        <p:spPr>
          <a:xfrm>
            <a:off x="10588752" y="2907788"/>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89" name="TextBox 40"/>
          <p:cNvSpPr txBox="1"/>
          <p:nvPr/>
        </p:nvSpPr>
        <p:spPr>
          <a:xfrm>
            <a:off x="10634471" y="2907792"/>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Gap</a:t>
            </a:r>
          </a:p>
        </p:txBody>
      </p:sp>
      <p:sp>
        <p:nvSpPr>
          <p:cNvPr id="290" name="Rectangle 41"/>
          <p:cNvSpPr/>
          <p:nvPr/>
        </p:nvSpPr>
        <p:spPr>
          <a:xfrm>
            <a:off x="457199" y="3419857"/>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1" name="Rectangle 42"/>
          <p:cNvSpPr/>
          <p:nvPr/>
        </p:nvSpPr>
        <p:spPr>
          <a:xfrm>
            <a:off x="457198" y="3419857"/>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2" name="TextBox 43"/>
          <p:cNvSpPr txBox="1"/>
          <p:nvPr/>
        </p:nvSpPr>
        <p:spPr>
          <a:xfrm>
            <a:off x="630934" y="3474722"/>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000"/>
              <a:t>Iceberg orders · Major Shareholder</a:t>
            </a:r>
          </a:p>
        </p:txBody>
      </p:sp>
      <p:sp>
        <p:nvSpPr>
          <p:cNvPr id="293" name="TextBox 44"/>
          <p:cNvSpPr txBox="1"/>
          <p:nvPr/>
        </p:nvSpPr>
        <p:spPr>
          <a:xfrm>
            <a:off x="2624326" y="3474722"/>
            <a:ext cx="3108966"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Sahm leads</a:t>
            </a:r>
          </a:p>
        </p:txBody>
      </p:sp>
      <p:sp>
        <p:nvSpPr>
          <p:cNvPr id="294" name="TextBox 45"/>
          <p:cNvSpPr txBox="1"/>
          <p:nvPr/>
        </p:nvSpPr>
        <p:spPr>
          <a:xfrm>
            <a:off x="6099045" y="3474722"/>
            <a:ext cx="4206247"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Order depth and stock ownership detail</a:t>
            </a:r>
          </a:p>
        </p:txBody>
      </p:sp>
      <p:sp>
        <p:nvSpPr>
          <p:cNvPr id="295" name="Rectangle 46"/>
          <p:cNvSpPr/>
          <p:nvPr/>
        </p:nvSpPr>
        <p:spPr>
          <a:xfrm>
            <a:off x="10588752" y="3584447"/>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6" name="TextBox 47"/>
          <p:cNvSpPr txBox="1"/>
          <p:nvPr/>
        </p:nvSpPr>
        <p:spPr>
          <a:xfrm>
            <a:off x="10634471" y="3584449"/>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Gap</a:t>
            </a:r>
          </a:p>
        </p:txBody>
      </p:sp>
      <p:sp>
        <p:nvSpPr>
          <p:cNvPr id="297" name="Rectangle 55"/>
          <p:cNvSpPr/>
          <p:nvPr/>
        </p:nvSpPr>
        <p:spPr>
          <a:xfrm>
            <a:off x="457199" y="4096510"/>
            <a:ext cx="11277297" cy="640085"/>
          </a:xfrm>
          <a:prstGeom prst="rect">
            <a:avLst/>
          </a:prstGeom>
          <a:solidFill>
            <a:srgbClr val="F8FAFC"/>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8" name="Rectangle 56"/>
          <p:cNvSpPr/>
          <p:nvPr/>
        </p:nvSpPr>
        <p:spPr>
          <a:xfrm>
            <a:off x="457198" y="4096510"/>
            <a:ext cx="45726" cy="64008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299" name="TextBox 57"/>
          <p:cNvSpPr txBox="1"/>
          <p:nvPr/>
        </p:nvSpPr>
        <p:spPr>
          <a:xfrm>
            <a:off x="630934" y="4151376"/>
            <a:ext cx="1645924" cy="2257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100">
                <a:solidFill>
                  <a:srgbClr val="000045"/>
                </a:solidFill>
                <a:latin typeface="+mj-lt"/>
                <a:ea typeface="+mj-ea"/>
                <a:cs typeface="+mj-cs"/>
                <a:sym typeface="Calibri"/>
              </a:defRPr>
            </a:lvl1pPr>
          </a:lstStyle>
          <a:p>
            <a:pPr/>
            <a:r>
              <a:rPr sz="1000"/>
              <a:t>Alerts · Technical analysis · Dividends</a:t>
            </a:r>
          </a:p>
        </p:txBody>
      </p:sp>
      <p:sp>
        <p:nvSpPr>
          <p:cNvPr id="300" name="TextBox 58"/>
          <p:cNvSpPr txBox="1"/>
          <p:nvPr/>
        </p:nvSpPr>
        <p:spPr>
          <a:xfrm>
            <a:off x="2624326" y="4151376"/>
            <a:ext cx="3108966"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475569"/>
                </a:solidFill>
                <a:latin typeface="+mj-lt"/>
                <a:ea typeface="+mj-ea"/>
                <a:cs typeface="+mj-cs"/>
                <a:sym typeface="Calibri"/>
              </a:defRPr>
            </a:lvl1pPr>
          </a:lstStyle>
          <a:p>
            <a:pPr/>
            <a:r>
              <a:rPr sz="1100"/>
              <a:t>Parity</a:t>
            </a:r>
          </a:p>
        </p:txBody>
      </p:sp>
      <p:sp>
        <p:nvSpPr>
          <p:cNvPr id="301" name="TextBox 59"/>
          <p:cNvSpPr txBox="1"/>
          <p:nvPr/>
        </p:nvSpPr>
        <p:spPr>
          <a:xfrm>
            <a:off x="6099045" y="4151376"/>
            <a:ext cx="4206247" cy="393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000">
                <a:solidFill>
                  <a:srgbClr val="000045"/>
                </a:solidFill>
                <a:latin typeface="+mj-lt"/>
                <a:ea typeface="+mj-ea"/>
                <a:cs typeface="+mj-cs"/>
                <a:sym typeface="Calibri"/>
              </a:defRPr>
            </a:lvl1pPr>
          </a:lstStyle>
          <a:p>
            <a:pPr/>
            <a:r>
              <a:rPr sz="1000"/>
              <a:t>Conditional orders and quick reorder also match</a:t>
            </a:r>
          </a:p>
        </p:txBody>
      </p:sp>
      <p:sp>
        <p:nvSpPr>
          <p:cNvPr id="302" name="Rectangle 60"/>
          <p:cNvSpPr/>
          <p:nvPr/>
        </p:nvSpPr>
        <p:spPr>
          <a:xfrm>
            <a:off x="10588752" y="4261103"/>
            <a:ext cx="1051565" cy="274325"/>
          </a:xfrm>
          <a:prstGeom prst="rect">
            <a:avLst/>
          </a:prstGeom>
          <a:solidFill>
            <a:srgbClr val="94A3B8"/>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03" name="TextBox 61"/>
          <p:cNvSpPr txBox="1"/>
          <p:nvPr/>
        </p:nvSpPr>
        <p:spPr>
          <a:xfrm>
            <a:off x="10634471" y="4261103"/>
            <a:ext cx="960124"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FFFFFF"/>
                </a:solidFill>
                <a:latin typeface="+mj-lt"/>
                <a:ea typeface="+mj-ea"/>
                <a:cs typeface="+mj-cs"/>
                <a:sym typeface="Calibri"/>
              </a:defRPr>
            </a:lvl1pPr>
          </a:lstStyle>
          <a:p>
            <a:pPr/>
            <a:r>
              <a:rPr sz="1100"/>
              <a:t>Hold</a:t>
            </a:r>
          </a:p>
        </p:txBody>
      </p:sp>
      <p:sp>
        <p:nvSpPr>
          <p:cNvPr id="304" name="TextBox 40"/>
          <p:cNvSpPr txBox="1"/>
          <p:nvPr/>
        </p:nvSpPr>
        <p:spPr>
          <a:xfrm>
            <a:off x="502917" y="6537959"/>
            <a:ext cx="11185861"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000">
                <a:solidFill>
                  <a:srgbClr val="475569"/>
                </a:solidFill>
                <a:latin typeface="+mj-lt"/>
                <a:ea typeface="+mj-ea"/>
                <a:cs typeface="+mj-cs"/>
                <a:sym typeface="Calibri"/>
              </a:defRPr>
            </a:lvl1pPr>
          </a:lstStyle>
          <a:p>
            <a:pPr/>
            <a:r>
              <a:rPr sz="900"/>
              <a:t>Source: Features Map · coverage.json · 20 features carrying Sahm evidence · 24 Aug 2026</a:t>
            </a:r>
          </a:p>
        </p:txBody>
      </p:sp>
      <p:pic>
        <p:nvPicPr>
          <p:cNvPr id="305"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7" name="Shape 2"/>
          <p:cNvSpPr/>
          <p:nvPr/>
        </p:nvSpPr>
        <p:spPr>
          <a:xfrm>
            <a:off x="1508760" y="347472"/>
            <a:ext cx="5" cy="384053"/>
          </a:xfrm>
          <a:prstGeom prst="line">
            <a:avLst/>
          </a:prstGeom>
          <a:ln>
            <a:solidFill>
              <a:srgbClr val="E2E8F0"/>
            </a:solidFill>
          </a:ln>
        </p:spPr>
        <p:txBody>
          <a:bodyPr lIns="45718" tIns="45718" rIns="45718" bIns="45718"/>
          <a:lstStyle/>
          <a:p>
            <a:pPr/>
          </a:p>
        </p:txBody>
      </p:sp>
      <p:sp>
        <p:nvSpPr>
          <p:cNvPr id="308" name="Title"/>
          <p:cNvSpPr txBox="1"/>
          <p:nvPr/>
        </p:nvSpPr>
        <p:spPr>
          <a:xfrm>
            <a:off x="1645920" y="523940"/>
            <a:ext cx="9144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A7A7A7"/>
                </a:solidFill>
                <a:latin typeface="+mj-lt"/>
                <a:ea typeface="+mj-ea"/>
                <a:cs typeface="+mj-cs"/>
                <a:sym typeface="Calibri"/>
              </a:defRPr>
            </a:lvl1pPr>
          </a:lstStyle>
          <a:p>
            <a:pPr/>
            <a:r>
              <a:t>Recommendation</a:t>
            </a:r>
          </a:p>
        </p:txBody>
      </p:sp>
      <p:sp>
        <p:nvSpPr>
          <p:cNvPr id="309" name="Text 5"/>
          <p:cNvSpPr txBox="1"/>
          <p:nvPr/>
        </p:nvSpPr>
        <p:spPr>
          <a:xfrm>
            <a:off x="10362895" y="475532"/>
            <a:ext cx="137160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141421"/>
                </a:solidFill>
                <a:latin typeface="+mj-lt"/>
                <a:ea typeface="+mj-ea"/>
                <a:cs typeface="+mj-cs"/>
                <a:sym typeface="Calibri"/>
              </a:defRPr>
            </a:lvl1pPr>
          </a:lstStyle>
          <a:p>
            <a:pPr/>
            <a:r>
              <a:t>06  /  7</a:t>
            </a:r>
          </a:p>
        </p:txBody>
      </p:sp>
      <p:sp>
        <p:nvSpPr>
          <p:cNvPr id="310" name="Shape 6"/>
          <p:cNvSpPr/>
          <p:nvPr/>
        </p:nvSpPr>
        <p:spPr>
          <a:xfrm>
            <a:off x="457196" y="868680"/>
            <a:ext cx="11277302" cy="5"/>
          </a:xfrm>
          <a:prstGeom prst="line">
            <a:avLst/>
          </a:prstGeom>
          <a:ln>
            <a:solidFill>
              <a:srgbClr val="E2E8F0"/>
            </a:solidFill>
          </a:ln>
        </p:spPr>
        <p:txBody>
          <a:bodyPr lIns="45718" tIns="45718" rIns="45718" bIns="45718"/>
          <a:lstStyle/>
          <a:p>
            <a:pPr/>
          </a:p>
        </p:txBody>
      </p:sp>
      <p:sp>
        <p:nvSpPr>
          <p:cNvPr id="311" name="Rectangle 8"/>
          <p:cNvSpPr/>
          <p:nvPr/>
        </p:nvSpPr>
        <p:spPr>
          <a:xfrm>
            <a:off x="457199" y="1005838"/>
            <a:ext cx="11277297" cy="960124"/>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12" name="Rectangle 9"/>
          <p:cNvSpPr/>
          <p:nvPr/>
        </p:nvSpPr>
        <p:spPr>
          <a:xfrm>
            <a:off x="457198" y="1005838"/>
            <a:ext cx="73158" cy="960124"/>
          </a:xfrm>
          <a:prstGeom prst="rect">
            <a:avLst/>
          </a:prstGeom>
          <a:solidFill>
            <a:srgbClr val="DC2626"/>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13" name="Rectangle 10"/>
          <p:cNvSpPr/>
          <p:nvPr/>
        </p:nvSpPr>
        <p:spPr>
          <a:xfrm>
            <a:off x="685800" y="1115566"/>
            <a:ext cx="1188720" cy="219459"/>
          </a:xfrm>
          <a:prstGeom prst="rect">
            <a:avLst/>
          </a:prstGeom>
          <a:solidFill>
            <a:srgbClr val="FEE2E2"/>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14" name="TextBox 11"/>
          <p:cNvSpPr txBox="1"/>
          <p:nvPr/>
        </p:nvSpPr>
        <p:spPr>
          <a:xfrm>
            <a:off x="731519" y="1115566"/>
            <a:ext cx="1097282"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900">
                <a:solidFill>
                  <a:srgbClr val="DC2626"/>
                </a:solidFill>
                <a:latin typeface="+mj-lt"/>
                <a:ea typeface="+mj-ea"/>
                <a:cs typeface="+mj-cs"/>
                <a:sym typeface="Calibri"/>
              </a:defRPr>
            </a:lvl1pPr>
          </a:lstStyle>
          <a:p>
            <a:pPr/>
            <a:r>
              <a:t>PRIORITY ONE</a:t>
            </a:r>
          </a:p>
        </p:txBody>
      </p:sp>
      <p:sp>
        <p:nvSpPr>
          <p:cNvPr id="315" name="TextBox 12"/>
          <p:cNvSpPr txBox="1"/>
          <p:nvPr/>
        </p:nvSpPr>
        <p:spPr>
          <a:xfrm>
            <a:off x="731519" y="1389888"/>
            <a:ext cx="2651762" cy="38537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200">
                <a:solidFill>
                  <a:srgbClr val="000045"/>
                </a:solidFill>
                <a:latin typeface="+mj-lt"/>
                <a:ea typeface="+mj-ea"/>
                <a:cs typeface="+mj-cs"/>
                <a:sym typeface="Calibri"/>
              </a:defRPr>
            </a:lvl1pPr>
          </a:lstStyle>
          <a:p>
            <a:pPr/>
            <a:r>
              <a:t>The rating, not the roadmap</a:t>
            </a:r>
          </a:p>
        </p:txBody>
      </p:sp>
      <p:sp>
        <p:nvSpPr>
          <p:cNvPr id="316" name="TextBox 13"/>
          <p:cNvSpPr txBox="1"/>
          <p:nvPr/>
        </p:nvSpPr>
        <p:spPr>
          <a:xfrm>
            <a:off x="3611878" y="1389888"/>
            <a:ext cx="7711138" cy="4388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200">
                <a:solidFill>
                  <a:srgbClr val="475569"/>
                </a:solidFill>
                <a:latin typeface="+mj-lt"/>
                <a:ea typeface="+mj-ea"/>
                <a:cs typeface="+mj-cs"/>
                <a:sym typeface="Calibri"/>
              </a:defRPr>
            </a:lvl1pPr>
          </a:lstStyle>
          <a:p>
            <a:pPr/>
            <a:r>
              <a:rPr sz="1300"/>
              <a:t>A 4.57 lifetime average is hiding a 1.78 current reality from every dashboard that reports it.</a:t>
            </a:r>
          </a:p>
        </p:txBody>
      </p:sp>
      <p:sp>
        <p:nvSpPr>
          <p:cNvPr id="317" name="Rectangle 14"/>
          <p:cNvSpPr/>
          <p:nvPr/>
        </p:nvSpPr>
        <p:spPr>
          <a:xfrm>
            <a:off x="457199" y="2130548"/>
            <a:ext cx="11277297" cy="2743207"/>
          </a:xfrm>
          <a:prstGeom prst="rect">
            <a:avLst/>
          </a:prstGeom>
          <a:solidFill>
            <a:srgbClr val="FFFFFF"/>
          </a:solidFill>
          <a:ln>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18" name="Rectangle 15"/>
          <p:cNvSpPr/>
          <p:nvPr/>
        </p:nvSpPr>
        <p:spPr>
          <a:xfrm>
            <a:off x="457198" y="2130548"/>
            <a:ext cx="73158" cy="2743207"/>
          </a:xfrm>
          <a:prstGeom prst="rect">
            <a:avLst/>
          </a:prstGeom>
          <a:solidFill>
            <a:srgbClr val="000045"/>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19" name="TextBox 17"/>
          <p:cNvSpPr txBox="1"/>
          <p:nvPr/>
        </p:nvSpPr>
        <p:spPr>
          <a:xfrm>
            <a:off x="777238" y="2359192"/>
            <a:ext cx="10637219" cy="119239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000045"/>
                </a:solidFill>
                <a:latin typeface="+mj-lt"/>
                <a:ea typeface="+mj-ea"/>
                <a:cs typeface="+mj-cs"/>
                <a:sym typeface="Calibri"/>
              </a:defRPr>
            </a:lvl1pPr>
          </a:lstStyle>
          <a:p>
            <a:pPr/>
            <a:r>
              <a:rPr sz="1300"/>
              <a:t>Fix what investors are already telling us before adding what competitors have.</a:t>
            </a:r>
          </a:p>
          <a:p>
            <a:pPr/>
            <a:r>
              <a:rPr sz="1300"/>
              <a:t/>
            </a:r>
          </a:p>
          <a:p>
            <a:pPr/>
            <a:r>
              <a:rPr sz="1300"/>
              <a:t>Report both ratings permanently — lifetime and recent — so the gap cannot hide again. Run the six 'bring back the old version' reviews to ground: a regression complaint that specific, repeated six times, names a decision someone made. Treat deposit and funding friction as revenue work, not polish.</a:t>
            </a:r>
          </a:p>
          <a:p>
            <a:pPr/>
            <a:r>
              <a:rPr sz="1300"/>
              <a:t/>
            </a:r>
          </a:p>
          <a:p>
            <a:pPr/>
            <a:r>
              <a:rPr sz="1300"/>
              <a:t>Then, on features, take the two Sahm has just proven investors notice: drag-to-trade on the chart and AI assistance. Both are visible in the first minute of using a competitor's app. Neither is covered by a BRD today.</a:t>
            </a:r>
          </a:p>
        </p:txBody>
      </p:sp>
      <p:sp>
        <p:nvSpPr>
          <p:cNvPr id="320" name="Rectangle 18"/>
          <p:cNvSpPr/>
          <p:nvPr/>
        </p:nvSpPr>
        <p:spPr>
          <a:xfrm>
            <a:off x="457200" y="5038344"/>
            <a:ext cx="3667658" cy="594365"/>
          </a:xfrm>
          <a:prstGeom prst="rect">
            <a:avLst/>
          </a:prstGeom>
          <a:solidFill>
            <a:srgbClr val="F8FAFC"/>
          </a:solidFill>
          <a:ln w="6350">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21" name="Rectangle 19"/>
          <p:cNvSpPr/>
          <p:nvPr/>
        </p:nvSpPr>
        <p:spPr>
          <a:xfrm>
            <a:off x="457198" y="5038344"/>
            <a:ext cx="45726" cy="594365"/>
          </a:xfrm>
          <a:prstGeom prst="rect">
            <a:avLst/>
          </a:prstGeom>
          <a:solidFill>
            <a:srgbClr val="221AFB"/>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22" name="TextBox 20"/>
          <p:cNvSpPr txBox="1"/>
          <p:nvPr/>
        </p:nvSpPr>
        <p:spPr>
          <a:xfrm>
            <a:off x="667509" y="5129784"/>
            <a:ext cx="640086" cy="3924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400">
                <a:solidFill>
                  <a:srgbClr val="221AFB"/>
                </a:solidFill>
                <a:latin typeface="+mj-lt"/>
                <a:ea typeface="+mj-ea"/>
                <a:cs typeface="+mj-cs"/>
                <a:sym typeface="Calibri"/>
              </a:defRPr>
            </a:lvl1pPr>
          </a:lstStyle>
          <a:p>
            <a:pPr/>
            <a:r>
              <a:t>1.78</a:t>
            </a:r>
          </a:p>
        </p:txBody>
      </p:sp>
      <p:sp>
        <p:nvSpPr>
          <p:cNvPr id="323" name="TextBox 21"/>
          <p:cNvSpPr txBox="1"/>
          <p:nvPr/>
        </p:nvSpPr>
        <p:spPr>
          <a:xfrm>
            <a:off x="1417319" y="5202935"/>
            <a:ext cx="2478940"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solidFill>
                  <a:srgbClr val="64748B"/>
                </a:solidFill>
                <a:latin typeface="+mj-lt"/>
                <a:ea typeface="+mj-ea"/>
                <a:cs typeface="+mj-cs"/>
                <a:sym typeface="Calibri"/>
              </a:defRPr>
            </a:lvl1pPr>
          </a:lstStyle>
          <a:p>
            <a:pPr/>
            <a:r>
              <a:t>ARC recent rating</a:t>
            </a:r>
          </a:p>
        </p:txBody>
      </p:sp>
      <p:sp>
        <p:nvSpPr>
          <p:cNvPr id="324" name="Rectangle 22"/>
          <p:cNvSpPr/>
          <p:nvPr/>
        </p:nvSpPr>
        <p:spPr>
          <a:xfrm>
            <a:off x="4262018" y="5038344"/>
            <a:ext cx="3667660" cy="594365"/>
          </a:xfrm>
          <a:prstGeom prst="rect">
            <a:avLst/>
          </a:prstGeom>
          <a:solidFill>
            <a:srgbClr val="F8FAFC"/>
          </a:solidFill>
          <a:ln w="6350">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25" name="Rectangle 23"/>
          <p:cNvSpPr/>
          <p:nvPr/>
        </p:nvSpPr>
        <p:spPr>
          <a:xfrm>
            <a:off x="4262018" y="5038344"/>
            <a:ext cx="45725" cy="594365"/>
          </a:xfrm>
          <a:prstGeom prst="rect">
            <a:avLst/>
          </a:prstGeom>
          <a:solidFill>
            <a:srgbClr val="20C992"/>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26" name="TextBox 24"/>
          <p:cNvSpPr txBox="1"/>
          <p:nvPr/>
        </p:nvSpPr>
        <p:spPr>
          <a:xfrm>
            <a:off x="4472330" y="5129784"/>
            <a:ext cx="640085" cy="3924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400">
                <a:solidFill>
                  <a:srgbClr val="20C992"/>
                </a:solidFill>
                <a:latin typeface="+mj-lt"/>
                <a:ea typeface="+mj-ea"/>
                <a:cs typeface="+mj-cs"/>
                <a:sym typeface="Calibri"/>
              </a:defRPr>
            </a:lvl1pPr>
          </a:lstStyle>
          <a:p>
            <a:pPr/>
            <a:r>
              <a:t>13</a:t>
            </a:r>
          </a:p>
        </p:txBody>
      </p:sp>
      <p:sp>
        <p:nvSpPr>
          <p:cNvPr id="327" name="TextBox 25"/>
          <p:cNvSpPr txBox="1"/>
          <p:nvPr/>
        </p:nvSpPr>
        <p:spPr>
          <a:xfrm>
            <a:off x="5222135" y="5202935"/>
            <a:ext cx="2478944"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solidFill>
                  <a:srgbClr val="64748B"/>
                </a:solidFill>
                <a:latin typeface="+mj-lt"/>
                <a:ea typeface="+mj-ea"/>
                <a:cs typeface="+mj-cs"/>
                <a:sym typeface="Calibri"/>
              </a:defRPr>
            </a:lvl1pPr>
          </a:lstStyle>
          <a:p>
            <a:pPr/>
            <a:r>
              <a:t>Features Sahm leads</a:t>
            </a:r>
          </a:p>
        </p:txBody>
      </p:sp>
      <p:sp>
        <p:nvSpPr>
          <p:cNvPr id="328" name="Rectangle 26"/>
          <p:cNvSpPr/>
          <p:nvPr/>
        </p:nvSpPr>
        <p:spPr>
          <a:xfrm>
            <a:off x="8066836" y="5038344"/>
            <a:ext cx="3667660" cy="594365"/>
          </a:xfrm>
          <a:prstGeom prst="rect">
            <a:avLst/>
          </a:prstGeom>
          <a:solidFill>
            <a:srgbClr val="F8FAFC"/>
          </a:solidFill>
          <a:ln w="6350">
            <a:solidFill>
              <a:srgbClr val="E2E5EA"/>
            </a:solidFill>
            <a:miter/>
          </a:ln>
        </p:spPr>
        <p:txBody>
          <a:bodyPr lIns="45718" tIns="45718" rIns="45718" bIns="45718" anchor="ctr"/>
          <a:lstStyle/>
          <a:p>
            <a:pPr algn="ctr">
              <a:defRPr>
                <a:solidFill>
                  <a:srgbClr val="FFFFFF"/>
                </a:solidFill>
                <a:latin typeface="+mj-lt"/>
                <a:ea typeface="+mj-ea"/>
                <a:cs typeface="+mj-cs"/>
                <a:sym typeface="Calibri"/>
              </a:defRPr>
            </a:pPr>
          </a:p>
        </p:txBody>
      </p:sp>
      <p:sp>
        <p:nvSpPr>
          <p:cNvPr id="329" name="Rectangle 27"/>
          <p:cNvSpPr/>
          <p:nvPr/>
        </p:nvSpPr>
        <p:spPr>
          <a:xfrm>
            <a:off x="8066836" y="5038344"/>
            <a:ext cx="45725" cy="594365"/>
          </a:xfrm>
          <a:prstGeom prst="rect">
            <a:avLst/>
          </a:prstGeom>
          <a:solidFill>
            <a:srgbClr val="808080"/>
          </a:solidFill>
          <a:ln w="12700">
            <a:miter lim="400000"/>
          </a:ln>
        </p:spPr>
        <p:txBody>
          <a:bodyPr lIns="45718" tIns="45718" rIns="45718" bIns="45718" anchor="ctr"/>
          <a:lstStyle/>
          <a:p>
            <a:pPr algn="ctr">
              <a:defRPr>
                <a:solidFill>
                  <a:srgbClr val="FFFFFF"/>
                </a:solidFill>
                <a:latin typeface="+mj-lt"/>
                <a:ea typeface="+mj-ea"/>
                <a:cs typeface="+mj-cs"/>
                <a:sym typeface="Calibri"/>
              </a:defRPr>
            </a:pPr>
          </a:p>
        </p:txBody>
      </p:sp>
      <p:sp>
        <p:nvSpPr>
          <p:cNvPr id="330" name="TextBox 28"/>
          <p:cNvSpPr txBox="1"/>
          <p:nvPr/>
        </p:nvSpPr>
        <p:spPr>
          <a:xfrm>
            <a:off x="8277145" y="5129784"/>
            <a:ext cx="640085" cy="3924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400">
                <a:solidFill>
                  <a:srgbClr val="808080"/>
                </a:solidFill>
                <a:latin typeface="+mj-lt"/>
                <a:ea typeface="+mj-ea"/>
                <a:cs typeface="+mj-cs"/>
                <a:sym typeface="Calibri"/>
              </a:defRPr>
            </a:lvl1pPr>
          </a:lstStyle>
          <a:p>
            <a:pPr/>
            <a:r>
              <a:t>16x</a:t>
            </a:r>
          </a:p>
        </p:txBody>
      </p:sp>
      <p:sp>
        <p:nvSpPr>
          <p:cNvPr id="331" name="TextBox 29"/>
          <p:cNvSpPr txBox="1"/>
          <p:nvPr/>
        </p:nvSpPr>
        <p:spPr>
          <a:xfrm>
            <a:off x="9026955" y="5202935"/>
            <a:ext cx="2478943" cy="2285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000">
                <a:solidFill>
                  <a:srgbClr val="64748B"/>
                </a:solidFill>
                <a:latin typeface="+mj-lt"/>
                <a:ea typeface="+mj-ea"/>
                <a:cs typeface="+mj-cs"/>
                <a:sym typeface="Calibri"/>
              </a:defRPr>
            </a:lvl1pPr>
          </a:lstStyle>
          <a:p>
            <a:pPr/>
            <a:r>
              <a:t>ARC's rating-base scale</a:t>
            </a:r>
          </a:p>
        </p:txBody>
      </p:sp>
      <p:sp>
        <p:nvSpPr>
          <p:cNvPr id="332" name="TextBox 30"/>
          <p:cNvSpPr txBox="1"/>
          <p:nvPr/>
        </p:nvSpPr>
        <p:spPr>
          <a:xfrm>
            <a:off x="502917" y="5769864"/>
            <a:ext cx="11185861" cy="2059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i="1" sz="900">
                <a:solidFill>
                  <a:srgbClr val="94A3B8"/>
                </a:solidFill>
                <a:latin typeface="+mj-lt"/>
                <a:ea typeface="+mj-ea"/>
                <a:cs typeface="+mj-cs"/>
                <a:sym typeface="Calibri"/>
              </a:defRPr>
            </a:lvl1pPr>
          </a:lstStyle>
          <a:p>
            <a:pPr/>
            <a:r>
              <a:t>Prepared by Digital Experience Department  ·  24 August 2026</a:t>
            </a:r>
          </a:p>
        </p:txBody>
      </p:sp>
      <p:sp>
        <p:nvSpPr>
          <p:cNvPr id="333" name="TextBox 31"/>
          <p:cNvSpPr txBox="1"/>
          <p:nvPr/>
        </p:nvSpPr>
        <p:spPr>
          <a:xfrm>
            <a:off x="502917" y="6537959"/>
            <a:ext cx="11185861" cy="2581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i="1" sz="1300">
                <a:solidFill>
                  <a:srgbClr val="475569"/>
                </a:solidFill>
                <a:latin typeface="+mj-lt"/>
                <a:ea typeface="+mj-ea"/>
                <a:cs typeface="+mj-cs"/>
                <a:sym typeface="Calibri"/>
              </a:defRPr>
            </a:lvl1pPr>
          </a:lstStyle>
          <a:p>
            <a:pPr/>
            <a:r>
              <a:t>Source: App Store SA · iTunes API · 148 most-recent reviews · Features Map coverage.json · 24 Aug 2026</a:t>
            </a:r>
          </a:p>
        </p:txBody>
      </p:sp>
      <p:pic>
        <p:nvPicPr>
          <p:cNvPr id="334" name="Picture 1" descr="Picture 1"/>
          <p:cNvPicPr>
            <a:picLocks noChangeAspect="1"/>
          </p:cNvPicPr>
          <p:nvPr/>
        </p:nvPicPr>
        <p:blipFill>
          <a:blip r:embed="rId2">
            <a:extLst/>
          </a:blip>
          <a:stretch>
            <a:fillRect/>
          </a:stretch>
        </p:blipFill>
        <p:spPr>
          <a:xfrm>
            <a:off x="479144" y="371093"/>
            <a:ext cx="955130" cy="332389"/>
          </a:xfrm>
          <a:prstGeom prst="rect">
            <a:avLst/>
          </a:prstGeom>
          <a:ln w="12700">
            <a:miter lim="400000"/>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36" name="Image 0" descr="Image 0"/>
          <p:cNvPicPr>
            <a:picLocks noChangeAspect="1"/>
          </p:cNvPicPr>
          <p:nvPr/>
        </p:nvPicPr>
        <p:blipFill>
          <a:blip r:embed="rId2">
            <a:extLst/>
          </a:blip>
          <a:stretch>
            <a:fillRect/>
          </a:stretch>
        </p:blipFill>
        <p:spPr>
          <a:xfrm>
            <a:off x="0" y="0"/>
            <a:ext cx="12191697" cy="6858000"/>
          </a:xfrm>
          <a:prstGeom prst="rect">
            <a:avLst/>
          </a:prstGeom>
          <a:ln w="12700">
            <a:miter lim="400000"/>
          </a:ln>
        </p:spPr>
      </p:pic>
      <p:sp>
        <p:nvSpPr>
          <p:cNvPr id="337" name="Text 1"/>
          <p:cNvSpPr txBox="1"/>
          <p:nvPr/>
        </p:nvSpPr>
        <p:spPr>
          <a:xfrm>
            <a:off x="457200" y="2886623"/>
            <a:ext cx="8229600" cy="4903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000045"/>
                </a:solidFill>
                <a:latin typeface="+mj-lt"/>
                <a:ea typeface="+mj-ea"/>
                <a:cs typeface="+mj-cs"/>
                <a:sym typeface="Calibri"/>
              </a:defRPr>
            </a:lvl1pPr>
          </a:lstStyle>
          <a:p>
            <a:pPr/>
            <a:r>
              <a:t>THANK</a:t>
            </a:r>
          </a:p>
        </p:txBody>
      </p:sp>
      <p:sp>
        <p:nvSpPr>
          <p:cNvPr id="338" name="Text 2"/>
          <p:cNvSpPr txBox="1"/>
          <p:nvPr/>
        </p:nvSpPr>
        <p:spPr>
          <a:xfrm>
            <a:off x="457200" y="3709582"/>
            <a:ext cx="8229600" cy="4903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221AFB"/>
                </a:solidFill>
                <a:latin typeface="+mj-lt"/>
                <a:ea typeface="+mj-ea"/>
                <a:cs typeface="+mj-cs"/>
                <a:sym typeface="Calibri"/>
              </a:defRPr>
            </a:lvl1pPr>
          </a:lstStyle>
          <a:p>
            <a:pPr/>
            <a:r>
              <a:t>You</a:t>
            </a:r>
          </a:p>
        </p:txBody>
      </p:sp>
      <p:sp>
        <p:nvSpPr>
          <p:cNvPr id="339" name="Text 3"/>
          <p:cNvSpPr txBox="1"/>
          <p:nvPr/>
        </p:nvSpPr>
        <p:spPr>
          <a:xfrm>
            <a:off x="457200" y="4615879"/>
            <a:ext cx="54864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75569"/>
                </a:solidFill>
                <a:latin typeface="+mj-lt"/>
                <a:ea typeface="+mj-ea"/>
                <a:cs typeface="+mj-cs"/>
                <a:sym typeface="Calibri"/>
              </a:defRPr>
            </a:lvl1pPr>
          </a:lstStyle>
          <a:p>
            <a:pPr/>
            <a:r>
              <a:t>24 August 2026  ·  Digital Experience Department</a:t>
            </a:r>
          </a:p>
        </p:txBody>
      </p:sp>
      <p:sp>
        <p:nvSpPr>
          <p:cNvPr id="340" name="Shape 4"/>
          <p:cNvSpPr/>
          <p:nvPr/>
        </p:nvSpPr>
        <p:spPr>
          <a:xfrm>
            <a:off x="457196" y="5074918"/>
            <a:ext cx="3474729" cy="6"/>
          </a:xfrm>
          <a:prstGeom prst="line">
            <a:avLst/>
          </a:prstGeom>
          <a:ln w="25400">
            <a:solidFill>
              <a:srgbClr val="0029FF"/>
            </a:solidFill>
          </a:ln>
        </p:spPr>
        <p:txBody>
          <a:bodyPr lIns="45718" tIns="45718" rIns="45718" bIns="45718"/>
          <a:lstStyle/>
          <a:p>
            <a:p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