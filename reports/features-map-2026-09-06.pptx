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2331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300">
                <a:solidFill>
                  <a:srgbClr val="0033E8"/>
                </a:solidFill>
                <a:latin typeface="Calibri"/>
              </a:rPr>
              <a:t>AL RAJHI CAPITAL  ·  PRODUCT EXPERIENCE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743200"/>
            <a:ext cx="7772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0" i="0" spc="-100">
                <a:solidFill>
                  <a:srgbClr val="0E1E4E"/>
                </a:solidFill>
                <a:latin typeface="Calibri"/>
              </a:rPr>
              <a:t>The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044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0" b="1" i="0" spc="-100">
                <a:solidFill>
                  <a:srgbClr val="0033E8"/>
                </a:solidFill>
                <a:latin typeface="Calibri"/>
              </a:rPr>
              <a:t>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617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0E1E4E"/>
                </a:solidFill>
                <a:latin typeface="Calibri"/>
              </a:rPr>
              <a:t>Baseline v2.21  ·  6 September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5074920"/>
            <a:ext cx="2926080" cy="22225"/>
          </a:xfrm>
          <a:prstGeom prst="rect">
            <a:avLst/>
          </a:prstGeom>
          <a:solidFill>
            <a:srgbClr val="003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257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0E1E4E"/>
                </a:solidFill>
                <a:latin typeface="Calibri"/>
              </a:rPr>
              <a:t>865 capability rows across 10 investor journeys — every one decided.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E1E4E"/>
                </a:solidFill>
                <a:latin typeface="Calibri"/>
              </a:rPr>
              <a:t>Al Rajhi Capital  ·  الراجحي المالية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 spc="300">
                <a:solidFill>
                  <a:srgbClr val="8C8E9F"/>
                </a:solidFill>
                <a:latin typeface="Calibri"/>
              </a:rPr>
              <a:t>SECTION 01  ·  THE MAP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3474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8C8E9F"/>
                </a:solidFill>
                <a:latin typeface="Calibri"/>
              </a:rPr>
              <a:t>02  /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C8E9F"/>
                </a:solidFill>
                <a:latin typeface="Calibri"/>
              </a:rPr>
              <a:t>The Features Map  ·  v2.21  ·  6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100297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1F1D4A"/>
                </a:solidFill>
                <a:latin typeface="Georgia"/>
              </a:rPr>
              <a:t>One record of what ARC has.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A5C70"/>
                </a:solidFill>
                <a:latin typeface="Calibri"/>
              </a:rPr>
              <a:t>Every capability ARC ships, is building, or has not built — with a status that traces to evidence rather than opinion.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377440"/>
            <a:ext cx="1828800" cy="22225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606040"/>
            <a:ext cx="264810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5A48E8"/>
                </a:solidFill>
                <a:latin typeface="Georgia"/>
              </a:rPr>
              <a:t>865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46120"/>
            <a:ext cx="209946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1D4A"/>
                </a:solidFill>
                <a:latin typeface="Calibri"/>
              </a:rPr>
              <a:t>Capability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39312"/>
            <a:ext cx="20994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5C70"/>
                </a:solidFill>
                <a:latin typeface="Calibri"/>
              </a:rPr>
              <a:t>Across 10 investor journeys, each placed in a reviewed structure.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79622" y="2606040"/>
            <a:ext cx="264810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3942" y="27889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5A48E8"/>
                </a:solidFill>
                <a:latin typeface="Georgia"/>
              </a:rPr>
              <a:t>524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3942" y="3246120"/>
            <a:ext cx="209946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1D4A"/>
                </a:solidFill>
                <a:latin typeface="Calibri"/>
              </a:rPr>
              <a:t>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3942" y="3639312"/>
            <a:ext cx="20994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5C70"/>
                </a:solidFill>
                <a:latin typeface="Calibri"/>
              </a:rPr>
              <a:t>61% of the map. 504 carry a dated walk or ruling.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4884" y="2606040"/>
            <a:ext cx="264810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9204" y="27889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5A48E8"/>
                </a:solidFill>
                <a:latin typeface="Georgia"/>
              </a:rPr>
              <a:t>129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9204" y="3246120"/>
            <a:ext cx="209946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1D4A"/>
                </a:solidFill>
                <a:latin typeface="Calibri"/>
              </a:rPr>
              <a:t>Planned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9204" y="3639312"/>
            <a:ext cx="20994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5C70"/>
                </a:solidFill>
                <a:latin typeface="Calibri"/>
              </a:rPr>
              <a:t>15% of the map — on the roadmap, not yet shipped.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50147" y="2606040"/>
            <a:ext cx="264810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4467" y="27889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 i="0">
                <a:solidFill>
                  <a:srgbClr val="5A48E8"/>
                </a:solidFill>
                <a:latin typeface="Georgia"/>
              </a:rPr>
              <a:t>212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4467" y="3246120"/>
            <a:ext cx="209946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1D4A"/>
                </a:solidFill>
                <a:latin typeface="Calibri"/>
              </a:rPr>
              <a:t>Gaps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4467" y="3639312"/>
            <a:ext cx="20994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5C70"/>
                </a:solidFill>
                <a:latin typeface="Calibri"/>
              </a:rPr>
              <a:t>25% of the map — not built in the product today.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 spc="300">
                <a:solidFill>
                  <a:srgbClr val="8C8E9F"/>
                </a:solidFill>
                <a:latin typeface="Calibri"/>
              </a:rPr>
              <a:t>SECTION 02  ·  COVERAGE — TRADING JOURNEYS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3474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8C8E9F"/>
                </a:solidFill>
                <a:latin typeface="Calibri"/>
              </a:rPr>
              <a:t>03  /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C8E9F"/>
                </a:solidFill>
                <a:latin typeface="Calibri"/>
              </a:rPr>
              <a:t>The Features Map  ·  v2.21  ·  6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100297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1F1D4A"/>
                </a:solidFill>
                <a:latin typeface="Georgia"/>
              </a:rPr>
              <a:t>Journey by journey, area by area.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A5C70"/>
                </a:solidFill>
                <a:latin typeface="Calibri"/>
              </a:rPr>
              <a:t>The four trading journeys as the map nests them — 652 of the 865 rows.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377440"/>
            <a:ext cx="1828800" cy="22225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0" y="2286000"/>
            <a:ext cx="146304" cy="14630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22792" y="224028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5C70"/>
                </a:solidFill>
                <a:latin typeface="Calibri"/>
              </a:rPr>
              <a:t>Live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59" y="2286000"/>
            <a:ext cx="146304" cy="146304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224028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5C70"/>
                </a:solidFill>
                <a:latin typeface="Calibri"/>
              </a:rPr>
              <a:t>Planned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07040" y="2286000"/>
            <a:ext cx="146304" cy="146304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17352" y="224028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5C70"/>
                </a:solidFill>
                <a:latin typeface="Calibri"/>
              </a:rPr>
              <a:t>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587752"/>
            <a:ext cx="5257800" cy="12700"/>
          </a:xfrm>
          <a:prstGeom prst="rect">
            <a:avLst/>
          </a:prstGeom>
          <a:solidFill>
            <a:srgbClr val="DC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63347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F1D4A"/>
                </a:solidFill>
                <a:latin typeface="Calibri"/>
              </a:rPr>
              <a:t>US Trading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63347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1F1D4A"/>
                </a:solidFill>
                <a:latin typeface="Calibri"/>
              </a:rPr>
              <a:t>272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79" y="2670048"/>
            <a:ext cx="932889" cy="15544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6169" y="2670048"/>
            <a:ext cx="93288" cy="155448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09458" y="2670048"/>
            <a:ext cx="665461" cy="155448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2633472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 i="0">
                <a:solidFill>
                  <a:srgbClr val="B5731F"/>
                </a:solidFill>
                <a:latin typeface="Calibri"/>
              </a:rPr>
              <a:t>39%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2926079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Market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926079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132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79" y="2958084"/>
            <a:ext cx="1307176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90456" y="2958084"/>
            <a:ext cx="102523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92980" y="2958084"/>
            <a:ext cx="281940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66360" y="2926079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17%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" y="316839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Portfolio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16839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107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79" y="3200400"/>
            <a:ext cx="395242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78522" y="3200400"/>
            <a:ext cx="79048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57571" y="3200400"/>
            <a:ext cx="1217348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66360" y="316839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B5731F"/>
                </a:solidFill>
                <a:latin typeface="Calibri"/>
              </a:rPr>
              <a:t>72%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" y="34107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Orders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341071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28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83279" y="3442716"/>
            <a:ext cx="1208314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91594" y="3442716"/>
            <a:ext cx="60415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652010" y="3442716"/>
            <a:ext cx="422910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66360" y="341071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B5731F"/>
                </a:solidFill>
                <a:latin typeface="Calibri"/>
              </a:rPr>
              <a:t>25%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8" y="365302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Watchlist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4640" y="36530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3279" y="3685032"/>
            <a:ext cx="1014984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98264" y="3685032"/>
            <a:ext cx="338328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736592" y="3685032"/>
            <a:ext cx="338328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66360" y="365302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20%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3904487"/>
            <a:ext cx="5257800" cy="12700"/>
          </a:xfrm>
          <a:prstGeom prst="rect">
            <a:avLst/>
          </a:prstGeom>
          <a:solidFill>
            <a:srgbClr val="DC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3950207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F1D4A"/>
                </a:solidFill>
                <a:latin typeface="Calibri"/>
              </a:rPr>
              <a:t>Saudi Market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34640" y="395020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1F1D4A"/>
                </a:solidFill>
                <a:latin typeface="Calibri"/>
              </a:rPr>
              <a:t>197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83279" y="3986783"/>
            <a:ext cx="953157" cy="15544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36437" y="3986783"/>
            <a:ext cx="523807" cy="155448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60244" y="3986783"/>
            <a:ext cx="214675" cy="155448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66360" y="3950207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 i="0">
                <a:solidFill>
                  <a:srgbClr val="8C8E9F"/>
                </a:solidFill>
                <a:latin typeface="Calibri"/>
              </a:rPr>
              <a:t>13%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8" y="424281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Market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34640" y="424281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108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83279" y="4274820"/>
            <a:ext cx="65786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041140" y="4274820"/>
            <a:ext cx="736176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777316" y="4274820"/>
            <a:ext cx="297603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166360" y="424281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18%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8" y="4485131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Portfolio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34640" y="448513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59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83279" y="4517136"/>
            <a:ext cx="1376249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759529" y="4517136"/>
            <a:ext cx="286718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046248" y="4517136"/>
            <a:ext cx="28671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66360" y="4485131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2%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5528" y="4727447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Orders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34640" y="472744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25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383279" y="4759451"/>
            <a:ext cx="121798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601260" y="4759451"/>
            <a:ext cx="202996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804257" y="4759451"/>
            <a:ext cx="270662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166360" y="4727447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16%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5528" y="4969763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Watchlist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34640" y="4969763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383279" y="5001767"/>
            <a:ext cx="1014984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398264" y="5001767"/>
            <a:ext cx="338328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36592" y="5001767"/>
            <a:ext cx="338328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166360" y="4969763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20%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72200" y="2587752"/>
            <a:ext cx="5257800" cy="12700"/>
          </a:xfrm>
          <a:prstGeom prst="rect">
            <a:avLst/>
          </a:prstGeom>
          <a:solidFill>
            <a:srgbClr val="DC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72200" y="263347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F1D4A"/>
                </a:solidFill>
                <a:latin typeface="Calibri"/>
              </a:rPr>
              <a:t>Mutual Funds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12480" y="263347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1F1D4A"/>
                </a:solidFill>
                <a:latin typeface="Calibri"/>
              </a:rPr>
              <a:t>115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61120" y="2670048"/>
            <a:ext cx="1147373" cy="15544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108493" y="2670048"/>
            <a:ext cx="58839" cy="155448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167332" y="2670048"/>
            <a:ext cx="485427" cy="155448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744200" y="2633472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 i="0">
                <a:solidFill>
                  <a:srgbClr val="B5731F"/>
                </a:solidFill>
                <a:latin typeface="Calibri"/>
              </a:rPr>
              <a:t>29%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73368" y="2926079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Portfolio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12480" y="2926079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61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61120" y="2958084"/>
            <a:ext cx="1026076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987196" y="2958084"/>
            <a:ext cx="665563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744200" y="2926079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B5731F"/>
                </a:solidFill>
                <a:latin typeface="Calibri"/>
              </a:rPr>
              <a:t>39%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73368" y="316839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Market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12480" y="316839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42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61120" y="3200400"/>
            <a:ext cx="1490254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451374" y="3200400"/>
            <a:ext cx="120831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572205" y="3200400"/>
            <a:ext cx="80554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744200" y="316839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5%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73368" y="34107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Orders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412480" y="341071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961120" y="3442716"/>
            <a:ext cx="966651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927771" y="3442716"/>
            <a:ext cx="241662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169434" y="3442716"/>
            <a:ext cx="483325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744200" y="341071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B5731F"/>
                </a:solidFill>
                <a:latin typeface="Calibri"/>
              </a:rPr>
              <a:t>29%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73368" y="365302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Watchlist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12480" y="36530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961120" y="3685032"/>
            <a:ext cx="1691640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744200" y="365302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B5731F"/>
                </a:solidFill>
                <a:latin typeface="Calibri"/>
              </a:rPr>
              <a:t>100%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72200" y="3904487"/>
            <a:ext cx="5257800" cy="12700"/>
          </a:xfrm>
          <a:prstGeom prst="rect">
            <a:avLst/>
          </a:prstGeom>
          <a:solidFill>
            <a:srgbClr val="DC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72200" y="3950207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F1D4A"/>
                </a:solidFill>
                <a:latin typeface="Calibri"/>
              </a:rPr>
              <a:t>Robo Advisory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412480" y="395020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1F1D4A"/>
                </a:solidFill>
                <a:latin typeface="Calibri"/>
              </a:rPr>
              <a:t>68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961120" y="3986783"/>
            <a:ext cx="920451" cy="15544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881571" y="3986783"/>
            <a:ext cx="124385" cy="155448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005956" y="3986783"/>
            <a:ext cx="646803" cy="155448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744200" y="3950207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 i="0">
                <a:solidFill>
                  <a:srgbClr val="B5731F"/>
                </a:solidFill>
                <a:latin typeface="Calibri"/>
              </a:rPr>
              <a:t>38%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373368" y="424281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Portfolio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12480" y="424281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50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961120" y="4274820"/>
            <a:ext cx="811987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773107" y="4274820"/>
            <a:ext cx="879652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744200" y="424281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B5731F"/>
                </a:solidFill>
                <a:latin typeface="Calibri"/>
              </a:rPr>
              <a:t>52%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73368" y="4485131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Market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412480" y="448513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16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961120" y="4517136"/>
            <a:ext cx="1163002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124122" y="4517136"/>
            <a:ext cx="528637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744200" y="4485131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373368" y="4727447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Orders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412480" y="472744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2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961120" y="4759451"/>
            <a:ext cx="169164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744200" y="4727447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94360" y="6355080"/>
            <a:ext cx="110029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C8E9F"/>
                </a:solidFill>
                <a:latin typeface="Calibri"/>
              </a:rPr>
              <a:t>Source: Features Map · baseline v2.21 · features_derived.json · verified_live.json · manual_status.json · 6 September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 spc="300">
                <a:solidFill>
                  <a:srgbClr val="8C8E9F"/>
                </a:solidFill>
                <a:latin typeface="Calibri"/>
              </a:rPr>
              <a:t>SECTION 03  ·  COVERAGE — PLATFORM &amp; MANAGED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3474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8C8E9F"/>
                </a:solidFill>
                <a:latin typeface="Calibri"/>
              </a:rPr>
              <a:t>04  /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C8E9F"/>
                </a:solidFill>
                <a:latin typeface="Calibri"/>
              </a:rPr>
              <a:t>The Features Map  ·  v2.21  ·  6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100297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1F1D4A"/>
                </a:solidFill>
                <a:latin typeface="Georgia"/>
              </a:rPr>
              <a:t>The rest of the map.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A5C70"/>
                </a:solidFill>
                <a:latin typeface="Calibri"/>
              </a:rPr>
              <a:t>Cash Management, Onboarding, LMS/SBL, IPOs, Crowd Fund and every Platform area — the remaining 213 rows.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377440"/>
            <a:ext cx="1828800" cy="22225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0" y="2286000"/>
            <a:ext cx="146304" cy="14630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22792" y="224028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5C70"/>
                </a:solidFill>
                <a:latin typeface="Calibri"/>
              </a:rPr>
              <a:t>Live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59" y="2286000"/>
            <a:ext cx="146304" cy="146304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72" y="224028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5C70"/>
                </a:solidFill>
                <a:latin typeface="Calibri"/>
              </a:rPr>
              <a:t>Planned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07040" y="2286000"/>
            <a:ext cx="146304" cy="146304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17352" y="224028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5C70"/>
                </a:solidFill>
                <a:latin typeface="Calibri"/>
              </a:rPr>
              <a:t>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587752"/>
            <a:ext cx="5257800" cy="12700"/>
          </a:xfrm>
          <a:prstGeom prst="rect">
            <a:avLst/>
          </a:prstGeom>
          <a:solidFill>
            <a:srgbClr val="DC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63347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F1D4A"/>
                </a:solidFill>
                <a:latin typeface="Calibri"/>
              </a:rPr>
              <a:t>Cash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63347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1F1D4A"/>
                </a:solidFill>
                <a:latin typeface="Calibri"/>
              </a:rPr>
              <a:t>82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79" y="2670048"/>
            <a:ext cx="1258415" cy="15544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41695" y="2670048"/>
            <a:ext cx="247557" cy="155448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89252" y="2670048"/>
            <a:ext cx="185667" cy="155448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2633472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 i="0">
                <a:solidFill>
                  <a:srgbClr val="8C8E9F"/>
                </a:solidFill>
                <a:latin typeface="Calibri"/>
              </a:rPr>
              <a:t>11%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28757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Cash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8757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82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79" y="2907792"/>
            <a:ext cx="1258415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41695" y="2907792"/>
            <a:ext cx="247557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89252" y="2907792"/>
            <a:ext cx="185667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66360" y="287578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11%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3068726"/>
            <a:ext cx="5257800" cy="12700"/>
          </a:xfrm>
          <a:prstGeom prst="rect">
            <a:avLst/>
          </a:prstGeom>
          <a:solidFill>
            <a:srgbClr val="DC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114446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F1D4A"/>
                </a:solidFill>
                <a:latin typeface="Calibri"/>
              </a:rPr>
              <a:t>Onboarding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311444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1F1D4A"/>
                </a:solidFill>
                <a:latin typeface="Calibri"/>
              </a:rPr>
              <a:t>34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79" y="3151022"/>
            <a:ext cx="995082" cy="15544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78362" y="3151022"/>
            <a:ext cx="696557" cy="155448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66360" y="311444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 i="0">
                <a:solidFill>
                  <a:srgbClr val="8C8E9F"/>
                </a:solidFill>
                <a:latin typeface="Calibri"/>
              </a:rPr>
              <a:t>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" y="335676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All account types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335676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83279" y="3388766"/>
            <a:ext cx="1353312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36592" y="3388766"/>
            <a:ext cx="338328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66360" y="335676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" y="354055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Corporate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4640" y="354055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11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3279" y="3572560"/>
            <a:ext cx="1691640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66360" y="354055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8" y="3724351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Global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372435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83279" y="3756355"/>
            <a:ext cx="169164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66360" y="3724351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" y="3908145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Minor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34640" y="3908145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83279" y="3940149"/>
            <a:ext cx="169164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66360" y="3908145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8" y="4091939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Saudi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34640" y="4091939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83279" y="4123944"/>
            <a:ext cx="169164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66360" y="4091939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" y="4284878"/>
            <a:ext cx="5257800" cy="12700"/>
          </a:xfrm>
          <a:prstGeom prst="rect">
            <a:avLst/>
          </a:prstGeom>
          <a:solidFill>
            <a:srgbClr val="DC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" y="4330598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F1D4A"/>
                </a:solidFill>
                <a:latin typeface="Calibri"/>
              </a:rPr>
              <a:t>LMS/SBL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34640" y="4330598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1F1D4A"/>
                </a:solidFill>
                <a:latin typeface="Calibri"/>
              </a:rPr>
              <a:t>13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83279" y="4367174"/>
            <a:ext cx="1041009" cy="15544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424289" y="4367174"/>
            <a:ext cx="650630" cy="155448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66360" y="4330598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 i="0">
                <a:solidFill>
                  <a:srgbClr val="8C8E9F"/>
                </a:solidFill>
                <a:latin typeface="Calibri"/>
              </a:rPr>
              <a:t>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8" y="4572914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LMS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34640" y="457291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83279" y="4604918"/>
            <a:ext cx="75184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135120" y="4604918"/>
            <a:ext cx="939799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66360" y="4572914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5528" y="475670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SBL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34640" y="475670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383279" y="4788712"/>
            <a:ext cx="169164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166360" y="475670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4360" y="4949647"/>
            <a:ext cx="5257800" cy="12700"/>
          </a:xfrm>
          <a:prstGeom prst="rect">
            <a:avLst/>
          </a:prstGeom>
          <a:solidFill>
            <a:srgbClr val="DC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4360" y="4995367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F1D4A"/>
                </a:solidFill>
                <a:latin typeface="Calibri"/>
              </a:rPr>
              <a:t>IPOs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34640" y="499536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1F1D4A"/>
                </a:solidFill>
                <a:latin typeface="Calibri"/>
              </a:rPr>
              <a:t>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383279" y="5031943"/>
            <a:ext cx="1127760" cy="15544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511040" y="5031943"/>
            <a:ext cx="563880" cy="155448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166360" y="4995367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 i="0">
                <a:solidFill>
                  <a:srgbClr val="B5731F"/>
                </a:solidFill>
                <a:latin typeface="Calibri"/>
              </a:rPr>
              <a:t>33%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8" y="5237683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Subscriptions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834640" y="5237683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383279" y="5269687"/>
            <a:ext cx="112776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511040" y="5269687"/>
            <a:ext cx="563880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66360" y="5237683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B5731F"/>
                </a:solidFill>
                <a:latin typeface="Calibri"/>
              </a:rPr>
              <a:t>33%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94360" y="5430621"/>
            <a:ext cx="5257800" cy="12700"/>
          </a:xfrm>
          <a:prstGeom prst="rect">
            <a:avLst/>
          </a:prstGeom>
          <a:solidFill>
            <a:srgbClr val="DC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94360" y="5476341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F1D4A"/>
                </a:solidFill>
                <a:latin typeface="Calibri"/>
              </a:rPr>
              <a:t>Crowd Fund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834640" y="5476341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1F1D4A"/>
                </a:solidFill>
                <a:latin typeface="Calibri"/>
              </a:rPr>
              <a:t>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383279" y="5512917"/>
            <a:ext cx="1691640" cy="15544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166360" y="5476341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 i="0">
                <a:solidFill>
                  <a:srgbClr val="8C8E9F"/>
                </a:solidFill>
                <a:latin typeface="Calibri"/>
              </a:rPr>
              <a:t>0%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5528" y="5718657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Portfolio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834640" y="571865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383279" y="5750661"/>
            <a:ext cx="169164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166360" y="5718657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72200" y="2587752"/>
            <a:ext cx="5257800" cy="12700"/>
          </a:xfrm>
          <a:prstGeom prst="rect">
            <a:avLst/>
          </a:prstGeom>
          <a:solidFill>
            <a:srgbClr val="DC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72200" y="263347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F1D4A"/>
                </a:solidFill>
                <a:latin typeface="Calibri"/>
              </a:rPr>
              <a:t>Platform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412480" y="263347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1F1D4A"/>
                </a:solidFill>
                <a:latin typeface="Calibri"/>
              </a:rPr>
              <a:t>71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61120" y="2670048"/>
            <a:ext cx="1167469" cy="15544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128589" y="2670048"/>
            <a:ext cx="309736" cy="155448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438326" y="2670048"/>
            <a:ext cx="214433" cy="155448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744200" y="2633472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 i="0">
                <a:solidFill>
                  <a:srgbClr val="8C8E9F"/>
                </a:solidFill>
                <a:latin typeface="Calibri"/>
              </a:rPr>
              <a:t>13%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73368" y="28757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App Widgets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412480" y="28757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61120" y="2907792"/>
            <a:ext cx="131572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276840" y="2907792"/>
            <a:ext cx="375920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744200" y="287578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22%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373368" y="304586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Alert and Notification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412480" y="304586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6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61120" y="3077870"/>
            <a:ext cx="140970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370820" y="3077870"/>
            <a:ext cx="281940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744200" y="304586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373368" y="3215944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Calculator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412480" y="321594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5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961120" y="3247948"/>
            <a:ext cx="1353312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314432" y="3247948"/>
            <a:ext cx="338328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744200" y="3215944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373368" y="3386023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Subscription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12480" y="3386023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961120" y="3418027"/>
            <a:ext cx="169164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744200" y="3386023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73368" y="3556101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Settings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412480" y="355610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5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961120" y="3588105"/>
            <a:ext cx="1353312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314432" y="3588105"/>
            <a:ext cx="338328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744200" y="3556101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373368" y="372618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Auth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412480" y="372618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4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961120" y="3758184"/>
            <a:ext cx="169164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744200" y="372618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373368" y="389625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Engagement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412480" y="389625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4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961120" y="3928262"/>
            <a:ext cx="845820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806940" y="3928262"/>
            <a:ext cx="845820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0744200" y="389625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B5731F"/>
                </a:solidFill>
                <a:latin typeface="Calibri"/>
              </a:rPr>
              <a:t>50%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373368" y="406633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Family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412480" y="406633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4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961120" y="4098340"/>
            <a:ext cx="126873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229850" y="4098340"/>
            <a:ext cx="422910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744200" y="406633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373368" y="4236415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Customization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412480" y="4236415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4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961120" y="4268419"/>
            <a:ext cx="169164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744200" y="4236415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373368" y="4406493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Session Duration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412480" y="4406493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4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961120" y="4438497"/>
            <a:ext cx="169164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0744200" y="4406493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373368" y="457657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Education/Social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412480" y="457657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4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961120" y="4608576"/>
            <a:ext cx="845820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9806940" y="4608576"/>
            <a:ext cx="845820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0744200" y="457657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B5731F"/>
                </a:solidFill>
                <a:latin typeface="Calibri"/>
              </a:rPr>
              <a:t>50%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373368" y="474665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Platform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412480" y="474665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3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961120" y="4778654"/>
            <a:ext cx="56388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9525000" y="4778654"/>
            <a:ext cx="1127760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0744200" y="474665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B5731F"/>
                </a:solidFill>
                <a:latin typeface="Calibri"/>
              </a:rPr>
              <a:t>67%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373368" y="491672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Services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412480" y="491672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3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8961120" y="4948732"/>
            <a:ext cx="1691640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0744200" y="491672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373368" y="5086807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Language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412480" y="508680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2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961120" y="5118811"/>
            <a:ext cx="169164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0744200" y="5086807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373368" y="5256885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KYC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412480" y="5256885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2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961120" y="5288889"/>
            <a:ext cx="169164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744200" y="5256885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373368" y="5426964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Portfolio Preference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412480" y="542696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2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961120" y="5458968"/>
            <a:ext cx="169164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0744200" y="5426964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373368" y="559704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Charity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412480" y="559704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2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961120" y="5629046"/>
            <a:ext cx="84582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806940" y="5629046"/>
            <a:ext cx="845820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0744200" y="559704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6373368" y="576712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Investment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412480" y="57671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2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8961120" y="5799124"/>
            <a:ext cx="845820" cy="114300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806940" y="5799124"/>
            <a:ext cx="845820" cy="114300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0744200" y="576712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B5731F"/>
                </a:solidFill>
                <a:latin typeface="Calibri"/>
              </a:rPr>
              <a:t>50%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373368" y="5937199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5A5C70"/>
                </a:solidFill>
                <a:latin typeface="Calibri"/>
              </a:rPr>
              <a:t>Sharia List Management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412480" y="5937199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5A5C70"/>
                </a:solidFill>
                <a:latin typeface="Calibri"/>
              </a:rPr>
              <a:t>1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8961120" y="5969203"/>
            <a:ext cx="1691640" cy="1143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0744200" y="5937199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8C8E9F"/>
                </a:solidFill>
                <a:latin typeface="Calibri"/>
              </a:rPr>
              <a:t>—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94360" y="6355080"/>
            <a:ext cx="110029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C8E9F"/>
                </a:solidFill>
                <a:latin typeface="Calibri"/>
              </a:rPr>
              <a:t>Source: Features Map · baseline v2.21 · features_derived.json · verified_live.json · manual_status.json · 6 September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 spc="300">
                <a:solidFill>
                  <a:srgbClr val="8C8E9F"/>
                </a:solidFill>
                <a:latin typeface="Calibri"/>
              </a:rPr>
              <a:t>SECTION 04  ·  THE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2935" y="3474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8C8E9F"/>
                </a:solidFill>
                <a:latin typeface="Calibri"/>
              </a:rPr>
              <a:t>05  /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8C8E9F"/>
                </a:solidFill>
                <a:latin typeface="Calibri"/>
              </a:rPr>
              <a:t>The Features Map  ·  v2.21  ·  6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1100297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1F1D4A"/>
                </a:solidFill>
                <a:latin typeface="Georgia"/>
              </a:rPr>
              <a:t>One gap list, repeated in three products.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100885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5A5C70"/>
                </a:solidFill>
                <a:latin typeface="Calibri"/>
              </a:rPr>
              <a:t>18 named capabilities are missing from Mutual Funds, Robo Advisory and US Trading simultaneously.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377440"/>
            <a:ext cx="1828800" cy="22225"/>
          </a:xfrm>
          <a:prstGeom prst="rect">
            <a:avLst/>
          </a:prstGeom>
          <a:solidFill>
            <a:srgbClr val="5A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606040"/>
            <a:ext cx="67665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834640"/>
            <a:ext cx="62179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 spc="200">
                <a:solidFill>
                  <a:srgbClr val="5A48E8"/>
                </a:solidFill>
                <a:latin typeface="Calibri"/>
              </a:rPr>
              <a:t>GAP IN MUTUAL FUNDS, ROBO ADVISORY AND US TRADING AT ONCE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" y="3264408"/>
            <a:ext cx="54864" cy="118872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20040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1D4A"/>
                </a:solidFill>
                <a:latin typeface="Calibri"/>
              </a:rPr>
              <a:t>Finance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33087" y="3264408"/>
            <a:ext cx="54864" cy="118872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320040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1D4A"/>
                </a:solidFill>
                <a:latin typeface="Calibri"/>
              </a:rPr>
              <a:t>Gain/Loss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" y="3648456"/>
            <a:ext cx="54864" cy="118872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58444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1D4A"/>
                </a:solidFill>
                <a:latin typeface="Calibri"/>
              </a:rPr>
              <a:t>Market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33087" y="3648456"/>
            <a:ext cx="54864" cy="118872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79" y="358444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1D4A"/>
                </a:solidFill>
                <a:latin typeface="Calibri"/>
              </a:rPr>
              <a:t>Orders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" y="4032504"/>
            <a:ext cx="54864" cy="118872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96849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1D4A"/>
                </a:solidFill>
                <a:latin typeface="Calibri"/>
              </a:rPr>
              <a:t>Overview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33087" y="4032504"/>
            <a:ext cx="54864" cy="118872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79" y="396849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1D4A"/>
                </a:solidFill>
                <a:latin typeface="Calibri"/>
              </a:rPr>
              <a:t>Portfolio P/L 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" y="4416552"/>
            <a:ext cx="54864" cy="118872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35254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1D4A"/>
                </a:solidFill>
                <a:latin typeface="Calibri"/>
              </a:rPr>
              <a:t>Statement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33087" y="4416552"/>
            <a:ext cx="54864" cy="118872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79" y="435254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1D4A"/>
                </a:solidFill>
                <a:latin typeface="Calibri"/>
              </a:rPr>
              <a:t>Transfer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" y="4800600"/>
            <a:ext cx="54864" cy="118872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73659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1D4A"/>
                </a:solidFill>
                <a:latin typeface="Calibri"/>
              </a:rPr>
              <a:t>Update Avg Cost Price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33087" y="4800600"/>
            <a:ext cx="54864" cy="118872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79" y="473659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A5C70"/>
                </a:solidFill>
                <a:latin typeface="Calibri"/>
              </a:rPr>
              <a:t>Allocation Tracker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" y="5184648"/>
            <a:ext cx="54864" cy="118872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12064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A5C70"/>
                </a:solidFill>
                <a:latin typeface="Calibri"/>
              </a:rPr>
              <a:t>Custom Index Against Benchmark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33087" y="5184648"/>
            <a:ext cx="54864" cy="118872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79" y="512064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A5C70"/>
                </a:solidFill>
                <a:latin typeface="Calibri"/>
              </a:rPr>
              <a:t>Goal Tracker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" y="5504688"/>
            <a:ext cx="62179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8C8E9F"/>
                </a:solidFill>
                <a:latin typeface="Calibri"/>
              </a:rPr>
              <a:t>Green — already Live in Saudi Market (9 of 18)   ·   +6 more not shown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5742432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5C70"/>
                </a:solidFill>
                <a:latin typeface="Calibri"/>
              </a:rPr>
              <a:t>Portfolio depth was built for Saudi equity and never extended to anything else ARC sells.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35240" y="2606040"/>
            <a:ext cx="3959352" cy="3520440"/>
          </a:xfrm>
          <a:prstGeom prst="rect">
            <a:avLst/>
          </a:prstGeom>
          <a:solidFill>
            <a:srgbClr val="EF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27848" y="283464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 spc="200">
                <a:solidFill>
                  <a:srgbClr val="5A48E8"/>
                </a:solidFill>
                <a:latin typeface="Calibri"/>
              </a:rPr>
              <a:t>GAP CONCENTRATION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27848" y="3200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1F1D4A"/>
                </a:solidFill>
                <a:latin typeface="Georgia"/>
              </a:rPr>
              <a:t>77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321868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A5C70"/>
                </a:solidFill>
                <a:latin typeface="Calibri"/>
              </a:rPr>
              <a:t>US Trading · Portfolio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49640" y="3474720"/>
            <a:ext cx="2743200" cy="73152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27848" y="3675887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1F1D4A"/>
                </a:solidFill>
                <a:latin typeface="Georgia"/>
              </a:rPr>
              <a:t>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3694175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A5C70"/>
                </a:solidFill>
                <a:latin typeface="Calibri"/>
              </a:rPr>
              <a:t>Robo Advisory · Portfolio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49640" y="3950207"/>
            <a:ext cx="926275" cy="73152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27848" y="41513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1F1D4A"/>
                </a:solidFill>
                <a:latin typeface="Georgia"/>
              </a:rPr>
              <a:t>24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4169663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A5C70"/>
                </a:solidFill>
                <a:latin typeface="Calibri"/>
              </a:rPr>
              <a:t>Mutual Funds · Portfolio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49640" y="4425696"/>
            <a:ext cx="855023" cy="73152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27848" y="46268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1F1D4A"/>
                </a:solidFill>
                <a:latin typeface="Georgia"/>
              </a:rPr>
              <a:t>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9640" y="464515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A5C70"/>
                </a:solidFill>
                <a:latin typeface="Calibri"/>
              </a:rPr>
              <a:t>US Trading · Market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49640" y="4901184"/>
            <a:ext cx="783771" cy="73152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27848" y="51023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1F1D4A"/>
                </a:solidFill>
                <a:latin typeface="Georgia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49640" y="512064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A5C70"/>
                </a:solidFill>
                <a:latin typeface="Calibri"/>
              </a:rPr>
              <a:t>Saudi Market · Market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49640" y="5376672"/>
            <a:ext cx="676893" cy="73152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27848" y="55778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1F1D4A"/>
                </a:solidFill>
                <a:latin typeface="Georgia"/>
              </a:rPr>
              <a:t>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49640" y="5596127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A5C70"/>
                </a:solidFill>
                <a:latin typeface="Calibri"/>
              </a:rPr>
              <a:t>Cash Management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49640" y="5852159"/>
            <a:ext cx="320633" cy="73152"/>
          </a:xfrm>
          <a:prstGeom prst="rect">
            <a:avLst/>
          </a:prstGeom>
          <a:solidFill>
            <a:srgbClr val="B5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" y="6355080"/>
            <a:ext cx="110029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8C8E9F"/>
                </a:solidFill>
                <a:latin typeface="Calibri"/>
              </a:rPr>
              <a:t>Source: Features Map · baseline v2.21 · features_derived.json · verified_live.json · manual_status.json · 6 September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osing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82935" y="3474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06  /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331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300">
                <a:solidFill>
                  <a:srgbClr val="B7B0E8"/>
                </a:solidFill>
                <a:latin typeface="Calibri"/>
              </a:rPr>
              <a:t>THE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743200"/>
            <a:ext cx="7772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0" i="0" spc="-100">
                <a:solidFill>
                  <a:srgbClr val="FFFFFF"/>
                </a:solidFill>
                <a:latin typeface="Calibri"/>
              </a:rPr>
              <a:t>Build the portfolio once,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0" b="1" i="0" spc="-100">
                <a:solidFill>
                  <a:srgbClr val="B7B0E8"/>
                </a:solidFill>
                <a:latin typeface="Calibri"/>
              </a:rPr>
              <a:t>not three times.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709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18 capabilities missing from three products at the same time — 9 of them already working in Saudi Market.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212080"/>
            <a:ext cx="2926080" cy="22225"/>
          </a:xfrm>
          <a:prstGeom prst="rect">
            <a:avLst/>
          </a:prstGeom>
          <a:solidFill>
            <a:srgbClr val="B7B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3949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865 rows · 10 journeys · every one decided · 504 of 524 Live rows carry a dated walk.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Al Rajhi Capital  ·  الراجحي المالية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Features Map  ·  v2.21</dc:title>
  <dc:subject/>
  <dc:creator>Al Rajhi Capital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