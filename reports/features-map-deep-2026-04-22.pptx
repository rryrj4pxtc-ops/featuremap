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12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029F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486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2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alrajhi capital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 Features Map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21488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2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Edition — Full Figma Extraction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2606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164 features  ·  62 gaps  ·  14 differentiators  ·  2.27M design nodes analyzed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474720"/>
            <a:ext cx="1920240" cy="1188720"/>
          </a:xfrm>
          <a:prstGeom prst="roundRect">
            <a:avLst>
              <a:gd name="adj" fmla="val 6154"/>
            </a:avLst>
          </a:prstGeom>
          <a:solidFill>
            <a:srgbClr val="0D1B3C"/>
          </a:solidFill>
          <a:ln w="6350">
            <a:solidFill>
              <a:srgbClr val="1A2D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356616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2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2.27M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731520" y="41148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8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NODES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926080" y="3474720"/>
            <a:ext cx="1920240" cy="1188720"/>
          </a:xfrm>
          <a:prstGeom prst="roundRect">
            <a:avLst>
              <a:gd name="adj" fmla="val 6154"/>
            </a:avLst>
          </a:prstGeom>
          <a:solidFill>
            <a:srgbClr val="0D1B3C"/>
          </a:solidFill>
          <a:ln w="6350">
            <a:solidFill>
              <a:srgbClr val="1A2D5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26080" y="356616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2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262K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2926080" y="41148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8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120640" y="3474720"/>
            <a:ext cx="1920240" cy="1188720"/>
          </a:xfrm>
          <a:prstGeom prst="roundRect">
            <a:avLst>
              <a:gd name="adj" fmla="val 6154"/>
            </a:avLst>
          </a:prstGeom>
          <a:solidFill>
            <a:srgbClr val="0D1B3C"/>
          </a:solidFill>
          <a:ln w="6350">
            <a:solidFill>
              <a:srgbClr val="1A2D5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20640" y="356616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2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246K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5120640" y="41148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</a:t>
            </a:r>
            <a:endParaRPr lang="en-US" sz="8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7315200" y="3474720"/>
            <a:ext cx="1920240" cy="1188720"/>
          </a:xfrm>
          <a:prstGeom prst="roundRect">
            <a:avLst>
              <a:gd name="adj" fmla="val 6154"/>
            </a:avLst>
          </a:prstGeom>
          <a:solidFill>
            <a:srgbClr val="0D1B3C"/>
          </a:solidFill>
          <a:ln w="6350">
            <a:solidFill>
              <a:srgbClr val="1A2D5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0" y="356616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2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8/8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7315200" y="41148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8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3/3 PARITY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9509760" y="3474720"/>
            <a:ext cx="1920240" cy="1188720"/>
          </a:xfrm>
          <a:prstGeom prst="roundRect">
            <a:avLst>
              <a:gd name="adj" fmla="val 6154"/>
            </a:avLst>
          </a:prstGeom>
          <a:solidFill>
            <a:srgbClr val="0D1B3C"/>
          </a:solidFill>
          <a:ln w="6350">
            <a:solidFill>
              <a:srgbClr val="1A2D5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509760" y="356616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2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9509760" y="41148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FEATURES</a:t>
            </a:r>
            <a:endParaRPr lang="en-US" sz="8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DISCOVERED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731520" y="5120640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Full-depth extraction from 8 Figma design files  ·  Figma REST API  ·  2026-04-22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31520" y="594360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Experience Department  ·  Al Rajhi Capital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2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alrajhi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2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508760" y="347472"/>
            <a:ext cx="0" cy="384048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45920" y="2743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FIGMA ANALYSIS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64592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Extraction Overview — 2.27M Nodes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362895" y="38404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20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868680"/>
            <a:ext cx="1127729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097280"/>
            <a:ext cx="2011680" cy="365760"/>
          </a:xfrm>
          <a:prstGeom prst="rect">
            <a:avLst/>
          </a:prstGeom>
          <a:solidFill>
            <a:srgbClr val="0A1F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0352" y="1097280"/>
            <a:ext cx="1865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468880" y="1097280"/>
            <a:ext cx="1097280" cy="365760"/>
          </a:xfrm>
          <a:prstGeom prst="rect">
            <a:avLst/>
          </a:prstGeom>
          <a:solidFill>
            <a:srgbClr val="0A1F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42032" y="1097280"/>
            <a:ext cx="950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566160" y="1097280"/>
            <a:ext cx="640080" cy="365760"/>
          </a:xfrm>
          <a:prstGeom prst="rect">
            <a:avLst/>
          </a:prstGeom>
          <a:solidFill>
            <a:srgbClr val="0A1F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39312" y="1097280"/>
            <a:ext cx="493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206240" y="1097280"/>
            <a:ext cx="1097280" cy="365760"/>
          </a:xfrm>
          <a:prstGeom prst="rect">
            <a:avLst/>
          </a:prstGeom>
          <a:solidFill>
            <a:srgbClr val="0A1F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79392" y="1097280"/>
            <a:ext cx="950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Layers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303520" y="1097280"/>
            <a:ext cx="1097280" cy="365760"/>
          </a:xfrm>
          <a:prstGeom prst="rect">
            <a:avLst/>
          </a:prstGeom>
          <a:solidFill>
            <a:srgbClr val="0A1F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76672" y="1097280"/>
            <a:ext cx="950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400800" y="1097280"/>
            <a:ext cx="1371600" cy="365760"/>
          </a:xfrm>
          <a:prstGeom prst="rect">
            <a:avLst/>
          </a:prstGeom>
          <a:solidFill>
            <a:srgbClr val="0A1F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73952" y="1097280"/>
            <a:ext cx="1225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Modified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57200" y="1463040"/>
            <a:ext cx="2011680" cy="365760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0352" y="1463040"/>
            <a:ext cx="1865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KYC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468880" y="1463040"/>
            <a:ext cx="1097280" cy="365760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542032" y="1463040"/>
            <a:ext cx="950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2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295,977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566160" y="1463040"/>
            <a:ext cx="640080" cy="365760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39312" y="1463040"/>
            <a:ext cx="493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206240" y="1463040"/>
            <a:ext cx="1097280" cy="365760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279392" y="1463040"/>
            <a:ext cx="950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13,530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303520" y="1463040"/>
            <a:ext cx="1097280" cy="365760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376672" y="1463040"/>
            <a:ext cx="950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17,638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400800" y="1463040"/>
            <a:ext cx="1371600" cy="365760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73952" y="1463040"/>
            <a:ext cx="1225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2026-04-21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57200" y="1828800"/>
            <a:ext cx="2011680" cy="365760"/>
          </a:xfrm>
          <a:prstGeom prst="rect">
            <a:avLst/>
          </a:prstGeom>
          <a:solidFill>
            <a:srgbClr val="F1F4F9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30352" y="1828800"/>
            <a:ext cx="1865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468880" y="1828800"/>
            <a:ext cx="1097280" cy="365760"/>
          </a:xfrm>
          <a:prstGeom prst="rect">
            <a:avLst/>
          </a:prstGeom>
          <a:solidFill>
            <a:srgbClr val="F1F4F9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542032" y="1828800"/>
            <a:ext cx="950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2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291,291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566160" y="1828800"/>
            <a:ext cx="640080" cy="365760"/>
          </a:xfrm>
          <a:prstGeom prst="rect">
            <a:avLst/>
          </a:prstGeom>
          <a:solidFill>
            <a:srgbClr val="F1F4F9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639312" y="1828800"/>
            <a:ext cx="493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206240" y="1828800"/>
            <a:ext cx="1097280" cy="365760"/>
          </a:xfrm>
          <a:prstGeom prst="rect">
            <a:avLst/>
          </a:prstGeom>
          <a:solidFill>
            <a:srgbClr val="F1F4F9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279392" y="1828800"/>
            <a:ext cx="950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38,834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5303520" y="1828800"/>
            <a:ext cx="1097280" cy="365760"/>
          </a:xfrm>
          <a:prstGeom prst="rect">
            <a:avLst/>
          </a:prstGeom>
          <a:solidFill>
            <a:srgbClr val="F1F4F9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376672" y="1828800"/>
            <a:ext cx="950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28,745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400800" y="1828800"/>
            <a:ext cx="1371600" cy="365760"/>
          </a:xfrm>
          <a:prstGeom prst="rect">
            <a:avLst/>
          </a:prstGeom>
          <a:solidFill>
            <a:srgbClr val="F1F4F9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473952" y="1828800"/>
            <a:ext cx="1225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2026-04-15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57200" y="2194560"/>
            <a:ext cx="2011680" cy="365760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30352" y="2194560"/>
            <a:ext cx="1865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Tradepad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2468880" y="2194560"/>
            <a:ext cx="1097280" cy="365760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542032" y="2194560"/>
            <a:ext cx="950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2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166,739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3566160" y="2194560"/>
            <a:ext cx="640080" cy="365760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639312" y="2194560"/>
            <a:ext cx="493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4206240" y="2194560"/>
            <a:ext cx="1097280" cy="365760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279392" y="2194560"/>
            <a:ext cx="950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32,527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5303520" y="2194560"/>
            <a:ext cx="1097280" cy="365760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376672" y="2194560"/>
            <a:ext cx="950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30,717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6400800" y="2194560"/>
            <a:ext cx="1371600" cy="365760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473952" y="2194560"/>
            <a:ext cx="1225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2026-03-28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457200" y="2560320"/>
            <a:ext cx="2011680" cy="365760"/>
          </a:xfrm>
          <a:prstGeom prst="rect">
            <a:avLst/>
          </a:prstGeom>
          <a:solidFill>
            <a:srgbClr val="F1F4F9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30352" y="2560320"/>
            <a:ext cx="1865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2468880" y="2560320"/>
            <a:ext cx="1097280" cy="365760"/>
          </a:xfrm>
          <a:prstGeom prst="rect">
            <a:avLst/>
          </a:prstGeom>
          <a:solidFill>
            <a:srgbClr val="F1F4F9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2542032" y="2560320"/>
            <a:ext cx="950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2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406,991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3566160" y="2560320"/>
            <a:ext cx="640080" cy="365760"/>
          </a:xfrm>
          <a:prstGeom prst="rect">
            <a:avLst/>
          </a:prstGeom>
          <a:solidFill>
            <a:srgbClr val="F1F4F9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639312" y="2560320"/>
            <a:ext cx="493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4206240" y="2560320"/>
            <a:ext cx="1097280" cy="365760"/>
          </a:xfrm>
          <a:prstGeom prst="rect">
            <a:avLst/>
          </a:prstGeom>
          <a:solidFill>
            <a:srgbClr val="F1F4F9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279392" y="2560320"/>
            <a:ext cx="950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73,645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5303520" y="2560320"/>
            <a:ext cx="1097280" cy="365760"/>
          </a:xfrm>
          <a:prstGeom prst="rect">
            <a:avLst/>
          </a:prstGeom>
          <a:solidFill>
            <a:srgbClr val="F1F4F9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376672" y="2560320"/>
            <a:ext cx="950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62,116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6400800" y="2560320"/>
            <a:ext cx="1371600" cy="365760"/>
          </a:xfrm>
          <a:prstGeom prst="rect">
            <a:avLst/>
          </a:prstGeom>
          <a:solidFill>
            <a:srgbClr val="F1F4F9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473952" y="2560320"/>
            <a:ext cx="1225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2026-04-21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457200" y="2926080"/>
            <a:ext cx="2011680" cy="365760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530352" y="2926080"/>
            <a:ext cx="1865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Portfolios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2468880" y="2926080"/>
            <a:ext cx="1097280" cy="365760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2542032" y="2926080"/>
            <a:ext cx="950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2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240,353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3566160" y="2926080"/>
            <a:ext cx="640080" cy="365760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3639312" y="2926080"/>
            <a:ext cx="493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4206240" y="2926080"/>
            <a:ext cx="1097280" cy="365760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4279392" y="2926080"/>
            <a:ext cx="950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28,785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5303520" y="2926080"/>
            <a:ext cx="1097280" cy="365760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5376672" y="2926080"/>
            <a:ext cx="950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32,124</a:t>
            </a:r>
            <a:endParaRPr lang="en-US" sz="900" dirty="0"/>
          </a:p>
        </p:txBody>
      </p:sp>
      <p:sp>
        <p:nvSpPr>
          <p:cNvPr id="79" name="Shape 77"/>
          <p:cNvSpPr/>
          <p:nvPr/>
        </p:nvSpPr>
        <p:spPr>
          <a:xfrm>
            <a:off x="6400800" y="2926080"/>
            <a:ext cx="1371600" cy="365760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6473952" y="2926080"/>
            <a:ext cx="1225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2026-04-14</a:t>
            </a:r>
            <a:endParaRPr lang="en-US" sz="900" dirty="0"/>
          </a:p>
        </p:txBody>
      </p:sp>
      <p:sp>
        <p:nvSpPr>
          <p:cNvPr id="81" name="Shape 79"/>
          <p:cNvSpPr/>
          <p:nvPr/>
        </p:nvSpPr>
        <p:spPr>
          <a:xfrm>
            <a:off x="457200" y="3291840"/>
            <a:ext cx="2011680" cy="365760"/>
          </a:xfrm>
          <a:prstGeom prst="rect">
            <a:avLst/>
          </a:prstGeom>
          <a:solidFill>
            <a:srgbClr val="F1F4F9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530352" y="3291840"/>
            <a:ext cx="1865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 (IPO)</a:t>
            </a:r>
            <a:endParaRPr lang="en-US" sz="900" dirty="0"/>
          </a:p>
        </p:txBody>
      </p:sp>
      <p:sp>
        <p:nvSpPr>
          <p:cNvPr id="83" name="Shape 81"/>
          <p:cNvSpPr/>
          <p:nvPr/>
        </p:nvSpPr>
        <p:spPr>
          <a:xfrm>
            <a:off x="2468880" y="3291840"/>
            <a:ext cx="1097280" cy="365760"/>
          </a:xfrm>
          <a:prstGeom prst="rect">
            <a:avLst/>
          </a:prstGeom>
          <a:solidFill>
            <a:srgbClr val="F1F4F9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2542032" y="3291840"/>
            <a:ext cx="950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2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427,474</a:t>
            </a:r>
            <a:endParaRPr lang="en-US" sz="900" dirty="0"/>
          </a:p>
        </p:txBody>
      </p:sp>
      <p:sp>
        <p:nvSpPr>
          <p:cNvPr id="85" name="Shape 83"/>
          <p:cNvSpPr/>
          <p:nvPr/>
        </p:nvSpPr>
        <p:spPr>
          <a:xfrm>
            <a:off x="3566160" y="3291840"/>
            <a:ext cx="640080" cy="365760"/>
          </a:xfrm>
          <a:prstGeom prst="rect">
            <a:avLst/>
          </a:prstGeom>
          <a:solidFill>
            <a:srgbClr val="F1F4F9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3639312" y="3291840"/>
            <a:ext cx="493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87" name="Shape 85"/>
          <p:cNvSpPr/>
          <p:nvPr/>
        </p:nvSpPr>
        <p:spPr>
          <a:xfrm>
            <a:off x="4206240" y="3291840"/>
            <a:ext cx="1097280" cy="365760"/>
          </a:xfrm>
          <a:prstGeom prst="rect">
            <a:avLst/>
          </a:prstGeom>
          <a:solidFill>
            <a:srgbClr val="F1F4F9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4279392" y="3291840"/>
            <a:ext cx="950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33,706</a:t>
            </a:r>
            <a:endParaRPr lang="en-US" sz="900" dirty="0"/>
          </a:p>
        </p:txBody>
      </p:sp>
      <p:sp>
        <p:nvSpPr>
          <p:cNvPr id="89" name="Shape 87"/>
          <p:cNvSpPr/>
          <p:nvPr/>
        </p:nvSpPr>
        <p:spPr>
          <a:xfrm>
            <a:off x="5303520" y="3291840"/>
            <a:ext cx="1097280" cy="365760"/>
          </a:xfrm>
          <a:prstGeom prst="rect">
            <a:avLst/>
          </a:prstGeom>
          <a:solidFill>
            <a:srgbClr val="F1F4F9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5376672" y="3291840"/>
            <a:ext cx="950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30,785</a:t>
            </a:r>
            <a:endParaRPr lang="en-US" sz="900" dirty="0"/>
          </a:p>
        </p:txBody>
      </p:sp>
      <p:sp>
        <p:nvSpPr>
          <p:cNvPr id="91" name="Shape 89"/>
          <p:cNvSpPr/>
          <p:nvPr/>
        </p:nvSpPr>
        <p:spPr>
          <a:xfrm>
            <a:off x="6400800" y="3291840"/>
            <a:ext cx="1371600" cy="365760"/>
          </a:xfrm>
          <a:prstGeom prst="rect">
            <a:avLst/>
          </a:prstGeom>
          <a:solidFill>
            <a:srgbClr val="F1F4F9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6473952" y="3291840"/>
            <a:ext cx="1225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2026-04-20</a:t>
            </a:r>
            <a:endParaRPr lang="en-US" sz="900" dirty="0"/>
          </a:p>
        </p:txBody>
      </p:sp>
      <p:sp>
        <p:nvSpPr>
          <p:cNvPr id="93" name="Shape 91"/>
          <p:cNvSpPr/>
          <p:nvPr/>
        </p:nvSpPr>
        <p:spPr>
          <a:xfrm>
            <a:off x="457200" y="3657600"/>
            <a:ext cx="2011680" cy="365760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530352" y="3657600"/>
            <a:ext cx="1865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&amp; Setting</a:t>
            </a:r>
            <a:endParaRPr lang="en-US" sz="900" dirty="0"/>
          </a:p>
        </p:txBody>
      </p:sp>
      <p:sp>
        <p:nvSpPr>
          <p:cNvPr id="95" name="Shape 93"/>
          <p:cNvSpPr/>
          <p:nvPr/>
        </p:nvSpPr>
        <p:spPr>
          <a:xfrm>
            <a:off x="2468880" y="3657600"/>
            <a:ext cx="1097280" cy="365760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2542032" y="3657600"/>
            <a:ext cx="950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2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230,352</a:t>
            </a:r>
            <a:endParaRPr lang="en-US" sz="900" dirty="0"/>
          </a:p>
        </p:txBody>
      </p:sp>
      <p:sp>
        <p:nvSpPr>
          <p:cNvPr id="97" name="Shape 95"/>
          <p:cNvSpPr/>
          <p:nvPr/>
        </p:nvSpPr>
        <p:spPr>
          <a:xfrm>
            <a:off x="3566160" y="3657600"/>
            <a:ext cx="640080" cy="365760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3639312" y="3657600"/>
            <a:ext cx="493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99" name="Shape 97"/>
          <p:cNvSpPr/>
          <p:nvPr/>
        </p:nvSpPr>
        <p:spPr>
          <a:xfrm>
            <a:off x="4206240" y="3657600"/>
            <a:ext cx="1097280" cy="365760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4279392" y="3657600"/>
            <a:ext cx="950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14,758</a:t>
            </a:r>
            <a:endParaRPr lang="en-US" sz="900" dirty="0"/>
          </a:p>
        </p:txBody>
      </p:sp>
      <p:sp>
        <p:nvSpPr>
          <p:cNvPr id="101" name="Shape 99"/>
          <p:cNvSpPr/>
          <p:nvPr/>
        </p:nvSpPr>
        <p:spPr>
          <a:xfrm>
            <a:off x="5303520" y="3657600"/>
            <a:ext cx="1097280" cy="365760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5376672" y="3657600"/>
            <a:ext cx="950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18,812</a:t>
            </a:r>
            <a:endParaRPr lang="en-US" sz="900" dirty="0"/>
          </a:p>
        </p:txBody>
      </p:sp>
      <p:sp>
        <p:nvSpPr>
          <p:cNvPr id="103" name="Shape 101"/>
          <p:cNvSpPr/>
          <p:nvPr/>
        </p:nvSpPr>
        <p:spPr>
          <a:xfrm>
            <a:off x="6400800" y="3657600"/>
            <a:ext cx="1371600" cy="365760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6473952" y="3657600"/>
            <a:ext cx="1225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2026-04-15</a:t>
            </a:r>
            <a:endParaRPr lang="en-US" sz="900" dirty="0"/>
          </a:p>
        </p:txBody>
      </p:sp>
      <p:sp>
        <p:nvSpPr>
          <p:cNvPr id="105" name="Shape 103"/>
          <p:cNvSpPr/>
          <p:nvPr/>
        </p:nvSpPr>
        <p:spPr>
          <a:xfrm>
            <a:off x="457200" y="4023360"/>
            <a:ext cx="2011680" cy="365760"/>
          </a:xfrm>
          <a:prstGeom prst="rect">
            <a:avLst/>
          </a:prstGeom>
          <a:solidFill>
            <a:srgbClr val="F1F4F9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530352" y="4023360"/>
            <a:ext cx="1865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</a:t>
            </a:r>
            <a:endParaRPr lang="en-US" sz="900" dirty="0"/>
          </a:p>
        </p:txBody>
      </p:sp>
      <p:sp>
        <p:nvSpPr>
          <p:cNvPr id="107" name="Shape 105"/>
          <p:cNvSpPr/>
          <p:nvPr/>
        </p:nvSpPr>
        <p:spPr>
          <a:xfrm>
            <a:off x="2468880" y="4023360"/>
            <a:ext cx="1097280" cy="365760"/>
          </a:xfrm>
          <a:prstGeom prst="rect">
            <a:avLst/>
          </a:prstGeom>
          <a:solidFill>
            <a:srgbClr val="F1F4F9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2542032" y="4023360"/>
            <a:ext cx="950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2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210,397</a:t>
            </a:r>
            <a:endParaRPr lang="en-US" sz="900" dirty="0"/>
          </a:p>
        </p:txBody>
      </p:sp>
      <p:sp>
        <p:nvSpPr>
          <p:cNvPr id="109" name="Shape 107"/>
          <p:cNvSpPr/>
          <p:nvPr/>
        </p:nvSpPr>
        <p:spPr>
          <a:xfrm>
            <a:off x="3566160" y="4023360"/>
            <a:ext cx="640080" cy="365760"/>
          </a:xfrm>
          <a:prstGeom prst="rect">
            <a:avLst/>
          </a:prstGeom>
          <a:solidFill>
            <a:srgbClr val="F1F4F9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3639312" y="4023360"/>
            <a:ext cx="493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11" name="Shape 109"/>
          <p:cNvSpPr/>
          <p:nvPr/>
        </p:nvSpPr>
        <p:spPr>
          <a:xfrm>
            <a:off x="4206240" y="4023360"/>
            <a:ext cx="1097280" cy="365760"/>
          </a:xfrm>
          <a:prstGeom prst="rect">
            <a:avLst/>
          </a:prstGeom>
          <a:solidFill>
            <a:srgbClr val="F1F4F9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4279392" y="4023360"/>
            <a:ext cx="950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26,253</a:t>
            </a:r>
            <a:endParaRPr lang="en-US" sz="900" dirty="0"/>
          </a:p>
        </p:txBody>
      </p:sp>
      <p:sp>
        <p:nvSpPr>
          <p:cNvPr id="113" name="Shape 111"/>
          <p:cNvSpPr/>
          <p:nvPr/>
        </p:nvSpPr>
        <p:spPr>
          <a:xfrm>
            <a:off x="5303520" y="4023360"/>
            <a:ext cx="1097280" cy="365760"/>
          </a:xfrm>
          <a:prstGeom prst="rect">
            <a:avLst/>
          </a:prstGeom>
          <a:solidFill>
            <a:srgbClr val="F1F4F9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5376672" y="4023360"/>
            <a:ext cx="950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25,322</a:t>
            </a:r>
            <a:endParaRPr lang="en-US" sz="900" dirty="0"/>
          </a:p>
        </p:txBody>
      </p:sp>
      <p:sp>
        <p:nvSpPr>
          <p:cNvPr id="115" name="Shape 113"/>
          <p:cNvSpPr/>
          <p:nvPr/>
        </p:nvSpPr>
        <p:spPr>
          <a:xfrm>
            <a:off x="6400800" y="4023360"/>
            <a:ext cx="1371600" cy="365760"/>
          </a:xfrm>
          <a:prstGeom prst="rect">
            <a:avLst/>
          </a:prstGeom>
          <a:solidFill>
            <a:srgbClr val="F1F4F9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6473952" y="4023360"/>
            <a:ext cx="1225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2026-03-26</a:t>
            </a:r>
            <a:endParaRPr lang="en-US" sz="900" dirty="0"/>
          </a:p>
        </p:txBody>
      </p:sp>
      <p:sp>
        <p:nvSpPr>
          <p:cNvPr id="117" name="Text 115"/>
          <p:cNvSpPr/>
          <p:nvPr/>
        </p:nvSpPr>
        <p:spPr>
          <a:xfrm>
            <a:off x="7772400" y="1097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Complexity</a:t>
            </a:r>
            <a:endParaRPr lang="en-US" sz="1100" dirty="0"/>
          </a:p>
        </p:txBody>
      </p:sp>
      <p:sp>
        <p:nvSpPr>
          <p:cNvPr id="118" name="Text 116"/>
          <p:cNvSpPr/>
          <p:nvPr/>
        </p:nvSpPr>
        <p:spPr>
          <a:xfrm>
            <a:off x="7772400" y="14630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</a:t>
            </a:r>
            <a:endParaRPr lang="en-US" sz="800" dirty="0"/>
          </a:p>
        </p:txBody>
      </p:sp>
      <p:sp>
        <p:nvSpPr>
          <p:cNvPr id="119" name="Shape 117"/>
          <p:cNvSpPr/>
          <p:nvPr/>
        </p:nvSpPr>
        <p:spPr>
          <a:xfrm>
            <a:off x="8961120" y="1536192"/>
            <a:ext cx="2743200" cy="182880"/>
          </a:xfrm>
          <a:prstGeom prst="roundRect">
            <a:avLst>
              <a:gd name="adj" fmla="val 50000"/>
            </a:avLst>
          </a:prstGeom>
          <a:solidFill>
            <a:srgbClr val="F1F4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8961120" y="1536192"/>
            <a:ext cx="1994944" cy="182880"/>
          </a:xfrm>
          <a:prstGeom prst="roundRect">
            <a:avLst>
              <a:gd name="adj" fmla="val 50000"/>
            </a:avLst>
          </a:prstGeom>
          <a:solidFill>
            <a:srgbClr val="0029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11047504" y="146304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2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296K</a:t>
            </a:r>
            <a:endParaRPr lang="en-US" sz="800" dirty="0"/>
          </a:p>
        </p:txBody>
      </p:sp>
      <p:sp>
        <p:nvSpPr>
          <p:cNvPr id="122" name="Text 120"/>
          <p:cNvSpPr/>
          <p:nvPr/>
        </p:nvSpPr>
        <p:spPr>
          <a:xfrm>
            <a:off x="7772400" y="190195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800" dirty="0"/>
          </a:p>
        </p:txBody>
      </p:sp>
      <p:sp>
        <p:nvSpPr>
          <p:cNvPr id="123" name="Shape 121"/>
          <p:cNvSpPr/>
          <p:nvPr/>
        </p:nvSpPr>
        <p:spPr>
          <a:xfrm>
            <a:off x="8961120" y="1975104"/>
            <a:ext cx="2743200" cy="182880"/>
          </a:xfrm>
          <a:prstGeom prst="roundRect">
            <a:avLst>
              <a:gd name="adj" fmla="val 50000"/>
            </a:avLst>
          </a:prstGeom>
          <a:solidFill>
            <a:srgbClr val="F1F4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8961120" y="1975104"/>
            <a:ext cx="1963359" cy="182880"/>
          </a:xfrm>
          <a:prstGeom prst="roundRect">
            <a:avLst>
              <a:gd name="adj" fmla="val 50000"/>
            </a:avLst>
          </a:prstGeom>
          <a:solidFill>
            <a:srgbClr val="0029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11015919" y="1901952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2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291K</a:t>
            </a:r>
            <a:endParaRPr lang="en-US" sz="800" dirty="0"/>
          </a:p>
        </p:txBody>
      </p:sp>
      <p:sp>
        <p:nvSpPr>
          <p:cNvPr id="126" name="Text 124"/>
          <p:cNvSpPr/>
          <p:nvPr/>
        </p:nvSpPr>
        <p:spPr>
          <a:xfrm>
            <a:off x="7772400" y="2340864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Tradepad</a:t>
            </a:r>
            <a:endParaRPr lang="en-US" sz="800" dirty="0"/>
          </a:p>
        </p:txBody>
      </p:sp>
      <p:sp>
        <p:nvSpPr>
          <p:cNvPr id="127" name="Shape 125"/>
          <p:cNvSpPr/>
          <p:nvPr/>
        </p:nvSpPr>
        <p:spPr>
          <a:xfrm>
            <a:off x="8961120" y="2414016"/>
            <a:ext cx="2743200" cy="182880"/>
          </a:xfrm>
          <a:prstGeom prst="roundRect">
            <a:avLst>
              <a:gd name="adj" fmla="val 50000"/>
            </a:avLst>
          </a:prstGeom>
          <a:solidFill>
            <a:srgbClr val="F1F4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8961120" y="2414016"/>
            <a:ext cx="1123854" cy="182880"/>
          </a:xfrm>
          <a:prstGeom prst="roundRect">
            <a:avLst>
              <a:gd name="adj" fmla="val 50000"/>
            </a:avLst>
          </a:prstGeom>
          <a:solidFill>
            <a:srgbClr val="0029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9" name="Text 127"/>
          <p:cNvSpPr/>
          <p:nvPr/>
        </p:nvSpPr>
        <p:spPr>
          <a:xfrm>
            <a:off x="10176414" y="2340864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2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167K</a:t>
            </a:r>
            <a:endParaRPr lang="en-US" sz="800" dirty="0"/>
          </a:p>
        </p:txBody>
      </p:sp>
      <p:sp>
        <p:nvSpPr>
          <p:cNvPr id="130" name="Text 128"/>
          <p:cNvSpPr/>
          <p:nvPr/>
        </p:nvSpPr>
        <p:spPr>
          <a:xfrm>
            <a:off x="7772400" y="2779776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</a:t>
            </a:r>
            <a:endParaRPr lang="en-US" sz="800" dirty="0"/>
          </a:p>
        </p:txBody>
      </p:sp>
      <p:sp>
        <p:nvSpPr>
          <p:cNvPr id="131" name="Shape 129"/>
          <p:cNvSpPr/>
          <p:nvPr/>
        </p:nvSpPr>
        <p:spPr>
          <a:xfrm>
            <a:off x="8961120" y="2852928"/>
            <a:ext cx="2743200" cy="182880"/>
          </a:xfrm>
          <a:prstGeom prst="roundRect">
            <a:avLst>
              <a:gd name="adj" fmla="val 50000"/>
            </a:avLst>
          </a:prstGeom>
          <a:solidFill>
            <a:srgbClr val="F1F4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8961120" y="2852928"/>
            <a:ext cx="2743200" cy="182880"/>
          </a:xfrm>
          <a:prstGeom prst="roundRect">
            <a:avLst>
              <a:gd name="adj" fmla="val 50000"/>
            </a:avLst>
          </a:prstGeom>
          <a:solidFill>
            <a:srgbClr val="0029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3" name="Text 131"/>
          <p:cNvSpPr/>
          <p:nvPr/>
        </p:nvSpPr>
        <p:spPr>
          <a:xfrm>
            <a:off x="11795760" y="2779776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2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407K</a:t>
            </a:r>
            <a:endParaRPr lang="en-US" sz="800" dirty="0"/>
          </a:p>
        </p:txBody>
      </p:sp>
      <p:sp>
        <p:nvSpPr>
          <p:cNvPr id="134" name="Text 132"/>
          <p:cNvSpPr/>
          <p:nvPr/>
        </p:nvSpPr>
        <p:spPr>
          <a:xfrm>
            <a:off x="7772400" y="321868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Portfolios</a:t>
            </a:r>
            <a:endParaRPr lang="en-US" sz="800" dirty="0"/>
          </a:p>
        </p:txBody>
      </p:sp>
      <p:sp>
        <p:nvSpPr>
          <p:cNvPr id="135" name="Shape 133"/>
          <p:cNvSpPr/>
          <p:nvPr/>
        </p:nvSpPr>
        <p:spPr>
          <a:xfrm>
            <a:off x="8961120" y="3291840"/>
            <a:ext cx="2743200" cy="182880"/>
          </a:xfrm>
          <a:prstGeom prst="roundRect">
            <a:avLst>
              <a:gd name="adj" fmla="val 50000"/>
            </a:avLst>
          </a:prstGeom>
          <a:solidFill>
            <a:srgbClr val="F1F4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8961120" y="3291840"/>
            <a:ext cx="1620027" cy="182880"/>
          </a:xfrm>
          <a:prstGeom prst="roundRect">
            <a:avLst>
              <a:gd name="adj" fmla="val 50000"/>
            </a:avLst>
          </a:prstGeom>
          <a:solidFill>
            <a:srgbClr val="0029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7" name="Text 135"/>
          <p:cNvSpPr/>
          <p:nvPr/>
        </p:nvSpPr>
        <p:spPr>
          <a:xfrm>
            <a:off x="10672587" y="321868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2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240K</a:t>
            </a:r>
            <a:endParaRPr lang="en-US" sz="800" dirty="0"/>
          </a:p>
        </p:txBody>
      </p:sp>
      <p:sp>
        <p:nvSpPr>
          <p:cNvPr id="138" name="Text 136"/>
          <p:cNvSpPr/>
          <p:nvPr/>
        </p:nvSpPr>
        <p:spPr>
          <a:xfrm>
            <a:off x="7772400" y="36576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</a:t>
            </a:r>
            <a:endParaRPr lang="en-US" sz="800" dirty="0"/>
          </a:p>
        </p:txBody>
      </p:sp>
      <p:sp>
        <p:nvSpPr>
          <p:cNvPr id="139" name="Shape 137"/>
          <p:cNvSpPr/>
          <p:nvPr/>
        </p:nvSpPr>
        <p:spPr>
          <a:xfrm>
            <a:off x="8961120" y="3730752"/>
            <a:ext cx="2743200" cy="182880"/>
          </a:xfrm>
          <a:prstGeom prst="roundRect">
            <a:avLst>
              <a:gd name="adj" fmla="val 50000"/>
            </a:avLst>
          </a:prstGeom>
          <a:solidFill>
            <a:srgbClr val="F1F4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8961120" y="3730752"/>
            <a:ext cx="2881259" cy="182880"/>
          </a:xfrm>
          <a:prstGeom prst="roundRect">
            <a:avLst>
              <a:gd name="adj" fmla="val 50000"/>
            </a:avLst>
          </a:prstGeom>
          <a:solidFill>
            <a:srgbClr val="0029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1" name="Text 139"/>
          <p:cNvSpPr/>
          <p:nvPr/>
        </p:nvSpPr>
        <p:spPr>
          <a:xfrm>
            <a:off x="11933819" y="365760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2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427K</a:t>
            </a:r>
            <a:endParaRPr lang="en-US" sz="800" dirty="0"/>
          </a:p>
        </p:txBody>
      </p:sp>
      <p:sp>
        <p:nvSpPr>
          <p:cNvPr id="142" name="Text 140"/>
          <p:cNvSpPr/>
          <p:nvPr/>
        </p:nvSpPr>
        <p:spPr>
          <a:xfrm>
            <a:off x="7772400" y="409651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</a:t>
            </a:r>
            <a:endParaRPr lang="en-US" sz="800" dirty="0"/>
          </a:p>
        </p:txBody>
      </p:sp>
      <p:sp>
        <p:nvSpPr>
          <p:cNvPr id="143" name="Shape 141"/>
          <p:cNvSpPr/>
          <p:nvPr/>
        </p:nvSpPr>
        <p:spPr>
          <a:xfrm>
            <a:off x="8961120" y="4169664"/>
            <a:ext cx="2743200" cy="182880"/>
          </a:xfrm>
          <a:prstGeom prst="roundRect">
            <a:avLst>
              <a:gd name="adj" fmla="val 50000"/>
            </a:avLst>
          </a:prstGeom>
          <a:solidFill>
            <a:srgbClr val="F1F4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8961120" y="4169664"/>
            <a:ext cx="1552618" cy="182880"/>
          </a:xfrm>
          <a:prstGeom prst="roundRect">
            <a:avLst>
              <a:gd name="adj" fmla="val 50000"/>
            </a:avLst>
          </a:prstGeom>
          <a:solidFill>
            <a:srgbClr val="0029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5" name="Text 143"/>
          <p:cNvSpPr/>
          <p:nvPr/>
        </p:nvSpPr>
        <p:spPr>
          <a:xfrm>
            <a:off x="10605178" y="4096512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2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230K</a:t>
            </a:r>
            <a:endParaRPr lang="en-US" sz="800" dirty="0"/>
          </a:p>
        </p:txBody>
      </p:sp>
      <p:sp>
        <p:nvSpPr>
          <p:cNvPr id="146" name="Text 144"/>
          <p:cNvSpPr/>
          <p:nvPr/>
        </p:nvSpPr>
        <p:spPr>
          <a:xfrm>
            <a:off x="7772400" y="4535424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</a:t>
            </a:r>
            <a:endParaRPr lang="en-US" sz="800" dirty="0"/>
          </a:p>
        </p:txBody>
      </p:sp>
      <p:sp>
        <p:nvSpPr>
          <p:cNvPr id="147" name="Shape 145"/>
          <p:cNvSpPr/>
          <p:nvPr/>
        </p:nvSpPr>
        <p:spPr>
          <a:xfrm>
            <a:off x="8961120" y="4608576"/>
            <a:ext cx="2743200" cy="182880"/>
          </a:xfrm>
          <a:prstGeom prst="roundRect">
            <a:avLst>
              <a:gd name="adj" fmla="val 50000"/>
            </a:avLst>
          </a:prstGeom>
          <a:solidFill>
            <a:srgbClr val="F1F4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8961120" y="4608576"/>
            <a:ext cx="1418117" cy="182880"/>
          </a:xfrm>
          <a:prstGeom prst="roundRect">
            <a:avLst>
              <a:gd name="adj" fmla="val 50000"/>
            </a:avLst>
          </a:prstGeom>
          <a:solidFill>
            <a:srgbClr val="0029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9" name="Text 147"/>
          <p:cNvSpPr/>
          <p:nvPr/>
        </p:nvSpPr>
        <p:spPr>
          <a:xfrm>
            <a:off x="10470677" y="4535424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2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210K</a:t>
            </a:r>
            <a:endParaRPr lang="en-US" sz="800" dirty="0"/>
          </a:p>
        </p:txBody>
      </p:sp>
      <p:sp>
        <p:nvSpPr>
          <p:cNvPr id="150" name="Shape 148"/>
          <p:cNvSpPr/>
          <p:nvPr/>
        </p:nvSpPr>
        <p:spPr>
          <a:xfrm>
            <a:off x="457200" y="5212080"/>
            <a:ext cx="11277295" cy="1005840"/>
          </a:xfrm>
          <a:prstGeom prst="roundRect">
            <a:avLst>
              <a:gd name="adj" fmla="val 7273"/>
            </a:avLst>
          </a:prstGeom>
          <a:solidFill>
            <a:srgbClr val="EEF2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A1F4D">
                <a:alpha val="8000"/>
              </a:srgbClr>
            </a:outerShdw>
          </a:effectLst>
        </p:spPr>
      </p:sp>
      <p:sp>
        <p:nvSpPr>
          <p:cNvPr id="151" name="Shape 149"/>
          <p:cNvSpPr/>
          <p:nvPr/>
        </p:nvSpPr>
        <p:spPr>
          <a:xfrm>
            <a:off x="640080" y="5303520"/>
            <a:ext cx="1005840" cy="237744"/>
          </a:xfrm>
          <a:prstGeom prst="roundRect">
            <a:avLst>
              <a:gd name="adj" fmla="val 11538"/>
            </a:avLst>
          </a:prstGeom>
          <a:solidFill>
            <a:srgbClr val="EEF2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2" name="Text 150"/>
          <p:cNvSpPr/>
          <p:nvPr/>
        </p:nvSpPr>
        <p:spPr>
          <a:xfrm>
            <a:off x="640080" y="530352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</a:t>
            </a:r>
            <a:endParaRPr lang="en-US" sz="800" dirty="0"/>
          </a:p>
        </p:txBody>
      </p:sp>
      <p:sp>
        <p:nvSpPr>
          <p:cNvPr id="153" name="Text 151"/>
          <p:cNvSpPr/>
          <p:nvPr/>
        </p:nvSpPr>
        <p:spPr>
          <a:xfrm>
            <a:off x="1828800" y="5285232"/>
            <a:ext cx="9601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is the most complex module</a:t>
            </a:r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(407K nodes, 74K text layers) — followed by Discover (427K nodes). The revamp design effort is heavily concentrated in trading and discovery experiences. </a:t>
            </a:r>
            <a:pPr indent="0" marL="0">
              <a:buNone/>
            </a:pPr>
            <a:r>
              <a:rPr lang="en-US" sz="9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new pages discovered</a:t>
            </a:r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OnBoarding alone: Fast Onboarding, Guest Mode, Tutorials, and First Engagement — none of which were in the original features inventory.</a:t>
            </a:r>
            <a:endParaRPr lang="en-US" sz="900" dirty="0"/>
          </a:p>
        </p:txBody>
      </p:sp>
      <p:sp>
        <p:nvSpPr>
          <p:cNvPr id="154" name="Shape 152"/>
          <p:cNvSpPr/>
          <p:nvPr/>
        </p:nvSpPr>
        <p:spPr>
          <a:xfrm>
            <a:off x="457200" y="6537960"/>
            <a:ext cx="1127729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55" name="Text 153"/>
          <p:cNvSpPr/>
          <p:nvPr/>
        </p:nvSpPr>
        <p:spPr>
          <a:xfrm>
            <a:off x="457200" y="660196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  ·  DIGITAL EXPERIENCE  ·  2026-04-22</a:t>
            </a:r>
            <a:endParaRPr lang="en-US" sz="800" dirty="0"/>
          </a:p>
        </p:txBody>
      </p:sp>
      <p:sp>
        <p:nvSpPr>
          <p:cNvPr id="156" name="Text 154"/>
          <p:cNvSpPr/>
          <p:nvPr/>
        </p:nvSpPr>
        <p:spPr>
          <a:xfrm>
            <a:off x="5333695" y="660196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Figma REST API · Full-depth extraction · 8 files · 2026-04-22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2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alrajhi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2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508760" y="347472"/>
            <a:ext cx="0" cy="384048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45920" y="2743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ANALYSIS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64592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Parity — All 8 Modules at Full Coverage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362895" y="38404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20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868680"/>
            <a:ext cx="1127729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097280"/>
            <a:ext cx="11277295" cy="1188720"/>
          </a:xfrm>
          <a:prstGeom prst="roundRect">
            <a:avLst>
              <a:gd name="adj" fmla="val 7692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114300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8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2743200" y="1234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8 Figma files contain Mobile, Web, and Tablet designs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743200" y="1645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unreleased revamp is designed as a fully responsive platform from day one. This is a significant finding — the previous assumption was that tablet coverage was incomplete.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2560320"/>
            <a:ext cx="2286000" cy="457200"/>
          </a:xfrm>
          <a:prstGeom prst="rect">
            <a:avLst/>
          </a:prstGeom>
          <a:solidFill>
            <a:srgbClr val="0A1F4D"/>
          </a:solidFill>
          <a:ln/>
        </p:spPr>
        <p:txBody>
          <a:bodyPr wrap="square" lIns="0" tIns="0" rIns="10160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743200" y="2560320"/>
            <a:ext cx="1371600" cy="457200"/>
          </a:xfrm>
          <a:prstGeom prst="rect">
            <a:avLst/>
          </a:prstGeom>
          <a:solidFill>
            <a:srgbClr val="0029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114800" y="2560320"/>
            <a:ext cx="1371600" cy="457200"/>
          </a:xfrm>
          <a:prstGeom prst="rect">
            <a:avLst/>
          </a:prstGeom>
          <a:solidFill>
            <a:srgbClr val="4F46E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486400" y="2560320"/>
            <a:ext cx="1371600" cy="457200"/>
          </a:xfrm>
          <a:prstGeom prst="rect">
            <a:avLst/>
          </a:prstGeom>
          <a:solidFill>
            <a:srgbClr val="0891B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858000" y="2560320"/>
            <a:ext cx="1097280" cy="457200"/>
          </a:xfrm>
          <a:prstGeom prst="rect">
            <a:avLst/>
          </a:prstGeom>
          <a:solidFill>
            <a:srgbClr val="0A1F4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3017520"/>
            <a:ext cx="2286000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301752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KYC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743200" y="3017520"/>
            <a:ext cx="1371600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46120" y="3090672"/>
            <a:ext cx="365760" cy="237744"/>
          </a:xfrm>
          <a:prstGeom prst="roundRect">
            <a:avLst>
              <a:gd name="adj" fmla="val 15385"/>
            </a:avLst>
          </a:prstGeom>
          <a:solidFill>
            <a:srgbClr val="16A3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46120" y="3090672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4114800" y="3017520"/>
            <a:ext cx="1371600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17720" y="3090672"/>
            <a:ext cx="365760" cy="237744"/>
          </a:xfrm>
          <a:prstGeom prst="roundRect">
            <a:avLst>
              <a:gd name="adj" fmla="val 15385"/>
            </a:avLst>
          </a:prstGeom>
          <a:solidFill>
            <a:srgbClr val="16A3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17720" y="3090672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5486400" y="3017520"/>
            <a:ext cx="1371600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989320" y="3090672"/>
            <a:ext cx="365760" cy="237744"/>
          </a:xfrm>
          <a:prstGeom prst="roundRect">
            <a:avLst>
              <a:gd name="adj" fmla="val 15385"/>
            </a:avLst>
          </a:prstGeom>
          <a:solidFill>
            <a:srgbClr val="16A3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89320" y="3090672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6858000" y="3017520"/>
            <a:ext cx="1097280" cy="384048"/>
          </a:xfrm>
          <a:prstGeom prst="rect">
            <a:avLst/>
          </a:prstGeom>
          <a:solidFill>
            <a:srgbClr val="DCFCE7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58000" y="301752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3/3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57200" y="3401568"/>
            <a:ext cx="2286000" cy="384048"/>
          </a:xfrm>
          <a:prstGeom prst="rect">
            <a:avLst/>
          </a:prstGeom>
          <a:solidFill>
            <a:srgbClr val="F1F4F9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8640" y="3401568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743200" y="3401568"/>
            <a:ext cx="1371600" cy="384048"/>
          </a:xfrm>
          <a:prstGeom prst="rect">
            <a:avLst/>
          </a:prstGeom>
          <a:solidFill>
            <a:srgbClr val="F1F4F9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246120" y="3474720"/>
            <a:ext cx="365760" cy="237744"/>
          </a:xfrm>
          <a:prstGeom prst="roundRect">
            <a:avLst>
              <a:gd name="adj" fmla="val 15385"/>
            </a:avLst>
          </a:prstGeom>
          <a:solidFill>
            <a:srgbClr val="16A3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46120" y="3474720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4114800" y="3401568"/>
            <a:ext cx="1371600" cy="384048"/>
          </a:xfrm>
          <a:prstGeom prst="rect">
            <a:avLst/>
          </a:prstGeom>
          <a:solidFill>
            <a:srgbClr val="F1F4F9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617720" y="3474720"/>
            <a:ext cx="365760" cy="237744"/>
          </a:xfrm>
          <a:prstGeom prst="roundRect">
            <a:avLst>
              <a:gd name="adj" fmla="val 15385"/>
            </a:avLst>
          </a:prstGeom>
          <a:solidFill>
            <a:srgbClr val="16A3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617720" y="3474720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5486400" y="3401568"/>
            <a:ext cx="1371600" cy="384048"/>
          </a:xfrm>
          <a:prstGeom prst="rect">
            <a:avLst/>
          </a:prstGeom>
          <a:solidFill>
            <a:srgbClr val="F1F4F9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989320" y="3474720"/>
            <a:ext cx="365760" cy="237744"/>
          </a:xfrm>
          <a:prstGeom prst="roundRect">
            <a:avLst>
              <a:gd name="adj" fmla="val 15385"/>
            </a:avLst>
          </a:prstGeom>
          <a:solidFill>
            <a:srgbClr val="16A3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989320" y="3474720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6858000" y="3401568"/>
            <a:ext cx="1097280" cy="384048"/>
          </a:xfrm>
          <a:prstGeom prst="rect">
            <a:avLst/>
          </a:prstGeom>
          <a:solidFill>
            <a:srgbClr val="DCFCE7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858000" y="3401568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3/3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57200" y="3785616"/>
            <a:ext cx="2286000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48640" y="3785616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Tradepad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2743200" y="3785616"/>
            <a:ext cx="1371600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246120" y="3858768"/>
            <a:ext cx="365760" cy="237744"/>
          </a:xfrm>
          <a:prstGeom prst="roundRect">
            <a:avLst>
              <a:gd name="adj" fmla="val 15385"/>
            </a:avLst>
          </a:prstGeom>
          <a:solidFill>
            <a:srgbClr val="16A3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246120" y="3858768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700" dirty="0"/>
          </a:p>
        </p:txBody>
      </p:sp>
      <p:sp>
        <p:nvSpPr>
          <p:cNvPr id="49" name="Shape 47"/>
          <p:cNvSpPr/>
          <p:nvPr/>
        </p:nvSpPr>
        <p:spPr>
          <a:xfrm>
            <a:off x="4114800" y="3785616"/>
            <a:ext cx="1371600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617720" y="3858768"/>
            <a:ext cx="365760" cy="237744"/>
          </a:xfrm>
          <a:prstGeom prst="roundRect">
            <a:avLst>
              <a:gd name="adj" fmla="val 15385"/>
            </a:avLst>
          </a:prstGeom>
          <a:solidFill>
            <a:srgbClr val="16A3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617720" y="3858768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700" dirty="0"/>
          </a:p>
        </p:txBody>
      </p:sp>
      <p:sp>
        <p:nvSpPr>
          <p:cNvPr id="52" name="Shape 50"/>
          <p:cNvSpPr/>
          <p:nvPr/>
        </p:nvSpPr>
        <p:spPr>
          <a:xfrm>
            <a:off x="5486400" y="3785616"/>
            <a:ext cx="1371600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5989320" y="3858768"/>
            <a:ext cx="365760" cy="237744"/>
          </a:xfrm>
          <a:prstGeom prst="roundRect">
            <a:avLst>
              <a:gd name="adj" fmla="val 15385"/>
            </a:avLst>
          </a:prstGeom>
          <a:solidFill>
            <a:srgbClr val="16A3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989320" y="3858768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700" dirty="0"/>
          </a:p>
        </p:txBody>
      </p:sp>
      <p:sp>
        <p:nvSpPr>
          <p:cNvPr id="55" name="Shape 53"/>
          <p:cNvSpPr/>
          <p:nvPr/>
        </p:nvSpPr>
        <p:spPr>
          <a:xfrm>
            <a:off x="6858000" y="3785616"/>
            <a:ext cx="1097280" cy="384048"/>
          </a:xfrm>
          <a:prstGeom prst="rect">
            <a:avLst/>
          </a:prstGeom>
          <a:solidFill>
            <a:srgbClr val="DCFCE7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858000" y="3785616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3/3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457200" y="4169664"/>
            <a:ext cx="2286000" cy="384048"/>
          </a:xfrm>
          <a:prstGeom prst="rect">
            <a:avLst/>
          </a:prstGeom>
          <a:solidFill>
            <a:srgbClr val="F1F4F9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48640" y="4169664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2743200" y="4169664"/>
            <a:ext cx="1371600" cy="384048"/>
          </a:xfrm>
          <a:prstGeom prst="rect">
            <a:avLst/>
          </a:prstGeom>
          <a:solidFill>
            <a:srgbClr val="F1F4F9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3246120" y="4242816"/>
            <a:ext cx="365760" cy="237744"/>
          </a:xfrm>
          <a:prstGeom prst="roundRect">
            <a:avLst>
              <a:gd name="adj" fmla="val 15385"/>
            </a:avLst>
          </a:prstGeom>
          <a:solidFill>
            <a:srgbClr val="16A3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246120" y="424281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700" dirty="0"/>
          </a:p>
        </p:txBody>
      </p:sp>
      <p:sp>
        <p:nvSpPr>
          <p:cNvPr id="62" name="Shape 60"/>
          <p:cNvSpPr/>
          <p:nvPr/>
        </p:nvSpPr>
        <p:spPr>
          <a:xfrm>
            <a:off x="4114800" y="4169664"/>
            <a:ext cx="1371600" cy="384048"/>
          </a:xfrm>
          <a:prstGeom prst="rect">
            <a:avLst/>
          </a:prstGeom>
          <a:solidFill>
            <a:srgbClr val="F1F4F9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4617720" y="4242816"/>
            <a:ext cx="365760" cy="237744"/>
          </a:xfrm>
          <a:prstGeom prst="roundRect">
            <a:avLst>
              <a:gd name="adj" fmla="val 15385"/>
            </a:avLst>
          </a:prstGeom>
          <a:solidFill>
            <a:srgbClr val="16A3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617720" y="424281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700" dirty="0"/>
          </a:p>
        </p:txBody>
      </p:sp>
      <p:sp>
        <p:nvSpPr>
          <p:cNvPr id="65" name="Shape 63"/>
          <p:cNvSpPr/>
          <p:nvPr/>
        </p:nvSpPr>
        <p:spPr>
          <a:xfrm>
            <a:off x="5486400" y="4169664"/>
            <a:ext cx="1371600" cy="384048"/>
          </a:xfrm>
          <a:prstGeom prst="rect">
            <a:avLst/>
          </a:prstGeom>
          <a:solidFill>
            <a:srgbClr val="F1F4F9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5989320" y="4242816"/>
            <a:ext cx="365760" cy="237744"/>
          </a:xfrm>
          <a:prstGeom prst="roundRect">
            <a:avLst>
              <a:gd name="adj" fmla="val 15385"/>
            </a:avLst>
          </a:prstGeom>
          <a:solidFill>
            <a:srgbClr val="16A3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5989320" y="424281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700" dirty="0"/>
          </a:p>
        </p:txBody>
      </p:sp>
      <p:sp>
        <p:nvSpPr>
          <p:cNvPr id="68" name="Shape 66"/>
          <p:cNvSpPr/>
          <p:nvPr/>
        </p:nvSpPr>
        <p:spPr>
          <a:xfrm>
            <a:off x="6858000" y="4169664"/>
            <a:ext cx="1097280" cy="384048"/>
          </a:xfrm>
          <a:prstGeom prst="rect">
            <a:avLst/>
          </a:prstGeom>
          <a:solidFill>
            <a:srgbClr val="DCFCE7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858000" y="4169664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3/3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457200" y="4553712"/>
            <a:ext cx="2286000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548640" y="4553712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Portfolios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2743200" y="4553712"/>
            <a:ext cx="1371600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3246120" y="4626864"/>
            <a:ext cx="365760" cy="237744"/>
          </a:xfrm>
          <a:prstGeom prst="roundRect">
            <a:avLst>
              <a:gd name="adj" fmla="val 15385"/>
            </a:avLst>
          </a:prstGeom>
          <a:solidFill>
            <a:srgbClr val="16A3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3246120" y="4626864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700" dirty="0"/>
          </a:p>
        </p:txBody>
      </p:sp>
      <p:sp>
        <p:nvSpPr>
          <p:cNvPr id="75" name="Shape 73"/>
          <p:cNvSpPr/>
          <p:nvPr/>
        </p:nvSpPr>
        <p:spPr>
          <a:xfrm>
            <a:off x="4114800" y="4553712"/>
            <a:ext cx="1371600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4617720" y="4626864"/>
            <a:ext cx="365760" cy="237744"/>
          </a:xfrm>
          <a:prstGeom prst="roundRect">
            <a:avLst>
              <a:gd name="adj" fmla="val 15385"/>
            </a:avLst>
          </a:prstGeom>
          <a:solidFill>
            <a:srgbClr val="16A3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4617720" y="4626864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700" dirty="0"/>
          </a:p>
        </p:txBody>
      </p:sp>
      <p:sp>
        <p:nvSpPr>
          <p:cNvPr id="78" name="Shape 76"/>
          <p:cNvSpPr/>
          <p:nvPr/>
        </p:nvSpPr>
        <p:spPr>
          <a:xfrm>
            <a:off x="5486400" y="4553712"/>
            <a:ext cx="1371600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5989320" y="4626864"/>
            <a:ext cx="365760" cy="237744"/>
          </a:xfrm>
          <a:prstGeom prst="roundRect">
            <a:avLst>
              <a:gd name="adj" fmla="val 15385"/>
            </a:avLst>
          </a:prstGeom>
          <a:solidFill>
            <a:srgbClr val="16A3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5989320" y="4626864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700" dirty="0"/>
          </a:p>
        </p:txBody>
      </p:sp>
      <p:sp>
        <p:nvSpPr>
          <p:cNvPr id="81" name="Shape 79"/>
          <p:cNvSpPr/>
          <p:nvPr/>
        </p:nvSpPr>
        <p:spPr>
          <a:xfrm>
            <a:off x="6858000" y="4553712"/>
            <a:ext cx="1097280" cy="384048"/>
          </a:xfrm>
          <a:prstGeom prst="rect">
            <a:avLst/>
          </a:prstGeom>
          <a:solidFill>
            <a:srgbClr val="DCFCE7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6858000" y="455371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3/3</a:t>
            </a:r>
            <a:endParaRPr lang="en-US" sz="1000" dirty="0"/>
          </a:p>
        </p:txBody>
      </p:sp>
      <p:sp>
        <p:nvSpPr>
          <p:cNvPr id="83" name="Shape 81"/>
          <p:cNvSpPr/>
          <p:nvPr/>
        </p:nvSpPr>
        <p:spPr>
          <a:xfrm>
            <a:off x="457200" y="4937760"/>
            <a:ext cx="2286000" cy="384048"/>
          </a:xfrm>
          <a:prstGeom prst="rect">
            <a:avLst/>
          </a:prstGeom>
          <a:solidFill>
            <a:srgbClr val="F1F4F9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548640" y="493776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 (IPO)</a:t>
            </a:r>
            <a:endParaRPr lang="en-US" sz="900" dirty="0"/>
          </a:p>
        </p:txBody>
      </p:sp>
      <p:sp>
        <p:nvSpPr>
          <p:cNvPr id="85" name="Shape 83"/>
          <p:cNvSpPr/>
          <p:nvPr/>
        </p:nvSpPr>
        <p:spPr>
          <a:xfrm>
            <a:off x="2743200" y="4937760"/>
            <a:ext cx="1371600" cy="384048"/>
          </a:xfrm>
          <a:prstGeom prst="rect">
            <a:avLst/>
          </a:prstGeom>
          <a:solidFill>
            <a:srgbClr val="F1F4F9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3246120" y="5010912"/>
            <a:ext cx="365760" cy="237744"/>
          </a:xfrm>
          <a:prstGeom prst="roundRect">
            <a:avLst>
              <a:gd name="adj" fmla="val 15385"/>
            </a:avLst>
          </a:prstGeom>
          <a:solidFill>
            <a:srgbClr val="16A3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3246120" y="5010912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700" dirty="0"/>
          </a:p>
        </p:txBody>
      </p:sp>
      <p:sp>
        <p:nvSpPr>
          <p:cNvPr id="88" name="Shape 86"/>
          <p:cNvSpPr/>
          <p:nvPr/>
        </p:nvSpPr>
        <p:spPr>
          <a:xfrm>
            <a:off x="4114800" y="4937760"/>
            <a:ext cx="1371600" cy="384048"/>
          </a:xfrm>
          <a:prstGeom prst="rect">
            <a:avLst/>
          </a:prstGeom>
          <a:solidFill>
            <a:srgbClr val="F1F4F9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4617720" y="5010912"/>
            <a:ext cx="365760" cy="237744"/>
          </a:xfrm>
          <a:prstGeom prst="roundRect">
            <a:avLst>
              <a:gd name="adj" fmla="val 15385"/>
            </a:avLst>
          </a:prstGeom>
          <a:solidFill>
            <a:srgbClr val="16A3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4617720" y="5010912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700" dirty="0"/>
          </a:p>
        </p:txBody>
      </p:sp>
      <p:sp>
        <p:nvSpPr>
          <p:cNvPr id="91" name="Shape 89"/>
          <p:cNvSpPr/>
          <p:nvPr/>
        </p:nvSpPr>
        <p:spPr>
          <a:xfrm>
            <a:off x="5486400" y="4937760"/>
            <a:ext cx="1371600" cy="384048"/>
          </a:xfrm>
          <a:prstGeom prst="rect">
            <a:avLst/>
          </a:prstGeom>
          <a:solidFill>
            <a:srgbClr val="F1F4F9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5989320" y="5010912"/>
            <a:ext cx="365760" cy="237744"/>
          </a:xfrm>
          <a:prstGeom prst="roundRect">
            <a:avLst>
              <a:gd name="adj" fmla="val 15385"/>
            </a:avLst>
          </a:prstGeom>
          <a:solidFill>
            <a:srgbClr val="16A3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5989320" y="5010912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700" dirty="0"/>
          </a:p>
        </p:txBody>
      </p:sp>
      <p:sp>
        <p:nvSpPr>
          <p:cNvPr id="94" name="Shape 92"/>
          <p:cNvSpPr/>
          <p:nvPr/>
        </p:nvSpPr>
        <p:spPr>
          <a:xfrm>
            <a:off x="6858000" y="4937760"/>
            <a:ext cx="1097280" cy="384048"/>
          </a:xfrm>
          <a:prstGeom prst="rect">
            <a:avLst/>
          </a:prstGeom>
          <a:solidFill>
            <a:srgbClr val="DCFCE7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6858000" y="493776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3/3</a:t>
            </a:r>
            <a:endParaRPr lang="en-US" sz="1000" dirty="0"/>
          </a:p>
        </p:txBody>
      </p:sp>
      <p:sp>
        <p:nvSpPr>
          <p:cNvPr id="96" name="Shape 94"/>
          <p:cNvSpPr/>
          <p:nvPr/>
        </p:nvSpPr>
        <p:spPr>
          <a:xfrm>
            <a:off x="457200" y="5321808"/>
            <a:ext cx="2286000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548640" y="5321808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&amp; Setting</a:t>
            </a:r>
            <a:endParaRPr lang="en-US" sz="900" dirty="0"/>
          </a:p>
        </p:txBody>
      </p:sp>
      <p:sp>
        <p:nvSpPr>
          <p:cNvPr id="98" name="Shape 96"/>
          <p:cNvSpPr/>
          <p:nvPr/>
        </p:nvSpPr>
        <p:spPr>
          <a:xfrm>
            <a:off x="2743200" y="5321808"/>
            <a:ext cx="1371600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3246120" y="5394960"/>
            <a:ext cx="365760" cy="237744"/>
          </a:xfrm>
          <a:prstGeom prst="roundRect">
            <a:avLst>
              <a:gd name="adj" fmla="val 15385"/>
            </a:avLst>
          </a:prstGeom>
          <a:solidFill>
            <a:srgbClr val="16A3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3246120" y="5394960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700" dirty="0"/>
          </a:p>
        </p:txBody>
      </p:sp>
      <p:sp>
        <p:nvSpPr>
          <p:cNvPr id="101" name="Shape 99"/>
          <p:cNvSpPr/>
          <p:nvPr/>
        </p:nvSpPr>
        <p:spPr>
          <a:xfrm>
            <a:off x="4114800" y="5321808"/>
            <a:ext cx="1371600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4617720" y="5394960"/>
            <a:ext cx="365760" cy="237744"/>
          </a:xfrm>
          <a:prstGeom prst="roundRect">
            <a:avLst>
              <a:gd name="adj" fmla="val 15385"/>
            </a:avLst>
          </a:prstGeom>
          <a:solidFill>
            <a:srgbClr val="16A3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4617720" y="5394960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700" dirty="0"/>
          </a:p>
        </p:txBody>
      </p:sp>
      <p:sp>
        <p:nvSpPr>
          <p:cNvPr id="104" name="Shape 102"/>
          <p:cNvSpPr/>
          <p:nvPr/>
        </p:nvSpPr>
        <p:spPr>
          <a:xfrm>
            <a:off x="5486400" y="5321808"/>
            <a:ext cx="1371600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5989320" y="5394960"/>
            <a:ext cx="365760" cy="237744"/>
          </a:xfrm>
          <a:prstGeom prst="roundRect">
            <a:avLst>
              <a:gd name="adj" fmla="val 15385"/>
            </a:avLst>
          </a:prstGeom>
          <a:solidFill>
            <a:srgbClr val="16A3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5989320" y="5394960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700" dirty="0"/>
          </a:p>
        </p:txBody>
      </p:sp>
      <p:sp>
        <p:nvSpPr>
          <p:cNvPr id="107" name="Shape 105"/>
          <p:cNvSpPr/>
          <p:nvPr/>
        </p:nvSpPr>
        <p:spPr>
          <a:xfrm>
            <a:off x="6858000" y="5321808"/>
            <a:ext cx="1097280" cy="384048"/>
          </a:xfrm>
          <a:prstGeom prst="rect">
            <a:avLst/>
          </a:prstGeom>
          <a:solidFill>
            <a:srgbClr val="DCFCE7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6858000" y="5321808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3/3</a:t>
            </a:r>
            <a:endParaRPr lang="en-US" sz="1000" dirty="0"/>
          </a:p>
        </p:txBody>
      </p:sp>
      <p:sp>
        <p:nvSpPr>
          <p:cNvPr id="109" name="Shape 107"/>
          <p:cNvSpPr/>
          <p:nvPr/>
        </p:nvSpPr>
        <p:spPr>
          <a:xfrm>
            <a:off x="457200" y="5705856"/>
            <a:ext cx="2286000" cy="384048"/>
          </a:xfrm>
          <a:prstGeom prst="rect">
            <a:avLst/>
          </a:prstGeom>
          <a:solidFill>
            <a:srgbClr val="F1F4F9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548640" y="5705856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</a:t>
            </a:r>
            <a:endParaRPr lang="en-US" sz="900" dirty="0"/>
          </a:p>
        </p:txBody>
      </p:sp>
      <p:sp>
        <p:nvSpPr>
          <p:cNvPr id="111" name="Shape 109"/>
          <p:cNvSpPr/>
          <p:nvPr/>
        </p:nvSpPr>
        <p:spPr>
          <a:xfrm>
            <a:off x="2743200" y="5705856"/>
            <a:ext cx="1371600" cy="384048"/>
          </a:xfrm>
          <a:prstGeom prst="rect">
            <a:avLst/>
          </a:prstGeom>
          <a:solidFill>
            <a:srgbClr val="F1F4F9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3246120" y="5779008"/>
            <a:ext cx="365760" cy="237744"/>
          </a:xfrm>
          <a:prstGeom prst="roundRect">
            <a:avLst>
              <a:gd name="adj" fmla="val 15385"/>
            </a:avLst>
          </a:prstGeom>
          <a:solidFill>
            <a:srgbClr val="16A3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3246120" y="5779008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700" dirty="0"/>
          </a:p>
        </p:txBody>
      </p:sp>
      <p:sp>
        <p:nvSpPr>
          <p:cNvPr id="114" name="Shape 112"/>
          <p:cNvSpPr/>
          <p:nvPr/>
        </p:nvSpPr>
        <p:spPr>
          <a:xfrm>
            <a:off x="4114800" y="5705856"/>
            <a:ext cx="1371600" cy="384048"/>
          </a:xfrm>
          <a:prstGeom prst="rect">
            <a:avLst/>
          </a:prstGeom>
          <a:solidFill>
            <a:srgbClr val="F1F4F9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4617720" y="5779008"/>
            <a:ext cx="365760" cy="237744"/>
          </a:xfrm>
          <a:prstGeom prst="roundRect">
            <a:avLst>
              <a:gd name="adj" fmla="val 15385"/>
            </a:avLst>
          </a:prstGeom>
          <a:solidFill>
            <a:srgbClr val="16A3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4617720" y="5779008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700" dirty="0"/>
          </a:p>
        </p:txBody>
      </p:sp>
      <p:sp>
        <p:nvSpPr>
          <p:cNvPr id="117" name="Shape 115"/>
          <p:cNvSpPr/>
          <p:nvPr/>
        </p:nvSpPr>
        <p:spPr>
          <a:xfrm>
            <a:off x="5486400" y="5705856"/>
            <a:ext cx="1371600" cy="384048"/>
          </a:xfrm>
          <a:prstGeom prst="rect">
            <a:avLst/>
          </a:prstGeom>
          <a:solidFill>
            <a:srgbClr val="F1F4F9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5989320" y="5779008"/>
            <a:ext cx="365760" cy="237744"/>
          </a:xfrm>
          <a:prstGeom prst="roundRect">
            <a:avLst>
              <a:gd name="adj" fmla="val 15385"/>
            </a:avLst>
          </a:prstGeom>
          <a:solidFill>
            <a:srgbClr val="16A3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5989320" y="5779008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700" dirty="0"/>
          </a:p>
        </p:txBody>
      </p:sp>
      <p:sp>
        <p:nvSpPr>
          <p:cNvPr id="120" name="Shape 118"/>
          <p:cNvSpPr/>
          <p:nvPr/>
        </p:nvSpPr>
        <p:spPr>
          <a:xfrm>
            <a:off x="6858000" y="5705856"/>
            <a:ext cx="1097280" cy="384048"/>
          </a:xfrm>
          <a:prstGeom prst="rect">
            <a:avLst/>
          </a:prstGeom>
          <a:solidFill>
            <a:srgbClr val="DCFCE7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6858000" y="5705856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3/3</a:t>
            </a:r>
            <a:endParaRPr lang="en-US" sz="1000" dirty="0"/>
          </a:p>
        </p:txBody>
      </p:sp>
      <p:sp>
        <p:nvSpPr>
          <p:cNvPr id="122" name="Shape 120"/>
          <p:cNvSpPr/>
          <p:nvPr/>
        </p:nvSpPr>
        <p:spPr>
          <a:xfrm>
            <a:off x="8229600" y="2560320"/>
            <a:ext cx="3474720" cy="347472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A1F4D">
                <a:alpha val="8000"/>
              </a:srgbClr>
            </a:outerShdw>
          </a:effectLst>
        </p:spPr>
      </p:sp>
      <p:sp>
        <p:nvSpPr>
          <p:cNvPr id="123" name="Text 121"/>
          <p:cNvSpPr/>
          <p:nvPr/>
        </p:nvSpPr>
        <p:spPr>
          <a:xfrm>
            <a:off x="8412480" y="26517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Volume by Platform</a:t>
            </a:r>
            <a:endParaRPr lang="en-US" sz="1000" dirty="0"/>
          </a:p>
        </p:txBody>
      </p:sp>
      <p:sp>
        <p:nvSpPr>
          <p:cNvPr id="124" name="Text 122"/>
          <p:cNvSpPr/>
          <p:nvPr/>
        </p:nvSpPr>
        <p:spPr>
          <a:xfrm>
            <a:off x="8503920" y="310896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2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</a:t>
            </a:r>
            <a:endParaRPr lang="en-US" sz="1000" dirty="0"/>
          </a:p>
        </p:txBody>
      </p:sp>
      <p:sp>
        <p:nvSpPr>
          <p:cNvPr id="125" name="Text 123"/>
          <p:cNvSpPr/>
          <p:nvPr/>
        </p:nvSpPr>
        <p:spPr>
          <a:xfrm>
            <a:off x="8503920" y="336499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334,500 frames</a:t>
            </a:r>
            <a:endParaRPr lang="en-US" sz="900" dirty="0"/>
          </a:p>
        </p:txBody>
      </p:sp>
      <p:sp>
        <p:nvSpPr>
          <p:cNvPr id="126" name="Shape 124"/>
          <p:cNvSpPr/>
          <p:nvPr/>
        </p:nvSpPr>
        <p:spPr>
          <a:xfrm>
            <a:off x="8503920" y="3611880"/>
            <a:ext cx="2926080" cy="146304"/>
          </a:xfrm>
          <a:prstGeom prst="roundRect">
            <a:avLst>
              <a:gd name="adj" fmla="val 50000"/>
            </a:avLst>
          </a:prstGeom>
          <a:solidFill>
            <a:srgbClr val="F1F4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8503920" y="3611880"/>
            <a:ext cx="2826593" cy="146304"/>
          </a:xfrm>
          <a:prstGeom prst="roundRect">
            <a:avLst>
              <a:gd name="adj" fmla="val 50000"/>
            </a:avLst>
          </a:prstGeom>
          <a:solidFill>
            <a:srgbClr val="0029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8" name="Text 126"/>
          <p:cNvSpPr/>
          <p:nvPr/>
        </p:nvSpPr>
        <p:spPr>
          <a:xfrm>
            <a:off x="8503920" y="39319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</a:t>
            </a:r>
            <a:endParaRPr lang="en-US" sz="1000" dirty="0"/>
          </a:p>
        </p:txBody>
      </p:sp>
      <p:sp>
        <p:nvSpPr>
          <p:cNvPr id="129" name="Text 127"/>
          <p:cNvSpPr/>
          <p:nvPr/>
        </p:nvSpPr>
        <p:spPr>
          <a:xfrm>
            <a:off x="8503920" y="418795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5,150 frames</a:t>
            </a:r>
            <a:endParaRPr lang="en-US" sz="900" dirty="0"/>
          </a:p>
        </p:txBody>
      </p:sp>
      <p:sp>
        <p:nvSpPr>
          <p:cNvPr id="130" name="Shape 128"/>
          <p:cNvSpPr/>
          <p:nvPr/>
        </p:nvSpPr>
        <p:spPr>
          <a:xfrm>
            <a:off x="8503920" y="4434840"/>
            <a:ext cx="2926080" cy="146304"/>
          </a:xfrm>
          <a:prstGeom prst="roundRect">
            <a:avLst>
              <a:gd name="adj" fmla="val 50000"/>
            </a:avLst>
          </a:prstGeom>
          <a:solidFill>
            <a:srgbClr val="F1F4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8503920" y="443484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2" name="Text 130"/>
          <p:cNvSpPr/>
          <p:nvPr/>
        </p:nvSpPr>
        <p:spPr>
          <a:xfrm>
            <a:off x="8503920" y="475488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Tablet</a:t>
            </a:r>
            <a:endParaRPr lang="en-US" sz="1000" dirty="0"/>
          </a:p>
        </p:txBody>
      </p:sp>
      <p:sp>
        <p:nvSpPr>
          <p:cNvPr id="133" name="Text 131"/>
          <p:cNvSpPr/>
          <p:nvPr/>
        </p:nvSpPr>
        <p:spPr>
          <a:xfrm>
            <a:off x="8503920" y="501091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6,568 frames</a:t>
            </a:r>
            <a:endParaRPr lang="en-US" sz="900" dirty="0"/>
          </a:p>
        </p:txBody>
      </p:sp>
      <p:sp>
        <p:nvSpPr>
          <p:cNvPr id="134" name="Shape 132"/>
          <p:cNvSpPr/>
          <p:nvPr/>
        </p:nvSpPr>
        <p:spPr>
          <a:xfrm>
            <a:off x="8503920" y="5257800"/>
            <a:ext cx="2926080" cy="146304"/>
          </a:xfrm>
          <a:prstGeom prst="roundRect">
            <a:avLst>
              <a:gd name="adj" fmla="val 50000"/>
            </a:avLst>
          </a:prstGeom>
          <a:solidFill>
            <a:srgbClr val="F1F4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8503920" y="525780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457200" y="5760720"/>
            <a:ext cx="11277295" cy="502920"/>
          </a:xfrm>
          <a:prstGeom prst="roundRect">
            <a:avLst>
              <a:gd name="adj" fmla="val 14545"/>
            </a:avLst>
          </a:prstGeom>
          <a:solidFill>
            <a:srgbClr val="EEF2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A1F4D">
                <a:alpha val="8000"/>
              </a:srgbClr>
            </a:outerShdw>
          </a:effectLst>
        </p:spPr>
      </p:sp>
      <p:sp>
        <p:nvSpPr>
          <p:cNvPr id="137" name="Shape 135"/>
          <p:cNvSpPr/>
          <p:nvPr/>
        </p:nvSpPr>
        <p:spPr>
          <a:xfrm>
            <a:off x="640080" y="5824728"/>
            <a:ext cx="822960" cy="237744"/>
          </a:xfrm>
          <a:prstGeom prst="roundRect">
            <a:avLst>
              <a:gd name="adj" fmla="val 11538"/>
            </a:avLst>
          </a:prstGeom>
          <a:solidFill>
            <a:srgbClr val="EEF2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8" name="Text 136"/>
          <p:cNvSpPr/>
          <p:nvPr/>
        </p:nvSpPr>
        <p:spPr>
          <a:xfrm>
            <a:off x="640080" y="5824728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</a:t>
            </a:r>
            <a:endParaRPr lang="en-US" sz="800" dirty="0"/>
          </a:p>
        </p:txBody>
      </p:sp>
      <p:sp>
        <p:nvSpPr>
          <p:cNvPr id="139" name="Text 137"/>
          <p:cNvSpPr/>
          <p:nvPr/>
        </p:nvSpPr>
        <p:spPr>
          <a:xfrm>
            <a:off x="1645920" y="5788152"/>
            <a:ext cx="10058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Mobile-first design strategy confirmed: 96.6% of design frames are mobile. Web and Tablet layouts reuse mobile components via responsive adaptation rather than separate designs.</a:t>
            </a:r>
            <a:endParaRPr lang="en-US" sz="900" dirty="0"/>
          </a:p>
        </p:txBody>
      </p:sp>
      <p:sp>
        <p:nvSpPr>
          <p:cNvPr id="140" name="Shape 138"/>
          <p:cNvSpPr/>
          <p:nvPr/>
        </p:nvSpPr>
        <p:spPr>
          <a:xfrm>
            <a:off x="457200" y="6537960"/>
            <a:ext cx="1127729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41" name="Text 139"/>
          <p:cNvSpPr/>
          <p:nvPr/>
        </p:nvSpPr>
        <p:spPr>
          <a:xfrm>
            <a:off x="457200" y="660196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  ·  DIGITAL EXPERIENCE  ·  2026-04-22</a:t>
            </a:r>
            <a:endParaRPr lang="en-US" sz="800" dirty="0"/>
          </a:p>
        </p:txBody>
      </p:sp>
      <p:sp>
        <p:nvSpPr>
          <p:cNvPr id="142" name="Text 140"/>
          <p:cNvSpPr/>
          <p:nvPr/>
        </p:nvSpPr>
        <p:spPr>
          <a:xfrm>
            <a:off x="5333695" y="660196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Figma REST API · Full-depth extraction · Platform frame analysis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2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alrajhi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2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508760" y="347472"/>
            <a:ext cx="0" cy="384048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45920" y="2743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FINDINGS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64592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Features Discovered in Deep Extraction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362895" y="38404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20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868680"/>
            <a:ext cx="1127729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051560"/>
            <a:ext cx="54864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A1F4D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66928" y="1124712"/>
            <a:ext cx="1097280" cy="237744"/>
          </a:xfrm>
          <a:prstGeom prst="roundRect">
            <a:avLst>
              <a:gd name="adj" fmla="val 11538"/>
            </a:avLst>
          </a:prstGeom>
          <a:solidFill>
            <a:srgbClr val="DCFCE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112471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783080" y="1097280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Screener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94360" y="1371600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label 'Stock Screener' found in Market page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94360" y="1618488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#2 (score 25/25) may be closing — design has started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217920" y="1051560"/>
            <a:ext cx="54864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A1F4D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327648" y="1124712"/>
            <a:ext cx="1097280" cy="237744"/>
          </a:xfrm>
          <a:prstGeom prst="roundRect">
            <a:avLst>
              <a:gd name="adj" fmla="val 11538"/>
            </a:avLst>
          </a:prstGeom>
          <a:solidFill>
            <a:srgbClr val="FEF3C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27648" y="112471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7543800" y="1097280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UAE Market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355080" y="1371600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labels 'UAE Market', 'UAE market' in Market; 'UAE Market Stocks' in Orders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355080" y="1618488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3rd market beyond Saudi and US — not in current features inventory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57200" y="2103120"/>
            <a:ext cx="54864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A1F4D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66928" y="2176272"/>
            <a:ext cx="1097280" cy="237744"/>
          </a:xfrm>
          <a:prstGeom prst="roundRect">
            <a:avLst>
              <a:gd name="adj" fmla="val 11538"/>
            </a:avLst>
          </a:prstGeom>
          <a:solidFill>
            <a:srgbClr val="EEF2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6928" y="217627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783080" y="2148840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 Mode (Web)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94360" y="2423160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page with 21 frames + Market Landscape + Benchmark Analysis screens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94360" y="2670048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 Mode designed for Web (not just mobile) — more extensive than BRD scope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6217920" y="2103120"/>
            <a:ext cx="54864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A1F4D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327648" y="2176272"/>
            <a:ext cx="1097280" cy="237744"/>
          </a:xfrm>
          <a:prstGeom prst="roundRect">
            <a:avLst>
              <a:gd name="adj" fmla="val 11538"/>
            </a:avLst>
          </a:prstGeom>
          <a:solidFill>
            <a:srgbClr val="DCFCE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27648" y="217627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7543800" y="2148840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Onboarding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355080" y="2423160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page with 364 sub-frames — streamlined account opening flow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355080" y="2670048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Simplified KYC variant not in features inventory — could address 87% drop-off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57200" y="3154680"/>
            <a:ext cx="54864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A1F4D">
                <a:alpha val="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566928" y="3227832"/>
            <a:ext cx="1097280" cy="237744"/>
          </a:xfrm>
          <a:prstGeom prst="roundRect">
            <a:avLst>
              <a:gd name="adj" fmla="val 11538"/>
            </a:avLst>
          </a:prstGeom>
          <a:solidFill>
            <a:srgbClr val="DCFCE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322783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PORTFOLIOS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1783080" y="3200400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StoryTeller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94360" y="3474720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page with narrative investment report screens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594360" y="3721608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#76 (Storyteller) has active Figma work — can be moved to 'Ready to Build'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6217920" y="3154680"/>
            <a:ext cx="54864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A1F4D">
                <a:alpha val="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327648" y="3227832"/>
            <a:ext cx="1097280" cy="237744"/>
          </a:xfrm>
          <a:prstGeom prst="roundRect">
            <a:avLst>
              <a:gd name="adj" fmla="val 11538"/>
            </a:avLst>
          </a:prstGeom>
          <a:solidFill>
            <a:srgbClr val="FEF3C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327648" y="322783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7543800" y="3200400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Engagement Flow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355080" y="3474720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page '1st Login Engagement' with 225+ nodes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6355080" y="3721608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Post-onboarding activation flow — not in current features inventory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457200" y="4206240"/>
            <a:ext cx="54864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A1F4D">
                <a:alpha val="8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566928" y="4279392"/>
            <a:ext cx="1097280" cy="237744"/>
          </a:xfrm>
          <a:prstGeom prst="roundRect">
            <a:avLst>
              <a:gd name="adj" fmla="val 11538"/>
            </a:avLst>
          </a:prstGeom>
          <a:solidFill>
            <a:srgbClr val="EEF2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66928" y="427939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1783080" y="4251960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Ramadan Theme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594360" y="4526280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'Ramadan' page in Home file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594360" y="4773168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 theming capability — engagement opportunity during Ramadan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6217920" y="4206240"/>
            <a:ext cx="54864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A1F4D">
                <a:alpha val="8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6327648" y="4279392"/>
            <a:ext cx="1097280" cy="237744"/>
          </a:xfrm>
          <a:prstGeom prst="roundRect">
            <a:avLst>
              <a:gd name="adj" fmla="val 11538"/>
            </a:avLst>
          </a:prstGeom>
          <a:solidFill>
            <a:srgbClr val="FEF3C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327648" y="427939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7543800" y="4251960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Crowd Fund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6355080" y="4526280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labels across Home, Market, Orders for Crowd Fund/Crowd Funds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6355080" y="4773168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Crowdfunding product is being designed across multiple modules — more mature than inventory suggests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457200" y="5257800"/>
            <a:ext cx="54864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A1F4D">
                <a:alpha val="8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566928" y="5330952"/>
            <a:ext cx="1097280" cy="237744"/>
          </a:xfrm>
          <a:prstGeom prst="roundRect">
            <a:avLst>
              <a:gd name="adj" fmla="val 11538"/>
            </a:avLst>
          </a:prstGeom>
          <a:solidFill>
            <a:srgbClr val="EEF2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66928" y="533095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1783080" y="5303520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Murabha (Margin) in Discover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594360" y="5577840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label 'Murabha' in Discover &amp; Search page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594360" y="5824728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lending discoverable from Discover — cross-module navigation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6217920" y="5257800"/>
            <a:ext cx="54864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A1F4D">
                <a:alpha val="8000"/>
              </a:srgbClr>
            </a:outerShdw>
          </a:effectLst>
        </p:spPr>
      </p:sp>
      <p:sp>
        <p:nvSpPr>
          <p:cNvPr id="64" name="Shape 62"/>
          <p:cNvSpPr/>
          <p:nvPr/>
        </p:nvSpPr>
        <p:spPr>
          <a:xfrm>
            <a:off x="6327648" y="5330952"/>
            <a:ext cx="1097280" cy="237744"/>
          </a:xfrm>
          <a:prstGeom prst="roundRect">
            <a:avLst>
              <a:gd name="adj" fmla="val 11538"/>
            </a:avLst>
          </a:prstGeom>
          <a:solidFill>
            <a:srgbClr val="FEF3C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327648" y="533095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7543800" y="5303520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of Attorney (POA)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6355080" y="5577840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labels 'POA', 'Power of Attorney Request' in Discover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6355080" y="5824728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POA flow designed but not in features inventory — needs BRD</a:t>
            </a:r>
            <a:endParaRPr lang="en-US" sz="850" dirty="0"/>
          </a:p>
        </p:txBody>
      </p:sp>
      <p:sp>
        <p:nvSpPr>
          <p:cNvPr id="69" name="Shape 67"/>
          <p:cNvSpPr/>
          <p:nvPr/>
        </p:nvSpPr>
        <p:spPr>
          <a:xfrm>
            <a:off x="457200" y="6537960"/>
            <a:ext cx="1127729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57200" y="660196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  ·  DIGITAL EXPERIENCE  ·  2026-04-22</a:t>
            </a:r>
            <a:endParaRPr lang="en-US" sz="800" dirty="0"/>
          </a:p>
        </p:txBody>
      </p:sp>
      <p:sp>
        <p:nvSpPr>
          <p:cNvPr id="71" name="Text 69"/>
          <p:cNvSpPr/>
          <p:nvPr/>
        </p:nvSpPr>
        <p:spPr>
          <a:xfrm>
            <a:off x="5333695" y="660196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Figma REST API · Full-depth text layer extraction · 2026-04-22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2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alrajhi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2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508760" y="347472"/>
            <a:ext cx="0" cy="384048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45920" y="2743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INTELLIGENCE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64592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12 Gaps — Status After Deep Extraction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362895" y="38404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20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868680"/>
            <a:ext cx="1127729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051560"/>
            <a:ext cx="320040" cy="374904"/>
          </a:xfrm>
          <a:prstGeom prst="rect">
            <a:avLst/>
          </a:prstGeom>
          <a:solidFill>
            <a:srgbClr val="0A1F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12064" y="1051560"/>
            <a:ext cx="21031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777240" y="1051560"/>
            <a:ext cx="2926080" cy="374904"/>
          </a:xfrm>
          <a:prstGeom prst="rect">
            <a:avLst/>
          </a:prstGeom>
          <a:solidFill>
            <a:srgbClr val="0A1F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2104" y="1051560"/>
            <a:ext cx="281635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Feature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703320" y="1051560"/>
            <a:ext cx="548640" cy="374904"/>
          </a:xfrm>
          <a:prstGeom prst="rect">
            <a:avLst/>
          </a:prstGeom>
          <a:solidFill>
            <a:srgbClr val="0A1F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58184" y="1051560"/>
            <a:ext cx="43891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251960" y="1051560"/>
            <a:ext cx="1828800" cy="374904"/>
          </a:xfrm>
          <a:prstGeom prst="rect">
            <a:avLst/>
          </a:prstGeom>
          <a:solidFill>
            <a:srgbClr val="0A1F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06824" y="1051560"/>
            <a:ext cx="171907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Squad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6080760" y="1051560"/>
            <a:ext cx="5669280" cy="374904"/>
          </a:xfrm>
          <a:prstGeom prst="rect">
            <a:avLst/>
          </a:prstGeom>
          <a:solidFill>
            <a:srgbClr val="0A1F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35624" y="1051560"/>
            <a:ext cx="555955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Figma Status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57200" y="1426464"/>
            <a:ext cx="320040" cy="374904"/>
          </a:xfrm>
          <a:prstGeom prst="rect">
            <a:avLst/>
          </a:prstGeom>
          <a:solidFill>
            <a:srgbClr val="FEF3C7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2064" y="1426464"/>
            <a:ext cx="21031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777240" y="1426464"/>
            <a:ext cx="2926080" cy="374904"/>
          </a:xfrm>
          <a:prstGeom prst="rect">
            <a:avLst/>
          </a:prstGeom>
          <a:solidFill>
            <a:srgbClr val="FEF3C7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32104" y="1426464"/>
            <a:ext cx="281635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2 Market Depth / Order Book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703320" y="1426464"/>
            <a:ext cx="548640" cy="374904"/>
          </a:xfrm>
          <a:prstGeom prst="rect">
            <a:avLst/>
          </a:prstGeom>
          <a:solidFill>
            <a:srgbClr val="FEF3C7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758184" y="1426464"/>
            <a:ext cx="43891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251960" y="1426464"/>
            <a:ext cx="1828800" cy="374904"/>
          </a:xfrm>
          <a:prstGeom prst="rect">
            <a:avLst/>
          </a:prstGeom>
          <a:solidFill>
            <a:srgbClr val="FEF3C7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306824" y="1426464"/>
            <a:ext cx="171907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Saudi / US Trading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6080760" y="1426464"/>
            <a:ext cx="5669280" cy="374904"/>
          </a:xfrm>
          <a:prstGeom prst="rect">
            <a:avLst/>
          </a:prstGeom>
          <a:solidFill>
            <a:srgbClr val="FEF3C7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35624" y="1426464"/>
            <a:ext cx="555955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Figma, No BRD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57200" y="1801368"/>
            <a:ext cx="320040" cy="374904"/>
          </a:xfrm>
          <a:prstGeom prst="rect">
            <a:avLst/>
          </a:prstGeom>
          <a:solidFill>
            <a:srgbClr val="DCFCE7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12064" y="1801368"/>
            <a:ext cx="21031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777240" y="1801368"/>
            <a:ext cx="2926080" cy="374904"/>
          </a:xfrm>
          <a:prstGeom prst="rect">
            <a:avLst/>
          </a:prstGeom>
          <a:solidFill>
            <a:srgbClr val="DCFCE7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32104" y="1801368"/>
            <a:ext cx="281635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Screener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3703320" y="1801368"/>
            <a:ext cx="548640" cy="374904"/>
          </a:xfrm>
          <a:prstGeom prst="rect">
            <a:avLst/>
          </a:prstGeom>
          <a:solidFill>
            <a:srgbClr val="DCFCE7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758184" y="1801368"/>
            <a:ext cx="43891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251960" y="1801368"/>
            <a:ext cx="1828800" cy="374904"/>
          </a:xfrm>
          <a:prstGeom prst="rect">
            <a:avLst/>
          </a:prstGeom>
          <a:solidFill>
            <a:srgbClr val="DCFCE7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306824" y="1801368"/>
            <a:ext cx="171907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Saudi / US Trading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6080760" y="1801368"/>
            <a:ext cx="5669280" cy="374904"/>
          </a:xfrm>
          <a:prstGeom prst="rect">
            <a:avLst/>
          </a:prstGeom>
          <a:solidFill>
            <a:srgbClr val="DCFCE7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135624" y="1801368"/>
            <a:ext cx="555955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 IN FIGMA — Market file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457200" y="2176272"/>
            <a:ext cx="320040" cy="374904"/>
          </a:xfrm>
          <a:prstGeom prst="rect">
            <a:avLst/>
          </a:prstGeom>
          <a:solidFill>
            <a:srgbClr val="FEF3C7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12064" y="2176272"/>
            <a:ext cx="21031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777240" y="2176272"/>
            <a:ext cx="2926080" cy="374904"/>
          </a:xfrm>
          <a:prstGeom prst="rect">
            <a:avLst/>
          </a:prstGeom>
          <a:solidFill>
            <a:srgbClr val="FEF3C7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32104" y="2176272"/>
            <a:ext cx="281635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Pre/Post-Market Trading (US)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3703320" y="2176272"/>
            <a:ext cx="548640" cy="374904"/>
          </a:xfrm>
          <a:prstGeom prst="rect">
            <a:avLst/>
          </a:prstGeom>
          <a:solidFill>
            <a:srgbClr val="FEF3C7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758184" y="2176272"/>
            <a:ext cx="43891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4251960" y="2176272"/>
            <a:ext cx="1828800" cy="374904"/>
          </a:xfrm>
          <a:prstGeom prst="rect">
            <a:avLst/>
          </a:prstGeom>
          <a:solidFill>
            <a:srgbClr val="FEF3C7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306824" y="2176272"/>
            <a:ext cx="171907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Trading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6080760" y="2176272"/>
            <a:ext cx="5669280" cy="374904"/>
          </a:xfrm>
          <a:prstGeom prst="rect">
            <a:avLst/>
          </a:prstGeom>
          <a:solidFill>
            <a:srgbClr val="FEF3C7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135624" y="2176272"/>
            <a:ext cx="555955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Figma, No BRD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457200" y="2551176"/>
            <a:ext cx="320040" cy="374904"/>
          </a:xfrm>
          <a:prstGeom prst="rect">
            <a:avLst/>
          </a:prstGeom>
          <a:solidFill>
            <a:srgbClr val="F1F4F9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12064" y="2551176"/>
            <a:ext cx="21031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777240" y="2551176"/>
            <a:ext cx="2926080" cy="374904"/>
          </a:xfrm>
          <a:prstGeom prst="rect">
            <a:avLst/>
          </a:prstGeom>
          <a:solidFill>
            <a:srgbClr val="F1F4F9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32104" y="2551176"/>
            <a:ext cx="281635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Technical Analysis Suite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3703320" y="2551176"/>
            <a:ext cx="548640" cy="374904"/>
          </a:xfrm>
          <a:prstGeom prst="rect">
            <a:avLst/>
          </a:prstGeom>
          <a:solidFill>
            <a:srgbClr val="F1F4F9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758184" y="2551176"/>
            <a:ext cx="43891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4251960" y="2551176"/>
            <a:ext cx="1828800" cy="374904"/>
          </a:xfrm>
          <a:prstGeom prst="rect">
            <a:avLst/>
          </a:prstGeom>
          <a:solidFill>
            <a:srgbClr val="F1F4F9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306824" y="2551176"/>
            <a:ext cx="171907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Saudi / US Trading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6080760" y="2551176"/>
            <a:ext cx="5669280" cy="374904"/>
          </a:xfrm>
          <a:prstGeom prst="rect">
            <a:avLst/>
          </a:prstGeom>
          <a:solidFill>
            <a:srgbClr val="F1F4F9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135624" y="2551176"/>
            <a:ext cx="555955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TradingView integration exists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457200" y="2926080"/>
            <a:ext cx="320040" cy="374904"/>
          </a:xfrm>
          <a:prstGeom prst="rect">
            <a:avLst/>
          </a:prstGeom>
          <a:solidFill>
            <a:srgbClr val="FEF3C7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12064" y="2926080"/>
            <a:ext cx="21031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777240" y="2926080"/>
            <a:ext cx="2926080" cy="374904"/>
          </a:xfrm>
          <a:prstGeom prst="rect">
            <a:avLst/>
          </a:prstGeom>
          <a:solidFill>
            <a:srgbClr val="FEF3C7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832104" y="2926080"/>
            <a:ext cx="281635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Comparison Tool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3703320" y="2926080"/>
            <a:ext cx="548640" cy="374904"/>
          </a:xfrm>
          <a:prstGeom prst="rect">
            <a:avLst/>
          </a:prstGeom>
          <a:solidFill>
            <a:srgbClr val="FEF3C7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3758184" y="2926080"/>
            <a:ext cx="43891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4251960" y="2926080"/>
            <a:ext cx="1828800" cy="374904"/>
          </a:xfrm>
          <a:prstGeom prst="rect">
            <a:avLst/>
          </a:prstGeom>
          <a:solidFill>
            <a:srgbClr val="FEF3C7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306824" y="2926080"/>
            <a:ext cx="171907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Saudi / US Trading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6080760" y="2926080"/>
            <a:ext cx="5669280" cy="374904"/>
          </a:xfrm>
          <a:prstGeom prst="rect">
            <a:avLst/>
          </a:prstGeom>
          <a:solidFill>
            <a:srgbClr val="FEF3C7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135624" y="2926080"/>
            <a:ext cx="555955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Figma, No BRD</a:t>
            </a:r>
            <a:endParaRPr lang="en-US" sz="850" dirty="0"/>
          </a:p>
        </p:txBody>
      </p:sp>
      <p:sp>
        <p:nvSpPr>
          <p:cNvPr id="69" name="Shape 67"/>
          <p:cNvSpPr/>
          <p:nvPr/>
        </p:nvSpPr>
        <p:spPr>
          <a:xfrm>
            <a:off x="457200" y="3300984"/>
            <a:ext cx="320040" cy="374904"/>
          </a:xfrm>
          <a:prstGeom prst="rect">
            <a:avLst/>
          </a:prstGeom>
          <a:solidFill>
            <a:srgbClr val="FEF3C7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512064" y="3300984"/>
            <a:ext cx="21031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50" dirty="0"/>
          </a:p>
        </p:txBody>
      </p:sp>
      <p:sp>
        <p:nvSpPr>
          <p:cNvPr id="71" name="Shape 69"/>
          <p:cNvSpPr/>
          <p:nvPr/>
        </p:nvSpPr>
        <p:spPr>
          <a:xfrm>
            <a:off x="777240" y="3300984"/>
            <a:ext cx="2926080" cy="374904"/>
          </a:xfrm>
          <a:prstGeom prst="rect">
            <a:avLst/>
          </a:prstGeom>
          <a:solidFill>
            <a:srgbClr val="FEF3C7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832104" y="3300984"/>
            <a:ext cx="281635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Assistant / AI Chat</a:t>
            </a:r>
            <a:endParaRPr lang="en-US" sz="850" dirty="0"/>
          </a:p>
        </p:txBody>
      </p:sp>
      <p:sp>
        <p:nvSpPr>
          <p:cNvPr id="73" name="Shape 71"/>
          <p:cNvSpPr/>
          <p:nvPr/>
        </p:nvSpPr>
        <p:spPr>
          <a:xfrm>
            <a:off x="3703320" y="3300984"/>
            <a:ext cx="548640" cy="374904"/>
          </a:xfrm>
          <a:prstGeom prst="rect">
            <a:avLst/>
          </a:prstGeom>
          <a:solidFill>
            <a:srgbClr val="FEF3C7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3758184" y="3300984"/>
            <a:ext cx="43891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850" dirty="0"/>
          </a:p>
        </p:txBody>
      </p:sp>
      <p:sp>
        <p:nvSpPr>
          <p:cNvPr id="75" name="Shape 73"/>
          <p:cNvSpPr/>
          <p:nvPr/>
        </p:nvSpPr>
        <p:spPr>
          <a:xfrm>
            <a:off x="4251960" y="3300984"/>
            <a:ext cx="1828800" cy="374904"/>
          </a:xfrm>
          <a:prstGeom prst="rect">
            <a:avLst/>
          </a:prstGeom>
          <a:solidFill>
            <a:srgbClr val="FEF3C7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4306824" y="3300984"/>
            <a:ext cx="171907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Cross-Journey</a:t>
            </a:r>
            <a:endParaRPr lang="en-US" sz="850" dirty="0"/>
          </a:p>
        </p:txBody>
      </p:sp>
      <p:sp>
        <p:nvSpPr>
          <p:cNvPr id="77" name="Shape 75"/>
          <p:cNvSpPr/>
          <p:nvPr/>
        </p:nvSpPr>
        <p:spPr>
          <a:xfrm>
            <a:off x="6080760" y="3300984"/>
            <a:ext cx="5669280" cy="374904"/>
          </a:xfrm>
          <a:prstGeom prst="rect">
            <a:avLst/>
          </a:prstGeom>
          <a:solidFill>
            <a:srgbClr val="FEF3C7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6135624" y="3300984"/>
            <a:ext cx="555955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Figma, No BRD</a:t>
            </a:r>
            <a:endParaRPr lang="en-US" sz="850" dirty="0"/>
          </a:p>
        </p:txBody>
      </p:sp>
      <p:sp>
        <p:nvSpPr>
          <p:cNvPr id="79" name="Shape 77"/>
          <p:cNvSpPr/>
          <p:nvPr/>
        </p:nvSpPr>
        <p:spPr>
          <a:xfrm>
            <a:off x="457200" y="3675888"/>
            <a:ext cx="320040" cy="374904"/>
          </a:xfrm>
          <a:prstGeom prst="rect">
            <a:avLst/>
          </a:prstGeom>
          <a:solidFill>
            <a:srgbClr val="FEF3C7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512064" y="3675888"/>
            <a:ext cx="21031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50" dirty="0"/>
          </a:p>
        </p:txBody>
      </p:sp>
      <p:sp>
        <p:nvSpPr>
          <p:cNvPr id="81" name="Shape 79"/>
          <p:cNvSpPr/>
          <p:nvPr/>
        </p:nvSpPr>
        <p:spPr>
          <a:xfrm>
            <a:off x="777240" y="3675888"/>
            <a:ext cx="2926080" cy="374904"/>
          </a:xfrm>
          <a:prstGeom prst="rect">
            <a:avLst/>
          </a:prstGeom>
          <a:solidFill>
            <a:srgbClr val="FEF3C7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832104" y="3675888"/>
            <a:ext cx="281635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Trading / Simulated Mode</a:t>
            </a:r>
            <a:endParaRPr lang="en-US" sz="850" dirty="0"/>
          </a:p>
        </p:txBody>
      </p:sp>
      <p:sp>
        <p:nvSpPr>
          <p:cNvPr id="83" name="Shape 81"/>
          <p:cNvSpPr/>
          <p:nvPr/>
        </p:nvSpPr>
        <p:spPr>
          <a:xfrm>
            <a:off x="3703320" y="3675888"/>
            <a:ext cx="548640" cy="374904"/>
          </a:xfrm>
          <a:prstGeom prst="rect">
            <a:avLst/>
          </a:prstGeom>
          <a:solidFill>
            <a:srgbClr val="FEF3C7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3758184" y="3675888"/>
            <a:ext cx="43891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850" dirty="0"/>
          </a:p>
        </p:txBody>
      </p:sp>
      <p:sp>
        <p:nvSpPr>
          <p:cNvPr id="85" name="Shape 83"/>
          <p:cNvSpPr/>
          <p:nvPr/>
        </p:nvSpPr>
        <p:spPr>
          <a:xfrm>
            <a:off x="4251960" y="3675888"/>
            <a:ext cx="1828800" cy="374904"/>
          </a:xfrm>
          <a:prstGeom prst="rect">
            <a:avLst/>
          </a:prstGeom>
          <a:solidFill>
            <a:srgbClr val="FEF3C7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4306824" y="3675888"/>
            <a:ext cx="171907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Cross-Journey</a:t>
            </a:r>
            <a:endParaRPr lang="en-US" sz="850" dirty="0"/>
          </a:p>
        </p:txBody>
      </p:sp>
      <p:sp>
        <p:nvSpPr>
          <p:cNvPr id="87" name="Shape 85"/>
          <p:cNvSpPr/>
          <p:nvPr/>
        </p:nvSpPr>
        <p:spPr>
          <a:xfrm>
            <a:off x="6080760" y="3675888"/>
            <a:ext cx="5669280" cy="374904"/>
          </a:xfrm>
          <a:prstGeom prst="rect">
            <a:avLst/>
          </a:prstGeom>
          <a:solidFill>
            <a:srgbClr val="FEF3C7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6135624" y="3675888"/>
            <a:ext cx="555955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Figma, No BRD</a:t>
            </a:r>
            <a:endParaRPr lang="en-US" sz="850" dirty="0"/>
          </a:p>
        </p:txBody>
      </p:sp>
      <p:sp>
        <p:nvSpPr>
          <p:cNvPr id="89" name="Shape 87"/>
          <p:cNvSpPr/>
          <p:nvPr/>
        </p:nvSpPr>
        <p:spPr>
          <a:xfrm>
            <a:off x="457200" y="4050792"/>
            <a:ext cx="320040" cy="374904"/>
          </a:xfrm>
          <a:prstGeom prst="rect">
            <a:avLst/>
          </a:prstGeom>
          <a:solidFill>
            <a:srgbClr val="FEF3C7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512064" y="4050792"/>
            <a:ext cx="21031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50" dirty="0"/>
          </a:p>
        </p:txBody>
      </p:sp>
      <p:sp>
        <p:nvSpPr>
          <p:cNvPr id="91" name="Shape 89"/>
          <p:cNvSpPr/>
          <p:nvPr/>
        </p:nvSpPr>
        <p:spPr>
          <a:xfrm>
            <a:off x="777240" y="4050792"/>
            <a:ext cx="2926080" cy="374904"/>
          </a:xfrm>
          <a:prstGeom prst="rect">
            <a:avLst/>
          </a:prstGeom>
          <a:solidFill>
            <a:srgbClr val="FEF3C7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832104" y="4050792"/>
            <a:ext cx="281635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Fractional Shares (US)</a:t>
            </a:r>
            <a:endParaRPr lang="en-US" sz="850" dirty="0"/>
          </a:p>
        </p:txBody>
      </p:sp>
      <p:sp>
        <p:nvSpPr>
          <p:cNvPr id="93" name="Shape 91"/>
          <p:cNvSpPr/>
          <p:nvPr/>
        </p:nvSpPr>
        <p:spPr>
          <a:xfrm>
            <a:off x="3703320" y="4050792"/>
            <a:ext cx="548640" cy="374904"/>
          </a:xfrm>
          <a:prstGeom prst="rect">
            <a:avLst/>
          </a:prstGeom>
          <a:solidFill>
            <a:srgbClr val="FEF3C7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3758184" y="4050792"/>
            <a:ext cx="43891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850" dirty="0"/>
          </a:p>
        </p:txBody>
      </p:sp>
      <p:sp>
        <p:nvSpPr>
          <p:cNvPr id="95" name="Shape 93"/>
          <p:cNvSpPr/>
          <p:nvPr/>
        </p:nvSpPr>
        <p:spPr>
          <a:xfrm>
            <a:off x="4251960" y="4050792"/>
            <a:ext cx="1828800" cy="374904"/>
          </a:xfrm>
          <a:prstGeom prst="rect">
            <a:avLst/>
          </a:prstGeom>
          <a:solidFill>
            <a:srgbClr val="FEF3C7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4306824" y="4050792"/>
            <a:ext cx="171907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Trading</a:t>
            </a:r>
            <a:endParaRPr lang="en-US" sz="850" dirty="0"/>
          </a:p>
        </p:txBody>
      </p:sp>
      <p:sp>
        <p:nvSpPr>
          <p:cNvPr id="97" name="Shape 95"/>
          <p:cNvSpPr/>
          <p:nvPr/>
        </p:nvSpPr>
        <p:spPr>
          <a:xfrm>
            <a:off x="6080760" y="4050792"/>
            <a:ext cx="5669280" cy="374904"/>
          </a:xfrm>
          <a:prstGeom prst="rect">
            <a:avLst/>
          </a:prstGeom>
          <a:solidFill>
            <a:srgbClr val="FEF3C7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6135624" y="4050792"/>
            <a:ext cx="555955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Figma, No BRD</a:t>
            </a:r>
            <a:endParaRPr lang="en-US" sz="850" dirty="0"/>
          </a:p>
        </p:txBody>
      </p:sp>
      <p:sp>
        <p:nvSpPr>
          <p:cNvPr id="99" name="Shape 97"/>
          <p:cNvSpPr/>
          <p:nvPr/>
        </p:nvSpPr>
        <p:spPr>
          <a:xfrm>
            <a:off x="457200" y="4425696"/>
            <a:ext cx="320040" cy="374904"/>
          </a:xfrm>
          <a:prstGeom prst="rect">
            <a:avLst/>
          </a:prstGeom>
          <a:solidFill>
            <a:srgbClr val="FEF3C7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512064" y="4425696"/>
            <a:ext cx="21031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50" dirty="0"/>
          </a:p>
        </p:txBody>
      </p:sp>
      <p:sp>
        <p:nvSpPr>
          <p:cNvPr id="101" name="Shape 99"/>
          <p:cNvSpPr/>
          <p:nvPr/>
        </p:nvSpPr>
        <p:spPr>
          <a:xfrm>
            <a:off x="777240" y="4425696"/>
            <a:ext cx="2926080" cy="374904"/>
          </a:xfrm>
          <a:prstGeom prst="rect">
            <a:avLst/>
          </a:prstGeom>
          <a:solidFill>
            <a:srgbClr val="FEF3C7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832104" y="4425696"/>
            <a:ext cx="281635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/ Community Feed</a:t>
            </a:r>
            <a:endParaRPr lang="en-US" sz="850" dirty="0"/>
          </a:p>
        </p:txBody>
      </p:sp>
      <p:sp>
        <p:nvSpPr>
          <p:cNvPr id="103" name="Shape 101"/>
          <p:cNvSpPr/>
          <p:nvPr/>
        </p:nvSpPr>
        <p:spPr>
          <a:xfrm>
            <a:off x="3703320" y="4425696"/>
            <a:ext cx="548640" cy="374904"/>
          </a:xfrm>
          <a:prstGeom prst="rect">
            <a:avLst/>
          </a:prstGeom>
          <a:solidFill>
            <a:srgbClr val="FEF3C7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3758184" y="4425696"/>
            <a:ext cx="43891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850" dirty="0"/>
          </a:p>
        </p:txBody>
      </p:sp>
      <p:sp>
        <p:nvSpPr>
          <p:cNvPr id="105" name="Shape 103"/>
          <p:cNvSpPr/>
          <p:nvPr/>
        </p:nvSpPr>
        <p:spPr>
          <a:xfrm>
            <a:off x="4251960" y="4425696"/>
            <a:ext cx="1828800" cy="374904"/>
          </a:xfrm>
          <a:prstGeom prst="rect">
            <a:avLst/>
          </a:prstGeom>
          <a:solidFill>
            <a:srgbClr val="FEF3C7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4306824" y="4425696"/>
            <a:ext cx="171907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Engagement</a:t>
            </a:r>
            <a:endParaRPr lang="en-US" sz="850" dirty="0"/>
          </a:p>
        </p:txBody>
      </p:sp>
      <p:sp>
        <p:nvSpPr>
          <p:cNvPr id="107" name="Shape 105"/>
          <p:cNvSpPr/>
          <p:nvPr/>
        </p:nvSpPr>
        <p:spPr>
          <a:xfrm>
            <a:off x="6080760" y="4425696"/>
            <a:ext cx="5669280" cy="374904"/>
          </a:xfrm>
          <a:prstGeom prst="rect">
            <a:avLst/>
          </a:prstGeom>
          <a:solidFill>
            <a:srgbClr val="FEF3C7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6135624" y="4425696"/>
            <a:ext cx="555955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Figma, No BRD</a:t>
            </a:r>
            <a:endParaRPr lang="en-US" sz="850" dirty="0"/>
          </a:p>
        </p:txBody>
      </p:sp>
      <p:sp>
        <p:nvSpPr>
          <p:cNvPr id="109" name="Shape 107"/>
          <p:cNvSpPr/>
          <p:nvPr/>
        </p:nvSpPr>
        <p:spPr>
          <a:xfrm>
            <a:off x="457200" y="4800600"/>
            <a:ext cx="320040" cy="374904"/>
          </a:xfrm>
          <a:prstGeom prst="rect">
            <a:avLst/>
          </a:prstGeom>
          <a:solidFill>
            <a:srgbClr val="FEF3C7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512064" y="4800600"/>
            <a:ext cx="21031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50" dirty="0"/>
          </a:p>
        </p:txBody>
      </p:sp>
      <p:sp>
        <p:nvSpPr>
          <p:cNvPr id="111" name="Shape 109"/>
          <p:cNvSpPr/>
          <p:nvPr/>
        </p:nvSpPr>
        <p:spPr>
          <a:xfrm>
            <a:off x="777240" y="4800600"/>
            <a:ext cx="2926080" cy="374904"/>
          </a:xfrm>
          <a:prstGeom prst="rect">
            <a:avLst/>
          </a:prstGeom>
          <a:solidFill>
            <a:srgbClr val="FEF3C7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832104" y="4800600"/>
            <a:ext cx="281635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Orders — Full BRD</a:t>
            </a:r>
            <a:endParaRPr lang="en-US" sz="850" dirty="0"/>
          </a:p>
        </p:txBody>
      </p:sp>
      <p:sp>
        <p:nvSpPr>
          <p:cNvPr id="113" name="Shape 111"/>
          <p:cNvSpPr/>
          <p:nvPr/>
        </p:nvSpPr>
        <p:spPr>
          <a:xfrm>
            <a:off x="3703320" y="4800600"/>
            <a:ext cx="548640" cy="374904"/>
          </a:xfrm>
          <a:prstGeom prst="rect">
            <a:avLst/>
          </a:prstGeom>
          <a:solidFill>
            <a:srgbClr val="FEF3C7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3758184" y="4800600"/>
            <a:ext cx="43891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850" dirty="0"/>
          </a:p>
        </p:txBody>
      </p:sp>
      <p:sp>
        <p:nvSpPr>
          <p:cNvPr id="115" name="Shape 113"/>
          <p:cNvSpPr/>
          <p:nvPr/>
        </p:nvSpPr>
        <p:spPr>
          <a:xfrm>
            <a:off x="4251960" y="4800600"/>
            <a:ext cx="1828800" cy="374904"/>
          </a:xfrm>
          <a:prstGeom prst="rect">
            <a:avLst/>
          </a:prstGeom>
          <a:solidFill>
            <a:srgbClr val="FEF3C7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4306824" y="4800600"/>
            <a:ext cx="171907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Saudi Trading</a:t>
            </a:r>
            <a:endParaRPr lang="en-US" sz="850" dirty="0"/>
          </a:p>
        </p:txBody>
      </p:sp>
      <p:sp>
        <p:nvSpPr>
          <p:cNvPr id="117" name="Shape 115"/>
          <p:cNvSpPr/>
          <p:nvPr/>
        </p:nvSpPr>
        <p:spPr>
          <a:xfrm>
            <a:off x="6080760" y="4800600"/>
            <a:ext cx="5669280" cy="374904"/>
          </a:xfrm>
          <a:prstGeom prst="rect">
            <a:avLst/>
          </a:prstGeom>
          <a:solidFill>
            <a:srgbClr val="FEF3C7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6135624" y="4800600"/>
            <a:ext cx="555955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Figma screens exist (no BRD)</a:t>
            </a:r>
            <a:endParaRPr lang="en-US" sz="850" dirty="0"/>
          </a:p>
        </p:txBody>
      </p:sp>
      <p:sp>
        <p:nvSpPr>
          <p:cNvPr id="119" name="Shape 117"/>
          <p:cNvSpPr/>
          <p:nvPr/>
        </p:nvSpPr>
        <p:spPr>
          <a:xfrm>
            <a:off x="457200" y="5175504"/>
            <a:ext cx="320040" cy="374904"/>
          </a:xfrm>
          <a:prstGeom prst="rect">
            <a:avLst/>
          </a:prstGeom>
          <a:solidFill>
            <a:srgbClr val="FEF3C7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512064" y="5175504"/>
            <a:ext cx="21031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50" dirty="0"/>
          </a:p>
        </p:txBody>
      </p:sp>
      <p:sp>
        <p:nvSpPr>
          <p:cNvPr id="121" name="Shape 119"/>
          <p:cNvSpPr/>
          <p:nvPr/>
        </p:nvSpPr>
        <p:spPr>
          <a:xfrm>
            <a:off x="777240" y="5175504"/>
            <a:ext cx="2926080" cy="374904"/>
          </a:xfrm>
          <a:prstGeom prst="rect">
            <a:avLst/>
          </a:prstGeom>
          <a:solidFill>
            <a:srgbClr val="FEF3C7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832104" y="5175504"/>
            <a:ext cx="281635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Events Calendar</a:t>
            </a:r>
            <a:endParaRPr lang="en-US" sz="850" dirty="0"/>
          </a:p>
        </p:txBody>
      </p:sp>
      <p:sp>
        <p:nvSpPr>
          <p:cNvPr id="123" name="Shape 121"/>
          <p:cNvSpPr/>
          <p:nvPr/>
        </p:nvSpPr>
        <p:spPr>
          <a:xfrm>
            <a:off x="3703320" y="5175504"/>
            <a:ext cx="548640" cy="374904"/>
          </a:xfrm>
          <a:prstGeom prst="rect">
            <a:avLst/>
          </a:prstGeom>
          <a:solidFill>
            <a:srgbClr val="FEF3C7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3758184" y="5175504"/>
            <a:ext cx="43891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850" dirty="0"/>
          </a:p>
        </p:txBody>
      </p:sp>
      <p:sp>
        <p:nvSpPr>
          <p:cNvPr id="125" name="Shape 123"/>
          <p:cNvSpPr/>
          <p:nvPr/>
        </p:nvSpPr>
        <p:spPr>
          <a:xfrm>
            <a:off x="4251960" y="5175504"/>
            <a:ext cx="1828800" cy="374904"/>
          </a:xfrm>
          <a:prstGeom prst="rect">
            <a:avLst/>
          </a:prstGeom>
          <a:solidFill>
            <a:srgbClr val="FEF3C7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4306824" y="5175504"/>
            <a:ext cx="171907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Saudi / US Trading</a:t>
            </a:r>
            <a:endParaRPr lang="en-US" sz="850" dirty="0"/>
          </a:p>
        </p:txBody>
      </p:sp>
      <p:sp>
        <p:nvSpPr>
          <p:cNvPr id="127" name="Shape 125"/>
          <p:cNvSpPr/>
          <p:nvPr/>
        </p:nvSpPr>
        <p:spPr>
          <a:xfrm>
            <a:off x="6080760" y="5175504"/>
            <a:ext cx="5669280" cy="374904"/>
          </a:xfrm>
          <a:prstGeom prst="rect">
            <a:avLst/>
          </a:prstGeom>
          <a:solidFill>
            <a:srgbClr val="FEF3C7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28" name="Text 126"/>
          <p:cNvSpPr/>
          <p:nvPr/>
        </p:nvSpPr>
        <p:spPr>
          <a:xfrm>
            <a:off x="6135624" y="5175504"/>
            <a:ext cx="555955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Figma, No BRD</a:t>
            </a:r>
            <a:endParaRPr lang="en-US" sz="850" dirty="0"/>
          </a:p>
        </p:txBody>
      </p:sp>
      <p:sp>
        <p:nvSpPr>
          <p:cNvPr id="129" name="Shape 127"/>
          <p:cNvSpPr/>
          <p:nvPr/>
        </p:nvSpPr>
        <p:spPr>
          <a:xfrm>
            <a:off x="457200" y="5550408"/>
            <a:ext cx="320040" cy="374904"/>
          </a:xfrm>
          <a:prstGeom prst="rect">
            <a:avLst/>
          </a:prstGeom>
          <a:solidFill>
            <a:srgbClr val="FEF3C7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30" name="Text 128"/>
          <p:cNvSpPr/>
          <p:nvPr/>
        </p:nvSpPr>
        <p:spPr>
          <a:xfrm>
            <a:off x="512064" y="5550408"/>
            <a:ext cx="21031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50" dirty="0"/>
          </a:p>
        </p:txBody>
      </p:sp>
      <p:sp>
        <p:nvSpPr>
          <p:cNvPr id="131" name="Shape 129"/>
          <p:cNvSpPr/>
          <p:nvPr/>
        </p:nvSpPr>
        <p:spPr>
          <a:xfrm>
            <a:off x="777240" y="5550408"/>
            <a:ext cx="2926080" cy="374904"/>
          </a:xfrm>
          <a:prstGeom prst="rect">
            <a:avLst/>
          </a:prstGeom>
          <a:solidFill>
            <a:srgbClr val="FEF3C7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32" name="Text 130"/>
          <p:cNvSpPr/>
          <p:nvPr/>
        </p:nvSpPr>
        <p:spPr>
          <a:xfrm>
            <a:off x="832104" y="5550408"/>
            <a:ext cx="281635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Funds / PE Access</a:t>
            </a:r>
            <a:endParaRPr lang="en-US" sz="850" dirty="0"/>
          </a:p>
        </p:txBody>
      </p:sp>
      <p:sp>
        <p:nvSpPr>
          <p:cNvPr id="133" name="Shape 131"/>
          <p:cNvSpPr/>
          <p:nvPr/>
        </p:nvSpPr>
        <p:spPr>
          <a:xfrm>
            <a:off x="3703320" y="5550408"/>
            <a:ext cx="548640" cy="374904"/>
          </a:xfrm>
          <a:prstGeom prst="rect">
            <a:avLst/>
          </a:prstGeom>
          <a:solidFill>
            <a:srgbClr val="FEF3C7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34" name="Text 132"/>
          <p:cNvSpPr/>
          <p:nvPr/>
        </p:nvSpPr>
        <p:spPr>
          <a:xfrm>
            <a:off x="3758184" y="5550408"/>
            <a:ext cx="43891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850" dirty="0"/>
          </a:p>
        </p:txBody>
      </p:sp>
      <p:sp>
        <p:nvSpPr>
          <p:cNvPr id="135" name="Shape 133"/>
          <p:cNvSpPr/>
          <p:nvPr/>
        </p:nvSpPr>
        <p:spPr>
          <a:xfrm>
            <a:off x="4251960" y="5550408"/>
            <a:ext cx="1828800" cy="374904"/>
          </a:xfrm>
          <a:prstGeom prst="rect">
            <a:avLst/>
          </a:prstGeom>
          <a:solidFill>
            <a:srgbClr val="FEF3C7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36" name="Text 134"/>
          <p:cNvSpPr/>
          <p:nvPr/>
        </p:nvSpPr>
        <p:spPr>
          <a:xfrm>
            <a:off x="4306824" y="5550408"/>
            <a:ext cx="171907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Mutual Funds</a:t>
            </a:r>
            <a:endParaRPr lang="en-US" sz="850" dirty="0"/>
          </a:p>
        </p:txBody>
      </p:sp>
      <p:sp>
        <p:nvSpPr>
          <p:cNvPr id="137" name="Shape 135"/>
          <p:cNvSpPr/>
          <p:nvPr/>
        </p:nvSpPr>
        <p:spPr>
          <a:xfrm>
            <a:off x="6080760" y="5550408"/>
            <a:ext cx="5669280" cy="374904"/>
          </a:xfrm>
          <a:prstGeom prst="rect">
            <a:avLst/>
          </a:prstGeom>
          <a:solidFill>
            <a:srgbClr val="FEF3C7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38" name="Text 136"/>
          <p:cNvSpPr/>
          <p:nvPr/>
        </p:nvSpPr>
        <p:spPr>
          <a:xfrm>
            <a:off x="6135624" y="5550408"/>
            <a:ext cx="555955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Figma, No BRD</a:t>
            </a:r>
            <a:endParaRPr lang="en-US" sz="850" dirty="0"/>
          </a:p>
        </p:txBody>
      </p:sp>
      <p:sp>
        <p:nvSpPr>
          <p:cNvPr id="139" name="Shape 137"/>
          <p:cNvSpPr/>
          <p:nvPr/>
        </p:nvSpPr>
        <p:spPr>
          <a:xfrm>
            <a:off x="457200" y="6108192"/>
            <a:ext cx="11277295" cy="685800"/>
          </a:xfrm>
          <a:prstGeom prst="roundRect">
            <a:avLst>
              <a:gd name="adj" fmla="val 10667"/>
            </a:avLst>
          </a:prstGeom>
          <a:solidFill>
            <a:srgbClr val="DCFCE7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A1F4D">
                <a:alpha val="8000"/>
              </a:srgbClr>
            </a:outerShdw>
          </a:effectLst>
        </p:spPr>
      </p:sp>
      <p:sp>
        <p:nvSpPr>
          <p:cNvPr id="140" name="Shape 138"/>
          <p:cNvSpPr/>
          <p:nvPr/>
        </p:nvSpPr>
        <p:spPr>
          <a:xfrm>
            <a:off x="640080" y="6181344"/>
            <a:ext cx="1188720" cy="237744"/>
          </a:xfrm>
          <a:prstGeom prst="roundRect">
            <a:avLst>
              <a:gd name="adj" fmla="val 11538"/>
            </a:avLst>
          </a:prstGeom>
          <a:solidFill>
            <a:srgbClr val="DCFCE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1" name="Text 139"/>
          <p:cNvSpPr/>
          <p:nvPr/>
        </p:nvSpPr>
        <p:spPr>
          <a:xfrm>
            <a:off x="640080" y="6181344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BREAKTHROUGH</a:t>
            </a:r>
            <a:endParaRPr lang="en-US" sz="800" dirty="0"/>
          </a:p>
        </p:txBody>
      </p:sp>
      <p:sp>
        <p:nvSpPr>
          <p:cNvPr id="142" name="Text 140"/>
          <p:cNvSpPr/>
          <p:nvPr/>
        </p:nvSpPr>
        <p:spPr>
          <a:xfrm>
            <a:off x="2011680" y="612648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Screener (Gap #2, score 25/25) found in Market Figma file</a:t>
            </a:r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the design team has already started work on this critical gap. Additionally, Conditional Orders (#10) have Figma screens. 2 of the top 12 gaps show design progress.</a:t>
            </a:r>
            <a:endParaRPr lang="en-US" sz="900" dirty="0"/>
          </a:p>
        </p:txBody>
      </p:sp>
      <p:sp>
        <p:nvSpPr>
          <p:cNvPr id="143" name="Shape 141"/>
          <p:cNvSpPr/>
          <p:nvPr/>
        </p:nvSpPr>
        <p:spPr>
          <a:xfrm>
            <a:off x="457200" y="6537960"/>
            <a:ext cx="1127729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44" name="Text 142"/>
          <p:cNvSpPr/>
          <p:nvPr/>
        </p:nvSpPr>
        <p:spPr>
          <a:xfrm>
            <a:off x="457200" y="660196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  ·  DIGITAL EXPERIENCE  ·  2026-04-22</a:t>
            </a:r>
            <a:endParaRPr lang="en-US" sz="800" dirty="0"/>
          </a:p>
        </p:txBody>
      </p:sp>
      <p:sp>
        <p:nvSpPr>
          <p:cNvPr id="145" name="Text 143"/>
          <p:cNvSpPr/>
          <p:nvPr/>
        </p:nvSpPr>
        <p:spPr>
          <a:xfrm>
            <a:off x="5333695" y="660196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Competitor Gap Matrix + Figma full-depth text layer scan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2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alrajhi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2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508760" y="347472"/>
            <a:ext cx="0" cy="384048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45920" y="2743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MAP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64592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Coverage by Squad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362895" y="38404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20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868680"/>
            <a:ext cx="1127729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051560"/>
            <a:ext cx="2011680" cy="384048"/>
          </a:xfrm>
          <a:prstGeom prst="rect">
            <a:avLst/>
          </a:prstGeom>
          <a:solidFill>
            <a:srgbClr val="0A1F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12064" y="1051560"/>
            <a:ext cx="1901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Squad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468880" y="1051560"/>
            <a:ext cx="502920" cy="384048"/>
          </a:xfrm>
          <a:prstGeom prst="rect">
            <a:avLst/>
          </a:prstGeom>
          <a:solidFill>
            <a:srgbClr val="0A1F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23744" y="1051560"/>
            <a:ext cx="393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971800" y="1051560"/>
            <a:ext cx="457200" cy="384048"/>
          </a:xfrm>
          <a:prstGeom prst="rect">
            <a:avLst/>
          </a:prstGeom>
          <a:solidFill>
            <a:srgbClr val="0A1F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026664" y="1051560"/>
            <a:ext cx="347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429000" y="1051560"/>
            <a:ext cx="777240" cy="384048"/>
          </a:xfrm>
          <a:prstGeom prst="rect">
            <a:avLst/>
          </a:prstGeom>
          <a:solidFill>
            <a:srgbClr val="0A1F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83864" y="1051560"/>
            <a:ext cx="667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BRD+Figma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206240" y="1051560"/>
            <a:ext cx="731520" cy="384048"/>
          </a:xfrm>
          <a:prstGeom prst="rect">
            <a:avLst/>
          </a:prstGeom>
          <a:solidFill>
            <a:srgbClr val="0A1F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61104" y="1051560"/>
            <a:ext cx="621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BRD Only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937760" y="1051560"/>
            <a:ext cx="731520" cy="384048"/>
          </a:xfrm>
          <a:prstGeom prst="rect">
            <a:avLst/>
          </a:prstGeom>
          <a:solidFill>
            <a:srgbClr val="0A1F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92624" y="1051560"/>
            <a:ext cx="621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Figma Only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5669280" y="1051560"/>
            <a:ext cx="502920" cy="384048"/>
          </a:xfrm>
          <a:prstGeom prst="rect">
            <a:avLst/>
          </a:prstGeom>
          <a:solidFill>
            <a:srgbClr val="0A1F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724144" y="1051560"/>
            <a:ext cx="393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Gaps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6172200" y="1051560"/>
            <a:ext cx="5577840" cy="384048"/>
          </a:xfrm>
          <a:prstGeom prst="rect">
            <a:avLst/>
          </a:prstGeom>
          <a:solidFill>
            <a:srgbClr val="0A1F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27064" y="1051560"/>
            <a:ext cx="5468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57200" y="1435608"/>
            <a:ext cx="2011680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2064" y="1435608"/>
            <a:ext cx="1901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468880" y="1435608"/>
            <a:ext cx="502920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523744" y="1435608"/>
            <a:ext cx="393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971800" y="1435608"/>
            <a:ext cx="457200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026664" y="1435608"/>
            <a:ext cx="347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429000" y="1435608"/>
            <a:ext cx="777240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83864" y="1435608"/>
            <a:ext cx="667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206240" y="1435608"/>
            <a:ext cx="731520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261104" y="1435608"/>
            <a:ext cx="621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937760" y="1435608"/>
            <a:ext cx="731520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92624" y="1435608"/>
            <a:ext cx="621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5669280" y="1435608"/>
            <a:ext cx="502920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724144" y="1435608"/>
            <a:ext cx="393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172200" y="1435608"/>
            <a:ext cx="5577840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281928" y="1536192"/>
            <a:ext cx="893064" cy="182880"/>
          </a:xfrm>
          <a:prstGeom prst="rect">
            <a:avLst/>
          </a:prstGeom>
          <a:solidFill>
            <a:srgbClr val="16A3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174992" y="1536192"/>
            <a:ext cx="1786128" cy="182880"/>
          </a:xfrm>
          <a:prstGeom prst="rect">
            <a:avLst/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961120" y="1536192"/>
            <a:ext cx="223266" cy="182880"/>
          </a:xfrm>
          <a:prstGeom prst="rect">
            <a:avLst/>
          </a:prstGeom>
          <a:solidFill>
            <a:srgbClr val="4F46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9184386" y="1536192"/>
            <a:ext cx="2455926" cy="182880"/>
          </a:xfrm>
          <a:prstGeom prst="rect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57200" y="1819656"/>
            <a:ext cx="2011680" cy="384048"/>
          </a:xfrm>
          <a:prstGeom prst="rect">
            <a:avLst/>
          </a:prstGeom>
          <a:solidFill>
            <a:srgbClr val="F1F4F9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12064" y="1819656"/>
            <a:ext cx="1901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Saudi Trading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2468880" y="1819656"/>
            <a:ext cx="502920" cy="384048"/>
          </a:xfrm>
          <a:prstGeom prst="rect">
            <a:avLst/>
          </a:prstGeom>
          <a:solidFill>
            <a:srgbClr val="F1F4F9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523744" y="1819656"/>
            <a:ext cx="393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2971800" y="1819656"/>
            <a:ext cx="457200" cy="384048"/>
          </a:xfrm>
          <a:prstGeom prst="rect">
            <a:avLst/>
          </a:prstGeom>
          <a:solidFill>
            <a:srgbClr val="F1F4F9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026664" y="1819656"/>
            <a:ext cx="347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3429000" y="1819656"/>
            <a:ext cx="777240" cy="384048"/>
          </a:xfrm>
          <a:prstGeom prst="rect">
            <a:avLst/>
          </a:prstGeom>
          <a:solidFill>
            <a:srgbClr val="F1F4F9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483864" y="1819656"/>
            <a:ext cx="667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4206240" y="1819656"/>
            <a:ext cx="731520" cy="384048"/>
          </a:xfrm>
          <a:prstGeom prst="rect">
            <a:avLst/>
          </a:prstGeom>
          <a:solidFill>
            <a:srgbClr val="F1F4F9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261104" y="1819656"/>
            <a:ext cx="621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4937760" y="1819656"/>
            <a:ext cx="731520" cy="384048"/>
          </a:xfrm>
          <a:prstGeom prst="rect">
            <a:avLst/>
          </a:prstGeom>
          <a:solidFill>
            <a:srgbClr val="F1F4F9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992624" y="1819656"/>
            <a:ext cx="621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5669280" y="1819656"/>
            <a:ext cx="502920" cy="384048"/>
          </a:xfrm>
          <a:prstGeom prst="rect">
            <a:avLst/>
          </a:prstGeom>
          <a:solidFill>
            <a:srgbClr val="F1F4F9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724144" y="1819656"/>
            <a:ext cx="393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6172200" y="1819656"/>
            <a:ext cx="5577840" cy="384048"/>
          </a:xfrm>
          <a:prstGeom prst="rect">
            <a:avLst/>
          </a:prstGeom>
          <a:solidFill>
            <a:srgbClr val="F1F4F9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281928" y="1920240"/>
            <a:ext cx="824367" cy="182880"/>
          </a:xfrm>
          <a:prstGeom prst="rect">
            <a:avLst/>
          </a:prstGeom>
          <a:solidFill>
            <a:srgbClr val="16A3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7106295" y="1920240"/>
            <a:ext cx="137394" cy="182880"/>
          </a:xfrm>
          <a:prstGeom prst="rect">
            <a:avLst/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7243689" y="1920240"/>
            <a:ext cx="2610495" cy="182880"/>
          </a:xfrm>
          <a:prstGeom prst="rect">
            <a:avLst/>
          </a:prstGeom>
          <a:solidFill>
            <a:srgbClr val="4F46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9854184" y="1920240"/>
            <a:ext cx="1923522" cy="182880"/>
          </a:xfrm>
          <a:prstGeom prst="rect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457200" y="2203704"/>
            <a:ext cx="2011680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12064" y="2203704"/>
            <a:ext cx="1901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Trading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2468880" y="2203704"/>
            <a:ext cx="502920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2523744" y="2203704"/>
            <a:ext cx="393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2971800" y="2203704"/>
            <a:ext cx="457200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3026664" y="2203704"/>
            <a:ext cx="347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3429000" y="2203704"/>
            <a:ext cx="777240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483864" y="2203704"/>
            <a:ext cx="667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4206240" y="2203704"/>
            <a:ext cx="731520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4261104" y="2203704"/>
            <a:ext cx="621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50" dirty="0"/>
          </a:p>
        </p:txBody>
      </p:sp>
      <p:sp>
        <p:nvSpPr>
          <p:cNvPr id="73" name="Shape 71"/>
          <p:cNvSpPr/>
          <p:nvPr/>
        </p:nvSpPr>
        <p:spPr>
          <a:xfrm>
            <a:off x="4937760" y="2203704"/>
            <a:ext cx="731520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4992624" y="2203704"/>
            <a:ext cx="621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  <p:sp>
        <p:nvSpPr>
          <p:cNvPr id="75" name="Shape 73"/>
          <p:cNvSpPr/>
          <p:nvPr/>
        </p:nvSpPr>
        <p:spPr>
          <a:xfrm>
            <a:off x="5669280" y="2203704"/>
            <a:ext cx="502920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5724144" y="2203704"/>
            <a:ext cx="393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50" dirty="0"/>
          </a:p>
        </p:txBody>
      </p:sp>
      <p:sp>
        <p:nvSpPr>
          <p:cNvPr id="77" name="Shape 75"/>
          <p:cNvSpPr/>
          <p:nvPr/>
        </p:nvSpPr>
        <p:spPr>
          <a:xfrm>
            <a:off x="6172200" y="2203704"/>
            <a:ext cx="5577840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6281928" y="2304288"/>
            <a:ext cx="1607515" cy="182880"/>
          </a:xfrm>
          <a:prstGeom prst="rect">
            <a:avLst/>
          </a:prstGeom>
          <a:solidFill>
            <a:srgbClr val="16A3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7889443" y="2304288"/>
            <a:ext cx="3215030" cy="182880"/>
          </a:xfrm>
          <a:prstGeom prst="rect">
            <a:avLst/>
          </a:prstGeom>
          <a:solidFill>
            <a:srgbClr val="4F46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11104474" y="2304288"/>
            <a:ext cx="535838" cy="182880"/>
          </a:xfrm>
          <a:prstGeom prst="rect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457200" y="2587752"/>
            <a:ext cx="2011680" cy="384048"/>
          </a:xfrm>
          <a:prstGeom prst="rect">
            <a:avLst/>
          </a:prstGeom>
          <a:solidFill>
            <a:srgbClr val="F1F4F9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512064" y="2587752"/>
            <a:ext cx="1901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Monitoring</a:t>
            </a:r>
            <a:endParaRPr lang="en-US" sz="900" dirty="0"/>
          </a:p>
        </p:txBody>
      </p:sp>
      <p:sp>
        <p:nvSpPr>
          <p:cNvPr id="83" name="Shape 81"/>
          <p:cNvSpPr/>
          <p:nvPr/>
        </p:nvSpPr>
        <p:spPr>
          <a:xfrm>
            <a:off x="2468880" y="2587752"/>
            <a:ext cx="502920" cy="384048"/>
          </a:xfrm>
          <a:prstGeom prst="rect">
            <a:avLst/>
          </a:prstGeom>
          <a:solidFill>
            <a:srgbClr val="F1F4F9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2523744" y="2587752"/>
            <a:ext cx="393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50" dirty="0"/>
          </a:p>
        </p:txBody>
      </p:sp>
      <p:sp>
        <p:nvSpPr>
          <p:cNvPr id="85" name="Shape 83"/>
          <p:cNvSpPr/>
          <p:nvPr/>
        </p:nvSpPr>
        <p:spPr>
          <a:xfrm>
            <a:off x="2971800" y="2587752"/>
            <a:ext cx="457200" cy="384048"/>
          </a:xfrm>
          <a:prstGeom prst="rect">
            <a:avLst/>
          </a:prstGeom>
          <a:solidFill>
            <a:srgbClr val="F1F4F9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3026664" y="2587752"/>
            <a:ext cx="347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  <p:sp>
        <p:nvSpPr>
          <p:cNvPr id="87" name="Shape 85"/>
          <p:cNvSpPr/>
          <p:nvPr/>
        </p:nvSpPr>
        <p:spPr>
          <a:xfrm>
            <a:off x="3429000" y="2587752"/>
            <a:ext cx="777240" cy="384048"/>
          </a:xfrm>
          <a:prstGeom prst="rect">
            <a:avLst/>
          </a:prstGeom>
          <a:solidFill>
            <a:srgbClr val="F1F4F9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3483864" y="2587752"/>
            <a:ext cx="667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50" dirty="0"/>
          </a:p>
        </p:txBody>
      </p:sp>
      <p:sp>
        <p:nvSpPr>
          <p:cNvPr id="89" name="Shape 87"/>
          <p:cNvSpPr/>
          <p:nvPr/>
        </p:nvSpPr>
        <p:spPr>
          <a:xfrm>
            <a:off x="4206240" y="2587752"/>
            <a:ext cx="731520" cy="384048"/>
          </a:xfrm>
          <a:prstGeom prst="rect">
            <a:avLst/>
          </a:prstGeom>
          <a:solidFill>
            <a:srgbClr val="F1F4F9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4261104" y="2587752"/>
            <a:ext cx="621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  <p:sp>
        <p:nvSpPr>
          <p:cNvPr id="91" name="Shape 89"/>
          <p:cNvSpPr/>
          <p:nvPr/>
        </p:nvSpPr>
        <p:spPr>
          <a:xfrm>
            <a:off x="4937760" y="2587752"/>
            <a:ext cx="731520" cy="384048"/>
          </a:xfrm>
          <a:prstGeom prst="rect">
            <a:avLst/>
          </a:prstGeom>
          <a:solidFill>
            <a:srgbClr val="F1F4F9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4992624" y="2587752"/>
            <a:ext cx="621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50" dirty="0"/>
          </a:p>
        </p:txBody>
      </p:sp>
      <p:sp>
        <p:nvSpPr>
          <p:cNvPr id="93" name="Shape 91"/>
          <p:cNvSpPr/>
          <p:nvPr/>
        </p:nvSpPr>
        <p:spPr>
          <a:xfrm>
            <a:off x="5669280" y="2587752"/>
            <a:ext cx="502920" cy="384048"/>
          </a:xfrm>
          <a:prstGeom prst="rect">
            <a:avLst/>
          </a:prstGeom>
          <a:solidFill>
            <a:srgbClr val="F1F4F9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5724144" y="2587752"/>
            <a:ext cx="393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  <p:sp>
        <p:nvSpPr>
          <p:cNvPr id="95" name="Shape 93"/>
          <p:cNvSpPr/>
          <p:nvPr/>
        </p:nvSpPr>
        <p:spPr>
          <a:xfrm>
            <a:off x="6172200" y="2587752"/>
            <a:ext cx="5577840" cy="384048"/>
          </a:xfrm>
          <a:prstGeom prst="rect">
            <a:avLst/>
          </a:prstGeom>
          <a:solidFill>
            <a:srgbClr val="F1F4F9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6281928" y="2688336"/>
            <a:ext cx="487126" cy="182880"/>
          </a:xfrm>
          <a:prstGeom prst="rect">
            <a:avLst/>
          </a:prstGeom>
          <a:solidFill>
            <a:srgbClr val="16A3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6769054" y="2688336"/>
            <a:ext cx="1217815" cy="182880"/>
          </a:xfrm>
          <a:prstGeom prst="rect">
            <a:avLst/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7986868" y="2688336"/>
            <a:ext cx="974252" cy="182880"/>
          </a:xfrm>
          <a:prstGeom prst="rect">
            <a:avLst/>
          </a:prstGeom>
          <a:solidFill>
            <a:srgbClr val="4F46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8961120" y="2688336"/>
            <a:ext cx="2679192" cy="182880"/>
          </a:xfrm>
          <a:prstGeom prst="rect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457200" y="2971800"/>
            <a:ext cx="2011680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512064" y="2971800"/>
            <a:ext cx="1901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Wealth Visibility</a:t>
            </a:r>
            <a:endParaRPr lang="en-US" sz="900" dirty="0"/>
          </a:p>
        </p:txBody>
      </p:sp>
      <p:sp>
        <p:nvSpPr>
          <p:cNvPr id="102" name="Shape 100"/>
          <p:cNvSpPr/>
          <p:nvPr/>
        </p:nvSpPr>
        <p:spPr>
          <a:xfrm>
            <a:off x="2468880" y="2971800"/>
            <a:ext cx="502920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2523744" y="2971800"/>
            <a:ext cx="393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  <p:sp>
        <p:nvSpPr>
          <p:cNvPr id="104" name="Shape 102"/>
          <p:cNvSpPr/>
          <p:nvPr/>
        </p:nvSpPr>
        <p:spPr>
          <a:xfrm>
            <a:off x="2971800" y="2971800"/>
            <a:ext cx="457200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3026664" y="2971800"/>
            <a:ext cx="347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  <p:sp>
        <p:nvSpPr>
          <p:cNvPr id="106" name="Shape 104"/>
          <p:cNvSpPr/>
          <p:nvPr/>
        </p:nvSpPr>
        <p:spPr>
          <a:xfrm>
            <a:off x="3429000" y="2971800"/>
            <a:ext cx="777240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3483864" y="2971800"/>
            <a:ext cx="667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  <p:sp>
        <p:nvSpPr>
          <p:cNvPr id="108" name="Shape 106"/>
          <p:cNvSpPr/>
          <p:nvPr/>
        </p:nvSpPr>
        <p:spPr>
          <a:xfrm>
            <a:off x="4206240" y="2971800"/>
            <a:ext cx="731520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4261104" y="2971800"/>
            <a:ext cx="621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  <p:sp>
        <p:nvSpPr>
          <p:cNvPr id="110" name="Shape 108"/>
          <p:cNvSpPr/>
          <p:nvPr/>
        </p:nvSpPr>
        <p:spPr>
          <a:xfrm>
            <a:off x="4937760" y="2971800"/>
            <a:ext cx="731520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4992624" y="2971800"/>
            <a:ext cx="621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950" dirty="0"/>
          </a:p>
        </p:txBody>
      </p:sp>
      <p:sp>
        <p:nvSpPr>
          <p:cNvPr id="112" name="Shape 110"/>
          <p:cNvSpPr/>
          <p:nvPr/>
        </p:nvSpPr>
        <p:spPr>
          <a:xfrm>
            <a:off x="5669280" y="2971800"/>
            <a:ext cx="502920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5724144" y="2971800"/>
            <a:ext cx="393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  <p:sp>
        <p:nvSpPr>
          <p:cNvPr id="114" name="Shape 112"/>
          <p:cNvSpPr/>
          <p:nvPr/>
        </p:nvSpPr>
        <p:spPr>
          <a:xfrm>
            <a:off x="6172200" y="2971800"/>
            <a:ext cx="5577840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6281928" y="3072384"/>
            <a:ext cx="1071677" cy="182880"/>
          </a:xfrm>
          <a:prstGeom prst="rect">
            <a:avLst/>
          </a:prstGeom>
          <a:solidFill>
            <a:srgbClr val="16A3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7353605" y="3072384"/>
            <a:ext cx="4286707" cy="182880"/>
          </a:xfrm>
          <a:prstGeom prst="rect">
            <a:avLst/>
          </a:prstGeom>
          <a:solidFill>
            <a:srgbClr val="4F46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457200" y="3355848"/>
            <a:ext cx="2011680" cy="384048"/>
          </a:xfrm>
          <a:prstGeom prst="rect">
            <a:avLst/>
          </a:prstGeom>
          <a:solidFill>
            <a:srgbClr val="F1F4F9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512064" y="3355848"/>
            <a:ext cx="1901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Mutual Funds</a:t>
            </a:r>
            <a:endParaRPr lang="en-US" sz="900" dirty="0"/>
          </a:p>
        </p:txBody>
      </p:sp>
      <p:sp>
        <p:nvSpPr>
          <p:cNvPr id="119" name="Shape 117"/>
          <p:cNvSpPr/>
          <p:nvPr/>
        </p:nvSpPr>
        <p:spPr>
          <a:xfrm>
            <a:off x="2468880" y="3355848"/>
            <a:ext cx="502920" cy="384048"/>
          </a:xfrm>
          <a:prstGeom prst="rect">
            <a:avLst/>
          </a:prstGeom>
          <a:solidFill>
            <a:srgbClr val="F1F4F9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2523744" y="3355848"/>
            <a:ext cx="393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50" dirty="0"/>
          </a:p>
        </p:txBody>
      </p:sp>
      <p:sp>
        <p:nvSpPr>
          <p:cNvPr id="121" name="Shape 119"/>
          <p:cNvSpPr/>
          <p:nvPr/>
        </p:nvSpPr>
        <p:spPr>
          <a:xfrm>
            <a:off x="2971800" y="3355848"/>
            <a:ext cx="457200" cy="384048"/>
          </a:xfrm>
          <a:prstGeom prst="rect">
            <a:avLst/>
          </a:prstGeom>
          <a:solidFill>
            <a:srgbClr val="F1F4F9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3026664" y="3355848"/>
            <a:ext cx="347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  <p:sp>
        <p:nvSpPr>
          <p:cNvPr id="123" name="Shape 121"/>
          <p:cNvSpPr/>
          <p:nvPr/>
        </p:nvSpPr>
        <p:spPr>
          <a:xfrm>
            <a:off x="3429000" y="3355848"/>
            <a:ext cx="777240" cy="384048"/>
          </a:xfrm>
          <a:prstGeom prst="rect">
            <a:avLst/>
          </a:prstGeom>
          <a:solidFill>
            <a:srgbClr val="F1F4F9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3483864" y="3355848"/>
            <a:ext cx="667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  <p:sp>
        <p:nvSpPr>
          <p:cNvPr id="125" name="Shape 123"/>
          <p:cNvSpPr/>
          <p:nvPr/>
        </p:nvSpPr>
        <p:spPr>
          <a:xfrm>
            <a:off x="4206240" y="3355848"/>
            <a:ext cx="731520" cy="384048"/>
          </a:xfrm>
          <a:prstGeom prst="rect">
            <a:avLst/>
          </a:prstGeom>
          <a:solidFill>
            <a:srgbClr val="F1F4F9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4261104" y="3355848"/>
            <a:ext cx="621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50" dirty="0"/>
          </a:p>
        </p:txBody>
      </p:sp>
      <p:sp>
        <p:nvSpPr>
          <p:cNvPr id="127" name="Shape 125"/>
          <p:cNvSpPr/>
          <p:nvPr/>
        </p:nvSpPr>
        <p:spPr>
          <a:xfrm>
            <a:off x="4937760" y="3355848"/>
            <a:ext cx="731520" cy="384048"/>
          </a:xfrm>
          <a:prstGeom prst="rect">
            <a:avLst/>
          </a:prstGeom>
          <a:solidFill>
            <a:srgbClr val="F1F4F9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28" name="Text 126"/>
          <p:cNvSpPr/>
          <p:nvPr/>
        </p:nvSpPr>
        <p:spPr>
          <a:xfrm>
            <a:off x="4992624" y="3355848"/>
            <a:ext cx="621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  <p:sp>
        <p:nvSpPr>
          <p:cNvPr id="129" name="Shape 127"/>
          <p:cNvSpPr/>
          <p:nvPr/>
        </p:nvSpPr>
        <p:spPr>
          <a:xfrm>
            <a:off x="5669280" y="3355848"/>
            <a:ext cx="502920" cy="384048"/>
          </a:xfrm>
          <a:prstGeom prst="rect">
            <a:avLst/>
          </a:prstGeom>
          <a:solidFill>
            <a:srgbClr val="F1F4F9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30" name="Text 128"/>
          <p:cNvSpPr/>
          <p:nvPr/>
        </p:nvSpPr>
        <p:spPr>
          <a:xfrm>
            <a:off x="5724144" y="3355848"/>
            <a:ext cx="393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  <p:sp>
        <p:nvSpPr>
          <p:cNvPr id="131" name="Shape 129"/>
          <p:cNvSpPr/>
          <p:nvPr/>
        </p:nvSpPr>
        <p:spPr>
          <a:xfrm>
            <a:off x="6172200" y="3355848"/>
            <a:ext cx="5577840" cy="384048"/>
          </a:xfrm>
          <a:prstGeom prst="rect">
            <a:avLst/>
          </a:prstGeom>
          <a:solidFill>
            <a:srgbClr val="F1F4F9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6281928" y="3456432"/>
            <a:ext cx="487126" cy="182880"/>
          </a:xfrm>
          <a:prstGeom prst="rect">
            <a:avLst/>
          </a:prstGeom>
          <a:solidFill>
            <a:srgbClr val="16A3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6769054" y="3456432"/>
            <a:ext cx="1461377" cy="182880"/>
          </a:xfrm>
          <a:prstGeom prst="rect">
            <a:avLst/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8230431" y="3456432"/>
            <a:ext cx="2922755" cy="182880"/>
          </a:xfrm>
          <a:prstGeom prst="rect">
            <a:avLst/>
          </a:prstGeom>
          <a:solidFill>
            <a:srgbClr val="4F46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11153186" y="3456432"/>
            <a:ext cx="487126" cy="182880"/>
          </a:xfrm>
          <a:prstGeom prst="rect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457200" y="3739896"/>
            <a:ext cx="2011680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37" name="Text 135"/>
          <p:cNvSpPr/>
          <p:nvPr/>
        </p:nvSpPr>
        <p:spPr>
          <a:xfrm>
            <a:off x="512064" y="3739896"/>
            <a:ext cx="1901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 Advisory</a:t>
            </a:r>
            <a:endParaRPr lang="en-US" sz="900" dirty="0"/>
          </a:p>
        </p:txBody>
      </p:sp>
      <p:sp>
        <p:nvSpPr>
          <p:cNvPr id="138" name="Shape 136"/>
          <p:cNvSpPr/>
          <p:nvPr/>
        </p:nvSpPr>
        <p:spPr>
          <a:xfrm>
            <a:off x="2468880" y="3739896"/>
            <a:ext cx="502920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39" name="Text 137"/>
          <p:cNvSpPr/>
          <p:nvPr/>
        </p:nvSpPr>
        <p:spPr>
          <a:xfrm>
            <a:off x="2523744" y="3739896"/>
            <a:ext cx="393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  <p:sp>
        <p:nvSpPr>
          <p:cNvPr id="140" name="Shape 138"/>
          <p:cNvSpPr/>
          <p:nvPr/>
        </p:nvSpPr>
        <p:spPr>
          <a:xfrm>
            <a:off x="2971800" y="3739896"/>
            <a:ext cx="457200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41" name="Text 139"/>
          <p:cNvSpPr/>
          <p:nvPr/>
        </p:nvSpPr>
        <p:spPr>
          <a:xfrm>
            <a:off x="3026664" y="3739896"/>
            <a:ext cx="347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  <p:sp>
        <p:nvSpPr>
          <p:cNvPr id="142" name="Shape 140"/>
          <p:cNvSpPr/>
          <p:nvPr/>
        </p:nvSpPr>
        <p:spPr>
          <a:xfrm>
            <a:off x="3429000" y="3739896"/>
            <a:ext cx="777240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43" name="Text 141"/>
          <p:cNvSpPr/>
          <p:nvPr/>
        </p:nvSpPr>
        <p:spPr>
          <a:xfrm>
            <a:off x="3483864" y="3739896"/>
            <a:ext cx="667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  <p:sp>
        <p:nvSpPr>
          <p:cNvPr id="144" name="Shape 142"/>
          <p:cNvSpPr/>
          <p:nvPr/>
        </p:nvSpPr>
        <p:spPr>
          <a:xfrm>
            <a:off x="4206240" y="3739896"/>
            <a:ext cx="731520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45" name="Text 143"/>
          <p:cNvSpPr/>
          <p:nvPr/>
        </p:nvSpPr>
        <p:spPr>
          <a:xfrm>
            <a:off x="4261104" y="3739896"/>
            <a:ext cx="621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950" dirty="0"/>
          </a:p>
        </p:txBody>
      </p:sp>
      <p:sp>
        <p:nvSpPr>
          <p:cNvPr id="146" name="Shape 144"/>
          <p:cNvSpPr/>
          <p:nvPr/>
        </p:nvSpPr>
        <p:spPr>
          <a:xfrm>
            <a:off x="4937760" y="3739896"/>
            <a:ext cx="731520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47" name="Text 145"/>
          <p:cNvSpPr/>
          <p:nvPr/>
        </p:nvSpPr>
        <p:spPr>
          <a:xfrm>
            <a:off x="4992624" y="3739896"/>
            <a:ext cx="621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  <p:sp>
        <p:nvSpPr>
          <p:cNvPr id="148" name="Shape 146"/>
          <p:cNvSpPr/>
          <p:nvPr/>
        </p:nvSpPr>
        <p:spPr>
          <a:xfrm>
            <a:off x="5669280" y="3739896"/>
            <a:ext cx="502920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49" name="Text 147"/>
          <p:cNvSpPr/>
          <p:nvPr/>
        </p:nvSpPr>
        <p:spPr>
          <a:xfrm>
            <a:off x="5724144" y="3739896"/>
            <a:ext cx="393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  <p:sp>
        <p:nvSpPr>
          <p:cNvPr id="150" name="Shape 148"/>
          <p:cNvSpPr/>
          <p:nvPr/>
        </p:nvSpPr>
        <p:spPr>
          <a:xfrm>
            <a:off x="6172200" y="3739896"/>
            <a:ext cx="5577840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6281928" y="3840480"/>
            <a:ext cx="1339596" cy="182880"/>
          </a:xfrm>
          <a:prstGeom prst="rect">
            <a:avLst/>
          </a:prstGeom>
          <a:solidFill>
            <a:srgbClr val="16A3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7621524" y="3840480"/>
            <a:ext cx="2679192" cy="182880"/>
          </a:xfrm>
          <a:prstGeom prst="rect">
            <a:avLst/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10300716" y="3840480"/>
            <a:ext cx="1339596" cy="182880"/>
          </a:xfrm>
          <a:prstGeom prst="rect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457200" y="4123944"/>
            <a:ext cx="2011680" cy="384048"/>
          </a:xfrm>
          <a:prstGeom prst="rect">
            <a:avLst/>
          </a:prstGeom>
          <a:solidFill>
            <a:srgbClr val="F1F4F9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55" name="Text 153"/>
          <p:cNvSpPr/>
          <p:nvPr/>
        </p:nvSpPr>
        <p:spPr>
          <a:xfrm>
            <a:off x="512064" y="4123944"/>
            <a:ext cx="1901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IPOs</a:t>
            </a:r>
            <a:endParaRPr lang="en-US" sz="900" dirty="0"/>
          </a:p>
        </p:txBody>
      </p:sp>
      <p:sp>
        <p:nvSpPr>
          <p:cNvPr id="156" name="Shape 154"/>
          <p:cNvSpPr/>
          <p:nvPr/>
        </p:nvSpPr>
        <p:spPr>
          <a:xfrm>
            <a:off x="2468880" y="4123944"/>
            <a:ext cx="502920" cy="384048"/>
          </a:xfrm>
          <a:prstGeom prst="rect">
            <a:avLst/>
          </a:prstGeom>
          <a:solidFill>
            <a:srgbClr val="F1F4F9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57" name="Text 155"/>
          <p:cNvSpPr/>
          <p:nvPr/>
        </p:nvSpPr>
        <p:spPr>
          <a:xfrm>
            <a:off x="2523744" y="4123944"/>
            <a:ext cx="393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50" dirty="0"/>
          </a:p>
        </p:txBody>
      </p:sp>
      <p:sp>
        <p:nvSpPr>
          <p:cNvPr id="158" name="Shape 156"/>
          <p:cNvSpPr/>
          <p:nvPr/>
        </p:nvSpPr>
        <p:spPr>
          <a:xfrm>
            <a:off x="2971800" y="4123944"/>
            <a:ext cx="457200" cy="384048"/>
          </a:xfrm>
          <a:prstGeom prst="rect">
            <a:avLst/>
          </a:prstGeom>
          <a:solidFill>
            <a:srgbClr val="F1F4F9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59" name="Text 157"/>
          <p:cNvSpPr/>
          <p:nvPr/>
        </p:nvSpPr>
        <p:spPr>
          <a:xfrm>
            <a:off x="3026664" y="4123944"/>
            <a:ext cx="347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  <p:sp>
        <p:nvSpPr>
          <p:cNvPr id="160" name="Shape 158"/>
          <p:cNvSpPr/>
          <p:nvPr/>
        </p:nvSpPr>
        <p:spPr>
          <a:xfrm>
            <a:off x="3429000" y="4123944"/>
            <a:ext cx="777240" cy="384048"/>
          </a:xfrm>
          <a:prstGeom prst="rect">
            <a:avLst/>
          </a:prstGeom>
          <a:solidFill>
            <a:srgbClr val="F1F4F9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61" name="Text 159"/>
          <p:cNvSpPr/>
          <p:nvPr/>
        </p:nvSpPr>
        <p:spPr>
          <a:xfrm>
            <a:off x="3483864" y="4123944"/>
            <a:ext cx="667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  <p:sp>
        <p:nvSpPr>
          <p:cNvPr id="162" name="Shape 160"/>
          <p:cNvSpPr/>
          <p:nvPr/>
        </p:nvSpPr>
        <p:spPr>
          <a:xfrm>
            <a:off x="4206240" y="4123944"/>
            <a:ext cx="731520" cy="384048"/>
          </a:xfrm>
          <a:prstGeom prst="rect">
            <a:avLst/>
          </a:prstGeom>
          <a:solidFill>
            <a:srgbClr val="F1F4F9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63" name="Text 161"/>
          <p:cNvSpPr/>
          <p:nvPr/>
        </p:nvSpPr>
        <p:spPr>
          <a:xfrm>
            <a:off x="4261104" y="4123944"/>
            <a:ext cx="621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  <p:sp>
        <p:nvSpPr>
          <p:cNvPr id="164" name="Shape 162"/>
          <p:cNvSpPr/>
          <p:nvPr/>
        </p:nvSpPr>
        <p:spPr>
          <a:xfrm>
            <a:off x="4937760" y="4123944"/>
            <a:ext cx="731520" cy="384048"/>
          </a:xfrm>
          <a:prstGeom prst="rect">
            <a:avLst/>
          </a:prstGeom>
          <a:solidFill>
            <a:srgbClr val="F1F4F9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65" name="Text 163"/>
          <p:cNvSpPr/>
          <p:nvPr/>
        </p:nvSpPr>
        <p:spPr>
          <a:xfrm>
            <a:off x="4992624" y="4123944"/>
            <a:ext cx="621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  <p:sp>
        <p:nvSpPr>
          <p:cNvPr id="166" name="Shape 164"/>
          <p:cNvSpPr/>
          <p:nvPr/>
        </p:nvSpPr>
        <p:spPr>
          <a:xfrm>
            <a:off x="5669280" y="4123944"/>
            <a:ext cx="502920" cy="384048"/>
          </a:xfrm>
          <a:prstGeom prst="rect">
            <a:avLst/>
          </a:prstGeom>
          <a:solidFill>
            <a:srgbClr val="F1F4F9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67" name="Text 165"/>
          <p:cNvSpPr/>
          <p:nvPr/>
        </p:nvSpPr>
        <p:spPr>
          <a:xfrm>
            <a:off x="5724144" y="4123944"/>
            <a:ext cx="393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  <p:sp>
        <p:nvSpPr>
          <p:cNvPr id="168" name="Shape 166"/>
          <p:cNvSpPr/>
          <p:nvPr/>
        </p:nvSpPr>
        <p:spPr>
          <a:xfrm>
            <a:off x="6172200" y="4123944"/>
            <a:ext cx="5577840" cy="384048"/>
          </a:xfrm>
          <a:prstGeom prst="rect">
            <a:avLst/>
          </a:prstGeom>
          <a:solidFill>
            <a:srgbClr val="F1F4F9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6281928" y="4224528"/>
            <a:ext cx="1530967" cy="182880"/>
          </a:xfrm>
          <a:prstGeom prst="rect">
            <a:avLst/>
          </a:prstGeom>
          <a:solidFill>
            <a:srgbClr val="16A3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7812895" y="4224528"/>
            <a:ext cx="765483" cy="182880"/>
          </a:xfrm>
          <a:prstGeom prst="rect">
            <a:avLst/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8578378" y="4224528"/>
            <a:ext cx="2296450" cy="182880"/>
          </a:xfrm>
          <a:prstGeom prst="rect">
            <a:avLst/>
          </a:prstGeom>
          <a:solidFill>
            <a:srgbClr val="4F46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10874829" y="4224528"/>
            <a:ext cx="765483" cy="182880"/>
          </a:xfrm>
          <a:prstGeom prst="rect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11640312" y="4224528"/>
            <a:ext cx="0" cy="182880"/>
          </a:xfrm>
          <a:prstGeom prst="rect">
            <a:avLst/>
          </a:prstGeom>
          <a:solidFill>
            <a:srgbClr val="CBD5E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457200" y="4507992"/>
            <a:ext cx="2011680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75" name="Text 173"/>
          <p:cNvSpPr/>
          <p:nvPr/>
        </p:nvSpPr>
        <p:spPr>
          <a:xfrm>
            <a:off x="512064" y="4507992"/>
            <a:ext cx="1901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Actions</a:t>
            </a:r>
            <a:endParaRPr lang="en-US" sz="900" dirty="0"/>
          </a:p>
        </p:txBody>
      </p:sp>
      <p:sp>
        <p:nvSpPr>
          <p:cNvPr id="176" name="Shape 174"/>
          <p:cNvSpPr/>
          <p:nvPr/>
        </p:nvSpPr>
        <p:spPr>
          <a:xfrm>
            <a:off x="2468880" y="4507992"/>
            <a:ext cx="502920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77" name="Text 175"/>
          <p:cNvSpPr/>
          <p:nvPr/>
        </p:nvSpPr>
        <p:spPr>
          <a:xfrm>
            <a:off x="2523744" y="4507992"/>
            <a:ext cx="393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  <p:sp>
        <p:nvSpPr>
          <p:cNvPr id="178" name="Shape 176"/>
          <p:cNvSpPr/>
          <p:nvPr/>
        </p:nvSpPr>
        <p:spPr>
          <a:xfrm>
            <a:off x="2971800" y="4507992"/>
            <a:ext cx="457200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79" name="Text 177"/>
          <p:cNvSpPr/>
          <p:nvPr/>
        </p:nvSpPr>
        <p:spPr>
          <a:xfrm>
            <a:off x="3026664" y="4507992"/>
            <a:ext cx="347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950" dirty="0"/>
          </a:p>
        </p:txBody>
      </p:sp>
      <p:sp>
        <p:nvSpPr>
          <p:cNvPr id="180" name="Shape 178"/>
          <p:cNvSpPr/>
          <p:nvPr/>
        </p:nvSpPr>
        <p:spPr>
          <a:xfrm>
            <a:off x="3429000" y="4507992"/>
            <a:ext cx="777240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81" name="Text 179"/>
          <p:cNvSpPr/>
          <p:nvPr/>
        </p:nvSpPr>
        <p:spPr>
          <a:xfrm>
            <a:off x="3483864" y="4507992"/>
            <a:ext cx="667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  <p:sp>
        <p:nvSpPr>
          <p:cNvPr id="182" name="Shape 180"/>
          <p:cNvSpPr/>
          <p:nvPr/>
        </p:nvSpPr>
        <p:spPr>
          <a:xfrm>
            <a:off x="4206240" y="4507992"/>
            <a:ext cx="731520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83" name="Text 181"/>
          <p:cNvSpPr/>
          <p:nvPr/>
        </p:nvSpPr>
        <p:spPr>
          <a:xfrm>
            <a:off x="4261104" y="4507992"/>
            <a:ext cx="621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  <p:sp>
        <p:nvSpPr>
          <p:cNvPr id="184" name="Shape 182"/>
          <p:cNvSpPr/>
          <p:nvPr/>
        </p:nvSpPr>
        <p:spPr>
          <a:xfrm>
            <a:off x="4937760" y="4507992"/>
            <a:ext cx="731520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85" name="Text 183"/>
          <p:cNvSpPr/>
          <p:nvPr/>
        </p:nvSpPr>
        <p:spPr>
          <a:xfrm>
            <a:off x="4992624" y="4507992"/>
            <a:ext cx="621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  <p:sp>
        <p:nvSpPr>
          <p:cNvPr id="186" name="Shape 184"/>
          <p:cNvSpPr/>
          <p:nvPr/>
        </p:nvSpPr>
        <p:spPr>
          <a:xfrm>
            <a:off x="5669280" y="4507992"/>
            <a:ext cx="502920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87" name="Text 185"/>
          <p:cNvSpPr/>
          <p:nvPr/>
        </p:nvSpPr>
        <p:spPr>
          <a:xfrm>
            <a:off x="5724144" y="4507992"/>
            <a:ext cx="393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  <p:sp>
        <p:nvSpPr>
          <p:cNvPr id="188" name="Shape 186"/>
          <p:cNvSpPr/>
          <p:nvPr/>
        </p:nvSpPr>
        <p:spPr>
          <a:xfrm>
            <a:off x="6172200" y="4507992"/>
            <a:ext cx="5577840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>
            <a:off x="6281928" y="4608576"/>
            <a:ext cx="1339596" cy="182880"/>
          </a:xfrm>
          <a:prstGeom prst="rect">
            <a:avLst/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0" name="Shape 188"/>
          <p:cNvSpPr/>
          <p:nvPr/>
        </p:nvSpPr>
        <p:spPr>
          <a:xfrm>
            <a:off x="7621524" y="4608576"/>
            <a:ext cx="2679192" cy="182880"/>
          </a:xfrm>
          <a:prstGeom prst="rect">
            <a:avLst/>
          </a:prstGeom>
          <a:solidFill>
            <a:srgbClr val="4F46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1" name="Shape 189"/>
          <p:cNvSpPr/>
          <p:nvPr/>
        </p:nvSpPr>
        <p:spPr>
          <a:xfrm>
            <a:off x="10300716" y="4608576"/>
            <a:ext cx="1339596" cy="182880"/>
          </a:xfrm>
          <a:prstGeom prst="rect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2" name="Shape 190"/>
          <p:cNvSpPr/>
          <p:nvPr/>
        </p:nvSpPr>
        <p:spPr>
          <a:xfrm>
            <a:off x="457200" y="4892040"/>
            <a:ext cx="2011680" cy="384048"/>
          </a:xfrm>
          <a:prstGeom prst="rect">
            <a:avLst/>
          </a:prstGeom>
          <a:solidFill>
            <a:srgbClr val="F1F4F9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93" name="Text 191"/>
          <p:cNvSpPr/>
          <p:nvPr/>
        </p:nvSpPr>
        <p:spPr>
          <a:xfrm>
            <a:off x="512064" y="4892040"/>
            <a:ext cx="1901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Engagement</a:t>
            </a:r>
            <a:endParaRPr lang="en-US" sz="900" dirty="0"/>
          </a:p>
        </p:txBody>
      </p:sp>
      <p:sp>
        <p:nvSpPr>
          <p:cNvPr id="194" name="Shape 192"/>
          <p:cNvSpPr/>
          <p:nvPr/>
        </p:nvSpPr>
        <p:spPr>
          <a:xfrm>
            <a:off x="2468880" y="4892040"/>
            <a:ext cx="502920" cy="384048"/>
          </a:xfrm>
          <a:prstGeom prst="rect">
            <a:avLst/>
          </a:prstGeom>
          <a:solidFill>
            <a:srgbClr val="F1F4F9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95" name="Text 193"/>
          <p:cNvSpPr/>
          <p:nvPr/>
        </p:nvSpPr>
        <p:spPr>
          <a:xfrm>
            <a:off x="2523744" y="4892040"/>
            <a:ext cx="393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50" dirty="0"/>
          </a:p>
        </p:txBody>
      </p:sp>
      <p:sp>
        <p:nvSpPr>
          <p:cNvPr id="196" name="Shape 194"/>
          <p:cNvSpPr/>
          <p:nvPr/>
        </p:nvSpPr>
        <p:spPr>
          <a:xfrm>
            <a:off x="2971800" y="4892040"/>
            <a:ext cx="457200" cy="384048"/>
          </a:xfrm>
          <a:prstGeom prst="rect">
            <a:avLst/>
          </a:prstGeom>
          <a:solidFill>
            <a:srgbClr val="F1F4F9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97" name="Text 195"/>
          <p:cNvSpPr/>
          <p:nvPr/>
        </p:nvSpPr>
        <p:spPr>
          <a:xfrm>
            <a:off x="3026664" y="4892040"/>
            <a:ext cx="347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  <p:sp>
        <p:nvSpPr>
          <p:cNvPr id="198" name="Shape 196"/>
          <p:cNvSpPr/>
          <p:nvPr/>
        </p:nvSpPr>
        <p:spPr>
          <a:xfrm>
            <a:off x="3429000" y="4892040"/>
            <a:ext cx="777240" cy="384048"/>
          </a:xfrm>
          <a:prstGeom prst="rect">
            <a:avLst/>
          </a:prstGeom>
          <a:solidFill>
            <a:srgbClr val="F1F4F9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99" name="Text 197"/>
          <p:cNvSpPr/>
          <p:nvPr/>
        </p:nvSpPr>
        <p:spPr>
          <a:xfrm>
            <a:off x="3483864" y="4892040"/>
            <a:ext cx="667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  <p:sp>
        <p:nvSpPr>
          <p:cNvPr id="200" name="Shape 198"/>
          <p:cNvSpPr/>
          <p:nvPr/>
        </p:nvSpPr>
        <p:spPr>
          <a:xfrm>
            <a:off x="4206240" y="4892040"/>
            <a:ext cx="731520" cy="384048"/>
          </a:xfrm>
          <a:prstGeom prst="rect">
            <a:avLst/>
          </a:prstGeom>
          <a:solidFill>
            <a:srgbClr val="F1F4F9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201" name="Text 199"/>
          <p:cNvSpPr/>
          <p:nvPr/>
        </p:nvSpPr>
        <p:spPr>
          <a:xfrm>
            <a:off x="4261104" y="4892040"/>
            <a:ext cx="621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50" dirty="0"/>
          </a:p>
        </p:txBody>
      </p:sp>
      <p:sp>
        <p:nvSpPr>
          <p:cNvPr id="202" name="Shape 200"/>
          <p:cNvSpPr/>
          <p:nvPr/>
        </p:nvSpPr>
        <p:spPr>
          <a:xfrm>
            <a:off x="4937760" y="4892040"/>
            <a:ext cx="731520" cy="384048"/>
          </a:xfrm>
          <a:prstGeom prst="rect">
            <a:avLst/>
          </a:prstGeom>
          <a:solidFill>
            <a:srgbClr val="F1F4F9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203" name="Text 201"/>
          <p:cNvSpPr/>
          <p:nvPr/>
        </p:nvSpPr>
        <p:spPr>
          <a:xfrm>
            <a:off x="4992624" y="4892040"/>
            <a:ext cx="621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  <p:sp>
        <p:nvSpPr>
          <p:cNvPr id="204" name="Shape 202"/>
          <p:cNvSpPr/>
          <p:nvPr/>
        </p:nvSpPr>
        <p:spPr>
          <a:xfrm>
            <a:off x="5669280" y="4892040"/>
            <a:ext cx="502920" cy="384048"/>
          </a:xfrm>
          <a:prstGeom prst="rect">
            <a:avLst/>
          </a:prstGeom>
          <a:solidFill>
            <a:srgbClr val="F1F4F9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205" name="Text 203"/>
          <p:cNvSpPr/>
          <p:nvPr/>
        </p:nvSpPr>
        <p:spPr>
          <a:xfrm>
            <a:off x="5724144" y="4892040"/>
            <a:ext cx="393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  <p:sp>
        <p:nvSpPr>
          <p:cNvPr id="206" name="Shape 204"/>
          <p:cNvSpPr/>
          <p:nvPr/>
        </p:nvSpPr>
        <p:spPr>
          <a:xfrm>
            <a:off x="6172200" y="4892040"/>
            <a:ext cx="5577840" cy="384048"/>
          </a:xfrm>
          <a:prstGeom prst="rect">
            <a:avLst/>
          </a:prstGeom>
          <a:solidFill>
            <a:srgbClr val="F1F4F9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207" name="Shape 205"/>
          <p:cNvSpPr/>
          <p:nvPr/>
        </p:nvSpPr>
        <p:spPr>
          <a:xfrm>
            <a:off x="6281928" y="4992624"/>
            <a:ext cx="669798" cy="182880"/>
          </a:xfrm>
          <a:prstGeom prst="rect">
            <a:avLst/>
          </a:prstGeom>
          <a:solidFill>
            <a:srgbClr val="16A3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8" name="Shape 206"/>
          <p:cNvSpPr/>
          <p:nvPr/>
        </p:nvSpPr>
        <p:spPr>
          <a:xfrm>
            <a:off x="6951726" y="4992624"/>
            <a:ext cx="3683889" cy="182880"/>
          </a:xfrm>
          <a:prstGeom prst="rect">
            <a:avLst/>
          </a:prstGeom>
          <a:solidFill>
            <a:srgbClr val="4F46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9" name="Shape 207"/>
          <p:cNvSpPr/>
          <p:nvPr/>
        </p:nvSpPr>
        <p:spPr>
          <a:xfrm>
            <a:off x="10635615" y="4992624"/>
            <a:ext cx="1339596" cy="182880"/>
          </a:xfrm>
          <a:prstGeom prst="rect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0" name="Shape 208"/>
          <p:cNvSpPr/>
          <p:nvPr/>
        </p:nvSpPr>
        <p:spPr>
          <a:xfrm>
            <a:off x="457200" y="5276088"/>
            <a:ext cx="2011680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211" name="Text 209"/>
          <p:cNvSpPr/>
          <p:nvPr/>
        </p:nvSpPr>
        <p:spPr>
          <a:xfrm>
            <a:off x="512064" y="5276088"/>
            <a:ext cx="1901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Cross-Journey</a:t>
            </a:r>
            <a:endParaRPr lang="en-US" sz="900" dirty="0"/>
          </a:p>
        </p:txBody>
      </p:sp>
      <p:sp>
        <p:nvSpPr>
          <p:cNvPr id="212" name="Shape 210"/>
          <p:cNvSpPr/>
          <p:nvPr/>
        </p:nvSpPr>
        <p:spPr>
          <a:xfrm>
            <a:off x="2468880" y="5276088"/>
            <a:ext cx="502920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213" name="Text 211"/>
          <p:cNvSpPr/>
          <p:nvPr/>
        </p:nvSpPr>
        <p:spPr>
          <a:xfrm>
            <a:off x="2523744" y="5276088"/>
            <a:ext cx="393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50" dirty="0"/>
          </a:p>
        </p:txBody>
      </p:sp>
      <p:sp>
        <p:nvSpPr>
          <p:cNvPr id="214" name="Shape 212"/>
          <p:cNvSpPr/>
          <p:nvPr/>
        </p:nvSpPr>
        <p:spPr>
          <a:xfrm>
            <a:off x="2971800" y="5276088"/>
            <a:ext cx="457200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215" name="Text 213"/>
          <p:cNvSpPr/>
          <p:nvPr/>
        </p:nvSpPr>
        <p:spPr>
          <a:xfrm>
            <a:off x="3026664" y="5276088"/>
            <a:ext cx="347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  <p:sp>
        <p:nvSpPr>
          <p:cNvPr id="216" name="Shape 214"/>
          <p:cNvSpPr/>
          <p:nvPr/>
        </p:nvSpPr>
        <p:spPr>
          <a:xfrm>
            <a:off x="3429000" y="5276088"/>
            <a:ext cx="777240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217" name="Text 215"/>
          <p:cNvSpPr/>
          <p:nvPr/>
        </p:nvSpPr>
        <p:spPr>
          <a:xfrm>
            <a:off x="3483864" y="5276088"/>
            <a:ext cx="667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  <p:sp>
        <p:nvSpPr>
          <p:cNvPr id="218" name="Shape 216"/>
          <p:cNvSpPr/>
          <p:nvPr/>
        </p:nvSpPr>
        <p:spPr>
          <a:xfrm>
            <a:off x="4206240" y="5276088"/>
            <a:ext cx="731520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219" name="Text 217"/>
          <p:cNvSpPr/>
          <p:nvPr/>
        </p:nvSpPr>
        <p:spPr>
          <a:xfrm>
            <a:off x="4261104" y="5276088"/>
            <a:ext cx="621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50" dirty="0"/>
          </a:p>
        </p:txBody>
      </p:sp>
      <p:sp>
        <p:nvSpPr>
          <p:cNvPr id="220" name="Shape 218"/>
          <p:cNvSpPr/>
          <p:nvPr/>
        </p:nvSpPr>
        <p:spPr>
          <a:xfrm>
            <a:off x="4937760" y="5276088"/>
            <a:ext cx="731520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221" name="Text 219"/>
          <p:cNvSpPr/>
          <p:nvPr/>
        </p:nvSpPr>
        <p:spPr>
          <a:xfrm>
            <a:off x="4992624" y="5276088"/>
            <a:ext cx="621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50" dirty="0"/>
          </a:p>
        </p:txBody>
      </p:sp>
      <p:sp>
        <p:nvSpPr>
          <p:cNvPr id="222" name="Shape 220"/>
          <p:cNvSpPr/>
          <p:nvPr/>
        </p:nvSpPr>
        <p:spPr>
          <a:xfrm>
            <a:off x="5669280" y="5276088"/>
            <a:ext cx="502920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223" name="Text 221"/>
          <p:cNvSpPr/>
          <p:nvPr/>
        </p:nvSpPr>
        <p:spPr>
          <a:xfrm>
            <a:off x="5724144" y="5276088"/>
            <a:ext cx="393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  <p:sp>
        <p:nvSpPr>
          <p:cNvPr id="224" name="Shape 222"/>
          <p:cNvSpPr/>
          <p:nvPr/>
        </p:nvSpPr>
        <p:spPr>
          <a:xfrm>
            <a:off x="6172200" y="5276088"/>
            <a:ext cx="5577840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225" name="Shape 223"/>
          <p:cNvSpPr/>
          <p:nvPr/>
        </p:nvSpPr>
        <p:spPr>
          <a:xfrm>
            <a:off x="6281928" y="5376672"/>
            <a:ext cx="487126" cy="182880"/>
          </a:xfrm>
          <a:prstGeom prst="rect">
            <a:avLst/>
          </a:prstGeom>
          <a:solidFill>
            <a:srgbClr val="16A3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6" name="Shape 224"/>
          <p:cNvSpPr/>
          <p:nvPr/>
        </p:nvSpPr>
        <p:spPr>
          <a:xfrm>
            <a:off x="6769054" y="5376672"/>
            <a:ext cx="3166318" cy="182880"/>
          </a:xfrm>
          <a:prstGeom prst="rect">
            <a:avLst/>
          </a:prstGeom>
          <a:solidFill>
            <a:srgbClr val="4F46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7" name="Shape 225"/>
          <p:cNvSpPr/>
          <p:nvPr/>
        </p:nvSpPr>
        <p:spPr>
          <a:xfrm>
            <a:off x="9935372" y="5376672"/>
            <a:ext cx="1704940" cy="182880"/>
          </a:xfrm>
          <a:prstGeom prst="rect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8" name="Shape 226"/>
          <p:cNvSpPr/>
          <p:nvPr/>
        </p:nvSpPr>
        <p:spPr>
          <a:xfrm>
            <a:off x="457200" y="5888736"/>
            <a:ext cx="164592" cy="164592"/>
          </a:xfrm>
          <a:prstGeom prst="rect">
            <a:avLst/>
          </a:prstGeom>
          <a:solidFill>
            <a:srgbClr val="16A3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9" name="Text 227"/>
          <p:cNvSpPr/>
          <p:nvPr/>
        </p:nvSpPr>
        <p:spPr>
          <a:xfrm>
            <a:off x="685800" y="584301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850" dirty="0"/>
          </a:p>
        </p:txBody>
      </p:sp>
      <p:sp>
        <p:nvSpPr>
          <p:cNvPr id="230" name="Shape 228"/>
          <p:cNvSpPr/>
          <p:nvPr/>
        </p:nvSpPr>
        <p:spPr>
          <a:xfrm>
            <a:off x="2743200" y="5888736"/>
            <a:ext cx="164592" cy="164592"/>
          </a:xfrm>
          <a:prstGeom prst="rect">
            <a:avLst/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1" name="Text 229"/>
          <p:cNvSpPr/>
          <p:nvPr/>
        </p:nvSpPr>
        <p:spPr>
          <a:xfrm>
            <a:off x="2971800" y="584301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BRD + Figma</a:t>
            </a:r>
            <a:endParaRPr lang="en-US" sz="850" dirty="0"/>
          </a:p>
        </p:txBody>
      </p:sp>
      <p:sp>
        <p:nvSpPr>
          <p:cNvPr id="232" name="Shape 230"/>
          <p:cNvSpPr/>
          <p:nvPr/>
        </p:nvSpPr>
        <p:spPr>
          <a:xfrm>
            <a:off x="5029200" y="5888736"/>
            <a:ext cx="164592" cy="164592"/>
          </a:xfrm>
          <a:prstGeom prst="rect">
            <a:avLst/>
          </a:prstGeom>
          <a:solidFill>
            <a:srgbClr val="4F46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3" name="Text 231"/>
          <p:cNvSpPr/>
          <p:nvPr/>
        </p:nvSpPr>
        <p:spPr>
          <a:xfrm>
            <a:off x="5257800" y="584301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BRD Only</a:t>
            </a:r>
            <a:endParaRPr lang="en-US" sz="850" dirty="0"/>
          </a:p>
        </p:txBody>
      </p:sp>
      <p:sp>
        <p:nvSpPr>
          <p:cNvPr id="234" name="Shape 232"/>
          <p:cNvSpPr/>
          <p:nvPr/>
        </p:nvSpPr>
        <p:spPr>
          <a:xfrm>
            <a:off x="7315200" y="5888736"/>
            <a:ext cx="164592" cy="164592"/>
          </a:xfrm>
          <a:prstGeom prst="rect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5" name="Text 233"/>
          <p:cNvSpPr/>
          <p:nvPr/>
        </p:nvSpPr>
        <p:spPr>
          <a:xfrm>
            <a:off x="7543800" y="584301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Figma Only</a:t>
            </a:r>
            <a:endParaRPr lang="en-US" sz="850" dirty="0"/>
          </a:p>
        </p:txBody>
      </p:sp>
      <p:sp>
        <p:nvSpPr>
          <p:cNvPr id="236" name="Shape 234"/>
          <p:cNvSpPr/>
          <p:nvPr/>
        </p:nvSpPr>
        <p:spPr>
          <a:xfrm>
            <a:off x="457200" y="6537960"/>
            <a:ext cx="1127729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37" name="Text 235"/>
          <p:cNvSpPr/>
          <p:nvPr/>
        </p:nvSpPr>
        <p:spPr>
          <a:xfrm>
            <a:off x="457200" y="660196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  ·  DIGITAL EXPERIENCE  ·  2026-04-22</a:t>
            </a:r>
            <a:endParaRPr lang="en-US" sz="800" dirty="0"/>
          </a:p>
        </p:txBody>
      </p:sp>
      <p:sp>
        <p:nvSpPr>
          <p:cNvPr id="238" name="Text 236"/>
          <p:cNvSpPr/>
          <p:nvPr/>
        </p:nvSpPr>
        <p:spPr>
          <a:xfrm>
            <a:off x="5333695" y="660196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Features Inventory (164 features) · 100+ BRDs + Figma API + Deep Extraction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2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alrajhi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2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508760" y="347472"/>
            <a:ext cx="0" cy="384048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45920" y="2743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POSITION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64592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 Differentiators — 14 Non-Replicable Advantages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362895" y="38404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20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868680"/>
            <a:ext cx="1127729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097280"/>
            <a:ext cx="2651760" cy="731520"/>
          </a:xfrm>
          <a:prstGeom prst="roundRect">
            <a:avLst>
              <a:gd name="adj" fmla="val 10000"/>
            </a:avLst>
          </a:prstGeom>
          <a:solidFill>
            <a:srgbClr val="DCFCE7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A1F4D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48640" y="117043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D-01  Murabaha Margin Lending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48640" y="144475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Sharia-compliant digital margin — no comparable competitor product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3291840" y="1097280"/>
            <a:ext cx="2651760" cy="731520"/>
          </a:xfrm>
          <a:prstGeom prst="roundRect">
            <a:avLst>
              <a:gd name="adj" fmla="val 10000"/>
            </a:avLst>
          </a:prstGeom>
          <a:solidFill>
            <a:srgbClr val="DCFCE7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A1F4D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383280" y="117043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D-02  Purification &amp; Zakat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383280" y="144475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Religious compliance calculators not offered by any competitor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6126480" y="1097280"/>
            <a:ext cx="2651760" cy="731520"/>
          </a:xfrm>
          <a:prstGeom prst="roundRect">
            <a:avLst>
              <a:gd name="adj" fmla="val 10000"/>
            </a:avLst>
          </a:prstGeom>
          <a:solidFill>
            <a:srgbClr val="DCFCE7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A1F4D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217920" y="117043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D-03  Minor Account + Guardian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6217920" y="144475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Granular custodian controls unseen in Saudi retail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8961120" y="1097280"/>
            <a:ext cx="2651760" cy="731520"/>
          </a:xfrm>
          <a:prstGeom prst="roundRect">
            <a:avLst>
              <a:gd name="adj" fmla="val 10000"/>
            </a:avLst>
          </a:prstGeom>
          <a:solidFill>
            <a:srgbClr val="DCFCE7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A1F4D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9052560" y="117043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D-04  Mokafaa + ARG Bundles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9052560" y="144475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Ecosystem-exclusive loyalty architecture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457200" y="1965960"/>
            <a:ext cx="2651760" cy="731520"/>
          </a:xfrm>
          <a:prstGeom prst="roundRect">
            <a:avLst>
              <a:gd name="adj" fmla="val 10000"/>
            </a:avLst>
          </a:prstGeom>
          <a:solidFill>
            <a:srgbClr val="DCFCE7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A1F4D">
                <a:alpha val="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48640" y="203911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D-05  Storyteller (Narrative)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548640" y="231343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quarterly investment narrative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3291840" y="1965960"/>
            <a:ext cx="2651760" cy="731520"/>
          </a:xfrm>
          <a:prstGeom prst="roundRect">
            <a:avLst>
              <a:gd name="adj" fmla="val 10000"/>
            </a:avLst>
          </a:prstGeom>
          <a:solidFill>
            <a:srgbClr val="DCFCE7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A1F4D">
                <a:alpha val="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3383280" y="203911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D-06  Shariah Multi-List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3383280" y="231343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+ ARC-specific Shariah lists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6126480" y="1965960"/>
            <a:ext cx="2651760" cy="731520"/>
          </a:xfrm>
          <a:prstGeom prst="roundRect">
            <a:avLst>
              <a:gd name="adj" fmla="val 10000"/>
            </a:avLst>
          </a:prstGeom>
          <a:solidFill>
            <a:srgbClr val="DCFCE7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A1F4D">
                <a:alpha val="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217920" y="203911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D-07  Peer Portfolio Compare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6217920" y="231343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Anonymized peer P&amp;L benchmarking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8961120" y="1965960"/>
            <a:ext cx="2651760" cy="731520"/>
          </a:xfrm>
          <a:prstGeom prst="roundRect">
            <a:avLst>
              <a:gd name="adj" fmla="val 10000"/>
            </a:avLst>
          </a:prstGeom>
          <a:solidFill>
            <a:srgbClr val="DCFCE7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A1F4D">
                <a:alpha val="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9052560" y="203911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D-08  Portfolio Health Score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9052560" y="231343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quality score not in any benchmark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457200" y="2834640"/>
            <a:ext cx="2651760" cy="731520"/>
          </a:xfrm>
          <a:prstGeom prst="roundRect">
            <a:avLst>
              <a:gd name="adj" fmla="val 10000"/>
            </a:avLst>
          </a:prstGeom>
          <a:solidFill>
            <a:srgbClr val="DCFCE7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A1F4D">
                <a:alpha val="8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548640" y="290779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D-09  SBL Program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548640" y="318211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SBL with Sharia margin integration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3291840" y="2834640"/>
            <a:ext cx="2651760" cy="731520"/>
          </a:xfrm>
          <a:prstGeom prst="roundRect">
            <a:avLst>
              <a:gd name="adj" fmla="val 10000"/>
            </a:avLst>
          </a:prstGeom>
          <a:solidFill>
            <a:srgbClr val="DCFCE7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A1F4D">
                <a:alpha val="8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3383280" y="290779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D-10  Gift Campaigns (UCM)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3383280" y="318211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Date-specific UCM gift campaigns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6126480" y="2834640"/>
            <a:ext cx="2651760" cy="731520"/>
          </a:xfrm>
          <a:prstGeom prst="roundRect">
            <a:avLst>
              <a:gd name="adj" fmla="val 10000"/>
            </a:avLst>
          </a:prstGeom>
          <a:solidFill>
            <a:srgbClr val="DCFCE7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A1F4D">
                <a:alpha val="8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6217920" y="290779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D-11  Tadawulaty SSO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6217920" y="318211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Edaa single sign-on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8961120" y="2834640"/>
            <a:ext cx="2651760" cy="731520"/>
          </a:xfrm>
          <a:prstGeom prst="roundRect">
            <a:avLst>
              <a:gd name="adj" fmla="val 10000"/>
            </a:avLst>
          </a:prstGeom>
          <a:solidFill>
            <a:srgbClr val="DCFCE7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A1F4D">
                <a:alpha val="8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9052560" y="290779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D-12  ZATCA E-Invoices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9052560" y="318211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e-invoices for wallet + purification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457200" y="3931920"/>
            <a:ext cx="11277295" cy="502920"/>
          </a:xfrm>
          <a:prstGeom prst="roundRect">
            <a:avLst>
              <a:gd name="adj" fmla="val 14545"/>
            </a:avLst>
          </a:prstGeom>
          <a:solidFill>
            <a:srgbClr val="DCFCE7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A1F4D">
                <a:alpha val="8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640080" y="3995928"/>
            <a:ext cx="640080" cy="237744"/>
          </a:xfrm>
          <a:prstGeom prst="roundRect">
            <a:avLst>
              <a:gd name="adj" fmla="val 11538"/>
            </a:avLst>
          </a:prstGeom>
          <a:solidFill>
            <a:srgbClr val="DCFCE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40080" y="3995928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MOAT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1463040" y="3959352"/>
            <a:ext cx="10058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ARC's competitive moat is Sharia-first infrastructure + Al Rajhi ecosystem. These 14 differentiators are structurally non-replicable by standalone fintech competitors.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457200" y="6537960"/>
            <a:ext cx="1127729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57200" y="660196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  ·  DIGITAL EXPERIENCE  ·  2026-04-22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5333695" y="660196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Competitor Gap Matrix · 10+ benchmarks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2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alrajhi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2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508760" y="347472"/>
            <a:ext cx="0" cy="384048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45920" y="2743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READINESS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64592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Readiness Matrix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362895" y="38404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20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868680"/>
            <a:ext cx="1127729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828800" y="1188720"/>
            <a:ext cx="2286000" cy="2286000"/>
          </a:xfrm>
          <a:prstGeom prst="rect">
            <a:avLst/>
          </a:prstGeom>
          <a:solidFill>
            <a:srgbClr val="EEF2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28800" y="146304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4F46E5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1828800" y="20574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BRD ONLY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(68 features)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114800" y="1188720"/>
            <a:ext cx="2286000" cy="2286000"/>
          </a:xfrm>
          <a:prstGeom prst="rect">
            <a:avLst/>
          </a:prstGeom>
          <a:solidFill>
            <a:srgbClr val="DCFCE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0" y="146304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16A34A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4200" dirty="0"/>
          </a:p>
        </p:txBody>
      </p:sp>
      <p:sp>
        <p:nvSpPr>
          <p:cNvPr id="14" name="Text 12"/>
          <p:cNvSpPr/>
          <p:nvPr/>
        </p:nvSpPr>
        <p:spPr>
          <a:xfrm>
            <a:off x="4114800" y="20574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BUILD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(44 features)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828800" y="3474720"/>
            <a:ext cx="2286000" cy="2286000"/>
          </a:xfrm>
          <a:prstGeom prst="rect">
            <a:avLst/>
          </a:prstGeom>
          <a:solidFill>
            <a:srgbClr val="F1F4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828800" y="374904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475569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4200" dirty="0"/>
          </a:p>
        </p:txBody>
      </p:sp>
      <p:sp>
        <p:nvSpPr>
          <p:cNvPr id="17" name="Text 15"/>
          <p:cNvSpPr/>
          <p:nvPr/>
        </p:nvSpPr>
        <p:spPr>
          <a:xfrm>
            <a:off x="1828800" y="43434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UNDOCUMENTED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 feature)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114800" y="3474720"/>
            <a:ext cx="2286000" cy="2286000"/>
          </a:xfrm>
          <a:prstGeom prst="rect">
            <a:avLst/>
          </a:prstGeom>
          <a:solidFill>
            <a:srgbClr val="FEE2E2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0" y="374904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DC2626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4200" dirty="0"/>
          </a:p>
        </p:txBody>
      </p:sp>
      <p:sp>
        <p:nvSpPr>
          <p:cNvPr id="20" name="Text 18"/>
          <p:cNvSpPr/>
          <p:nvPr/>
        </p:nvSpPr>
        <p:spPr>
          <a:xfrm>
            <a:off x="4114800" y="43434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FIGMA ONLY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(42 features)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858000" y="1188720"/>
            <a:ext cx="4846320" cy="475488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A1F4D">
                <a:alpha val="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040880" y="1280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Plan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132320" y="1691640"/>
            <a:ext cx="594360" cy="594360"/>
          </a:xfrm>
          <a:prstGeom prst="roundRect">
            <a:avLst>
              <a:gd name="adj" fmla="val 9231"/>
            </a:avLst>
          </a:prstGeom>
          <a:solidFill>
            <a:srgbClr val="16A3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32320" y="16916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7863840" y="170992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Build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863840" y="194767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BRD + Figma confirmed. 24 are live, 20 more can enter sprint planning today.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7132320" y="2743200"/>
            <a:ext cx="594360" cy="594360"/>
          </a:xfrm>
          <a:prstGeom prst="roundRect">
            <a:avLst>
              <a:gd name="adj" fmla="val 9231"/>
            </a:avLst>
          </a:prstGeom>
          <a:solidFill>
            <a:srgbClr val="4F46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132320" y="27432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7863840" y="276148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Backlog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863840" y="299923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BRD approved — design team must create Figma screens. Saudi Trading (19) is the largest backlog.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7132320" y="3794760"/>
            <a:ext cx="594360" cy="594360"/>
          </a:xfrm>
          <a:prstGeom prst="roundRect">
            <a:avLst>
              <a:gd name="adj" fmla="val 9231"/>
            </a:avLst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132320" y="37947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7863840" y="381304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BRD Backlog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863840" y="405079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but no requirements. Squad leads must author BRDs. Portfolio Monitoring (10) is the largest.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7132320" y="4846320"/>
            <a:ext cx="594360" cy="594360"/>
          </a:xfrm>
          <a:prstGeom prst="roundRect">
            <a:avLst>
              <a:gd name="adj" fmla="val 9231"/>
            </a:avLst>
          </a:prstGeom>
          <a:solidFill>
            <a:srgbClr val="D9770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132320" y="48463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7863840" y="486460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Newly Discovered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7863840" y="510235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found in deep extraction not in the original inventory. Must be classified and assigned.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457200" y="6537960"/>
            <a:ext cx="1127729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660196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  ·  DIGITAL EXPERIENCE  ·  2026-04-22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5333695" y="660196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Features Inventory · BRDs + Figma API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2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alrajhi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2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508760" y="347472"/>
            <a:ext cx="0" cy="384048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45920" y="2743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EXTRACTION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64592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Figma Pages Discovered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362895" y="38404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20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868680"/>
            <a:ext cx="1127729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051560"/>
            <a:ext cx="1645920" cy="320040"/>
          </a:xfrm>
          <a:prstGeom prst="rect">
            <a:avLst/>
          </a:prstGeom>
          <a:solidFill>
            <a:srgbClr val="0A1F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12064" y="1051560"/>
            <a:ext cx="15361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103120" y="1051560"/>
            <a:ext cx="1371600" cy="320040"/>
          </a:xfrm>
          <a:prstGeom prst="rect">
            <a:avLst/>
          </a:prstGeom>
          <a:solidFill>
            <a:srgbClr val="0A1F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157984" y="1051560"/>
            <a:ext cx="1261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Page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74720" y="1051560"/>
            <a:ext cx="6766560" cy="320040"/>
          </a:xfrm>
          <a:prstGeom prst="rect">
            <a:avLst/>
          </a:prstGeom>
          <a:solidFill>
            <a:srgbClr val="0A1F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29584" y="1051560"/>
            <a:ext cx="6656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0241280" y="1051560"/>
            <a:ext cx="1463040" cy="320040"/>
          </a:xfrm>
          <a:prstGeom prst="rect">
            <a:avLst/>
          </a:prstGeom>
          <a:solidFill>
            <a:srgbClr val="0A1F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296144" y="1051560"/>
            <a:ext cx="1353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57200" y="1371600"/>
            <a:ext cx="1645920" cy="658368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2064" y="1371600"/>
            <a:ext cx="15361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KYC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103120" y="1371600"/>
            <a:ext cx="1371600" cy="658368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157984" y="1371600"/>
            <a:ext cx="12618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Onboarding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74720" y="1371600"/>
            <a:ext cx="6766560" cy="658368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529584" y="1371600"/>
            <a:ext cx="66568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Streamlined account opening — simplified KYC variant with fewer steps. Could address the 87% onboarding drop-off identified in IA analysis.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10241280" y="1371600"/>
            <a:ext cx="1463040" cy="658368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296144" y="1371600"/>
            <a:ext cx="13533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57200" y="2029968"/>
            <a:ext cx="1645920" cy="658368"/>
          </a:xfrm>
          <a:prstGeom prst="rect">
            <a:avLst/>
          </a:prstGeom>
          <a:solidFill>
            <a:srgbClr val="F1F4F9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2064" y="2029968"/>
            <a:ext cx="15361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KYC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2103120" y="2029968"/>
            <a:ext cx="1371600" cy="658368"/>
          </a:xfrm>
          <a:prstGeom prst="rect">
            <a:avLst/>
          </a:prstGeom>
          <a:solidFill>
            <a:srgbClr val="F1F4F9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157984" y="2029968"/>
            <a:ext cx="12618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 Mode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474720" y="2029968"/>
            <a:ext cx="6766560" cy="658368"/>
          </a:xfrm>
          <a:prstGeom prst="rect">
            <a:avLst/>
          </a:prstGeom>
          <a:solidFill>
            <a:srgbClr val="F1F4F9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529584" y="2029968"/>
            <a:ext cx="66568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Web-based guest experience with Market Landscape and Benchmark Analysis screens. More extensive than the BRD scope (ARCD-75522).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10241280" y="2029968"/>
            <a:ext cx="1463040" cy="658368"/>
          </a:xfrm>
          <a:prstGeom prst="rect">
            <a:avLst/>
          </a:prstGeom>
          <a:solidFill>
            <a:srgbClr val="F1F4F9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296144" y="2029968"/>
            <a:ext cx="13533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57200" y="2688336"/>
            <a:ext cx="1645920" cy="658368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12064" y="2688336"/>
            <a:ext cx="15361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KYC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103120" y="2688336"/>
            <a:ext cx="1371600" cy="658368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157984" y="2688336"/>
            <a:ext cx="12618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Engagement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3474720" y="2688336"/>
            <a:ext cx="6766560" cy="658368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29584" y="2688336"/>
            <a:ext cx="66568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Post-onboarding activation flow (225+ nodes). Designed to engage new users after their first login. Not in features inventory.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10241280" y="2688336"/>
            <a:ext cx="1463040" cy="658368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0296144" y="2688336"/>
            <a:ext cx="13533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57200" y="3346704"/>
            <a:ext cx="1645920" cy="658368"/>
          </a:xfrm>
          <a:prstGeom prst="rect">
            <a:avLst/>
          </a:prstGeom>
          <a:solidFill>
            <a:srgbClr val="F1F4F9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12064" y="3346704"/>
            <a:ext cx="15361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KYC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2103120" y="3346704"/>
            <a:ext cx="1371600" cy="658368"/>
          </a:xfrm>
          <a:prstGeom prst="rect">
            <a:avLst/>
          </a:prstGeom>
          <a:solidFill>
            <a:srgbClr val="F1F4F9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157984" y="3346704"/>
            <a:ext cx="12618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Tutorials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3474720" y="3346704"/>
            <a:ext cx="6766560" cy="658368"/>
          </a:xfrm>
          <a:prstGeom prst="rect">
            <a:avLst/>
          </a:prstGeom>
          <a:solidFill>
            <a:srgbClr val="F1F4F9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529584" y="3346704"/>
            <a:ext cx="66568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In-app tutorial screens — onboarding education content. Not in features inventory.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10241280" y="3346704"/>
            <a:ext cx="1463040" cy="658368"/>
          </a:xfrm>
          <a:prstGeom prst="rect">
            <a:avLst/>
          </a:prstGeom>
          <a:solidFill>
            <a:srgbClr val="F1F4F9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0296144" y="3346704"/>
            <a:ext cx="13533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457200" y="4005072"/>
            <a:ext cx="1645920" cy="658368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12064" y="4005072"/>
            <a:ext cx="15361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2103120" y="4005072"/>
            <a:ext cx="1371600" cy="658368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157984" y="4005072"/>
            <a:ext cx="12618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Ramadan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3474720" y="4005072"/>
            <a:ext cx="6766560" cy="658368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529584" y="4005072"/>
            <a:ext cx="66568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 theming page — currently empty but prepared for Ramadan content. Indicates seasonal experience capability.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10241280" y="4005072"/>
            <a:ext cx="1463040" cy="658368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0296144" y="4005072"/>
            <a:ext cx="13533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457200" y="4663440"/>
            <a:ext cx="1645920" cy="658368"/>
          </a:xfrm>
          <a:prstGeom prst="rect">
            <a:avLst/>
          </a:prstGeom>
          <a:solidFill>
            <a:srgbClr val="F1F4F9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12064" y="4663440"/>
            <a:ext cx="15361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Portfolios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2103120" y="4663440"/>
            <a:ext cx="1371600" cy="658368"/>
          </a:xfrm>
          <a:prstGeom prst="rect">
            <a:avLst/>
          </a:prstGeom>
          <a:solidFill>
            <a:srgbClr val="F1F4F9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2157984" y="4663440"/>
            <a:ext cx="12618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StoryTeller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3474720" y="4663440"/>
            <a:ext cx="6766560" cy="658368"/>
          </a:xfrm>
          <a:prstGeom prst="rect">
            <a:avLst/>
          </a:prstGeom>
          <a:solidFill>
            <a:srgbClr val="F1F4F9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529584" y="4663440"/>
            <a:ext cx="66568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page for Feature #76 (Storyteller Quarterly Report). 47 nodes with 26 instances. Design work is more advanced than inventory status suggested.</a:t>
            </a:r>
            <a:endParaRPr lang="en-US" sz="750" dirty="0"/>
          </a:p>
        </p:txBody>
      </p:sp>
      <p:sp>
        <p:nvSpPr>
          <p:cNvPr id="63" name="Shape 61"/>
          <p:cNvSpPr/>
          <p:nvPr/>
        </p:nvSpPr>
        <p:spPr>
          <a:xfrm>
            <a:off x="10241280" y="4663440"/>
            <a:ext cx="1463040" cy="658368"/>
          </a:xfrm>
          <a:prstGeom prst="rect">
            <a:avLst/>
          </a:prstGeom>
          <a:solidFill>
            <a:srgbClr val="F1F4F9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10296144" y="4663440"/>
            <a:ext cx="13533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457200" y="5321808"/>
            <a:ext cx="1645920" cy="658368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12064" y="5321808"/>
            <a:ext cx="15361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 (IPO)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2103120" y="5321808"/>
            <a:ext cx="1371600" cy="658368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2157984" y="5321808"/>
            <a:ext cx="12618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 &amp; Search</a:t>
            </a:r>
            <a:endParaRPr lang="en-US" sz="850" dirty="0"/>
          </a:p>
        </p:txBody>
      </p:sp>
      <p:sp>
        <p:nvSpPr>
          <p:cNvPr id="69" name="Shape 67"/>
          <p:cNvSpPr/>
          <p:nvPr/>
        </p:nvSpPr>
        <p:spPr>
          <a:xfrm>
            <a:off x="3474720" y="5321808"/>
            <a:ext cx="6766560" cy="658368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529584" y="5321808"/>
            <a:ext cx="66568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Expanded discovery experience with Search integration. Contains Murabha, POA, Shariah List, Donation, Smart Investment sub-sections.</a:t>
            </a:r>
            <a:endParaRPr lang="en-US" sz="750" dirty="0"/>
          </a:p>
        </p:txBody>
      </p:sp>
      <p:sp>
        <p:nvSpPr>
          <p:cNvPr id="71" name="Shape 69"/>
          <p:cNvSpPr/>
          <p:nvPr/>
        </p:nvSpPr>
        <p:spPr>
          <a:xfrm>
            <a:off x="10241280" y="5321808"/>
            <a:ext cx="1463040" cy="658368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10296144" y="5321808"/>
            <a:ext cx="13533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50" dirty="0"/>
          </a:p>
        </p:txBody>
      </p:sp>
      <p:sp>
        <p:nvSpPr>
          <p:cNvPr id="73" name="Shape 71"/>
          <p:cNvSpPr/>
          <p:nvPr/>
        </p:nvSpPr>
        <p:spPr>
          <a:xfrm>
            <a:off x="457200" y="6537960"/>
            <a:ext cx="1127729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457200" y="660196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  ·  DIGITAL EXPERIENCE  ·  2026-04-22</a:t>
            </a:r>
            <a:endParaRPr lang="en-US" sz="800" dirty="0"/>
          </a:p>
        </p:txBody>
      </p:sp>
      <p:sp>
        <p:nvSpPr>
          <p:cNvPr id="75" name="Text 73"/>
          <p:cNvSpPr/>
          <p:nvPr/>
        </p:nvSpPr>
        <p:spPr>
          <a:xfrm>
            <a:off x="5333695" y="660196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Figma REST API · Full-depth extraction · Pages not in original figma-screens.md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2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alrajhi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2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508760" y="347472"/>
            <a:ext cx="0" cy="384048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45920" y="2743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ANALYSIS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64592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Terminology Map — Key UI Labels Across Modules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362895" y="38404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20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868680"/>
            <a:ext cx="1127729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097280"/>
            <a:ext cx="11277295" cy="77724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13385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 &amp; Structure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94360" y="1371600"/>
            <a:ext cx="612648" cy="201168"/>
          </a:xfrm>
          <a:prstGeom prst="roundRect">
            <a:avLst>
              <a:gd name="adj" fmla="val 13636"/>
            </a:avLst>
          </a:prstGeom>
          <a:solidFill>
            <a:srgbClr val="E8EC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1371600"/>
            <a:ext cx="612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A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1316736" y="1371600"/>
            <a:ext cx="758952" cy="201168"/>
          </a:xfrm>
          <a:prstGeom prst="roundRect">
            <a:avLst>
              <a:gd name="adj" fmla="val 13636"/>
            </a:avLst>
          </a:prstGeom>
          <a:solidFill>
            <a:srgbClr val="E8EC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16736" y="1371600"/>
            <a:ext cx="758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A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2185416" y="1371600"/>
            <a:ext cx="1051560" cy="201168"/>
          </a:xfrm>
          <a:prstGeom prst="roundRect">
            <a:avLst>
              <a:gd name="adj" fmla="val 13636"/>
            </a:avLst>
          </a:prstGeom>
          <a:solidFill>
            <a:srgbClr val="E8EC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185416" y="1371600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A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Portfolios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3346704" y="1371600"/>
            <a:ext cx="758952" cy="201168"/>
          </a:xfrm>
          <a:prstGeom prst="roundRect">
            <a:avLst>
              <a:gd name="adj" fmla="val 13636"/>
            </a:avLst>
          </a:prstGeom>
          <a:solidFill>
            <a:srgbClr val="E8EC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46704" y="1371600"/>
            <a:ext cx="758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A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4215384" y="1371600"/>
            <a:ext cx="905256" cy="201168"/>
          </a:xfrm>
          <a:prstGeom prst="roundRect">
            <a:avLst>
              <a:gd name="adj" fmla="val 13636"/>
            </a:avLst>
          </a:prstGeom>
          <a:solidFill>
            <a:srgbClr val="E8EC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15384" y="1371600"/>
            <a:ext cx="905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A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5230368" y="1371600"/>
            <a:ext cx="832104" cy="201168"/>
          </a:xfrm>
          <a:prstGeom prst="roundRect">
            <a:avLst>
              <a:gd name="adj" fmla="val 13636"/>
            </a:avLst>
          </a:prstGeom>
          <a:solidFill>
            <a:srgbClr val="E8EC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230368" y="1371600"/>
            <a:ext cx="8321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A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6172200" y="1371600"/>
            <a:ext cx="905256" cy="201168"/>
          </a:xfrm>
          <a:prstGeom prst="roundRect">
            <a:avLst>
              <a:gd name="adj" fmla="val 13636"/>
            </a:avLst>
          </a:prstGeom>
          <a:solidFill>
            <a:srgbClr val="E8EC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72200" y="1371600"/>
            <a:ext cx="905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A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Tradepad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7187184" y="1371600"/>
            <a:ext cx="978408" cy="201168"/>
          </a:xfrm>
          <a:prstGeom prst="roundRect">
            <a:avLst>
              <a:gd name="adj" fmla="val 13636"/>
            </a:avLst>
          </a:prstGeom>
          <a:solidFill>
            <a:srgbClr val="E8EC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187184" y="1371600"/>
            <a:ext cx="978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A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Watchlist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594360" y="1627632"/>
            <a:ext cx="1100297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nav tabs — consistent across all modules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457200" y="1965960"/>
            <a:ext cx="11277295" cy="777240"/>
          </a:xfrm>
          <a:prstGeom prst="roundRect">
            <a:avLst>
              <a:gd name="adj" fmla="val 4706"/>
            </a:avLst>
          </a:prstGeom>
          <a:solidFill>
            <a:srgbClr val="F1F4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4360" y="200253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Segments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94360" y="2240280"/>
            <a:ext cx="1197864" cy="201168"/>
          </a:xfrm>
          <a:prstGeom prst="roundRect">
            <a:avLst>
              <a:gd name="adj" fmla="val 13636"/>
            </a:avLst>
          </a:prstGeom>
          <a:solidFill>
            <a:srgbClr val="E8EC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94360" y="2240280"/>
            <a:ext cx="11978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A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Saudi Market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1901952" y="2240280"/>
            <a:ext cx="978408" cy="201168"/>
          </a:xfrm>
          <a:prstGeom prst="roundRect">
            <a:avLst>
              <a:gd name="adj" fmla="val 13636"/>
            </a:avLst>
          </a:prstGeom>
          <a:solidFill>
            <a:srgbClr val="E8EC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901952" y="2240280"/>
            <a:ext cx="978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A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Market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2990088" y="2240280"/>
            <a:ext cx="1051560" cy="201168"/>
          </a:xfrm>
          <a:prstGeom prst="roundRect">
            <a:avLst>
              <a:gd name="adj" fmla="val 13636"/>
            </a:avLst>
          </a:prstGeom>
          <a:solidFill>
            <a:srgbClr val="E8EC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990088" y="2240280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A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UAE Market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4151376" y="2240280"/>
            <a:ext cx="1124712" cy="201168"/>
          </a:xfrm>
          <a:prstGeom prst="roundRect">
            <a:avLst>
              <a:gd name="adj" fmla="val 13636"/>
            </a:avLst>
          </a:prstGeom>
          <a:solidFill>
            <a:srgbClr val="E8EC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151376" y="2240280"/>
            <a:ext cx="11247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A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Mutual Fund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5385816" y="2240280"/>
            <a:ext cx="832104" cy="201168"/>
          </a:xfrm>
          <a:prstGeom prst="roundRect">
            <a:avLst>
              <a:gd name="adj" fmla="val 13636"/>
            </a:avLst>
          </a:prstGeom>
          <a:solidFill>
            <a:srgbClr val="E8EC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385816" y="2240280"/>
            <a:ext cx="8321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A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Mashura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6327648" y="2240280"/>
            <a:ext cx="1051560" cy="201168"/>
          </a:xfrm>
          <a:prstGeom prst="roundRect">
            <a:avLst>
              <a:gd name="adj" fmla="val 13636"/>
            </a:avLst>
          </a:prstGeom>
          <a:solidFill>
            <a:srgbClr val="E8EC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327648" y="2240280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A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Crowd Fund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7488936" y="2240280"/>
            <a:ext cx="1271016" cy="201168"/>
          </a:xfrm>
          <a:prstGeom prst="roundRect">
            <a:avLst>
              <a:gd name="adj" fmla="val 13636"/>
            </a:avLst>
          </a:prstGeom>
          <a:solidFill>
            <a:srgbClr val="E8EC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488936" y="2240280"/>
            <a:ext cx="1271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A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Markets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594360" y="2496312"/>
            <a:ext cx="1100297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UAE Market and Other Markets are NEW — not in current features inventory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457200" y="2834640"/>
            <a:ext cx="11277295" cy="77724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94360" y="287121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Trading Actions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594360" y="3108960"/>
            <a:ext cx="539496" cy="201168"/>
          </a:xfrm>
          <a:prstGeom prst="roundRect">
            <a:avLst>
              <a:gd name="adj" fmla="val 13636"/>
            </a:avLst>
          </a:prstGeom>
          <a:solidFill>
            <a:srgbClr val="E8EC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94360" y="3108960"/>
            <a:ext cx="539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A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1243584" y="3108960"/>
            <a:ext cx="758952" cy="201168"/>
          </a:xfrm>
          <a:prstGeom prst="roundRect">
            <a:avLst>
              <a:gd name="adj" fmla="val 13636"/>
            </a:avLst>
          </a:prstGeom>
          <a:solidFill>
            <a:srgbClr val="E8EC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243584" y="3108960"/>
            <a:ext cx="758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A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2112264" y="3108960"/>
            <a:ext cx="1197864" cy="201168"/>
          </a:xfrm>
          <a:prstGeom prst="roundRect">
            <a:avLst>
              <a:gd name="adj" fmla="val 13636"/>
            </a:avLst>
          </a:prstGeom>
          <a:solidFill>
            <a:srgbClr val="E8EC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112264" y="3108960"/>
            <a:ext cx="11978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A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Price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3419856" y="3108960"/>
            <a:ext cx="758952" cy="201168"/>
          </a:xfrm>
          <a:prstGeom prst="roundRect">
            <a:avLst>
              <a:gd name="adj" fmla="val 13636"/>
            </a:avLst>
          </a:prstGeom>
          <a:solidFill>
            <a:srgbClr val="E8EC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419856" y="3108960"/>
            <a:ext cx="758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A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Shares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4288536" y="3108960"/>
            <a:ext cx="758952" cy="201168"/>
          </a:xfrm>
          <a:prstGeom prst="roundRect">
            <a:avLst>
              <a:gd name="adj" fmla="val 13636"/>
            </a:avLst>
          </a:prstGeom>
          <a:solidFill>
            <a:srgbClr val="E8EC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288536" y="3108960"/>
            <a:ext cx="758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A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5157216" y="3108960"/>
            <a:ext cx="612648" cy="201168"/>
          </a:xfrm>
          <a:prstGeom prst="roundRect">
            <a:avLst>
              <a:gd name="adj" fmla="val 13636"/>
            </a:avLst>
          </a:prstGeom>
          <a:solidFill>
            <a:srgbClr val="E8EC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157216" y="3108960"/>
            <a:ext cx="612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A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5879592" y="3108960"/>
            <a:ext cx="758952" cy="201168"/>
          </a:xfrm>
          <a:prstGeom prst="roundRect">
            <a:avLst>
              <a:gd name="adj" fmla="val 13636"/>
            </a:avLst>
          </a:prstGeom>
          <a:solidFill>
            <a:srgbClr val="E8EC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879592" y="3108960"/>
            <a:ext cx="758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A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750" dirty="0"/>
          </a:p>
        </p:txBody>
      </p:sp>
      <p:sp>
        <p:nvSpPr>
          <p:cNvPr id="61" name="Shape 59"/>
          <p:cNvSpPr/>
          <p:nvPr/>
        </p:nvSpPr>
        <p:spPr>
          <a:xfrm>
            <a:off x="6748272" y="3108960"/>
            <a:ext cx="905256" cy="201168"/>
          </a:xfrm>
          <a:prstGeom prst="roundRect">
            <a:avLst>
              <a:gd name="adj" fmla="val 13636"/>
            </a:avLst>
          </a:prstGeom>
          <a:solidFill>
            <a:srgbClr val="E8EC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748272" y="3108960"/>
            <a:ext cx="905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A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Cash</a:t>
            </a:r>
            <a:endParaRPr lang="en-US" sz="750" dirty="0"/>
          </a:p>
        </p:txBody>
      </p:sp>
      <p:sp>
        <p:nvSpPr>
          <p:cNvPr id="63" name="Shape 61"/>
          <p:cNvSpPr/>
          <p:nvPr/>
        </p:nvSpPr>
        <p:spPr>
          <a:xfrm>
            <a:off x="7763256" y="3108960"/>
            <a:ext cx="1051560" cy="201168"/>
          </a:xfrm>
          <a:prstGeom prst="roundRect">
            <a:avLst>
              <a:gd name="adj" fmla="val 13636"/>
            </a:avLst>
          </a:prstGeom>
          <a:solidFill>
            <a:srgbClr val="E8EC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763256" y="3108960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A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Margin</a:t>
            </a:r>
            <a:endParaRPr lang="en-US" sz="750" dirty="0"/>
          </a:p>
        </p:txBody>
      </p:sp>
      <p:sp>
        <p:nvSpPr>
          <p:cNvPr id="65" name="Shape 63"/>
          <p:cNvSpPr/>
          <p:nvPr/>
        </p:nvSpPr>
        <p:spPr>
          <a:xfrm>
            <a:off x="8924544" y="3108960"/>
            <a:ext cx="1197864" cy="201168"/>
          </a:xfrm>
          <a:prstGeom prst="roundRect">
            <a:avLst>
              <a:gd name="adj" fmla="val 13636"/>
            </a:avLst>
          </a:prstGeom>
          <a:solidFill>
            <a:srgbClr val="E8EC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8924544" y="3108960"/>
            <a:ext cx="11978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A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Buying power</a:t>
            </a:r>
            <a:endParaRPr lang="en-US" sz="750" dirty="0"/>
          </a:p>
        </p:txBody>
      </p:sp>
      <p:sp>
        <p:nvSpPr>
          <p:cNvPr id="67" name="Text 65"/>
          <p:cNvSpPr/>
          <p:nvPr/>
        </p:nvSpPr>
        <p:spPr>
          <a:xfrm>
            <a:off x="594360" y="3364992"/>
            <a:ext cx="1100297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Tradepad labels — clear and action-oriented</a:t>
            </a:r>
            <a:endParaRPr lang="en-US" sz="750" dirty="0"/>
          </a:p>
        </p:txBody>
      </p:sp>
      <p:sp>
        <p:nvSpPr>
          <p:cNvPr id="68" name="Shape 66"/>
          <p:cNvSpPr/>
          <p:nvPr/>
        </p:nvSpPr>
        <p:spPr>
          <a:xfrm>
            <a:off x="457200" y="3703320"/>
            <a:ext cx="11277295" cy="777240"/>
          </a:xfrm>
          <a:prstGeom prst="roundRect">
            <a:avLst>
              <a:gd name="adj" fmla="val 4706"/>
            </a:avLst>
          </a:prstGeom>
          <a:solidFill>
            <a:srgbClr val="F1F4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94360" y="373989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Views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594360" y="3977640"/>
            <a:ext cx="1783080" cy="201168"/>
          </a:xfrm>
          <a:prstGeom prst="roundRect">
            <a:avLst>
              <a:gd name="adj" fmla="val 13636"/>
            </a:avLst>
          </a:prstGeom>
          <a:solidFill>
            <a:srgbClr val="E8EC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594360" y="3977640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A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Saudi Portfolios</a:t>
            </a:r>
            <a:endParaRPr lang="en-US" sz="750" dirty="0"/>
          </a:p>
        </p:txBody>
      </p:sp>
      <p:sp>
        <p:nvSpPr>
          <p:cNvPr id="72" name="Shape 70"/>
          <p:cNvSpPr/>
          <p:nvPr/>
        </p:nvSpPr>
        <p:spPr>
          <a:xfrm>
            <a:off x="2487168" y="3977640"/>
            <a:ext cx="1197864" cy="201168"/>
          </a:xfrm>
          <a:prstGeom prst="roundRect">
            <a:avLst>
              <a:gd name="adj" fmla="val 13636"/>
            </a:avLst>
          </a:prstGeom>
          <a:solidFill>
            <a:srgbClr val="E8EC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2487168" y="3977640"/>
            <a:ext cx="11978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A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Value</a:t>
            </a:r>
            <a:endParaRPr lang="en-US" sz="750" dirty="0"/>
          </a:p>
        </p:txBody>
      </p:sp>
      <p:sp>
        <p:nvSpPr>
          <p:cNvPr id="74" name="Shape 72"/>
          <p:cNvSpPr/>
          <p:nvPr/>
        </p:nvSpPr>
        <p:spPr>
          <a:xfrm>
            <a:off x="3794760" y="3977640"/>
            <a:ext cx="1051560" cy="201168"/>
          </a:xfrm>
          <a:prstGeom prst="roundRect">
            <a:avLst>
              <a:gd name="adj" fmla="val 13636"/>
            </a:avLst>
          </a:prstGeom>
          <a:solidFill>
            <a:srgbClr val="E8EC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3794760" y="3977640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A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Cash</a:t>
            </a:r>
            <a:endParaRPr lang="en-US" sz="750" dirty="0"/>
          </a:p>
        </p:txBody>
      </p:sp>
      <p:sp>
        <p:nvSpPr>
          <p:cNvPr id="76" name="Shape 74"/>
          <p:cNvSpPr/>
          <p:nvPr/>
        </p:nvSpPr>
        <p:spPr>
          <a:xfrm>
            <a:off x="4956048" y="3977640"/>
            <a:ext cx="1344168" cy="201168"/>
          </a:xfrm>
          <a:prstGeom prst="roundRect">
            <a:avLst>
              <a:gd name="adj" fmla="val 13636"/>
            </a:avLst>
          </a:prstGeom>
          <a:solidFill>
            <a:srgbClr val="E8EC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4956048" y="3977640"/>
            <a:ext cx="1344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A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Unrealized P/L</a:t>
            </a:r>
            <a:endParaRPr lang="en-US" sz="750" dirty="0"/>
          </a:p>
        </p:txBody>
      </p:sp>
      <p:sp>
        <p:nvSpPr>
          <p:cNvPr id="78" name="Shape 76"/>
          <p:cNvSpPr/>
          <p:nvPr/>
        </p:nvSpPr>
        <p:spPr>
          <a:xfrm>
            <a:off x="6409944" y="3977640"/>
            <a:ext cx="685800" cy="201168"/>
          </a:xfrm>
          <a:prstGeom prst="roundRect">
            <a:avLst>
              <a:gd name="adj" fmla="val 13636"/>
            </a:avLst>
          </a:prstGeom>
          <a:solidFill>
            <a:srgbClr val="E8EC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6409944" y="3977640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A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</a:t>
            </a:r>
            <a:endParaRPr lang="en-US" sz="750" dirty="0"/>
          </a:p>
        </p:txBody>
      </p:sp>
      <p:sp>
        <p:nvSpPr>
          <p:cNvPr id="80" name="Shape 78"/>
          <p:cNvSpPr/>
          <p:nvPr/>
        </p:nvSpPr>
        <p:spPr>
          <a:xfrm>
            <a:off x="7205472" y="3977640"/>
            <a:ext cx="905256" cy="201168"/>
          </a:xfrm>
          <a:prstGeom prst="roundRect">
            <a:avLst>
              <a:gd name="adj" fmla="val 13636"/>
            </a:avLst>
          </a:prstGeom>
          <a:solidFill>
            <a:srgbClr val="E8EC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7205472" y="3977640"/>
            <a:ext cx="905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A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</a:t>
            </a:r>
            <a:endParaRPr lang="en-US" sz="750" dirty="0"/>
          </a:p>
        </p:txBody>
      </p:sp>
      <p:sp>
        <p:nvSpPr>
          <p:cNvPr id="82" name="Shape 80"/>
          <p:cNvSpPr/>
          <p:nvPr/>
        </p:nvSpPr>
        <p:spPr>
          <a:xfrm>
            <a:off x="8220456" y="3977640"/>
            <a:ext cx="1271016" cy="201168"/>
          </a:xfrm>
          <a:prstGeom prst="roundRect">
            <a:avLst>
              <a:gd name="adj" fmla="val 13636"/>
            </a:avLst>
          </a:prstGeom>
          <a:solidFill>
            <a:srgbClr val="E8EC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8220456" y="3977640"/>
            <a:ext cx="1271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A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Finance</a:t>
            </a:r>
            <a:endParaRPr lang="en-US" sz="750" dirty="0"/>
          </a:p>
        </p:txBody>
      </p:sp>
      <p:sp>
        <p:nvSpPr>
          <p:cNvPr id="84" name="Text 82"/>
          <p:cNvSpPr/>
          <p:nvPr/>
        </p:nvSpPr>
        <p:spPr>
          <a:xfrm>
            <a:off x="594360" y="4233672"/>
            <a:ext cx="1100297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'Apply Finance' is the Murabaha CTA — terminology alignment needed</a:t>
            </a:r>
            <a:endParaRPr lang="en-US" sz="750" dirty="0"/>
          </a:p>
        </p:txBody>
      </p:sp>
      <p:sp>
        <p:nvSpPr>
          <p:cNvPr id="85" name="Shape 83"/>
          <p:cNvSpPr/>
          <p:nvPr/>
        </p:nvSpPr>
        <p:spPr>
          <a:xfrm>
            <a:off x="457200" y="4572000"/>
            <a:ext cx="11277295" cy="77724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594360" y="460857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 Section</a:t>
            </a:r>
            <a:endParaRPr lang="en-US" sz="900" dirty="0"/>
          </a:p>
        </p:txBody>
      </p:sp>
      <p:sp>
        <p:nvSpPr>
          <p:cNvPr id="87" name="Shape 85"/>
          <p:cNvSpPr/>
          <p:nvPr/>
        </p:nvSpPr>
        <p:spPr>
          <a:xfrm>
            <a:off x="594360" y="4846320"/>
            <a:ext cx="905256" cy="201168"/>
          </a:xfrm>
          <a:prstGeom prst="roundRect">
            <a:avLst>
              <a:gd name="adj" fmla="val 13636"/>
            </a:avLst>
          </a:prstGeom>
          <a:solidFill>
            <a:srgbClr val="E8EC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594360" y="4846320"/>
            <a:ext cx="905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A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</a:t>
            </a:r>
            <a:endParaRPr lang="en-US" sz="750" dirty="0"/>
          </a:p>
        </p:txBody>
      </p:sp>
      <p:sp>
        <p:nvSpPr>
          <p:cNvPr id="89" name="Shape 87"/>
          <p:cNvSpPr/>
          <p:nvPr/>
        </p:nvSpPr>
        <p:spPr>
          <a:xfrm>
            <a:off x="1609344" y="4846320"/>
            <a:ext cx="1563624" cy="201168"/>
          </a:xfrm>
          <a:prstGeom prst="roundRect">
            <a:avLst>
              <a:gd name="adj" fmla="val 13636"/>
            </a:avLst>
          </a:prstGeom>
          <a:solidFill>
            <a:srgbClr val="E8EC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1609344" y="4846320"/>
            <a:ext cx="1563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A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Subscription</a:t>
            </a:r>
            <a:endParaRPr lang="en-US" sz="750" dirty="0"/>
          </a:p>
        </p:txBody>
      </p:sp>
      <p:sp>
        <p:nvSpPr>
          <p:cNvPr id="91" name="Shape 89"/>
          <p:cNvSpPr/>
          <p:nvPr/>
        </p:nvSpPr>
        <p:spPr>
          <a:xfrm>
            <a:off x="3282696" y="4846320"/>
            <a:ext cx="1271016" cy="201168"/>
          </a:xfrm>
          <a:prstGeom prst="roundRect">
            <a:avLst>
              <a:gd name="adj" fmla="val 13636"/>
            </a:avLst>
          </a:prstGeom>
          <a:solidFill>
            <a:srgbClr val="E8EC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3282696" y="4846320"/>
            <a:ext cx="1271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A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Dividend List</a:t>
            </a:r>
            <a:endParaRPr lang="en-US" sz="750" dirty="0"/>
          </a:p>
        </p:txBody>
      </p:sp>
      <p:sp>
        <p:nvSpPr>
          <p:cNvPr id="93" name="Shape 91"/>
          <p:cNvSpPr/>
          <p:nvPr/>
        </p:nvSpPr>
        <p:spPr>
          <a:xfrm>
            <a:off x="4663440" y="4846320"/>
            <a:ext cx="832104" cy="201168"/>
          </a:xfrm>
          <a:prstGeom prst="roundRect">
            <a:avLst>
              <a:gd name="adj" fmla="val 13636"/>
            </a:avLst>
          </a:prstGeom>
          <a:solidFill>
            <a:srgbClr val="E8EC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4663440" y="4846320"/>
            <a:ext cx="8321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A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Murabha</a:t>
            </a:r>
            <a:endParaRPr lang="en-US" sz="750" dirty="0"/>
          </a:p>
        </p:txBody>
      </p:sp>
      <p:sp>
        <p:nvSpPr>
          <p:cNvPr id="95" name="Shape 93"/>
          <p:cNvSpPr/>
          <p:nvPr/>
        </p:nvSpPr>
        <p:spPr>
          <a:xfrm>
            <a:off x="5605272" y="4846320"/>
            <a:ext cx="1490472" cy="201168"/>
          </a:xfrm>
          <a:prstGeom prst="roundRect">
            <a:avLst>
              <a:gd name="adj" fmla="val 13636"/>
            </a:avLst>
          </a:prstGeom>
          <a:solidFill>
            <a:srgbClr val="E8EC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5605272" y="4846320"/>
            <a:ext cx="1490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A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Investment</a:t>
            </a:r>
            <a:endParaRPr lang="en-US" sz="750" dirty="0"/>
          </a:p>
        </p:txBody>
      </p:sp>
      <p:sp>
        <p:nvSpPr>
          <p:cNvPr id="97" name="Shape 95"/>
          <p:cNvSpPr/>
          <p:nvPr/>
        </p:nvSpPr>
        <p:spPr>
          <a:xfrm>
            <a:off x="7205472" y="4846320"/>
            <a:ext cx="1197864" cy="201168"/>
          </a:xfrm>
          <a:prstGeom prst="roundRect">
            <a:avLst>
              <a:gd name="adj" fmla="val 13636"/>
            </a:avLst>
          </a:prstGeom>
          <a:solidFill>
            <a:srgbClr val="E8EC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7205472" y="4846320"/>
            <a:ext cx="11978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A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Shariah List</a:t>
            </a:r>
            <a:endParaRPr lang="en-US" sz="750" dirty="0"/>
          </a:p>
        </p:txBody>
      </p:sp>
      <p:sp>
        <p:nvSpPr>
          <p:cNvPr id="99" name="Shape 97"/>
          <p:cNvSpPr/>
          <p:nvPr/>
        </p:nvSpPr>
        <p:spPr>
          <a:xfrm>
            <a:off x="8513064" y="4846320"/>
            <a:ext cx="539496" cy="201168"/>
          </a:xfrm>
          <a:prstGeom prst="roundRect">
            <a:avLst>
              <a:gd name="adj" fmla="val 13636"/>
            </a:avLst>
          </a:prstGeom>
          <a:solidFill>
            <a:srgbClr val="E8EC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8513064" y="4846320"/>
            <a:ext cx="539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A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POA</a:t>
            </a:r>
            <a:endParaRPr lang="en-US" sz="750" dirty="0"/>
          </a:p>
        </p:txBody>
      </p:sp>
      <p:sp>
        <p:nvSpPr>
          <p:cNvPr id="101" name="Shape 99"/>
          <p:cNvSpPr/>
          <p:nvPr/>
        </p:nvSpPr>
        <p:spPr>
          <a:xfrm>
            <a:off x="9162288" y="4846320"/>
            <a:ext cx="905256" cy="201168"/>
          </a:xfrm>
          <a:prstGeom prst="roundRect">
            <a:avLst>
              <a:gd name="adj" fmla="val 13636"/>
            </a:avLst>
          </a:prstGeom>
          <a:solidFill>
            <a:srgbClr val="E8EC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9162288" y="4846320"/>
            <a:ext cx="905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A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Donation</a:t>
            </a:r>
            <a:endParaRPr lang="en-US" sz="750" dirty="0"/>
          </a:p>
        </p:txBody>
      </p:sp>
      <p:sp>
        <p:nvSpPr>
          <p:cNvPr id="103" name="Shape 101"/>
          <p:cNvSpPr/>
          <p:nvPr/>
        </p:nvSpPr>
        <p:spPr>
          <a:xfrm>
            <a:off x="10177272" y="4846320"/>
            <a:ext cx="1051560" cy="201168"/>
          </a:xfrm>
          <a:prstGeom prst="roundRect">
            <a:avLst>
              <a:gd name="adj" fmla="val 13636"/>
            </a:avLst>
          </a:prstGeom>
          <a:solidFill>
            <a:srgbClr val="E8EC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10177272" y="4846320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A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Tadawulaty</a:t>
            </a:r>
            <a:endParaRPr lang="en-US" sz="750" dirty="0"/>
          </a:p>
        </p:txBody>
      </p:sp>
      <p:sp>
        <p:nvSpPr>
          <p:cNvPr id="105" name="Text 103"/>
          <p:cNvSpPr/>
          <p:nvPr/>
        </p:nvSpPr>
        <p:spPr>
          <a:xfrm>
            <a:off x="594360" y="5102352"/>
            <a:ext cx="1100297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POA and Donation are undocumented features discovered in deep extraction</a:t>
            </a:r>
            <a:endParaRPr lang="en-US" sz="750" dirty="0"/>
          </a:p>
        </p:txBody>
      </p:sp>
      <p:sp>
        <p:nvSpPr>
          <p:cNvPr id="106" name="Shape 104"/>
          <p:cNvSpPr/>
          <p:nvPr/>
        </p:nvSpPr>
        <p:spPr>
          <a:xfrm>
            <a:off x="457200" y="5440680"/>
            <a:ext cx="11277295" cy="777240"/>
          </a:xfrm>
          <a:prstGeom prst="roundRect">
            <a:avLst>
              <a:gd name="adj" fmla="val 4706"/>
            </a:avLst>
          </a:prstGeom>
          <a:solidFill>
            <a:srgbClr val="F1F4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594360" y="547725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 &amp; Auth</a:t>
            </a:r>
            <a:endParaRPr lang="en-US" sz="900" dirty="0"/>
          </a:p>
        </p:txBody>
      </p:sp>
      <p:sp>
        <p:nvSpPr>
          <p:cNvPr id="108" name="Shape 106"/>
          <p:cNvSpPr/>
          <p:nvPr/>
        </p:nvSpPr>
        <p:spPr>
          <a:xfrm>
            <a:off x="594360" y="5715000"/>
            <a:ext cx="1490472" cy="201168"/>
          </a:xfrm>
          <a:prstGeom prst="roundRect">
            <a:avLst>
              <a:gd name="adj" fmla="val 13636"/>
            </a:avLst>
          </a:prstGeom>
          <a:solidFill>
            <a:srgbClr val="E8EC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594360" y="5715000"/>
            <a:ext cx="1490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A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Time Out</a:t>
            </a:r>
            <a:endParaRPr lang="en-US" sz="750" dirty="0"/>
          </a:p>
        </p:txBody>
      </p:sp>
      <p:sp>
        <p:nvSpPr>
          <p:cNvPr id="110" name="Shape 108"/>
          <p:cNvSpPr/>
          <p:nvPr/>
        </p:nvSpPr>
        <p:spPr>
          <a:xfrm>
            <a:off x="2194560" y="5715000"/>
            <a:ext cx="1271016" cy="201168"/>
          </a:xfrm>
          <a:prstGeom prst="roundRect">
            <a:avLst>
              <a:gd name="adj" fmla="val 13636"/>
            </a:avLst>
          </a:prstGeom>
          <a:solidFill>
            <a:srgbClr val="E8EC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2194560" y="5715000"/>
            <a:ext cx="1271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A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Activate MPIN</a:t>
            </a:r>
            <a:endParaRPr lang="en-US" sz="750" dirty="0"/>
          </a:p>
        </p:txBody>
      </p:sp>
      <p:sp>
        <p:nvSpPr>
          <p:cNvPr id="112" name="Shape 110"/>
          <p:cNvSpPr/>
          <p:nvPr/>
        </p:nvSpPr>
        <p:spPr>
          <a:xfrm>
            <a:off x="3575304" y="5715000"/>
            <a:ext cx="539496" cy="201168"/>
          </a:xfrm>
          <a:prstGeom prst="roundRect">
            <a:avLst>
              <a:gd name="adj" fmla="val 13636"/>
            </a:avLst>
          </a:prstGeom>
          <a:solidFill>
            <a:srgbClr val="E8EC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3575304" y="5715000"/>
            <a:ext cx="539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A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OTP</a:t>
            </a:r>
            <a:endParaRPr lang="en-US" sz="750" dirty="0"/>
          </a:p>
        </p:txBody>
      </p:sp>
      <p:sp>
        <p:nvSpPr>
          <p:cNvPr id="114" name="Shape 112"/>
          <p:cNvSpPr/>
          <p:nvPr/>
        </p:nvSpPr>
        <p:spPr>
          <a:xfrm>
            <a:off x="4224528" y="5715000"/>
            <a:ext cx="758952" cy="201168"/>
          </a:xfrm>
          <a:prstGeom prst="roundRect">
            <a:avLst>
              <a:gd name="adj" fmla="val 13636"/>
            </a:avLst>
          </a:prstGeom>
          <a:solidFill>
            <a:srgbClr val="E8EC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4224528" y="5715000"/>
            <a:ext cx="758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A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Resend</a:t>
            </a:r>
            <a:endParaRPr lang="en-US" sz="750" dirty="0"/>
          </a:p>
        </p:txBody>
      </p:sp>
      <p:sp>
        <p:nvSpPr>
          <p:cNvPr id="116" name="Shape 114"/>
          <p:cNvSpPr/>
          <p:nvPr/>
        </p:nvSpPr>
        <p:spPr>
          <a:xfrm>
            <a:off x="5093208" y="5715000"/>
            <a:ext cx="1417320" cy="201168"/>
          </a:xfrm>
          <a:prstGeom prst="roundRect">
            <a:avLst>
              <a:gd name="adj" fmla="val 13636"/>
            </a:avLst>
          </a:prstGeom>
          <a:solidFill>
            <a:srgbClr val="E8EC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5093208" y="5715000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A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Password</a:t>
            </a:r>
            <a:endParaRPr lang="en-US" sz="750" dirty="0"/>
          </a:p>
        </p:txBody>
      </p:sp>
      <p:sp>
        <p:nvSpPr>
          <p:cNvPr id="118" name="Shape 116"/>
          <p:cNvSpPr/>
          <p:nvPr/>
        </p:nvSpPr>
        <p:spPr>
          <a:xfrm>
            <a:off x="6620256" y="5715000"/>
            <a:ext cx="1636776" cy="201168"/>
          </a:xfrm>
          <a:prstGeom prst="roundRect">
            <a:avLst>
              <a:gd name="adj" fmla="val 13636"/>
            </a:avLst>
          </a:prstGeom>
          <a:solidFill>
            <a:srgbClr val="E8EC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6620256" y="5715000"/>
            <a:ext cx="1636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A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Registered Devices</a:t>
            </a:r>
            <a:endParaRPr lang="en-US" sz="750" dirty="0"/>
          </a:p>
        </p:txBody>
      </p:sp>
      <p:sp>
        <p:nvSpPr>
          <p:cNvPr id="120" name="Text 118"/>
          <p:cNvSpPr/>
          <p:nvPr/>
        </p:nvSpPr>
        <p:spPr>
          <a:xfrm>
            <a:off x="594360" y="5971032"/>
            <a:ext cx="1100297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settings — no terminology conflicts detected</a:t>
            </a:r>
            <a:endParaRPr lang="en-US" sz="750" dirty="0"/>
          </a:p>
        </p:txBody>
      </p:sp>
      <p:sp>
        <p:nvSpPr>
          <p:cNvPr id="121" name="Shape 119"/>
          <p:cNvSpPr/>
          <p:nvPr/>
        </p:nvSpPr>
        <p:spPr>
          <a:xfrm>
            <a:off x="457200" y="6537960"/>
            <a:ext cx="1127729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457200" y="660196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  ·  DIGITAL EXPERIENCE  ·  2026-04-22</a:t>
            </a:r>
            <a:endParaRPr lang="en-US" sz="800" dirty="0"/>
          </a:p>
        </p:txBody>
      </p:sp>
      <p:sp>
        <p:nvSpPr>
          <p:cNvPr id="123" name="Text 121"/>
          <p:cNvSpPr/>
          <p:nvPr/>
        </p:nvSpPr>
        <p:spPr>
          <a:xfrm>
            <a:off x="5333695" y="660196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Figma REST API · 262,038 text layers extracted · 2026-04-22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2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alrajhi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2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508760" y="347472"/>
            <a:ext cx="0" cy="384048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45920" y="2743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SQUAD DETAIL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64592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Trading &amp; Portfolio Squads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362895" y="38404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20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868680"/>
            <a:ext cx="1127729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097280"/>
            <a:ext cx="5501488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A1F4D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0080" y="1188720"/>
            <a:ext cx="412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769968" y="1170432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2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272888" y="12344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640080" y="155448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24128" y="155448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1965960" y="155448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350008" y="155448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BRD+Figma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3291840" y="155448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675888" y="155448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Figma Only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4617720" y="155448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01768" y="155448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Gaps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640080" y="1874520"/>
            <a:ext cx="5135728" cy="164592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0080" y="1874520"/>
            <a:ext cx="855955" cy="164592"/>
          </a:xfrm>
          <a:prstGeom prst="rect">
            <a:avLst/>
          </a:prstGeom>
          <a:solidFill>
            <a:srgbClr val="16A3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496035" y="1874520"/>
            <a:ext cx="1711909" cy="164592"/>
          </a:xfrm>
          <a:prstGeom prst="rect">
            <a:avLst/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7944" y="1874520"/>
            <a:ext cx="213989" cy="164592"/>
          </a:xfrm>
          <a:prstGeom prst="rect">
            <a:avLst/>
          </a:prstGeom>
          <a:solidFill>
            <a:srgbClr val="4F46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21932" y="1874520"/>
            <a:ext cx="2353875" cy="164592"/>
          </a:xfrm>
          <a:prstGeom prst="rect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" y="2167128"/>
            <a:ext cx="5135728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2240280"/>
            <a:ext cx="5135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gap: Onboarding checklist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40080" y="301752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17% live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233008" y="1097280"/>
            <a:ext cx="5501488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A1F4D">
                <a:alpha val="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415888" y="1188720"/>
            <a:ext cx="412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Saudi Trading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0545775" y="1170432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2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11048695" y="12344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415888" y="155448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799936" y="155448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7741768" y="155448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8125816" y="155448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BRD+Figma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9067648" y="155448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9451696" y="155448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Figma Only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10393528" y="155448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10777576" y="155448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Gaps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6415888" y="1874520"/>
            <a:ext cx="5135728" cy="164592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415888" y="1874520"/>
            <a:ext cx="790112" cy="164592"/>
          </a:xfrm>
          <a:prstGeom prst="rect">
            <a:avLst/>
          </a:prstGeom>
          <a:solidFill>
            <a:srgbClr val="16A3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206000" y="1874520"/>
            <a:ext cx="131685" cy="164592"/>
          </a:xfrm>
          <a:prstGeom prst="rect">
            <a:avLst/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337685" y="1874520"/>
            <a:ext cx="2502021" cy="164592"/>
          </a:xfrm>
          <a:prstGeom prst="rect">
            <a:avLst/>
          </a:prstGeom>
          <a:solidFill>
            <a:srgbClr val="4F46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9839706" y="1874520"/>
            <a:ext cx="1843595" cy="164592"/>
          </a:xfrm>
          <a:prstGeom prst="rect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415888" y="2167128"/>
            <a:ext cx="5135728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415888" y="2240280"/>
            <a:ext cx="5135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gap: Level 2 Order Book (25/25)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6415888" y="301752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 live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457200" y="3566160"/>
            <a:ext cx="5501488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A1F4D">
                <a:alpha val="8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640080" y="3657600"/>
            <a:ext cx="412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Trading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4769968" y="3639312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2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000" dirty="0"/>
          </a:p>
        </p:txBody>
      </p:sp>
      <p:sp>
        <p:nvSpPr>
          <p:cNvPr id="52" name="Text 50"/>
          <p:cNvSpPr/>
          <p:nvPr/>
        </p:nvSpPr>
        <p:spPr>
          <a:xfrm>
            <a:off x="5272888" y="37033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640080" y="402336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1024128" y="402336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750" dirty="0"/>
          </a:p>
        </p:txBody>
      </p:sp>
      <p:sp>
        <p:nvSpPr>
          <p:cNvPr id="55" name="Text 53"/>
          <p:cNvSpPr/>
          <p:nvPr/>
        </p:nvSpPr>
        <p:spPr>
          <a:xfrm>
            <a:off x="1965960" y="402336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2350008" y="402336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BRD+Figma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3291840" y="402336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3675888" y="402336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Figma Only</a:t>
            </a:r>
            <a:endParaRPr lang="en-US" sz="750" dirty="0"/>
          </a:p>
        </p:txBody>
      </p:sp>
      <p:sp>
        <p:nvSpPr>
          <p:cNvPr id="59" name="Text 57"/>
          <p:cNvSpPr/>
          <p:nvPr/>
        </p:nvSpPr>
        <p:spPr>
          <a:xfrm>
            <a:off x="4617720" y="402336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200" dirty="0"/>
          </a:p>
        </p:txBody>
      </p:sp>
      <p:sp>
        <p:nvSpPr>
          <p:cNvPr id="60" name="Text 58"/>
          <p:cNvSpPr/>
          <p:nvPr/>
        </p:nvSpPr>
        <p:spPr>
          <a:xfrm>
            <a:off x="5001768" y="402336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Gaps</a:t>
            </a:r>
            <a:endParaRPr lang="en-US" sz="750" dirty="0"/>
          </a:p>
        </p:txBody>
      </p:sp>
      <p:sp>
        <p:nvSpPr>
          <p:cNvPr id="61" name="Shape 59"/>
          <p:cNvSpPr/>
          <p:nvPr/>
        </p:nvSpPr>
        <p:spPr>
          <a:xfrm>
            <a:off x="640080" y="4343400"/>
            <a:ext cx="5135728" cy="164592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40080" y="4343400"/>
            <a:ext cx="1540718" cy="164592"/>
          </a:xfrm>
          <a:prstGeom prst="rect">
            <a:avLst/>
          </a:prstGeom>
          <a:solidFill>
            <a:srgbClr val="16A3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2180798" y="4343400"/>
            <a:ext cx="3081437" cy="164592"/>
          </a:xfrm>
          <a:prstGeom prst="rect">
            <a:avLst/>
          </a:prstGeom>
          <a:solidFill>
            <a:srgbClr val="4F46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5262235" y="4343400"/>
            <a:ext cx="513573" cy="164592"/>
          </a:xfrm>
          <a:prstGeom prst="rect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640080" y="4636008"/>
            <a:ext cx="5135728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40080" y="4709160"/>
            <a:ext cx="5135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gap: Pre/Post-Market Trading (25/25)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640080" y="548640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 live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6233008" y="3566160"/>
            <a:ext cx="5501488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A1F4D">
                <a:alpha val="8000"/>
              </a:srgbClr>
            </a:outerShdw>
          </a:effectLst>
        </p:spPr>
      </p:sp>
      <p:sp>
        <p:nvSpPr>
          <p:cNvPr id="69" name="Text 67"/>
          <p:cNvSpPr/>
          <p:nvPr/>
        </p:nvSpPr>
        <p:spPr>
          <a:xfrm>
            <a:off x="6415888" y="3657600"/>
            <a:ext cx="412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Monitoring</a:t>
            </a:r>
            <a:endParaRPr lang="en-US" sz="1200" dirty="0"/>
          </a:p>
        </p:txBody>
      </p:sp>
      <p:sp>
        <p:nvSpPr>
          <p:cNvPr id="70" name="Text 68"/>
          <p:cNvSpPr/>
          <p:nvPr/>
        </p:nvSpPr>
        <p:spPr>
          <a:xfrm>
            <a:off x="10545775" y="3639312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2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2000" dirty="0"/>
          </a:p>
        </p:txBody>
      </p:sp>
      <p:sp>
        <p:nvSpPr>
          <p:cNvPr id="71" name="Text 69"/>
          <p:cNvSpPr/>
          <p:nvPr/>
        </p:nvSpPr>
        <p:spPr>
          <a:xfrm>
            <a:off x="11048695" y="37033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800" dirty="0"/>
          </a:p>
        </p:txBody>
      </p:sp>
      <p:sp>
        <p:nvSpPr>
          <p:cNvPr id="72" name="Text 70"/>
          <p:cNvSpPr/>
          <p:nvPr/>
        </p:nvSpPr>
        <p:spPr>
          <a:xfrm>
            <a:off x="6415888" y="402336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73" name="Text 71"/>
          <p:cNvSpPr/>
          <p:nvPr/>
        </p:nvSpPr>
        <p:spPr>
          <a:xfrm>
            <a:off x="6799936" y="402336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750" dirty="0"/>
          </a:p>
        </p:txBody>
      </p:sp>
      <p:sp>
        <p:nvSpPr>
          <p:cNvPr id="74" name="Text 72"/>
          <p:cNvSpPr/>
          <p:nvPr/>
        </p:nvSpPr>
        <p:spPr>
          <a:xfrm>
            <a:off x="7741768" y="402336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75" name="Text 73"/>
          <p:cNvSpPr/>
          <p:nvPr/>
        </p:nvSpPr>
        <p:spPr>
          <a:xfrm>
            <a:off x="8125816" y="402336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BRD+Figma</a:t>
            </a:r>
            <a:endParaRPr lang="en-US" sz="750" dirty="0"/>
          </a:p>
        </p:txBody>
      </p:sp>
      <p:sp>
        <p:nvSpPr>
          <p:cNvPr id="76" name="Text 74"/>
          <p:cNvSpPr/>
          <p:nvPr/>
        </p:nvSpPr>
        <p:spPr>
          <a:xfrm>
            <a:off x="9067648" y="402336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200" dirty="0"/>
          </a:p>
        </p:txBody>
      </p:sp>
      <p:sp>
        <p:nvSpPr>
          <p:cNvPr id="77" name="Text 75"/>
          <p:cNvSpPr/>
          <p:nvPr/>
        </p:nvSpPr>
        <p:spPr>
          <a:xfrm>
            <a:off x="9451696" y="402336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Figma Only</a:t>
            </a:r>
            <a:endParaRPr lang="en-US" sz="750" dirty="0"/>
          </a:p>
        </p:txBody>
      </p:sp>
      <p:sp>
        <p:nvSpPr>
          <p:cNvPr id="78" name="Text 76"/>
          <p:cNvSpPr/>
          <p:nvPr/>
        </p:nvSpPr>
        <p:spPr>
          <a:xfrm>
            <a:off x="10393528" y="402336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79" name="Text 77"/>
          <p:cNvSpPr/>
          <p:nvPr/>
        </p:nvSpPr>
        <p:spPr>
          <a:xfrm>
            <a:off x="10777576" y="402336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Gaps</a:t>
            </a:r>
            <a:endParaRPr lang="en-US" sz="750" dirty="0"/>
          </a:p>
        </p:txBody>
      </p:sp>
      <p:sp>
        <p:nvSpPr>
          <p:cNvPr id="80" name="Shape 78"/>
          <p:cNvSpPr/>
          <p:nvPr/>
        </p:nvSpPr>
        <p:spPr>
          <a:xfrm>
            <a:off x="6415888" y="4343400"/>
            <a:ext cx="5135728" cy="164592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6415888" y="4343400"/>
            <a:ext cx="466884" cy="164592"/>
          </a:xfrm>
          <a:prstGeom prst="rect">
            <a:avLst/>
          </a:prstGeom>
          <a:solidFill>
            <a:srgbClr val="16A3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6882772" y="4343400"/>
            <a:ext cx="1167211" cy="164592"/>
          </a:xfrm>
          <a:prstGeom prst="rect">
            <a:avLst/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8049983" y="4343400"/>
            <a:ext cx="933769" cy="164592"/>
          </a:xfrm>
          <a:prstGeom prst="rect">
            <a:avLst/>
          </a:prstGeom>
          <a:solidFill>
            <a:srgbClr val="4F46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8983751" y="4343400"/>
            <a:ext cx="2567864" cy="164592"/>
          </a:xfrm>
          <a:prstGeom prst="rect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6415888" y="4636008"/>
            <a:ext cx="5135728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6415888" y="4709160"/>
            <a:ext cx="5135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gap: Gain/Loss Tax Report (20/25)</a:t>
            </a:r>
            <a:endParaRPr lang="en-US" sz="800" dirty="0"/>
          </a:p>
        </p:txBody>
      </p:sp>
      <p:sp>
        <p:nvSpPr>
          <p:cNvPr id="87" name="Text 85"/>
          <p:cNvSpPr/>
          <p:nvPr/>
        </p:nvSpPr>
        <p:spPr>
          <a:xfrm>
            <a:off x="6415888" y="548640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9% live</a:t>
            </a:r>
            <a:endParaRPr lang="en-US" sz="900" dirty="0"/>
          </a:p>
        </p:txBody>
      </p:sp>
      <p:sp>
        <p:nvSpPr>
          <p:cNvPr id="88" name="Shape 86"/>
          <p:cNvSpPr/>
          <p:nvPr/>
        </p:nvSpPr>
        <p:spPr>
          <a:xfrm>
            <a:off x="457200" y="6537960"/>
            <a:ext cx="1127729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457200" y="660196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  ·  DIGITAL EXPERIENCE  ·  2026-04-22</a:t>
            </a:r>
            <a:endParaRPr lang="en-US" sz="800" dirty="0"/>
          </a:p>
        </p:txBody>
      </p:sp>
      <p:sp>
        <p:nvSpPr>
          <p:cNvPr id="90" name="Text 88"/>
          <p:cNvSpPr/>
          <p:nvPr/>
        </p:nvSpPr>
        <p:spPr>
          <a:xfrm>
            <a:off x="5333695" y="660196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Features Inventory · BRDs + Figma API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2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alrajhi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2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508760" y="347472"/>
            <a:ext cx="0" cy="384048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45920" y="2743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SQUAD DETAIL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64592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Wealth, Funds, IPOs &amp; Corporate Actions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362895" y="38404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20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868680"/>
            <a:ext cx="1127729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097280"/>
            <a:ext cx="5501488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A1F4D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0080" y="1188720"/>
            <a:ext cx="412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Wealth Visibility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769968" y="1170432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2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272888" y="12344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640080" y="155448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24128" y="155448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1965960" y="155448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350008" y="155448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BRD+Figma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3291840" y="155448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675888" y="155448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Figma Only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4617720" y="155448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01768" y="155448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Gaps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640080" y="1874520"/>
            <a:ext cx="5135728" cy="164592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0080" y="1874520"/>
            <a:ext cx="1027146" cy="164592"/>
          </a:xfrm>
          <a:prstGeom prst="rect">
            <a:avLst/>
          </a:prstGeom>
          <a:solidFill>
            <a:srgbClr val="16A3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667226" y="1874520"/>
            <a:ext cx="4108582" cy="164592"/>
          </a:xfrm>
          <a:prstGeom prst="rect">
            <a:avLst/>
          </a:prstGeom>
          <a:solidFill>
            <a:srgbClr val="4F46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0080" y="2167128"/>
            <a:ext cx="5135728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2240280"/>
            <a:ext cx="5135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gap: Apple Pay Funding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40080" y="301752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 live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233008" y="1097280"/>
            <a:ext cx="5501488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A1F4D">
                <a:alpha val="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415888" y="1188720"/>
            <a:ext cx="412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Mutual Funds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0545775" y="1170432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2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11048695" y="12344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415888" y="155448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799936" y="155448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7741768" y="155448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125816" y="155448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BRD+Figma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9067648" y="155448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9451696" y="155448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Figma Only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10393528" y="155448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10777576" y="155448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Gaps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6415888" y="1874520"/>
            <a:ext cx="5135728" cy="164592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415888" y="1874520"/>
            <a:ext cx="466884" cy="164592"/>
          </a:xfrm>
          <a:prstGeom prst="rect">
            <a:avLst/>
          </a:prstGeom>
          <a:solidFill>
            <a:srgbClr val="16A3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882772" y="1874520"/>
            <a:ext cx="1400653" cy="164592"/>
          </a:xfrm>
          <a:prstGeom prst="rect">
            <a:avLst/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283425" y="1874520"/>
            <a:ext cx="2801306" cy="164592"/>
          </a:xfrm>
          <a:prstGeom prst="rect">
            <a:avLst/>
          </a:prstGeom>
          <a:solidFill>
            <a:srgbClr val="4F46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1084731" y="1874520"/>
            <a:ext cx="466884" cy="164592"/>
          </a:xfrm>
          <a:prstGeom prst="rect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415888" y="2167128"/>
            <a:ext cx="5135728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15888" y="2240280"/>
            <a:ext cx="5135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gap: Private Funds Access (20/25)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6415888" y="301752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9% live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57200" y="3566160"/>
            <a:ext cx="5501488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A1F4D">
                <a:alpha val="8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640080" y="3657600"/>
            <a:ext cx="412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 Advisory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4769968" y="3639312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2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50" name="Text 48"/>
          <p:cNvSpPr/>
          <p:nvPr/>
        </p:nvSpPr>
        <p:spPr>
          <a:xfrm>
            <a:off x="5272888" y="37033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640080" y="402336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1024128" y="402336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750" dirty="0"/>
          </a:p>
        </p:txBody>
      </p:sp>
      <p:sp>
        <p:nvSpPr>
          <p:cNvPr id="53" name="Text 51"/>
          <p:cNvSpPr/>
          <p:nvPr/>
        </p:nvSpPr>
        <p:spPr>
          <a:xfrm>
            <a:off x="1965960" y="402336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2350008" y="402336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BRD+Figma</a:t>
            </a:r>
            <a:endParaRPr lang="en-US" sz="750" dirty="0"/>
          </a:p>
        </p:txBody>
      </p:sp>
      <p:sp>
        <p:nvSpPr>
          <p:cNvPr id="55" name="Text 53"/>
          <p:cNvSpPr/>
          <p:nvPr/>
        </p:nvSpPr>
        <p:spPr>
          <a:xfrm>
            <a:off x="3291840" y="402336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3675888" y="402336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Figma Only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4617720" y="402336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5001768" y="402336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Gaps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640080" y="4343400"/>
            <a:ext cx="5135728" cy="164592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640080" y="4343400"/>
            <a:ext cx="1283932" cy="164592"/>
          </a:xfrm>
          <a:prstGeom prst="rect">
            <a:avLst/>
          </a:prstGeom>
          <a:solidFill>
            <a:srgbClr val="16A3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924012" y="4343400"/>
            <a:ext cx="2567864" cy="164592"/>
          </a:xfrm>
          <a:prstGeom prst="rect">
            <a:avLst/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4491876" y="4343400"/>
            <a:ext cx="1283932" cy="164592"/>
          </a:xfrm>
          <a:prstGeom prst="rect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640080" y="4636008"/>
            <a:ext cx="5135728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40080" y="4709160"/>
            <a:ext cx="5135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gap: Goal-Based Portfolio (15/25)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640080" y="548640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 live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6233008" y="3566160"/>
            <a:ext cx="5501488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A1F4D">
                <a:alpha val="8000"/>
              </a:srgbClr>
            </a:outerShdw>
          </a:effectLst>
        </p:spPr>
      </p:sp>
      <p:sp>
        <p:nvSpPr>
          <p:cNvPr id="67" name="Text 65"/>
          <p:cNvSpPr/>
          <p:nvPr/>
        </p:nvSpPr>
        <p:spPr>
          <a:xfrm>
            <a:off x="6415888" y="3657600"/>
            <a:ext cx="412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IPOs</a:t>
            </a:r>
            <a:endParaRPr lang="en-US" sz="1200" dirty="0"/>
          </a:p>
        </p:txBody>
      </p:sp>
      <p:sp>
        <p:nvSpPr>
          <p:cNvPr id="68" name="Text 66"/>
          <p:cNvSpPr/>
          <p:nvPr/>
        </p:nvSpPr>
        <p:spPr>
          <a:xfrm>
            <a:off x="10545775" y="3639312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2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000" dirty="0"/>
          </a:p>
        </p:txBody>
      </p:sp>
      <p:sp>
        <p:nvSpPr>
          <p:cNvPr id="69" name="Text 67"/>
          <p:cNvSpPr/>
          <p:nvPr/>
        </p:nvSpPr>
        <p:spPr>
          <a:xfrm>
            <a:off x="11048695" y="37033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800" dirty="0"/>
          </a:p>
        </p:txBody>
      </p:sp>
      <p:sp>
        <p:nvSpPr>
          <p:cNvPr id="70" name="Text 68"/>
          <p:cNvSpPr/>
          <p:nvPr/>
        </p:nvSpPr>
        <p:spPr>
          <a:xfrm>
            <a:off x="6415888" y="402336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71" name="Text 69"/>
          <p:cNvSpPr/>
          <p:nvPr/>
        </p:nvSpPr>
        <p:spPr>
          <a:xfrm>
            <a:off x="6799936" y="402336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750" dirty="0"/>
          </a:p>
        </p:txBody>
      </p:sp>
      <p:sp>
        <p:nvSpPr>
          <p:cNvPr id="72" name="Text 70"/>
          <p:cNvSpPr/>
          <p:nvPr/>
        </p:nvSpPr>
        <p:spPr>
          <a:xfrm>
            <a:off x="7741768" y="402336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73" name="Text 71"/>
          <p:cNvSpPr/>
          <p:nvPr/>
        </p:nvSpPr>
        <p:spPr>
          <a:xfrm>
            <a:off x="8125816" y="402336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BRD+Figma</a:t>
            </a:r>
            <a:endParaRPr lang="en-US" sz="750" dirty="0"/>
          </a:p>
        </p:txBody>
      </p:sp>
      <p:sp>
        <p:nvSpPr>
          <p:cNvPr id="74" name="Text 72"/>
          <p:cNvSpPr/>
          <p:nvPr/>
        </p:nvSpPr>
        <p:spPr>
          <a:xfrm>
            <a:off x="9067648" y="402336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5" name="Text 73"/>
          <p:cNvSpPr/>
          <p:nvPr/>
        </p:nvSpPr>
        <p:spPr>
          <a:xfrm>
            <a:off x="9451696" y="402336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Figma Only</a:t>
            </a:r>
            <a:endParaRPr lang="en-US" sz="750" dirty="0"/>
          </a:p>
        </p:txBody>
      </p:sp>
      <p:sp>
        <p:nvSpPr>
          <p:cNvPr id="76" name="Text 74"/>
          <p:cNvSpPr/>
          <p:nvPr/>
        </p:nvSpPr>
        <p:spPr>
          <a:xfrm>
            <a:off x="10393528" y="402336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77" name="Text 75"/>
          <p:cNvSpPr/>
          <p:nvPr/>
        </p:nvSpPr>
        <p:spPr>
          <a:xfrm>
            <a:off x="10777576" y="402336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Gaps</a:t>
            </a:r>
            <a:endParaRPr lang="en-US" sz="750" dirty="0"/>
          </a:p>
        </p:txBody>
      </p:sp>
      <p:sp>
        <p:nvSpPr>
          <p:cNvPr id="78" name="Shape 76"/>
          <p:cNvSpPr/>
          <p:nvPr/>
        </p:nvSpPr>
        <p:spPr>
          <a:xfrm>
            <a:off x="6415888" y="4343400"/>
            <a:ext cx="5135728" cy="164592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6415888" y="4343400"/>
            <a:ext cx="1467351" cy="164592"/>
          </a:xfrm>
          <a:prstGeom prst="rect">
            <a:avLst/>
          </a:prstGeom>
          <a:solidFill>
            <a:srgbClr val="16A3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7883238" y="4343400"/>
            <a:ext cx="733675" cy="164592"/>
          </a:xfrm>
          <a:prstGeom prst="rect">
            <a:avLst/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8616914" y="4343400"/>
            <a:ext cx="2201026" cy="164592"/>
          </a:xfrm>
          <a:prstGeom prst="rect">
            <a:avLst/>
          </a:prstGeom>
          <a:solidFill>
            <a:srgbClr val="4F46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10817940" y="4343400"/>
            <a:ext cx="733675" cy="164592"/>
          </a:xfrm>
          <a:prstGeom prst="rect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6415888" y="4636008"/>
            <a:ext cx="5135728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6415888" y="4709160"/>
            <a:ext cx="5135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gap: US Market IPO</a:t>
            </a:r>
            <a:endParaRPr lang="en-US" sz="800" dirty="0"/>
          </a:p>
        </p:txBody>
      </p:sp>
      <p:sp>
        <p:nvSpPr>
          <p:cNvPr id="85" name="Text 83"/>
          <p:cNvSpPr/>
          <p:nvPr/>
        </p:nvSpPr>
        <p:spPr>
          <a:xfrm>
            <a:off x="6415888" y="548640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29% live</a:t>
            </a:r>
            <a:endParaRPr lang="en-US" sz="900" dirty="0"/>
          </a:p>
        </p:txBody>
      </p:sp>
      <p:sp>
        <p:nvSpPr>
          <p:cNvPr id="86" name="Shape 84"/>
          <p:cNvSpPr/>
          <p:nvPr/>
        </p:nvSpPr>
        <p:spPr>
          <a:xfrm>
            <a:off x="457200" y="6537960"/>
            <a:ext cx="1127729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457200" y="660196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  ·  DIGITAL EXPERIENCE  ·  2026-04-22</a:t>
            </a:r>
            <a:endParaRPr lang="en-US" sz="800" dirty="0"/>
          </a:p>
        </p:txBody>
      </p:sp>
      <p:sp>
        <p:nvSpPr>
          <p:cNvPr id="88" name="Text 86"/>
          <p:cNvSpPr/>
          <p:nvPr/>
        </p:nvSpPr>
        <p:spPr>
          <a:xfrm>
            <a:off x="5333695" y="660196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Features Inventory · BRDs + Figma API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2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alrajhi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2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508760" y="347472"/>
            <a:ext cx="0" cy="384048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45920" y="2743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SQUAD DETAIL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64592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&amp; Cross-Journey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362895" y="38404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20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868680"/>
            <a:ext cx="1127729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097280"/>
            <a:ext cx="5501488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A1F4D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0080" y="1188720"/>
            <a:ext cx="412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Actions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769968" y="1170432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2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272888" y="12344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640080" y="155448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24128" y="155448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1965960" y="155448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350008" y="155448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BRD+Figma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3291840" y="155448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675888" y="155448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Figma Only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4617720" y="155448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01768" y="155448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Gaps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640080" y="1874520"/>
            <a:ext cx="5135728" cy="164592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0080" y="1874520"/>
            <a:ext cx="1283932" cy="164592"/>
          </a:xfrm>
          <a:prstGeom prst="rect">
            <a:avLst/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924012" y="1874520"/>
            <a:ext cx="2567864" cy="164592"/>
          </a:xfrm>
          <a:prstGeom prst="rect">
            <a:avLst/>
          </a:prstGeom>
          <a:solidFill>
            <a:srgbClr val="4F46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491876" y="1874520"/>
            <a:ext cx="1283932" cy="164592"/>
          </a:xfrm>
          <a:prstGeom prst="rect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0080" y="2167128"/>
            <a:ext cx="5135728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2240280"/>
            <a:ext cx="5135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gap: Rights Issue Digital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40080" y="301752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 live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233008" y="1097280"/>
            <a:ext cx="5501488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A1F4D">
                <a:alpha val="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415888" y="1188720"/>
            <a:ext cx="412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Engagement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0545775" y="1170432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2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11048695" y="12344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415888" y="155448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799936" y="155448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7741768" y="155448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8125816" y="155448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BRD+Figma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9067648" y="155448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9451696" y="155448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Figma Only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10393528" y="155448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10777576" y="155448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Gaps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6415888" y="1874520"/>
            <a:ext cx="5135728" cy="164592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415888" y="1874520"/>
            <a:ext cx="641966" cy="164592"/>
          </a:xfrm>
          <a:prstGeom prst="rect">
            <a:avLst/>
          </a:prstGeom>
          <a:solidFill>
            <a:srgbClr val="16A3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057854" y="1874520"/>
            <a:ext cx="3530813" cy="164592"/>
          </a:xfrm>
          <a:prstGeom prst="rect">
            <a:avLst/>
          </a:prstGeom>
          <a:solidFill>
            <a:srgbClr val="4F46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0588666" y="1874520"/>
            <a:ext cx="1283932" cy="164592"/>
          </a:xfrm>
          <a:prstGeom prst="rect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415888" y="2167128"/>
            <a:ext cx="5135728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15888" y="2240280"/>
            <a:ext cx="5135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gap: Social Community Feed (20/25)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6415888" y="301752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13% live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57200" y="3566160"/>
            <a:ext cx="5501488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A1F4D">
                <a:alpha val="8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640080" y="3657600"/>
            <a:ext cx="412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Cross-Journey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4769968" y="3639312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2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2000" dirty="0"/>
          </a:p>
        </p:txBody>
      </p:sp>
      <p:sp>
        <p:nvSpPr>
          <p:cNvPr id="50" name="Text 48"/>
          <p:cNvSpPr/>
          <p:nvPr/>
        </p:nvSpPr>
        <p:spPr>
          <a:xfrm>
            <a:off x="5272888" y="37033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640080" y="402336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1024128" y="402336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750" dirty="0"/>
          </a:p>
        </p:txBody>
      </p:sp>
      <p:sp>
        <p:nvSpPr>
          <p:cNvPr id="53" name="Text 51"/>
          <p:cNvSpPr/>
          <p:nvPr/>
        </p:nvSpPr>
        <p:spPr>
          <a:xfrm>
            <a:off x="1965960" y="402336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2350008" y="402336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BRD+Figma</a:t>
            </a:r>
            <a:endParaRPr lang="en-US" sz="750" dirty="0"/>
          </a:p>
        </p:txBody>
      </p:sp>
      <p:sp>
        <p:nvSpPr>
          <p:cNvPr id="55" name="Text 53"/>
          <p:cNvSpPr/>
          <p:nvPr/>
        </p:nvSpPr>
        <p:spPr>
          <a:xfrm>
            <a:off x="3291840" y="402336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3675888" y="402336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Figma Only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4617720" y="402336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5001768" y="402336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Gaps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640080" y="4343400"/>
            <a:ext cx="5135728" cy="164592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640080" y="4343400"/>
            <a:ext cx="466884" cy="164592"/>
          </a:xfrm>
          <a:prstGeom prst="rect">
            <a:avLst/>
          </a:prstGeom>
          <a:solidFill>
            <a:srgbClr val="16A3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106964" y="4343400"/>
            <a:ext cx="3034748" cy="164592"/>
          </a:xfrm>
          <a:prstGeom prst="rect">
            <a:avLst/>
          </a:prstGeom>
          <a:solidFill>
            <a:srgbClr val="4F46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4141712" y="4343400"/>
            <a:ext cx="1634095" cy="164592"/>
          </a:xfrm>
          <a:prstGeom prst="rect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640080" y="4636008"/>
            <a:ext cx="5135728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40080" y="4709160"/>
            <a:ext cx="5135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gap: Price Alert System (16/25)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640080" y="548640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9% live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457200" y="6537960"/>
            <a:ext cx="1127729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57200" y="660196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  ·  DIGITAL EXPERIENCE  ·  2026-04-22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5333695" y="660196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Features Inventory · BRDs + Figma API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2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alrajhi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2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508760" y="347472"/>
            <a:ext cx="0" cy="384048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45920" y="2743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VELOCITY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64592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Activity — Last Modified Dates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362895" y="38404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20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868680"/>
            <a:ext cx="1127729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188720"/>
            <a:ext cx="1463040" cy="502920"/>
          </a:xfrm>
          <a:prstGeom prst="roundRect">
            <a:avLst>
              <a:gd name="adj" fmla="val 10909"/>
            </a:avLst>
          </a:prstGeom>
          <a:solidFill>
            <a:srgbClr val="DCFCE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20700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2026-04-21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146304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today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1188720" y="1691640"/>
            <a:ext cx="0" cy="27432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286000" y="1188720"/>
            <a:ext cx="29260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A1F4D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423160" y="123444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KYC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423160" y="1463040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296K nodes · 6 pages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5486400" y="1188720"/>
            <a:ext cx="29260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A1F4D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623560" y="123444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623560" y="1463040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407K nodes · 2 pages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57200" y="1965960"/>
            <a:ext cx="1463040" cy="502920"/>
          </a:xfrm>
          <a:prstGeom prst="roundRect">
            <a:avLst>
              <a:gd name="adj" fmla="val 10909"/>
            </a:avLst>
          </a:prstGeom>
          <a:solidFill>
            <a:srgbClr val="DCFCE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198424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2026-04-20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224028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yesterday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1188720" y="2468880"/>
            <a:ext cx="0" cy="27432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286000" y="1965960"/>
            <a:ext cx="29260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A1F4D">
                <a:alpha val="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2423160" y="201168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 (IPO)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423160" y="2240280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427K nodes · 2 pages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57200" y="2743200"/>
            <a:ext cx="1463040" cy="502920"/>
          </a:xfrm>
          <a:prstGeom prst="roundRect">
            <a:avLst>
              <a:gd name="adj" fmla="val 10909"/>
            </a:avLst>
          </a:prstGeom>
          <a:solidFill>
            <a:srgbClr val="DCFCE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276148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2026-04-15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301752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this week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1188720" y="3246120"/>
            <a:ext cx="0" cy="27432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286000" y="2743200"/>
            <a:ext cx="29260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A1F4D">
                <a:alpha val="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2423160" y="278892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423160" y="3017520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291K nodes · 3 pages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5486400" y="2743200"/>
            <a:ext cx="29260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A1F4D">
                <a:alpha val="8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5623560" y="278892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&amp; Setting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623560" y="3017520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230K nodes · 2 pages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457200" y="3520440"/>
            <a:ext cx="1463040" cy="502920"/>
          </a:xfrm>
          <a:prstGeom prst="roundRect">
            <a:avLst>
              <a:gd name="adj" fmla="val 10909"/>
            </a:avLst>
          </a:prstGeom>
          <a:solidFill>
            <a:srgbClr val="DCFCE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353872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2026-04-14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57200" y="379476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this week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1188720" y="4023360"/>
            <a:ext cx="0" cy="27432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286000" y="3520440"/>
            <a:ext cx="29260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A1F4D">
                <a:alpha val="8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2423160" y="356616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Portfolios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2423160" y="3794760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240K nodes · 5 pages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457200" y="4297680"/>
            <a:ext cx="1463040" cy="502920"/>
          </a:xfrm>
          <a:prstGeom prst="roundRect">
            <a:avLst>
              <a:gd name="adj" fmla="val 10909"/>
            </a:avLst>
          </a:prstGeom>
          <a:solidFill>
            <a:srgbClr val="FEF3C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57200" y="43159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2026-03-28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457200" y="457200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3+ weeks ago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1188720" y="4800600"/>
            <a:ext cx="0" cy="27432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286000" y="4297680"/>
            <a:ext cx="29260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A1F4D">
                <a:alpha val="8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2423160" y="434340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Tradepad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2423160" y="4572000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167K nodes · 2 pages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457200" y="5074920"/>
            <a:ext cx="1463040" cy="502920"/>
          </a:xfrm>
          <a:prstGeom prst="roundRect">
            <a:avLst>
              <a:gd name="adj" fmla="val 10909"/>
            </a:avLst>
          </a:prstGeom>
          <a:solidFill>
            <a:srgbClr val="FEF3C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57200" y="509320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2026-03-26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457200" y="534924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3+ weeks ago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2286000" y="5074920"/>
            <a:ext cx="29260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A1F4D">
                <a:alpha val="8000"/>
              </a:srgbClr>
            </a:outerShdw>
          </a:effectLst>
        </p:spPr>
      </p:sp>
      <p:sp>
        <p:nvSpPr>
          <p:cNvPr id="54" name="Text 52"/>
          <p:cNvSpPr/>
          <p:nvPr/>
        </p:nvSpPr>
        <p:spPr>
          <a:xfrm>
            <a:off x="2423160" y="512064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2423160" y="5349240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210K nodes · 2 pages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457200" y="5760720"/>
            <a:ext cx="11277295" cy="502920"/>
          </a:xfrm>
          <a:prstGeom prst="roundRect">
            <a:avLst>
              <a:gd name="adj" fmla="val 14545"/>
            </a:avLst>
          </a:prstGeom>
          <a:solidFill>
            <a:srgbClr val="FEF3C7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A1F4D">
                <a:alpha val="8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640080" y="5824728"/>
            <a:ext cx="731520" cy="237744"/>
          </a:xfrm>
          <a:prstGeom prst="roundRect">
            <a:avLst>
              <a:gd name="adj" fmla="val 11538"/>
            </a:avLst>
          </a:prstGeom>
          <a:solidFill>
            <a:srgbClr val="FEF3C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40080" y="5824728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1554480" y="5788152"/>
            <a:ext cx="10058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Tradepad and Orders haven't been modified in 3+ weeks. OnBoarding and Market are actively being worked on today. Design resources appear concentrated on onboarding and market experience.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457200" y="6537960"/>
            <a:ext cx="1127729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57200" y="660196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  ·  DIGITAL EXPERIENCE  ·  2026-04-22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5333695" y="660196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Figma REST API · lastModified metadata �� 2026-04-22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2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alrajhi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2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508760" y="347472"/>
            <a:ext cx="0" cy="384048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45920" y="2743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MAP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64592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Recommendations — Deep Edition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362895" y="38404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20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868680"/>
            <a:ext cx="1127729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051560"/>
            <a:ext cx="11277295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A1F4D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94360" y="118872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0A1F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1188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88720" y="1124712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10 Discovered Features to Inventory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9144000" y="1143000"/>
            <a:ext cx="822960" cy="237744"/>
          </a:xfrm>
          <a:prstGeom prst="roundRect">
            <a:avLst>
              <a:gd name="adj" fmla="val 11538"/>
            </a:avLst>
          </a:prstGeom>
          <a:solidFill>
            <a:srgbClr val="FEE2E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0" y="114300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188720" y="1399032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Screener, UAE Market, Fast Onboarding, Guest Mode (Web), First Engagement, Tutorials, Digital StoryTeller, Ramadan Theme, POA, Crowd Fund — all found in Figma but missing from the 154-feature inventory. Classify, assign to squads, and write BRDs.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57200" y="1920240"/>
            <a:ext cx="11277295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A1F4D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94360" y="205740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0A1F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88720" y="1993392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Reclassify Stock Screener Gap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9144000" y="2011680"/>
            <a:ext cx="822960" cy="237744"/>
          </a:xfrm>
          <a:prstGeom prst="roundRect">
            <a:avLst>
              <a:gd name="adj" fmla="val 11538"/>
            </a:avLst>
          </a:prstGeom>
          <a:solidFill>
            <a:srgbClr val="DCFCE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0" y="201168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188720" y="2267712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#2 (score 25/25) has active Figma design in Market file. Update gap matrix status from 'No Figma' to 'In Design'. Write BRD if one doesn't exist. This is the highest-impact gap already being addressed.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57200" y="2788920"/>
            <a:ext cx="11277295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A1F4D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94360" y="292608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0A1F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" y="2926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188720" y="2862072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Squad Validation (14 Days Overdue)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9144000" y="2880360"/>
            <a:ext cx="822960" cy="237744"/>
          </a:xfrm>
          <a:prstGeom prst="roundRect">
            <a:avLst>
              <a:gd name="adj" fmla="val 11538"/>
            </a:avLst>
          </a:prstGeom>
          <a:solidFill>
            <a:srgbClr val="FEE2E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44000" y="288036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188720" y="3136392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7 deadline passed. Deep extraction reveals the inventory is incomplete (10 new features found). Validation must include these new discoveries. Set new deadline: May 1.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57200" y="3657600"/>
            <a:ext cx="11277295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A1F4D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94360" y="379476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0A1F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4360" y="3794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188720" y="3730752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UAE Market Scope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9144000" y="3749040"/>
            <a:ext cx="822960" cy="237744"/>
          </a:xfrm>
          <a:prstGeom prst="roundRect">
            <a:avLst>
              <a:gd name="adj" fmla="val 11538"/>
            </a:avLst>
          </a:prstGeom>
          <a:solidFill>
            <a:srgbClr val="FEF3C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44000" y="374904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1188720" y="4005072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UAE Market labels found across Market and Orders files. This is a 3rd market beyond Saudi and US — not in any BRD. Confirm if this is intentional scope or placeholder design. If real, it's a major product expansion.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457200" y="4526280"/>
            <a:ext cx="11277295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A1F4D">
                <a:alpha val="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594360" y="46634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0A1F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94360" y="4663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1188720" y="4599432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Fast Onboarding Design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9144000" y="4617720"/>
            <a:ext cx="822960" cy="237744"/>
          </a:xfrm>
          <a:prstGeom prst="roundRect">
            <a:avLst>
              <a:gd name="adj" fmla="val 11538"/>
            </a:avLst>
          </a:prstGeom>
          <a:solidFill>
            <a:srgbClr val="FEF3C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144000" y="461772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1188720" y="4873752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364 sub-frames in the Fast Onboarding page suggest significant design investment. With 87% onboarding drop-off (from IA analysis), this streamlined flow could be the highest-ROI feature to build next.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457200" y="5394960"/>
            <a:ext cx="11277295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A1F4D">
                <a:alpha val="8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594360" y="553212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0A1F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94360" y="5532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1188720" y="5468112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 Figma Token Monthly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9144000" y="5486400"/>
            <a:ext cx="822960" cy="237744"/>
          </a:xfrm>
          <a:prstGeom prst="roundRect">
            <a:avLst>
              <a:gd name="adj" fmla="val 11538"/>
            </a:avLst>
          </a:prstGeom>
          <a:solidFill>
            <a:srgbClr val="F1F4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9144000" y="548640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1188720" y="5742432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expired between sessions. Set a calendar reminder to regenerate the personal access token on the 1st of each month. Store in .zshrc for automated scripts.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457200" y="6537960"/>
            <a:ext cx="1127729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57200" y="660196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  ·  DIGITAL EXPERIENCE  ·  2026-04-22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5333695" y="660196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Deep Figma extraction synthesis + Features Map + IA analysis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2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alrajhi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2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508760" y="347472"/>
            <a:ext cx="0" cy="384048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45920" y="2743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INTELLIGENCE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64592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Landscape — Who Leads Where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362895" y="38404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20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868680"/>
            <a:ext cx="1127729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097280"/>
            <a:ext cx="5455768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A1F4D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0080" y="1188720"/>
            <a:ext cx="4175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Moomoo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907128" y="1207008"/>
            <a:ext cx="822960" cy="237744"/>
          </a:xfrm>
          <a:prstGeom prst="roundRect">
            <a:avLst>
              <a:gd name="adj" fmla="val 15385"/>
            </a:avLst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07128" y="1207008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gaps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40080" y="1536192"/>
            <a:ext cx="50900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advantages over ARC: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40080" y="1737360"/>
            <a:ext cx="50900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depth, AI assistant, stock comparison, community feed, paper trading, fractional shares, money flow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278728" y="1097280"/>
            <a:ext cx="5455768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A1F4D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461608" y="1188720"/>
            <a:ext cx="4175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Derayah / Smart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0728655" y="1207008"/>
            <a:ext cx="822960" cy="237744"/>
          </a:xfrm>
          <a:prstGeom prst="roundRect">
            <a:avLst>
              <a:gd name="adj" fmla="val 15385"/>
            </a:avLst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728655" y="1207008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gaps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461608" y="1536192"/>
            <a:ext cx="50900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advantages over ARC: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461608" y="1737360"/>
            <a:ext cx="50900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orders, Apple Pay, SIP, goal-based investing, pre-filled KYC, dividend reinvestment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57200" y="2697480"/>
            <a:ext cx="5455768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A1F4D">
                <a:alpha val="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40080" y="2788920"/>
            <a:ext cx="4175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Sahm Capital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907128" y="2807208"/>
            <a:ext cx="822960" cy="237744"/>
          </a:xfrm>
          <a:prstGeom prst="roundRect">
            <a:avLst>
              <a:gd name="adj" fmla="val 15385"/>
            </a:avLst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07128" y="2807208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gaps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40080" y="3136392"/>
            <a:ext cx="50900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advantages over ARC: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40080" y="3337560"/>
            <a:ext cx="50900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 navigation, free live prices, personalized calendar, social proof nudges, always-on price view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6278728" y="2697480"/>
            <a:ext cx="5455768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A1F4D">
                <a:alpha val="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461608" y="2788920"/>
            <a:ext cx="4175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AlJazira Capital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10728655" y="2807208"/>
            <a:ext cx="822960" cy="237744"/>
          </a:xfrm>
          <a:prstGeom prst="roundRect">
            <a:avLst>
              <a:gd name="adj" fmla="val 15385"/>
            </a:avLst>
          </a:prstGeom>
          <a:solidFill>
            <a:srgbClr val="D9770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728655" y="2807208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gaps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461608" y="3136392"/>
            <a:ext cx="50900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advantages over ARC: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461608" y="3337560"/>
            <a:ext cx="50900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funds (10+), SIP, Nomu institutional IPO, IPO popup banners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57200" y="4297680"/>
            <a:ext cx="5455768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A1F4D">
                <a:alpha val="8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640080" y="4389120"/>
            <a:ext cx="4175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Investing.com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907128" y="4407408"/>
            <a:ext cx="822960" cy="237744"/>
          </a:xfrm>
          <a:prstGeom prst="roundRect">
            <a:avLst>
              <a:gd name="adj" fmla="val 15385"/>
            </a:avLst>
          </a:prstGeom>
          <a:solidFill>
            <a:srgbClr val="D9770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07128" y="4407408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gaps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40080" y="4736592"/>
            <a:ext cx="50900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advantages over ARC: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40080" y="4937760"/>
            <a:ext cx="50900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screener, multi-type alerts, fundamental data, ETF exposure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6278728" y="4297680"/>
            <a:ext cx="5455768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A1F4D">
                <a:alpha val="8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6461608" y="4389120"/>
            <a:ext cx="4175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IBKR / Global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10728655" y="4407408"/>
            <a:ext cx="822960" cy="237744"/>
          </a:xfrm>
          <a:prstGeom prst="roundRect">
            <a:avLst>
              <a:gd name="adj" fmla="val 15385"/>
            </a:avLst>
          </a:prstGeom>
          <a:solidFill>
            <a:srgbClr val="D9770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0728655" y="4407408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gaps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461608" y="4736592"/>
            <a:ext cx="50900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advantages over ARC: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6461608" y="4937760"/>
            <a:ext cx="50900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Pre/post market, fractional shares, L2 depth, bonds, futures, advanced orders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457200" y="6537960"/>
            <a:ext cx="1127729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57200" y="660196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  ·  DIGITAL EXPERIENCE  ·  2026-04-22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5333695" y="660196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Benchmark reports: Moomoo, Derayah, AlJazira, Sahm, Investing.com, IBKR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2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alrajhi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2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508760" y="347472"/>
            <a:ext cx="0" cy="384048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45920" y="2743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64592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Debt — Close the Gap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362895" y="38404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20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868680"/>
            <a:ext cx="1127729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097280"/>
            <a:ext cx="530352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A1F4D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0080" y="11887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 Features Need BRDs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16002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743200" y="1636776"/>
            <a:ext cx="1828800" cy="164592"/>
          </a:xfrm>
          <a:prstGeom prst="roundRect">
            <a:avLst>
              <a:gd name="adj" fmla="val 50000"/>
            </a:avLst>
          </a:prstGeom>
          <a:solidFill>
            <a:srgbClr val="F1F4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0" y="1636776"/>
            <a:ext cx="1676400" cy="164592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0" y="160020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31520" y="19476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Saudi Trading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743200" y="1984248"/>
            <a:ext cx="1828800" cy="164592"/>
          </a:xfrm>
          <a:prstGeom prst="roundRect">
            <a:avLst>
              <a:gd name="adj" fmla="val 50000"/>
            </a:avLst>
          </a:prstGeom>
          <a:solidFill>
            <a:srgbClr val="F1F4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0" y="1984248"/>
            <a:ext cx="2133600" cy="164592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0" y="194767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31520" y="229514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Trading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743200" y="2331720"/>
            <a:ext cx="1828800" cy="164592"/>
          </a:xfrm>
          <a:prstGeom prst="roundRect">
            <a:avLst>
              <a:gd name="adj" fmla="val 50000"/>
            </a:avLst>
          </a:prstGeom>
          <a:solidFill>
            <a:srgbClr val="F1F4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0" y="2331720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0" y="229514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31520" y="264261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Monitoring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743200" y="2679192"/>
            <a:ext cx="1828800" cy="164592"/>
          </a:xfrm>
          <a:prstGeom prst="roundRect">
            <a:avLst>
              <a:gd name="adj" fmla="val 50000"/>
            </a:avLst>
          </a:prstGeom>
          <a:solidFill>
            <a:srgbClr val="F1F4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743200" y="2679192"/>
            <a:ext cx="1676400" cy="164592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0" y="264261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" y="299008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Mutual Funds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743200" y="3026664"/>
            <a:ext cx="1828800" cy="164592"/>
          </a:xfrm>
          <a:prstGeom prst="roundRect">
            <a:avLst>
              <a:gd name="adj" fmla="val 50000"/>
            </a:avLst>
          </a:prstGeom>
          <a:solidFill>
            <a:srgbClr val="F1F4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743200" y="3026664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54880" y="299008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31520" y="33375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 Advisory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743200" y="3374136"/>
            <a:ext cx="1828800" cy="164592"/>
          </a:xfrm>
          <a:prstGeom prst="roundRect">
            <a:avLst>
              <a:gd name="adj" fmla="val 50000"/>
            </a:avLst>
          </a:prstGeom>
          <a:solidFill>
            <a:srgbClr val="F1F4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743200" y="3374136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54880" y="33375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31520" y="36850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IPOs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743200" y="3721608"/>
            <a:ext cx="1828800" cy="164592"/>
          </a:xfrm>
          <a:prstGeom prst="roundRect">
            <a:avLst>
              <a:gd name="adj" fmla="val 50000"/>
            </a:avLst>
          </a:prstGeom>
          <a:solidFill>
            <a:srgbClr val="F1F4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743200" y="3721608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54880" y="368503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31520" y="403250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Actions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2743200" y="4069080"/>
            <a:ext cx="1828800" cy="164592"/>
          </a:xfrm>
          <a:prstGeom prst="roundRect">
            <a:avLst>
              <a:gd name="adj" fmla="val 50000"/>
            </a:avLst>
          </a:prstGeom>
          <a:solidFill>
            <a:srgbClr val="F1F4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743200" y="4069080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54880" y="40325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731520" y="437997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Engagement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2743200" y="4416552"/>
            <a:ext cx="1828800" cy="164592"/>
          </a:xfrm>
          <a:prstGeom prst="roundRect">
            <a:avLst>
              <a:gd name="adj" fmla="val 50000"/>
            </a:avLst>
          </a:prstGeom>
          <a:solidFill>
            <a:srgbClr val="F1F4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743200" y="4416552"/>
            <a:ext cx="609600" cy="164592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754880" y="437997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731520" y="472744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Cross-Journey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2743200" y="4764024"/>
            <a:ext cx="1828800" cy="164592"/>
          </a:xfrm>
          <a:prstGeom prst="roundRect">
            <a:avLst>
              <a:gd name="adj" fmla="val 50000"/>
            </a:avLst>
          </a:prstGeom>
          <a:solidFill>
            <a:srgbClr val="F1F4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0" y="4764024"/>
            <a:ext cx="1066800" cy="164592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754880" y="472744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217920" y="1097280"/>
            <a:ext cx="548640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A1F4D">
                <a:alpha val="8000"/>
              </a:srgbClr>
            </a:outerShdw>
          </a:effectLst>
        </p:spPr>
      </p:sp>
      <p:sp>
        <p:nvSpPr>
          <p:cNvPr id="52" name="Text 50"/>
          <p:cNvSpPr/>
          <p:nvPr/>
        </p:nvSpPr>
        <p:spPr>
          <a:xfrm>
            <a:off x="6400800" y="11887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 Features Need Figma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6492240" y="16002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8503920" y="1636776"/>
            <a:ext cx="2011680" cy="164592"/>
          </a:xfrm>
          <a:prstGeom prst="roundRect">
            <a:avLst>
              <a:gd name="adj" fmla="val 50000"/>
            </a:avLst>
          </a:prstGeom>
          <a:solidFill>
            <a:srgbClr val="F1F4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503920" y="1636776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0698480" y="160020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6492240" y="19476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Saudi Trading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8503920" y="1984248"/>
            <a:ext cx="2011680" cy="164592"/>
          </a:xfrm>
          <a:prstGeom prst="roundRect">
            <a:avLst>
              <a:gd name="adj" fmla="val 50000"/>
            </a:avLst>
          </a:prstGeom>
          <a:solidFill>
            <a:srgbClr val="F1F4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8503920" y="1984248"/>
            <a:ext cx="2011680" cy="164592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10698480" y="194767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6492240" y="229514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Trading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8503920" y="2331720"/>
            <a:ext cx="2011680" cy="164592"/>
          </a:xfrm>
          <a:prstGeom prst="roundRect">
            <a:avLst>
              <a:gd name="adj" fmla="val 50000"/>
            </a:avLst>
          </a:prstGeom>
          <a:solidFill>
            <a:srgbClr val="F1F4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8503920" y="2331720"/>
            <a:ext cx="635267" cy="164592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10698480" y="229514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6492240" y="264261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Monitoring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8503920" y="2679192"/>
            <a:ext cx="2011680" cy="164592"/>
          </a:xfrm>
          <a:prstGeom prst="roundRect">
            <a:avLst>
              <a:gd name="adj" fmla="val 50000"/>
            </a:avLst>
          </a:prstGeom>
          <a:solidFill>
            <a:srgbClr val="F1F4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8503920" y="2679192"/>
            <a:ext cx="423512" cy="164592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10698480" y="264261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69" name="Text 67"/>
          <p:cNvSpPr/>
          <p:nvPr/>
        </p:nvSpPr>
        <p:spPr>
          <a:xfrm>
            <a:off x="6492240" y="299008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Wealth Visibility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8503920" y="3026664"/>
            <a:ext cx="2011680" cy="164592"/>
          </a:xfrm>
          <a:prstGeom prst="roundRect">
            <a:avLst>
              <a:gd name="adj" fmla="val 50000"/>
            </a:avLst>
          </a:prstGeom>
          <a:solidFill>
            <a:srgbClr val="F1F4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8503920" y="3026664"/>
            <a:ext cx="423512" cy="164592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10698480" y="299008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73" name="Text 71"/>
          <p:cNvSpPr/>
          <p:nvPr/>
        </p:nvSpPr>
        <p:spPr>
          <a:xfrm>
            <a:off x="6492240" y="33375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Mutual Funds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8503920" y="3374136"/>
            <a:ext cx="2011680" cy="164592"/>
          </a:xfrm>
          <a:prstGeom prst="roundRect">
            <a:avLst>
              <a:gd name="adj" fmla="val 50000"/>
            </a:avLst>
          </a:prstGeom>
          <a:solidFill>
            <a:srgbClr val="F1F4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8503920" y="3374136"/>
            <a:ext cx="635267" cy="164592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10698480" y="33375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77" name="Text 75"/>
          <p:cNvSpPr/>
          <p:nvPr/>
        </p:nvSpPr>
        <p:spPr>
          <a:xfrm>
            <a:off x="6492240" y="36850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IPOs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8503920" y="3721608"/>
            <a:ext cx="2011680" cy="164592"/>
          </a:xfrm>
          <a:prstGeom prst="roundRect">
            <a:avLst>
              <a:gd name="adj" fmla="val 50000"/>
            </a:avLst>
          </a:prstGeom>
          <a:solidFill>
            <a:srgbClr val="F1F4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8503920" y="3721608"/>
            <a:ext cx="317634" cy="164592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10698480" y="368503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81" name="Text 79"/>
          <p:cNvSpPr/>
          <p:nvPr/>
        </p:nvSpPr>
        <p:spPr>
          <a:xfrm>
            <a:off x="6492240" y="403250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Actions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8503920" y="4069080"/>
            <a:ext cx="2011680" cy="164592"/>
          </a:xfrm>
          <a:prstGeom prst="roundRect">
            <a:avLst>
              <a:gd name="adj" fmla="val 50000"/>
            </a:avLst>
          </a:prstGeom>
          <a:solidFill>
            <a:srgbClr val="F1F4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8503920" y="4069080"/>
            <a:ext cx="211756" cy="164592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10698480" y="40325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85" name="Text 83"/>
          <p:cNvSpPr/>
          <p:nvPr/>
        </p:nvSpPr>
        <p:spPr>
          <a:xfrm>
            <a:off x="6492240" y="437997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Engagement</a:t>
            </a:r>
            <a:endParaRPr lang="en-US" sz="900" dirty="0"/>
          </a:p>
        </p:txBody>
      </p:sp>
      <p:sp>
        <p:nvSpPr>
          <p:cNvPr id="86" name="Shape 84"/>
          <p:cNvSpPr/>
          <p:nvPr/>
        </p:nvSpPr>
        <p:spPr>
          <a:xfrm>
            <a:off x="8503920" y="4416552"/>
            <a:ext cx="2011680" cy="164592"/>
          </a:xfrm>
          <a:prstGeom prst="roundRect">
            <a:avLst>
              <a:gd name="adj" fmla="val 50000"/>
            </a:avLst>
          </a:prstGeom>
          <a:solidFill>
            <a:srgbClr val="F1F4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8503920" y="4416552"/>
            <a:ext cx="1164657" cy="164592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10698480" y="437997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89" name="Text 87"/>
          <p:cNvSpPr/>
          <p:nvPr/>
        </p:nvSpPr>
        <p:spPr>
          <a:xfrm>
            <a:off x="6492240" y="472744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Cross-Journey</a:t>
            </a:r>
            <a:endParaRPr lang="en-US" sz="900" dirty="0"/>
          </a:p>
        </p:txBody>
      </p:sp>
      <p:sp>
        <p:nvSpPr>
          <p:cNvPr id="90" name="Shape 88"/>
          <p:cNvSpPr/>
          <p:nvPr/>
        </p:nvSpPr>
        <p:spPr>
          <a:xfrm>
            <a:off x="8503920" y="4764024"/>
            <a:ext cx="2011680" cy="164592"/>
          </a:xfrm>
          <a:prstGeom prst="roundRect">
            <a:avLst>
              <a:gd name="adj" fmla="val 50000"/>
            </a:avLst>
          </a:prstGeom>
          <a:solidFill>
            <a:srgbClr val="F1F4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8503920" y="4764024"/>
            <a:ext cx="1376413" cy="164592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10698480" y="472744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93" name="Shape 91"/>
          <p:cNvSpPr/>
          <p:nvPr/>
        </p:nvSpPr>
        <p:spPr>
          <a:xfrm>
            <a:off x="457200" y="4572000"/>
            <a:ext cx="11277295" cy="1645920"/>
          </a:xfrm>
          <a:prstGeom prst="roundRect">
            <a:avLst>
              <a:gd name="adj" fmla="val 4444"/>
            </a:avLst>
          </a:prstGeom>
          <a:solidFill>
            <a:srgbClr val="FEF3C7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A1F4D">
                <a:alpha val="8000"/>
              </a:srgbClr>
            </a:outerShdw>
          </a:effectLst>
        </p:spPr>
      </p:sp>
      <p:sp>
        <p:nvSpPr>
          <p:cNvPr id="94" name="Text 92"/>
          <p:cNvSpPr/>
          <p:nvPr/>
        </p:nvSpPr>
        <p:spPr>
          <a:xfrm>
            <a:off x="731520" y="46634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Updated Inventory: 154 → 164 features</a:t>
            </a:r>
            <a:endParaRPr lang="en-US" sz="1400" dirty="0"/>
          </a:p>
        </p:txBody>
      </p:sp>
      <p:sp>
        <p:nvSpPr>
          <p:cNvPr id="95" name="Text 93"/>
          <p:cNvSpPr/>
          <p:nvPr/>
        </p:nvSpPr>
        <p:spPr>
          <a:xfrm>
            <a:off x="731520" y="498348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extraction revealed 10 features not in the original inventory. After adding these, the total rises from 154 to approximately 164 features. The documentation debt increases accordingly: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42 → 52 features with Figma but no BRD (10 new discoveries need BRDs)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68 features with BRD but no Figma (unchanged)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Squad validation must now cover 164 features instead of 154</a:t>
            </a:r>
            <a:endParaRPr lang="en-US" sz="900" dirty="0"/>
          </a:p>
        </p:txBody>
      </p:sp>
      <p:sp>
        <p:nvSpPr>
          <p:cNvPr id="96" name="Shape 94"/>
          <p:cNvSpPr/>
          <p:nvPr/>
        </p:nvSpPr>
        <p:spPr>
          <a:xfrm>
            <a:off x="457200" y="6537960"/>
            <a:ext cx="1127729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457200" y="660196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  ·  DIGITAL EXPERIENCE  ·  2026-04-22</a:t>
            </a:r>
            <a:endParaRPr lang="en-US" sz="800" dirty="0"/>
          </a:p>
        </p:txBody>
      </p:sp>
      <p:sp>
        <p:nvSpPr>
          <p:cNvPr id="98" name="Text 96"/>
          <p:cNvSpPr/>
          <p:nvPr/>
        </p:nvSpPr>
        <p:spPr>
          <a:xfrm>
            <a:off x="5333695" y="660196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Features Inventory + Deep Figma extraction · 2026-04-22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512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029F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Map — Deep Edition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6916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2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05840" y="22860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2.27M design nodes analyzed across 8 Figma files — the most comprehensive ARC design audit to date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05840" y="2743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8 modules have Mobile + Web + Tablet designs — full platform parity confirmed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05840" y="32004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new features discovered: Stock Screener in design, UAE Market, Fast Onboarding, Guest Mode (Web), and more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05840" y="3657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Screener (Gap #2, score 25/25) is actively being designed — highest-impact gap is closing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164 features total (up from 154) — documentation debt now larger than previously estimated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05840" y="45720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Onboarding could address 87% drop-off — most promising new discovery for immediate ROI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05840" y="5029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activity concentrated on OnBoarding and Market (modified today) — Tradepad and Orders stale 3+ weeks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594360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Experience Department  ·  Al Rajhi Capital  ·  2026-04-22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2026-04-22T17:44:23Z</dcterms:created>
  <dcterms:modified xsi:type="dcterms:W3CDTF">2026-04-22T17:44:23Z</dcterms:modified>
</cp:coreProperties>
</file>