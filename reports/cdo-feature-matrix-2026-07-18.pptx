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Features</c:v>
                </c:pt>
              </c:strCache>
            </c:strRef>
          </c:tx>
          <c:spPr>
            <a:solidFill>
              <a:srgbClr val="20C9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F1D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0C99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365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2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1B5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Live</c:v>
                  </c:pt>
                  <c:pt idx="1">
                    <c:v>Gap (unconfirmed)</c:v>
                  </c:pt>
                  <c:pt idx="2">
                    <c:v>Planned</c:v>
                  </c:pt>
                  <c:pt idx="3">
                    <c:v>Diff</c:v>
                  </c:pt>
                  <c:pt idx="4">
                    <c:v>Unverified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50</c:v>
                </c:pt>
                <c:pt idx="2">
                  <c:v>222</c:v>
                </c:pt>
                <c:pt idx="3">
                  <c:v>5</c:v>
                </c:pt>
                <c:pt idx="4">
                  <c:v>143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F1D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1F1D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9F5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3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RAJHI CAPITAL  ·  DIGITAL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spc="-100" kern="0" dirty="0">
                <a:solidFill>
                  <a:srgbClr val="0E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 Feature Matrix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94360" y="35204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spc="-100" kern="0" dirty="0">
                <a:solidFill>
                  <a:srgbClr val="003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Assertion to Evidence.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9436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2026-07-18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5074920"/>
            <a:ext cx="2926080" cy="0"/>
          </a:xfrm>
          <a:prstGeom prst="line">
            <a:avLst/>
          </a:prstGeom>
          <a:noFill/>
          <a:ln w="22225">
            <a:solidFill>
              <a:srgbClr val="003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E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 features. Every status earned from App Store data, competitor intel, and Figma — never typed by hand.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Rajhi Capital  </a:t>
            </a:r>
            <a:pPr algn="l" indent="0" marL="0">
              <a:buNone/>
            </a:pPr>
            <a:r>
              <a:rPr lang="en-US" sz="1000" dirty="0">
                <a:solidFill>
                  <a:srgbClr val="0E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1000" dirty="0">
                <a:solidFill>
                  <a:srgbClr val="0E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الراجحي المالية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8C8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682935" y="347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8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07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Feature Matrix  ·  2026-07-18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1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matrix was self-reported.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was typed by hand with no link to what ARC actually ships.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377440"/>
            <a:ext cx="1828800" cy="0"/>
          </a:xfrm>
          <a:prstGeom prst="line">
            <a:avLst/>
          </a:prstGeom>
          <a:noFill/>
          <a:ln w="22225">
            <a:solidFill>
              <a:srgbClr val="5A4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743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A4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229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94360" y="3840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423 rows where the hand-typed status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diverged from the evidence.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4754880"/>
            <a:ext cx="10058400" cy="365760"/>
          </a:xfrm>
          <a:prstGeom prst="rect">
            <a:avLst/>
          </a:prstGeom>
          <a:solidFill>
            <a:srgbClr val="EFEDFB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was typed by hand in the xlsx — Live, Planned, Gap, Diff.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5166360"/>
            <a:ext cx="100584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check against App Store releases or competitor data.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5577840"/>
            <a:ext cx="10058400" cy="365760"/>
          </a:xfrm>
          <a:prstGeom prst="rect">
            <a:avLst/>
          </a:prstGeom>
          <a:solidFill>
            <a:srgbClr val="EFEDFB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marked Live had no evidence they actually shipped.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8C8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WAS WRONG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682935" y="347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8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07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Feature Matrix  ·  2026-07-18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1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features the system caught.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were detected automatically from ARC App Store v8.0.11 release notes.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377440"/>
            <a:ext cx="1828800" cy="0"/>
          </a:xfrm>
          <a:prstGeom prst="line">
            <a:avLst/>
          </a:prstGeom>
          <a:noFill/>
          <a:ln w="22225">
            <a:solidFill>
              <a:srgbClr val="5A4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606040"/>
            <a:ext cx="264810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788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5A4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3246120"/>
            <a:ext cx="20994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Price Alerts — typed GAP, shipped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639312"/>
            <a:ext cx="20994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v8.0.11 -- Never miss a price movement—create, view, and edit price alerts with ease.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79622" y="2606040"/>
            <a:ext cx="264810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A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3942" y="2788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5A4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3942" y="3246120"/>
            <a:ext cx="20994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Chart — typed PLANNED, shipped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3942" y="3639312"/>
            <a:ext cx="20994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v8.0.11 -- Track mutual fund performance based on your selected time period in the chart.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8C8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682935" y="347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8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07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Feature Matrix  ·  2026-07-18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1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in, status out.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unattended every Thursday. No human edits status.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377440"/>
            <a:ext cx="1828800" cy="0"/>
          </a:xfrm>
          <a:prstGeom prst="line">
            <a:avLst/>
          </a:prstGeom>
          <a:noFill/>
          <a:ln w="22225">
            <a:solidFill>
              <a:srgbClr val="5A4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948" y="2948940"/>
            <a:ext cx="201168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0948" y="29489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App Store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80948" y="3680460"/>
            <a:ext cx="201168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0948" y="36804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Intel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80948" y="4411980"/>
            <a:ext cx="201168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DA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0948" y="44119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Designs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38348" y="3977640"/>
            <a:ext cx="502920" cy="0"/>
          </a:xfrm>
          <a:prstGeom prst="line">
            <a:avLst/>
          </a:prstGeom>
          <a:noFill/>
          <a:ln w="25400">
            <a:solidFill>
              <a:srgbClr val="5A48E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86988" y="3680460"/>
            <a:ext cx="2011680" cy="594360"/>
          </a:xfrm>
          <a:prstGeom prst="roundRect">
            <a:avLst>
              <a:gd name="adj" fmla="val 6154"/>
            </a:avLst>
          </a:prstGeom>
          <a:solidFill>
            <a:srgbClr val="EFEDFB"/>
          </a:solidFill>
          <a:ln w="12700">
            <a:solidFill>
              <a:srgbClr val="5A4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86988" y="36804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derive_status.py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44388" y="3977640"/>
            <a:ext cx="502920" cy="0"/>
          </a:xfrm>
          <a:prstGeom prst="line">
            <a:avLst/>
          </a:prstGeom>
          <a:noFill/>
          <a:ln w="25400">
            <a:solidFill>
              <a:srgbClr val="5A48E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93028" y="3680460"/>
            <a:ext cx="201168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DA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3028" y="36804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Status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50428" y="3977640"/>
            <a:ext cx="502920" cy="0"/>
          </a:xfrm>
          <a:prstGeom prst="line">
            <a:avLst/>
          </a:prstGeom>
          <a:noFill/>
          <a:ln w="25400">
            <a:solidFill>
              <a:srgbClr val="5A48E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99068" y="3314700"/>
            <a:ext cx="201168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DA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99068" y="33147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99068" y="4046220"/>
            <a:ext cx="201168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DA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99068" y="40462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Report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8C8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HONESTY COSTS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682935" y="347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8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07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Feature Matrix  ·  2026-07-18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1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status distribution.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refuses to claim what it cannot prove.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377440"/>
            <a:ext cx="1828800" cy="0"/>
          </a:xfrm>
          <a:prstGeom prst="line">
            <a:avLst/>
          </a:prstGeom>
          <a:noFill/>
          <a:ln w="22225">
            <a:solidFill>
              <a:srgbClr val="5A48E8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371600" y="2651760"/>
          <a:ext cx="9601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8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 of 423 features read Unverified or Gap (unconfirmed) — the system won't claim what it can't prove.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8C8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EVIDENCED GAPS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682935" y="347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8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07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Feature Matrix  ·  2026-07-18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1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gaps that survive scrutiny.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8 gaps ranked by impact × competitor pressure.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377440"/>
            <a:ext cx="1828800" cy="0"/>
          </a:xfrm>
          <a:prstGeom prst="line">
            <a:avLst/>
          </a:prstGeom>
          <a:noFill/>
          <a:ln w="22225">
            <a:solidFill>
              <a:srgbClr val="5A48E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743200"/>
          <a:ext cx="1100023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971032"/>
                <a:gridCol w="1188720"/>
                <a:gridCol w="128016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4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4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4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4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48E8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A4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Fractional Shares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C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C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A4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SAU-039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Screener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C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C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B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A4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SAU-038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2 Order Book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C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C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A4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SAU-042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C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C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B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A4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Pre/Post Market Trading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C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C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A4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ONB-023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Pre-filled KYC from National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C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C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B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A4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ONB-024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Checklist / Guide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C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C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A4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XJ-036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Pay / Digital Wallet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C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C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B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8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verification in progress — ranking sharpens as evidence accumulates.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82935" y="347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07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7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asserting.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94360" y="35204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spc="-100" kern="0" dirty="0">
                <a:solidFill>
                  <a:srgbClr val="B7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method.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9436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decisions for the CDO.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5212080"/>
            <a:ext cx="2926080" cy="0"/>
          </a:xfrm>
          <a:prstGeom prst="line">
            <a:avLst/>
          </a:prstGeom>
          <a:noFill/>
          <a:ln w="22225">
            <a:solidFill>
              <a:srgbClr val="B7B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Adopt the derived matrix as the source of truth — retire hand-typed status.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Approve the top evidenced gaps as roadmap candidates.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Rajhi Capital  </a:t>
            </a:r>
            <a:pPr algn="l" indent="0" marL="0">
              <a:buNone/>
            </a:pPr>
            <a:r>
              <a:rPr lang="en-US" sz="1000" dirty="0">
                <a:solidFill>
                  <a:srgbClr val="B7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1000" dirty="0">
                <a:solidFill>
                  <a:srgbClr val="B7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الراجحي المالية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Al Rajhi Capital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Feature Matrix</dc:title>
  <dc:subject>PptxGenJS Presentation</dc:subject>
  <dc:creator>ARC Digital Experience</dc:creator>
  <cp:lastModifiedBy>ARC Digital Experience</cp:lastModifiedBy>
  <cp:revision>1</cp:revision>
  <dcterms:created xsi:type="dcterms:W3CDTF">2026-07-18T14:57:22Z</dcterms:created>
  <dcterms:modified xsi:type="dcterms:W3CDTF">2026-07-18T14:57:22Z</dcterms:modified>
</cp:coreProperties>
</file>