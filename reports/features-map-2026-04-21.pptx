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 capital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Features Map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Platform Feature Inventory, Competitive Gaps &amp; Differentiators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2064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12064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0976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50976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FILES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4846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100+ BRDs  ·  8 Figma files (unreleased revamp)  ·  10+ competitor benchmarks  ·  App Store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943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 Department  ·  Al Rajhi Capital  ·  2026-04-21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Snapshot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3172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2316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0624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0624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9768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7220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 (No BRD)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95528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04672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 (No Figma)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82980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298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9212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 Confirmed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Health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57400" y="292608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57400" y="2926080"/>
            <a:ext cx="1045029" cy="20116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 (29%)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Only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57400" y="338328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57400" y="3383280"/>
            <a:ext cx="1615044" cy="20116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 (44%)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57400" y="384048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57400" y="3840480"/>
            <a:ext cx="997527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 (27%)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57400" y="429768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57400" y="429768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(1%)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32320" y="288036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269480" y="2926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955280" y="2926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Gaps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955280" y="3136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competitors have that ARC lacks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132320" y="347472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269480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955280" y="3520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Differentiators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55280" y="3730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unique to ARC or notably stronger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132320" y="406908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269480" y="4114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955280" y="4114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Features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55280" y="43251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at comparable level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16% of mapped features are live. 84% remain in planning or design.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5120640"/>
            <a:ext cx="11277295" cy="32004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5120640"/>
            <a:ext cx="1757501" cy="3200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5120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Live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489021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Planned / Designed / Unknown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5394960"/>
            <a:ext cx="11277295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0080" y="548640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486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828800" y="54681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features exist in Figma with no BRD — these represent design intent without product commitment. 68 features have BRDs but no Figma screens yet. Closing this documentation gap is the #1 prerequisite for accurate roadmap planning.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(154 features) · BRDs + Figma API · 2026-03-26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Coverage by Squad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219456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09728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51760" y="1097280"/>
            <a:ext cx="64008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097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64008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097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31920" y="1097280"/>
            <a:ext cx="82296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5072" y="109728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91440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09728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0" y="1097280"/>
            <a:ext cx="91440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109728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83680" y="1097280"/>
            <a:ext cx="512064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1097280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1481328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48132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51760" y="1481328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148132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1481328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148132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31920" y="1481328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148132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481328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48132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1481328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148132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1481328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1581912"/>
            <a:ext cx="923109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43949" y="1581912"/>
            <a:ext cx="1846217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90166" y="1581912"/>
            <a:ext cx="230777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20943" y="1581912"/>
            <a:ext cx="1846217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1865376"/>
            <a:ext cx="21945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186537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51760" y="1865376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24912" y="186537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91840" y="1865376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186537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931920" y="1865376"/>
            <a:ext cx="8229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05072" y="186537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1865376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186537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0" y="1865376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42432" y="186537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583680" y="1865376"/>
            <a:ext cx="51206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20840" y="1965960"/>
            <a:ext cx="78589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06730" y="1965960"/>
            <a:ext cx="130982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37711" y="1965960"/>
            <a:ext cx="2488651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26362" y="1965960"/>
            <a:ext cx="1571779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2249424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0352" y="2249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651760" y="2249424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24912" y="224942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91840" y="2249424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64992" y="224942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931920" y="2249424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05072" y="224942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54880" y="2249424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28032" y="224942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69280" y="2249424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42432" y="224942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583680" y="2249424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20840" y="2350008"/>
            <a:ext cx="1453896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74736" y="2350008"/>
            <a:ext cx="2907792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82528" y="2350008"/>
            <a:ext cx="48463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" y="2633472"/>
            <a:ext cx="21945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0352" y="263347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651760" y="2633472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24912" y="26334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291840" y="2633472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64992" y="26334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931920" y="2633472"/>
            <a:ext cx="8229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05072" y="26334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754880" y="2633472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28032" y="26334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669280" y="2633472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742432" y="26334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83680" y="2633472"/>
            <a:ext cx="51206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734056"/>
            <a:ext cx="461554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82394" y="2734056"/>
            <a:ext cx="1153886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336280" y="2734056"/>
            <a:ext cx="923109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259389" y="2734056"/>
            <a:ext cx="2307771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7200" y="3017520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0352" y="30175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651760" y="3017520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24912" y="30175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291840" y="3017520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64992" y="30175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3931920" y="3017520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005072" y="30175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754880" y="3017520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28032" y="30175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5669280" y="3017520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742432" y="30175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6583680" y="3017520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20840" y="3118104"/>
            <a:ext cx="969264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690104" y="3118104"/>
            <a:ext cx="3877056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57200" y="3401568"/>
            <a:ext cx="21945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30352" y="34015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651760" y="3401568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724912" y="34015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291840" y="3401568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364992" y="34015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3931920" y="3401568"/>
            <a:ext cx="8229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05072" y="340156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4754880" y="3401568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828032" y="340156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5669280" y="3401568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742432" y="340156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6583680" y="3401568"/>
            <a:ext cx="51206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720840" y="3502152"/>
            <a:ext cx="440575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161415" y="3502152"/>
            <a:ext cx="1321724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483138" y="3502152"/>
            <a:ext cx="2643447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1126585" y="3502152"/>
            <a:ext cx="440575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7200" y="3785616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30352" y="378561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2651760" y="3785616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724912" y="37856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3291840" y="3785616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364992" y="37856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3931920" y="3785616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005072" y="378561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4754880" y="3785616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828032" y="378561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5669280" y="3785616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742432" y="378561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6583680" y="3785616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20840" y="3886200"/>
            <a:ext cx="121158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932420" y="3886200"/>
            <a:ext cx="242316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355580" y="3886200"/>
            <a:ext cx="12115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57200" y="4169664"/>
            <a:ext cx="21945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30352" y="416966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2651760" y="4169664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724912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3291840" y="4169664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364992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3931920" y="4169664"/>
            <a:ext cx="8229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005072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4754880" y="4169664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828032" y="416966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5669280" y="4169664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742432" y="416966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6583680" y="4169664"/>
            <a:ext cx="51206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720840" y="4270248"/>
            <a:ext cx="1384663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105503" y="4270248"/>
            <a:ext cx="692331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797834" y="4270248"/>
            <a:ext cx="2076994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874829" y="4270248"/>
            <a:ext cx="692331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57200" y="4553712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30352" y="455371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2651760" y="4553712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24912" y="455371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3291840" y="4553712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364992" y="455371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3931920" y="4553712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005072" y="455371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4754880" y="4553712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828032" y="45537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5669280" y="4553712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742432" y="45537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6583680" y="4553712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720840" y="4654296"/>
            <a:ext cx="12115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32420" y="4654296"/>
            <a:ext cx="242316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355580" y="4654296"/>
            <a:ext cx="12115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57200" y="4937760"/>
            <a:ext cx="21945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530352" y="493776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2651760" y="4937760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724912" y="49377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75" name="Shape 173"/>
          <p:cNvSpPr/>
          <p:nvPr/>
        </p:nvSpPr>
        <p:spPr>
          <a:xfrm>
            <a:off x="3291840" y="4937760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364992" y="49377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3931920" y="4937760"/>
            <a:ext cx="8229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005072" y="493776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4754880" y="4937760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828032" y="493776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1" name="Shape 179"/>
          <p:cNvSpPr/>
          <p:nvPr/>
        </p:nvSpPr>
        <p:spPr>
          <a:xfrm>
            <a:off x="5669280" y="4937760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742432" y="493776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83" name="Shape 181"/>
          <p:cNvSpPr/>
          <p:nvPr/>
        </p:nvSpPr>
        <p:spPr>
          <a:xfrm>
            <a:off x="6583680" y="4937760"/>
            <a:ext cx="51206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720840" y="5038344"/>
            <a:ext cx="646176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367016" y="5038344"/>
            <a:ext cx="3553968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920984" y="5038344"/>
            <a:ext cx="969264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57200" y="5321808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30352" y="532180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2651760" y="5321808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2724912" y="532180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91" name="Shape 189"/>
          <p:cNvSpPr/>
          <p:nvPr/>
        </p:nvSpPr>
        <p:spPr>
          <a:xfrm>
            <a:off x="3291840" y="5321808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364992" y="532180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3" name="Shape 191"/>
          <p:cNvSpPr/>
          <p:nvPr/>
        </p:nvSpPr>
        <p:spPr>
          <a:xfrm>
            <a:off x="3931920" y="5321808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4005072" y="532180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5" name="Shape 193"/>
          <p:cNvSpPr/>
          <p:nvPr/>
        </p:nvSpPr>
        <p:spPr>
          <a:xfrm>
            <a:off x="4754880" y="5321808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828032" y="53218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7" name="Shape 195"/>
          <p:cNvSpPr/>
          <p:nvPr/>
        </p:nvSpPr>
        <p:spPr>
          <a:xfrm>
            <a:off x="5669280" y="5321808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742432" y="53218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99" name="Shape 197"/>
          <p:cNvSpPr/>
          <p:nvPr/>
        </p:nvSpPr>
        <p:spPr>
          <a:xfrm>
            <a:off x="6583680" y="5321808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720840" y="5422392"/>
            <a:ext cx="510139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230979" y="5422392"/>
            <a:ext cx="3315903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546882" y="5422392"/>
            <a:ext cx="1020278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57200" y="6025896"/>
            <a:ext cx="18288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713232" y="5980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2743200" y="6025896"/>
            <a:ext cx="1828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2999232" y="5980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5029200" y="6025896"/>
            <a:ext cx="18288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5285232" y="5980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Only</a:t>
            </a:r>
            <a:endParaRPr lang="en-US" sz="850" dirty="0"/>
          </a:p>
        </p:txBody>
      </p:sp>
      <p:sp>
        <p:nvSpPr>
          <p:cNvPr id="209" name="Shape 207"/>
          <p:cNvSpPr/>
          <p:nvPr/>
        </p:nvSpPr>
        <p:spPr>
          <a:xfrm>
            <a:off x="7315200" y="6025896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571232" y="5980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850" dirty="0"/>
          </a:p>
        </p:txBody>
      </p:sp>
      <p:sp>
        <p:nvSpPr>
          <p:cNvPr id="211" name="Shape 209"/>
          <p:cNvSpPr/>
          <p:nvPr/>
        </p:nvSpPr>
        <p:spPr>
          <a:xfrm>
            <a:off x="457200" y="6483096"/>
            <a:ext cx="11277295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12" name="Shape 210"/>
          <p:cNvSpPr/>
          <p:nvPr/>
        </p:nvSpPr>
        <p:spPr>
          <a:xfrm>
            <a:off x="640080" y="6547104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40080" y="6547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800" dirty="0"/>
          </a:p>
        </p:txBody>
      </p:sp>
      <p:sp>
        <p:nvSpPr>
          <p:cNvPr id="214" name="Text 212"/>
          <p:cNvSpPr/>
          <p:nvPr/>
        </p:nvSpPr>
        <p:spPr>
          <a:xfrm>
            <a:off x="1920240" y="652881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 (37) and Portfolio Monitoring (21) are the largest modules. Corporate Actions (4) and Robo Advisory (4) are the leanest — high expansion potential. 0 features live in Corporate Actions.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154 features across 11 squads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Priority Gaps — Ranked by Impact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3200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5156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1051560"/>
            <a:ext cx="3200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105156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Feature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77640" y="1051560"/>
            <a:ext cx="59436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2504" y="1051560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0" y="1051560"/>
            <a:ext cx="20116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05156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0" y="1051560"/>
            <a:ext cx="51206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105156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With 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380744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1380744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1380744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1380744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Market Depth / Order Book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77640" y="1380744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32504" y="1380744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380744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13807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0" y="1380744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38544" y="1380744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Derayah, Alinma, IBKR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1709928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1709928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7240" y="1709928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" y="170992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77640" y="1709928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32504" y="1709928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1709928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170992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583680" y="1709928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1709928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Investing.com, Derayah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2039112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" y="2039112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77240" y="2039112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" y="2039112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Pre/Post-Market Trading (US)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77640" y="2039112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32504" y="2039112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2039112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26864" y="203911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83680" y="2039112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8544" y="2039112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Robinhood, IBKR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2368296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2368296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77240" y="2368296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" y="2368296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Technical Analysis Suite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977640" y="2368296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32504" y="2368296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0" y="2368296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26864" y="236829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583680" y="2368296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8544" y="2368296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TradingView, thinkorswim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7200" y="2697480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" y="269748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77240" y="2697480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2104" y="269748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Comparison Tool (Multi-Stock)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977640" y="2697480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32504" y="2697480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0" y="2697480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26864" y="269748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583680" y="2697480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38544" y="269748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 (6), Derayah (2)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" y="3026664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3026664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77240" y="3026664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2104" y="3026664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Assistant / AI Chat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977640" y="3026664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32504" y="3026664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572000" y="3026664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26864" y="302666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 / Cross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583680" y="3026664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3026664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 AI, US competitors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57200" y="3355848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2064" y="3355848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77240" y="3355848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2104" y="335584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/ Simulated Mode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977640" y="3355848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32504" y="3355848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572000" y="3355848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26864" y="335584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583680" y="3355848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38544" y="3355848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Derayah Smart, Sahm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57200" y="3685032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2064" y="3685032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77240" y="3685032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2104" y="3685032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Shares (US)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977640" y="3685032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032504" y="3685032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572000" y="3685032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26864" y="368503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583680" y="3685032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638544" y="3685032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Robinhood, IBKR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57200" y="4014216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2064" y="4014216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77240" y="4014216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32104" y="4014216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/ Community Feed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977640" y="4014216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032504" y="4014216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572000" y="4014216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626864" y="401421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6583680" y="4014216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638544" y="4014216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Sahm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57200" y="4343400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434340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777240" y="4343400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2104" y="434340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Orders — Full BRD (Saudi)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3977640" y="4343400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032504" y="4343400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572000" y="4343400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26864" y="434340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583680" y="4343400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638544" y="434340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Derayah, AlJazira, Sahm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57200" y="4672584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2064" y="4672584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77240" y="4672584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2104" y="4672584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Events Calendar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3977640" y="4672584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032504" y="4672584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4572000" y="4672584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626864" y="467258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6583680" y="4672584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638544" y="4672584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Sahm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457200" y="5001768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12064" y="5001768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777240" y="5001768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32104" y="500176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Funds / PE Access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3977640" y="5001768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032504" y="5001768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572000" y="5001768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26864" y="500176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6583680" y="5001768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638544" y="5001768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AlJazira, Derayah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457200" y="5330952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12064" y="5330952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777240" y="5330952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2104" y="5330952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/ Money Flow Tracking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3977640" y="5330952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032504" y="5330952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4572000" y="5330952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626864" y="533095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6583680" y="5330952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638544" y="5330952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Sahm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457200" y="5660136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12064" y="5660136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777240" y="5660136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32104" y="5660136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for Mutual Funds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3977640" y="5660136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032504" y="5660136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4572000" y="5660136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626864" y="566013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 / Robo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6583680" y="5660136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638544" y="5660136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AlJazira, Derayah Smart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457200" y="5989320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12064" y="598932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777240" y="5989320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32104" y="598932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/ Loss Tax Report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3977640" y="5989320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032504" y="5989320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4572000" y="5989320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626864" y="598932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6583680" y="5989320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6638544" y="598932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Derayah, Saudi competitors</a:t>
            </a:r>
            <a:endParaRPr lang="en-US" sz="850" dirty="0"/>
          </a:p>
        </p:txBody>
      </p:sp>
      <p:sp>
        <p:nvSpPr>
          <p:cNvPr id="169" name="Text 167"/>
          <p:cNvSpPr/>
          <p:nvPr/>
        </p:nvSpPr>
        <p:spPr>
          <a:xfrm>
            <a:off x="457200" y="645566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= Competitive Pressure (1-5)  ×  Investor Demand (1-5)  ·  Max: 25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172" name="Text 170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· 10+ benchmarks · Moomoo, Derayah, AlJazira, Sahm, Investing.com, IBKR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Distribution by Squad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243584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243584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532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25/25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27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1682496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1682496"/>
            <a:ext cx="3688080" cy="21945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7000" y="16276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34200" y="1627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25/25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2121408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121408"/>
            <a:ext cx="167640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5320" y="20665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22520" y="20665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20/25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5054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51760" y="2560320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2560320"/>
            <a:ext cx="134112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30040" y="2505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87240" y="25054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20/25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2944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51760" y="2999232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2999232"/>
            <a:ext cx="134112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30040" y="2944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87240" y="2944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15/25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51760" y="3438144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51760" y="343814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3383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822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51760" y="3877056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51760" y="387705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51960" y="38221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20/25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261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51760" y="4315968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4315968"/>
            <a:ext cx="67056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59480" y="42611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7000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51760" y="4754880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51760" y="4754880"/>
            <a:ext cx="33528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24200" y="47000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581400" y="47000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16/25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5138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651760" y="5193792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51760" y="5193792"/>
            <a:ext cx="33528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24200" y="5138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5577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651760" y="5632704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51760" y="5632704"/>
            <a:ext cx="33528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24200" y="5577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29600" y="118872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41248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Gaps (Sahm Analysis)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41248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additional gaps identified from International Brokerage gap analysis (March 2026)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412480" y="2057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91540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for Intra-Day Prices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0972800" y="20574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412480" y="2404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G-54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915400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US Stock Inventory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972800" y="24048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412480" y="27523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G-56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915400" y="2752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Live Price View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0972800" y="27523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412480" y="30998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G-57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915400" y="3099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Live Index Prices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10972800" y="3099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412480" y="3447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G-59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915400" y="3447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Events Calendar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972800" y="3447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412480" y="3794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G-61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91540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Trade Button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0972800" y="3794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412480" y="41422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G-62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915400" y="4142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Tab-Based Navigation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972800" y="4142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" y="5577840"/>
            <a:ext cx="11277295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40080" y="5650992"/>
            <a:ext cx="914400" cy="237744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0080" y="56509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737360" y="5596128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 and Saudi Trading account for 54% of all gaps (26 of 48 original + 14 of 15 Sahm gaps). These two squads face the highest competitive pressure and need the most feature investment.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+ Sahm Int'l Brokerage Analysis · 2026-03-26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Differentiators — 14 Unique 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1188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37160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Murabaha Margin Lending (Sharia)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169164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Sharia-compliant digital margin — no comparable competitor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51960" y="109728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61688" y="1188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61688" y="137160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 &amp; Zakat Calculators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61688" y="169164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religious compliance tools — no competitor offers natively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046720" y="109728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56448" y="1188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56448" y="137160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Account + Guardian Controls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56448" y="169164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custodian controls unseen in Saudi retail competitors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4231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269748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Mokafaa + ARG Group Bundle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" y="301752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Ecosystem-exclusive loyalty architecture — non-replicable by competitors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51960" y="24231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61688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61688" y="269748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Storyteller (Narrative Report)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61688" y="301752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quarterly narrative — no competitor produces this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046720" y="24231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56448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56448" y="269748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Shariah Multi-List Selection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56448" y="301752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+ ARC-specific Shariah lists — more sophisticated than single filter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374904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" y="402336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Portfolio Comparison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434340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peer benchmarking — Moomoo has community, not peer P&amp;L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251960" y="374904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361688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61688" y="402336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Score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61688" y="434340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portfolio quality score — not observed in any benchmark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046720" y="374904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156448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56448" y="402336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 Program (Lending + Short Selling)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56448" y="434340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SBL with Sharia margin integration — not offered by Saudi retail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7200" y="507492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66928" y="5166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6928" y="534924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Referral / Gift Campaigns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6928" y="566928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Date-specific UCM gift campaigns + Mokafaa — unique rewards stack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251960" y="507492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361688" y="5166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361688" y="534924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Tadawulaty Platform SSO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61688" y="566928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Edaa SSO — regulatory infrastructure advantage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046720" y="507492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156448" y="5166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56448" y="534924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ZATCA-Compliant E-Invoices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156448" y="566928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e-invoices for wallet + purification — regulatory compliance leader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" y="5669280"/>
            <a:ext cx="11277295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0080" y="5742432"/>
            <a:ext cx="91440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5742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737360" y="57058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ARC's moat is Sharia-first financial infrastructure (Murabaha, Purification, Zakat) + Al Rajhi ecosystem integration (Mokafaa, ARG bundles). These are non-replicable by standalone fintech competitors.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· 10+ competitor benchmarks · 2026-03-26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 — Trading &amp; Portfolio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708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90008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6596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1772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947672"/>
            <a:ext cx="97823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18314" y="1947672"/>
            <a:ext cx="195646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74781" y="1947672"/>
            <a:ext cx="244558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9340" y="1947672"/>
            <a:ext cx="19564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Competitive Gaps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Onboarding checklist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live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3008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15888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36289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865815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1588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7308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4176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9896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06764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2484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39352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85072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15888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5888" y="1947672"/>
            <a:ext cx="832821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48708" y="1947672"/>
            <a:ext cx="138803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87512" y="1947672"/>
            <a:ext cx="2637266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24777" y="1947672"/>
            <a:ext cx="1665641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15888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5888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Competitive Gaps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15888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Level 2 Order Book (25/25)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15888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live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370332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0080" y="381304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87088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5090008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008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9728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6596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42316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9184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74904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61772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07492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0080" y="455371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0080" y="4553712"/>
            <a:ext cx="1540718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80798" y="4553712"/>
            <a:ext cx="3081437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62235" y="4553712"/>
            <a:ext cx="513573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487375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Competitive Gaps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0080" y="51663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Pre/Post-Market Trading (25/25)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40080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live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33008" y="370332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415888" y="381304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0362895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10865815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41588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87308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74176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19896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06764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952484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039352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085072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15888" y="455371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15888" y="4553712"/>
            <a:ext cx="489117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905005" y="4553712"/>
            <a:ext cx="12227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127797" y="4553712"/>
            <a:ext cx="978234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06031" y="4553712"/>
            <a:ext cx="244558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15888" y="487375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15888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Competitive Gaps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415888" y="51663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Gain/Loss Tax Report (20/25)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415888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live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 — Wealth, Funds &amp; IPOs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708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90008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6596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1772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947672"/>
            <a:ext cx="1027146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7226" y="1947672"/>
            <a:ext cx="4108582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Competitive Gap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Apple Pay Funding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33008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15888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6289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865815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1588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308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4176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9896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06764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2484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39352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85072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15888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5888" y="1947672"/>
            <a:ext cx="46688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82772" y="1947672"/>
            <a:ext cx="1400653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83425" y="1947672"/>
            <a:ext cx="2801306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84731" y="1947672"/>
            <a:ext cx="46688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15888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5888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Competitive Gaps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15888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Private Funds Access (20/25)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15888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live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70332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381304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87088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090008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008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9728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6596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42316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9184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74904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1772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07492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40080" y="455371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" y="4553712"/>
            <a:ext cx="128393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24012" y="4553712"/>
            <a:ext cx="2567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91876" y="4553712"/>
            <a:ext cx="128393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" y="487375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Competitive Gaps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0080" y="51663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Goal-Based Portfolio (15/25)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40080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live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33008" y="370332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6415888" y="381304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0362895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10865815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1588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87308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74176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19896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06764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952484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039352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085072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415888" y="455371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15888" y="4553712"/>
            <a:ext cx="1467351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83238" y="4553712"/>
            <a:ext cx="733675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616914" y="4553712"/>
            <a:ext cx="2201026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817940" y="4553712"/>
            <a:ext cx="73367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15888" y="487375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15888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Competitive Gaps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415888" y="51663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US Market IPO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415888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live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 — Engagement &amp; Cross-Journey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708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90008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6596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1772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947672"/>
            <a:ext cx="128393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4012" y="1947672"/>
            <a:ext cx="2567864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1876" y="1947672"/>
            <a:ext cx="128393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Competitive Gap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Rights Issue Digital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live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33008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15888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36289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865815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1588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7308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4176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9896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06764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52484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39352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85072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15888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5888" y="1947672"/>
            <a:ext cx="68476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00651" y="1947672"/>
            <a:ext cx="3766200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66852" y="1947672"/>
            <a:ext cx="1027146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15888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5888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Competitive Gaps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15888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Social Community Feed (20/25)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15888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live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70332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381304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87088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090008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008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9728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6596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42316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9184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74904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1772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07492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40080" y="455371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" y="4553712"/>
            <a:ext cx="540603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80683" y="4553712"/>
            <a:ext cx="3513919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94602" y="4553712"/>
            <a:ext cx="1081206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" y="487375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Competitive Gap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0080" y="51663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Price Alert System (16/25)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40080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live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READINESS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Readiness Matrix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188720"/>
            <a:ext cx="2286000" cy="2286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46E5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828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(BRD, no design)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1188720"/>
            <a:ext cx="2286000" cy="22860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6A34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114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(BRD + Figma)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3474720"/>
            <a:ext cx="2286000" cy="2286000"/>
          </a:xfrm>
          <a:prstGeom prst="rect">
            <a:avLst/>
          </a:prstGeom>
          <a:solidFill>
            <a:srgbClr val="F1F4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7556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82880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(Unknown/Gap)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3474720"/>
            <a:ext cx="2286000" cy="22860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11480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(Figma, no BRD)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914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EXISTS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0" y="914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3474720"/>
            <a:ext cx="914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1188720"/>
            <a:ext cx="914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0" y="1188720"/>
            <a:ext cx="48463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408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0" y="169164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63840" y="1709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BRD and Figma exist. These features can enter development sprint planning immediately. Only 24 of these are actually live.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0" y="269748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63840" y="2715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2953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approved but no Figma screens in the revamp. Design team must prioritize these to unblock development.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32320" y="37033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863840" y="3721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BRD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0" y="3959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Figma but no formal product requirements. Squad leads must write BRDs to formalize scope and acceptance criteria.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132320" y="470916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863840" y="4727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63840" y="4965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in production. This is only 16% of total inventory — the platform has massive unrealized potential.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cross-reference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Features — ARC Matches Market (33)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Market/Limit Orders (Saudi)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32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 Market Orders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722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Options Trading (Saudi + US)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6112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TradingView Charts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Trending/Top Movers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3280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Commission-Free Bundles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10312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Wealth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P&amp;L Performance Chart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Portfolio Insights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7220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 Tracker (Basic)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6112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Multi-Currency Wallet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2679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Asset Allocation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&amp; IPO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Mutual Fund Subscribe/Redeem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832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Robo Advisory (Basic)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7220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IPO Subscription (Main + Nomu)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6112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Auto-Subscribe Engine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Economic Calendar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8328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Earnings Calendar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7220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Dividends Calendar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96112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Analyst Ratings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4360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Insider/Gov't Trades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83280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News Feed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72200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Bulls vs Bears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961120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Why Is It Moving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512064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166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Face ID / Biometric Login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328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Digital KYC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7220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Guest / Discovery Mode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96112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Shariah Filter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" y="5696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Social/Copy Trading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83280" y="5696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CRM Case Management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72200" y="5696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Buy Round-Up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· Parity analysis across 10+ benchmarks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COVERAGE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Screen Inventory — 157 Screens Across 8 Files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261872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261872"/>
            <a:ext cx="2380891" cy="25603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5571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4211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1828800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1828800"/>
            <a:ext cx="310551" cy="25603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231" y="1755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13871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322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2395728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2395728"/>
            <a:ext cx="414068" cy="25603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8748" y="2322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7388" y="2322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8895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2962656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2962656"/>
            <a:ext cx="414068" cy="25603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8748" y="28895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7388" y="28895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17520" y="3529584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17520" y="3529584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41080" y="3456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89720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(IPO)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4096512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0" y="4096512"/>
            <a:ext cx="1242204" cy="25603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96884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45524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590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017520" y="4663440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4663440"/>
            <a:ext cx="1035170" cy="25603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89850" y="4590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38490" y="4590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5157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017520" y="5230368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5230368"/>
            <a:ext cx="4968815" cy="256032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23495" y="51572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672135" y="51572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60120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9601200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Screens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509760" y="23317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960120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Files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548640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0080" y="5559552"/>
            <a:ext cx="118872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5559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DENSITY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011680" y="550468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 (53 screens) and Orders (48 screens) dominate design effort — together they hold 64% of all screens. Home has only 3 screens, suggesting the revamp home is minimalist or work-in-progress. Watchlist file is empty.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depth-3 extraction · 8 design files · 2026-03-26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— Who Leads Where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69968" y="120700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9968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gaps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53619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173736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depth, AI assistant, stock comparison, community feed, money flow, paper trading, fractional shares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24448" y="109728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07328" y="118872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Derayah / Smart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37215" y="120700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37215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gaps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07328" y="153619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07328" y="173736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orders, Apple Pay, SIP, goal-based investing, pre-filled KYC, dividend reinvestment, progress indicator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88036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AlJazira Capital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69968" y="289864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9968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22783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342900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funds (10+), SIP, Nomu institutional IPO, IPO popup banners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24448" y="278892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07328" y="288036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637215" y="289864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37215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gaps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07328" y="322783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07328" y="342900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navigation, live prices free, personalized calendar, social proof nudges, always-on price view, demo mode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48056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57200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69968" y="459028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9968" y="4590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gaps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491947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" y="512064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screener, multi-type alerts, fundamental data, ETF exposure, economic/earnings calendars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24448" y="448056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07328" y="457200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IBKR / Global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637215" y="459028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37215" y="4590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07328" y="491947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07328" y="512064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market, fractional shares, L2 depth, bonds, futures, advanced order types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Benchmark reports: Moomoo, Derayah, AlJazira, Sahm, Investing.com, IBKR · 2024-2025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Debt — Action Required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Features Need BRDs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Figma but no formal requirements written. Squad leads must author BRDs.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202082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020824"/>
            <a:ext cx="12192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965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377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243230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243230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377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788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284378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28437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788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325526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3255264"/>
            <a:ext cx="15240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200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611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366674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366674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611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023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17520" y="407822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0782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023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4434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017520" y="448970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448970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44348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4846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17520" y="490118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49011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846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" y="5257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017520" y="531266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5312664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5257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5669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17520" y="572414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7520" y="5724144"/>
            <a:ext cx="6096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5669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109728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008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Features Need Figma Screens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0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approved but not yet incorporated into the Figma revamp. Design team to prioritize.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492240" y="1965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778240" y="202082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78240" y="20208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72800" y="1965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92240" y="2377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778240" y="243230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78240" y="243230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72800" y="2377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92240" y="2788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778240" y="284378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78240" y="2843784"/>
            <a:ext cx="635267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972800" y="2788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492240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778240" y="325526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78240" y="3255264"/>
            <a:ext cx="423512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972800" y="3200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92240" y="3611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778240" y="366674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0" y="3666744"/>
            <a:ext cx="423512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972800" y="3611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492240" y="4023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778240" y="407822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778240" y="4078224"/>
            <a:ext cx="635267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972800" y="4023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492240" y="4434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778240" y="448970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0" y="4489704"/>
            <a:ext cx="317634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972800" y="44348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492240" y="4846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778240" y="490118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778240" y="4901184"/>
            <a:ext cx="211756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972800" y="4846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492240" y="5257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778240" y="531266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8240" y="5312664"/>
            <a:ext cx="1164657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972800" y="5257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492240" y="5669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778240" y="572414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78240" y="5724144"/>
            <a:ext cx="1376413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972800" y="5669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" y="548640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640080" y="5559552"/>
            <a:ext cx="128016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0080" y="5559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2103120" y="5504688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validation deadline was April 7, 2026 — now 14 days overdue. Ahmed must follow up with squad leads to confirm live status and ownership. Until validated, the features map cannot be used as roadmap input with confidence.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Squad Validation Checklist (deadline: 2026-04-07)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1704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Documentation Gap — 42 BRDs + 68 Figma Screens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0" y="118872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1188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14447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features have Figma designs without BRDs (no requirements). 68 have BRDs without Figma screens (no design). Cross-reference and close both sides. Without this, roadmap accuracy is guesswork.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Squad Leads + Design Team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0391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Top 4 Score-25 Gaps Immediately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0" y="205740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20574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23134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Order Book, Stock Screener, Pre/Post-Market Trading, and Advanced TA Suite all scored maximum 25/25. These are the features active traders expect — losing users to Moomoo and Derayah is a real risk.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58400" y="2313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Saudi Trading + US Trading Squads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2971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2907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Squad Validation (14 Days Overdue)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92608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29260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88720" y="31821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April 7 deadline for squad leads to confirm feature live status has passed. Without validation, the 'Live' count of 24 is unverified and may be inaccurate. Send reminder and set new deadline.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058400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Ahmed Alghamdi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88720" y="3776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Trading Experience Competitiveness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86800" y="379476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37947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88720" y="40507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 (15 gaps) and Saudi Trading (11 gaps) carry 54% of all competitive gaps. Allocate design and development resources proportionally. Trading is the core revenue driver.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05840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Strategy &amp; Intelligence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" y="4709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88720" y="4645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Sharia-First Differentiators in Marketing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686800" y="466344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46634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88720" y="49194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ARC's 14 differentiators cluster around Sharia compliance (Murabaha, Purification, Zakat) and Al Rajhi ecosystem integration (Mokafaa, ARG bundles). These are non-replicable moats that should be front-and-center in positioning.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05840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Head of Digital Experience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57200" y="544068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4360" y="5577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88720" y="5513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Underdeveloped Modules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686800" y="553212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0" y="55321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88720" y="57881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 (0 live, 4 total), Robo Advisory (1 live, 4 total), and Wealth Visibility (1 live, 5 total) are significantly underbuilt. Prioritize based on investor segment demand data.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058400" y="5788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Experience Design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Map synthesis · Competitor Gap Matrix · Squad Validation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features mapped across 11 squads — 24 live (16%), 130 in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697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competitive gaps identified — 4 at maximum severity (25/25)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ARC differentiators — Sharia-first financial infrastructure + Al Rajhi ecosystem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Figma designs with no BRD — design intent without product commitment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BRDs with no Figma screens — requirements without design execution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343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validation 14 days overdue — follow up required immediately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Refresh Figma token → Deep component extraction → Platform parity matrix → Depth analysis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 Department  ·  Al Rajhi Capital  ·  2026-04-21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2026-04-22T10:01:30Z</dcterms:created>
  <dcterms:modified xsi:type="dcterms:W3CDTF">2026-04-22T10:01:30Z</dcterms:modified>
</cp:coreProperties>
</file>