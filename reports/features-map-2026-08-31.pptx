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331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0033E8"/>
                </a:solidFill>
                <a:latin typeface="Calibri"/>
              </a:rPr>
              <a:t>AL RAJHI CAPITAL  ·  PRODUCT EXPERIENCE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743200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 spc="-100">
                <a:solidFill>
                  <a:srgbClr val="0E1E4E"/>
                </a:solidFill>
                <a:latin typeface="Calibri"/>
              </a:rPr>
              <a:t>The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044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 i="0" spc="-100">
                <a:solidFill>
                  <a:srgbClr val="0033E8"/>
                </a:solidFill>
                <a:latin typeface="Calibri"/>
              </a:rPr>
              <a:t>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E1E4E"/>
                </a:solidFill>
                <a:latin typeface="Calibri"/>
              </a:rPr>
              <a:t>Baseline v2.21  ·  31 August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074920"/>
            <a:ext cx="2926080" cy="22225"/>
          </a:xfrm>
          <a:prstGeom prst="rect">
            <a:avLst/>
          </a:prstGeom>
          <a:solidFill>
            <a:srgbClr val="003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257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E1E4E"/>
                </a:solidFill>
                <a:latin typeface="Calibri"/>
              </a:rPr>
              <a:t>865 capability rows across 10 investor journeys — every one decided.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E1E4E"/>
                </a:solidFill>
                <a:latin typeface="Calibri"/>
              </a:rPr>
              <a:t>Al Rajhi Capital  ·  الراجحي المالية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01  ·  THE MAP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02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31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One record of what ARC 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Every capability ARC ships, is building, or has not built — with a status that traces to evidence rather than opinion.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865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Capability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Across 10 investor journeys, each placed in a reviewed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9622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3942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524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942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3942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61% of the map. 504 carry a dated walk or ruling.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4884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9204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129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9204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9204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15% of the map — on the roadmap, not yet shipped.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0147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467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212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4467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4467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25% of the map — not built in the product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02  ·  COVERAGE — TRADING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03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31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Journey by journey, area by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The four trading journeys as the map nests them — 652 of the 865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2286000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59" y="2286000"/>
            <a:ext cx="146304" cy="146304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Planned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2286000"/>
            <a:ext cx="146304" cy="146304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1735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US Trading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272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79" y="2670048"/>
            <a:ext cx="932889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6169" y="2670048"/>
            <a:ext cx="93288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9458" y="2670048"/>
            <a:ext cx="665461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92607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9260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958084"/>
            <a:ext cx="1307176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90456" y="2958084"/>
            <a:ext cx="102523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92980" y="2958084"/>
            <a:ext cx="28194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92607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316839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6839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79" y="3200400"/>
            <a:ext cx="39524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78522" y="3200400"/>
            <a:ext cx="7904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57571" y="3200400"/>
            <a:ext cx="1217348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316839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72%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4107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4107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79" y="3442716"/>
            <a:ext cx="120831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91594" y="3442716"/>
            <a:ext cx="60415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52010" y="3442716"/>
            <a:ext cx="42291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341071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36530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Watchlist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6530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79" y="3685032"/>
            <a:ext cx="101498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8264" y="3685032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36592" y="3685032"/>
            <a:ext cx="338328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60" y="365302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3904487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950207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Saudi Market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197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79" y="3986783"/>
            <a:ext cx="953157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36437" y="3986783"/>
            <a:ext cx="523807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60244" y="3986783"/>
            <a:ext cx="214675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3950207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13%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42428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42428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79" y="4274820"/>
            <a:ext cx="65786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41140" y="4274820"/>
            <a:ext cx="736176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77316" y="4274820"/>
            <a:ext cx="297603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66360" y="424281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" y="448513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44851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79" y="4517136"/>
            <a:ext cx="1376249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59529" y="4517136"/>
            <a:ext cx="28671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6248" y="4517136"/>
            <a:ext cx="28671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60" y="448513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" y="472744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4727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79" y="4759451"/>
            <a:ext cx="121798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01260" y="4759451"/>
            <a:ext cx="202996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04257" y="4759451"/>
            <a:ext cx="270662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66360" y="472744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496976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Watchlist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496976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79" y="5001767"/>
            <a:ext cx="101498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98264" y="5001767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36592" y="5001767"/>
            <a:ext cx="338328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66360" y="496976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7220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Mutual Funds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115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61120" y="2670048"/>
            <a:ext cx="1147373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08493" y="2670048"/>
            <a:ext cx="58839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167332" y="2670048"/>
            <a:ext cx="485427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4420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29%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73368" y="292607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29260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61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61120" y="2958084"/>
            <a:ext cx="1026076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87196" y="2958084"/>
            <a:ext cx="665563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44200" y="292607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39%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73368" y="316839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16839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61120" y="3200400"/>
            <a:ext cx="149025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451374" y="3200400"/>
            <a:ext cx="120831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72205" y="3200400"/>
            <a:ext cx="80554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744200" y="316839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5%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73368" y="34107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34107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61120" y="3442716"/>
            <a:ext cx="966651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927771" y="3442716"/>
            <a:ext cx="241662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169434" y="3442716"/>
            <a:ext cx="483325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44200" y="341071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29%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73368" y="36530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Watchlist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530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61120" y="3685032"/>
            <a:ext cx="169164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744200" y="365302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100%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72200" y="3904487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72200" y="3950207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Robo Advisory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68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61120" y="3986783"/>
            <a:ext cx="920451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81571" y="3986783"/>
            <a:ext cx="124385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05956" y="3986783"/>
            <a:ext cx="646803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744200" y="3950207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38%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73368" y="42428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42428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4274820"/>
            <a:ext cx="811987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73107" y="4274820"/>
            <a:ext cx="879652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744200" y="424281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52%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73368" y="448513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12480" y="44851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961120" y="4517136"/>
            <a:ext cx="116300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24122" y="4517136"/>
            <a:ext cx="528637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744200" y="448513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73368" y="472744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12480" y="4727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61120" y="4759451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744200" y="472744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94360" y="6355080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C8E9F"/>
                </a:solidFill>
                <a:latin typeface="Calibri"/>
              </a:rPr>
              <a:t>Source: Features Map · baseline v2.21 · features_derived.json · verified_live.json · manual_status.json · 31 August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03  ·  COVERAGE — PLATFORM &amp; MANAGED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04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31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The rest of the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Cash Management, Onboarding, LMS/SBL, IPOs, Crowd Fund and every Platform area — the remaining 213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2286000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59" y="2286000"/>
            <a:ext cx="146304" cy="146304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Planned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2286000"/>
            <a:ext cx="146304" cy="146304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1735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Cash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82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79" y="2670048"/>
            <a:ext cx="1258415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1695" y="2670048"/>
            <a:ext cx="247557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89252" y="2670048"/>
            <a:ext cx="185667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11%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8757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Cash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8757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907792"/>
            <a:ext cx="1258415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41695" y="2907792"/>
            <a:ext cx="247557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89252" y="2907792"/>
            <a:ext cx="185667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8757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068726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1444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Onboarding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11444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79" y="3151022"/>
            <a:ext cx="995082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8362" y="3151022"/>
            <a:ext cx="696557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311444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35676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All account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35676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79" y="3388766"/>
            <a:ext cx="135331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36592" y="3388766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335676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35405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Corporate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54055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79" y="3572560"/>
            <a:ext cx="169164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35405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372435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Minor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72435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79" y="3756355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66360" y="372435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390814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Global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390814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79" y="3940149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3908145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" y="409193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Saudi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09193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79" y="4123944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66360" y="409193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284878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433059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LMS/SBL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33059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13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79" y="4367174"/>
            <a:ext cx="1041009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24289" y="4367174"/>
            <a:ext cx="650630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66360" y="433059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457291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LMS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457291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79" y="4604918"/>
            <a:ext cx="7518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35120" y="4604918"/>
            <a:ext cx="939799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6360" y="457291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8" y="475670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SBL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47567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83279" y="4788712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66360" y="475670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4949647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995367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IPOs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499536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79" y="5031943"/>
            <a:ext cx="1127760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11040" y="5031943"/>
            <a:ext cx="563880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66360" y="4995367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33%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" y="523768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Subscriptions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34640" y="52376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79" y="5269687"/>
            <a:ext cx="112776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11040" y="5269687"/>
            <a:ext cx="56388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66360" y="523768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33%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" y="5430621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5476341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Crowd Fund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34640" y="547634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83279" y="5512917"/>
            <a:ext cx="1691640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66360" y="5476341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8" y="571865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34640" y="571865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83279" y="5750661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66360" y="571865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220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Platform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8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71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61120" y="2670048"/>
            <a:ext cx="1167469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128589" y="2670048"/>
            <a:ext cx="309736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38326" y="2670048"/>
            <a:ext cx="214433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74420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13%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3368" y="28757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App Widgets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0" y="28757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61120" y="2907792"/>
            <a:ext cx="131572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276840" y="2907792"/>
            <a:ext cx="3759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744200" y="28757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22%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73368" y="304586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Alert and Notification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0" y="304586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61120" y="3077870"/>
            <a:ext cx="140970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370820" y="3077870"/>
            <a:ext cx="28194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744200" y="304586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73368" y="321594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Settings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12480" y="32159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61120" y="3247948"/>
            <a:ext cx="135331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314432" y="3247948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744200" y="321594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73368" y="338602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Subscription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338602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3418027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744200" y="338602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73368" y="355610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Calculator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12480" y="355610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61120" y="3588105"/>
            <a:ext cx="135331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314432" y="3588105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44200" y="355610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73368" y="37261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Customization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12480" y="37261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961120" y="3758184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744200" y="372618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73368" y="389625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Education/Social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389625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961120" y="3928262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806940" y="3928262"/>
            <a:ext cx="8458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744200" y="389625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73368" y="406633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Family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412480" y="40663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961120" y="4098340"/>
            <a:ext cx="126873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229850" y="4098340"/>
            <a:ext cx="42291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744200" y="406633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373368" y="423641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Engagement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23641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61120" y="4268419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806940" y="4268419"/>
            <a:ext cx="8458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744200" y="4236415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373368" y="440649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Session Duration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12480" y="440649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961120" y="4438497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744200" y="440649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73368" y="45765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Auth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12480" y="45765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961120" y="4608576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744200" y="45765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73368" y="474665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Services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12480" y="474665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961120" y="4778654"/>
            <a:ext cx="169164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744200" y="474665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73368" y="49167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Platform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412480" y="49167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961120" y="4948732"/>
            <a:ext cx="56388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525000" y="4948732"/>
            <a:ext cx="112776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744200" y="491672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67%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373368" y="508680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Charity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50868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961120" y="5118811"/>
            <a:ext cx="84582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806940" y="5118811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744200" y="508680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73368" y="525688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 Preference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412480" y="525688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961120" y="5288889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744200" y="5256885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373368" y="542696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Investment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412480" y="542696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961120" y="5458968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806940" y="5458968"/>
            <a:ext cx="8458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744200" y="542696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73368" y="559704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KYC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412480" y="559704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61120" y="5629046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744200" y="559704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373368" y="57671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Language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412480" y="5767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961120" y="5799124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744200" y="576712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373368" y="593719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Sharia List Management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93719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961120" y="5969203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744200" y="593719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94360" y="6355080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C8E9F"/>
                </a:solidFill>
                <a:latin typeface="Calibri"/>
              </a:rPr>
              <a:t>Source: Features Map · baseline v2.21 · features_derived.json · verified_live.json · manual_status.json · 31 August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04  ·  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05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31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One gap list, repeated in three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18 named capabilities are missing from Mutual Funds, Robo Advisory and US Trading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06040"/>
            <a:ext cx="67665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834640"/>
            <a:ext cx="6217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200">
                <a:solidFill>
                  <a:srgbClr val="5A48E8"/>
                </a:solidFill>
                <a:latin typeface="Calibri"/>
              </a:rPr>
              <a:t>GAP IN MUTUAL FUNDS, ROBO ADVISORY AND US TRADING AT ONCE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3264408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00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7" y="3264408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3200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Gain/Loss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3648456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844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7" y="3648456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35844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" y="4032504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9684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3087" y="4032504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39684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Portfolio P/L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" y="4416552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3525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Statement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3087" y="4416552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43525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Transfer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" y="4800600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3659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Update Avg Cost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3087" y="4800600"/>
            <a:ext cx="54864" cy="11887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473659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C70"/>
                </a:solidFill>
                <a:latin typeface="Calibri"/>
              </a:rPr>
              <a:t>Allocation Tracker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" y="5184648"/>
            <a:ext cx="54864" cy="11887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1206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C70"/>
                </a:solidFill>
                <a:latin typeface="Calibri"/>
              </a:rPr>
              <a:t>Custom Index Against Benchmark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3087" y="5184648"/>
            <a:ext cx="54864" cy="11887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79" y="51206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C70"/>
                </a:solidFill>
                <a:latin typeface="Calibri"/>
              </a:rPr>
              <a:t>Goal 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504688"/>
            <a:ext cx="6217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8C8E9F"/>
                </a:solidFill>
                <a:latin typeface="Calibri"/>
              </a:rPr>
              <a:t>Green — already Live in Saudi Market (9 of 18)   ·   +6 more not shown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74243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C70"/>
                </a:solidFill>
                <a:latin typeface="Calibri"/>
              </a:rPr>
              <a:t>Portfolio depth was built for Saudi equity and never extended to anything else ARC sells.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2606040"/>
            <a:ext cx="3959352" cy="3520440"/>
          </a:xfrm>
          <a:prstGeom prst="rect">
            <a:avLst/>
          </a:prstGeom>
          <a:solidFill>
            <a:srgbClr val="EF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283464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200">
                <a:solidFill>
                  <a:srgbClr val="5A48E8"/>
                </a:solidFill>
                <a:latin typeface="Calibri"/>
              </a:rPr>
              <a:t>GAP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2186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US Trading · Portfolio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3474720"/>
            <a:ext cx="2743200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7848" y="367588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694175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Robo Advisory · Portfolio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950207"/>
            <a:ext cx="926275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27848" y="4151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169663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Mutual Funds · Portfolio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4425696"/>
            <a:ext cx="855023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27848" y="46268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6451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US Trading · Market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4901184"/>
            <a:ext cx="783771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7848" y="51023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51206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Saudi Market · Market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5376672"/>
            <a:ext cx="676893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8" y="5577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596127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Cash Management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5852159"/>
            <a:ext cx="320633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6355080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C8E9F"/>
                </a:solidFill>
                <a:latin typeface="Calibri"/>
              </a:rPr>
              <a:t>Source: Features Map · baseline v2.21 · features_derived.json · verified_live.json · manual_status.json · 31 August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06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B7B0E8"/>
                </a:solidFill>
                <a:latin typeface="Calibri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 spc="-100">
                <a:solidFill>
                  <a:srgbClr val="FFFFFF"/>
                </a:solidFill>
                <a:latin typeface="Calibri"/>
              </a:rPr>
              <a:t>Build the portfolio once,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 i="0" spc="-100">
                <a:solidFill>
                  <a:srgbClr val="B7B0E8"/>
                </a:solidFill>
                <a:latin typeface="Calibri"/>
              </a:rPr>
              <a:t>not three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09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18 capabilities missing from three products at the same time — 9 of them already working in Saudi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212080"/>
            <a:ext cx="2926080" cy="22225"/>
          </a:xfrm>
          <a:prstGeom prst="rect">
            <a:avLst/>
          </a:prstGeom>
          <a:solidFill>
            <a:srgbClr val="B7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394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865 rows · 10 journeys · every one decided · 504 of 524 Live rows carry a dated walk.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Al Rajhi Capital  ·  الراجحي المالية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Features Map  ·  v2.21</dc:title>
  <dc:subject/>
  <dc:creator>Al Rajhi Capital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